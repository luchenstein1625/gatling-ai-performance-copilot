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09" r:id="rId5"/>
    <p:sldId id="420" r:id="rId6"/>
    <p:sldId id="357" r:id="rId7"/>
    <p:sldId id="390" r:id="rId8"/>
    <p:sldId id="423" r:id="rId9"/>
    <p:sldId id="424" r:id="rId10"/>
    <p:sldId id="419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tes de empezar" id="{7551DC49-B7E4-458E-A63D-50F4083573C1}">
          <p14:sldIdLst/>
        </p14:section>
        <p14:section name="Plantilla" id="{28C12D85-E61B-4189-8B3D-84E16C86C1AD}">
          <p14:sldIdLst>
            <p14:sldId id="309"/>
            <p14:sldId id="420"/>
            <p14:sldId id="357"/>
            <p14:sldId id="390"/>
            <p14:sldId id="423"/>
            <p14:sldId id="424"/>
            <p14:sldId id="419"/>
          </p14:sldIdLst>
        </p14:section>
        <p14:section name="Recursos" id="{04020B4B-E9DB-4734-8019-E93BF01A4B5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9"/>
    <a:srgbClr val="00CAF2"/>
    <a:srgbClr val="353274"/>
    <a:srgbClr val="00B2D2"/>
    <a:srgbClr val="FFFFFF"/>
    <a:srgbClr val="06070C"/>
    <a:srgbClr val="00AACC"/>
    <a:srgbClr val="4DCAE3"/>
    <a:srgbClr val="47439B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2" autoAdjust="0"/>
    <p:restoredTop sz="94863" autoAdjust="0"/>
  </p:normalViewPr>
  <p:slideViewPr>
    <p:cSldViewPr snapToGrid="0" showGuides="1">
      <p:cViewPr varScale="1">
        <p:scale>
          <a:sx n="120" d="100"/>
          <a:sy n="120" d="100"/>
        </p:scale>
        <p:origin x="304" y="192"/>
      </p:cViewPr>
      <p:guideLst>
        <p:guide orient="horz" pos="2183"/>
        <p:guide pos="3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02-02-26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02-02-26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973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7590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8AE09-CA3A-BADC-8EC3-D8BCE5617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BE53A-798D-F211-1195-CFD821A14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2CD8C-7B1C-9CD0-0B5F-9B2A45653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26894-C927-376D-8AC4-1A383A124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0396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2B8B6-7AAE-80C9-D914-4CCBBC740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70E86-6498-1A52-D856-15F524F7C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6EBD5-8D87-10B2-B543-5BA7F95FC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5AFB5-0EE9-59D6-E25E-32B2EC16B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237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4155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‹Nº›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6778" y="329603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Aprendizaje No-Supervisado | </a:t>
            </a:r>
            <a:r>
              <a:rPr lang="es-ES" dirty="0" err="1"/>
              <a:t>Clustering</a:t>
            </a:r>
            <a:r>
              <a:rPr lang="es-ES" dirty="0"/>
              <a:t> | 2023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139640-BC66-C84A-AFF3-05F059059272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2FC02EC-7848-4D45-A571-39C51868FF71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9BB39BFE-BB35-42FB-AAFF-E3CD48B41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4ACC130D-6FF1-4ADA-B652-51859A788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9FC03D2C-CDB0-4943-BBB0-7A4DE8959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93121329-D2EE-47C2-9162-A7DEE17E3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9E38C50A-696E-4EF9-A0C7-B43D46BA78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276747B6-0C3A-4A19-AA98-70491DCA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D3D0C595-83D0-4598-A4DA-CB3B3C275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35D695EB-245F-4801-95F7-12C20203F5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DD788364-2338-42BF-BC36-B1CFC8911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A8E09B0-33E0-420E-BC56-357A8A56C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EAF3F43D-0984-41AC-A597-6F2E47CDB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D214E3C8-57A4-4D3B-93C0-CD8ED17B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8DC28DCC-842C-4EED-9DAD-722C5B434320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921DDF31-EE14-4503-AC78-A6F01892A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BC3EC658-9A6D-49BA-A9D1-08DA419F6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78F77729-ADC0-4F53-9329-AA9ADACEA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B9F63CEA-6F0F-4583-9979-F57540BA79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3258266-4F2E-4D42-84C6-43908DDA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C8B62A2-FBA9-48FF-A71E-8BADE05ED652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57B55019-CCE7-4B58-BA32-C3B09EA5A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CB5B4E82-E996-4916-89A7-673EE3DA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423FC57B-5B48-475C-876E-5AE9FB2B1743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D21E2C9C-117A-4B2A-A747-997D1A999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55B68F44-4184-4722-8C78-175C76E378B6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1B9484A-5325-47FE-8497-95216D2DE7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7C88850C-00F8-4F75-88DC-536CCBFB441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805DF44E-7373-46C8-8071-0E0091377CB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DD0F2332-B17A-4ED0-9412-46EBEC06E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36535D3A-F1DF-4D0A-8E11-B20915C7B1DE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527EA4EF-ED67-44E9-927E-A48FD7FD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1234D87-FB88-4D96-A302-E88BF73669BA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AC6CA6FE-D694-481C-9F52-81CA02CAAC64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BF3C03BD-4F8C-4EDF-BEA4-68921D797F4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BD90E2FF-B434-472F-9ACC-0E4F295593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9BAC5FD1-2356-4367-AD9D-C1590CED046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1253210D-2C1B-4D51-8576-0A7D423298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E46BCFEC-0F1D-4AC7-8B05-222FA1DAC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774C4C6-CFDB-4CD5-93AF-26DEDDA29138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Aprendizaje No-Supervisado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Agosto 2025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L" b="0" dirty="0" err="1"/>
              <a:t>Apriori</a:t>
            </a:r>
            <a:endParaRPr lang="es-CL" b="0" dirty="0"/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F48B7CC0-4306-4D43-A068-6EC2E10368DD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91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Los modelos que revisaremos en esta sección se encuadran en la categoría de modelo no supervisados, que corresponden a aquellos que son utilizados cuando solo se conoce predictores o co-variables pero no una variable target o respuesta.</a:t>
            </a:r>
          </a:p>
          <a:p>
            <a:endParaRPr lang="es-CL" dirty="0"/>
          </a:p>
          <a:p>
            <a:r>
              <a:rPr lang="es-CL" dirty="0"/>
              <a:t>En este sentido, el objetivo es modelar la estructura o distribución subyacente en los datos para obtener más información sobre los datos.</a:t>
            </a:r>
          </a:p>
          <a:p>
            <a:endParaRPr lang="es-CL" dirty="0"/>
          </a:p>
          <a:p>
            <a:r>
              <a:rPr lang="es-CL" dirty="0"/>
              <a:t>Los problemas de aprendizaje no supervisado se pueden agrupar en dos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6">
            <a:extLst>
              <a:ext uri="{FF2B5EF4-FFF2-40B4-BE49-F238E27FC236}">
                <a16:creationId xmlns:a16="http://schemas.microsoft.com/office/drawing/2014/main" id="{F2795A3F-B499-F0F9-F3A6-7F88EB43C851}"/>
              </a:ext>
            </a:extLst>
          </p:cNvPr>
          <p:cNvCxnSpPr/>
          <p:nvPr/>
        </p:nvCxnSpPr>
        <p:spPr>
          <a:xfrm>
            <a:off x="1728705" y="2896067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FCE3B5-B77D-304D-8D54-34A4E33261B8}"/>
              </a:ext>
            </a:extLst>
          </p:cNvPr>
          <p:cNvSpPr/>
          <p:nvPr/>
        </p:nvSpPr>
        <p:spPr>
          <a:xfrm>
            <a:off x="3193435" y="4823119"/>
            <a:ext cx="2196663" cy="5570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Agrupación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422D6D-BF86-3E29-E243-850F1170CCAA}"/>
              </a:ext>
            </a:extLst>
          </p:cNvPr>
          <p:cNvSpPr/>
          <p:nvPr/>
        </p:nvSpPr>
        <p:spPr>
          <a:xfrm>
            <a:off x="7544718" y="4823120"/>
            <a:ext cx="2196663" cy="5570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Asociación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1150E3-DBF7-E8C3-76AB-51C296F5AC69}"/>
              </a:ext>
            </a:extLst>
          </p:cNvPr>
          <p:cNvCxnSpPr>
            <a:cxnSpLocks/>
          </p:cNvCxnSpPr>
          <p:nvPr/>
        </p:nvCxnSpPr>
        <p:spPr>
          <a:xfrm flipH="1">
            <a:off x="5437395" y="4246180"/>
            <a:ext cx="1061545" cy="576940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A3B816-8171-BD2E-8A95-4A442A63638F}"/>
              </a:ext>
            </a:extLst>
          </p:cNvPr>
          <p:cNvCxnSpPr>
            <a:cxnSpLocks/>
          </p:cNvCxnSpPr>
          <p:nvPr/>
        </p:nvCxnSpPr>
        <p:spPr>
          <a:xfrm>
            <a:off x="6488430" y="4247185"/>
            <a:ext cx="1056288" cy="575935"/>
          </a:xfrm>
          <a:prstGeom prst="line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82E82E1-8DFF-B542-68A8-4D7CB4F33B65}"/>
              </a:ext>
            </a:extLst>
          </p:cNvPr>
          <p:cNvSpPr txBox="1"/>
          <p:nvPr/>
        </p:nvSpPr>
        <p:spPr>
          <a:xfrm>
            <a:off x="2977973" y="5582214"/>
            <a:ext cx="2627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dirty="0">
                <a:solidFill>
                  <a:srgbClr val="6A6A69"/>
                </a:solidFill>
              </a:rPr>
              <a:t>Se desea descubrir las agrupaciones inherentes en los datos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960798-B9C2-36CB-E68F-E450CB9372AC}"/>
              </a:ext>
            </a:extLst>
          </p:cNvPr>
          <p:cNvSpPr txBox="1"/>
          <p:nvPr/>
        </p:nvSpPr>
        <p:spPr>
          <a:xfrm>
            <a:off x="7329256" y="5579958"/>
            <a:ext cx="2627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dirty="0">
                <a:solidFill>
                  <a:srgbClr val="6A6A69"/>
                </a:solidFill>
              </a:rPr>
              <a:t>Se desea descubrir reglas que describen grandes porciones de sus datos.</a:t>
            </a:r>
          </a:p>
        </p:txBody>
      </p:sp>
    </p:spTree>
    <p:extLst>
      <p:ext uri="{BB962C8B-B14F-4D97-AF65-F5344CB8AC3E}">
        <p14:creationId xmlns:p14="http://schemas.microsoft.com/office/powerpoint/2010/main" val="135446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E61DFC-E956-40DF-A7D2-AD09107713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A priori es un modelo para encontrar conjuntos frecuentes de ítems y reglas de asociación en grandes bases de datos transaccionales. </a:t>
            </a:r>
          </a:p>
          <a:p>
            <a:r>
              <a:rPr lang="es-CL" dirty="0"/>
              <a:t>Este algoritmo es ampliamente utilizado en análisis de canasta de mercado (</a:t>
            </a:r>
            <a:r>
              <a:rPr lang="es-CL" dirty="0" err="1"/>
              <a:t>market</a:t>
            </a:r>
            <a:r>
              <a:rPr lang="es-CL" dirty="0"/>
              <a:t> </a:t>
            </a:r>
            <a:r>
              <a:rPr lang="es-CL" dirty="0" err="1"/>
              <a:t>basket</a:t>
            </a:r>
            <a:r>
              <a:rPr lang="es-CL" dirty="0"/>
              <a:t> análisis)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3">
            <a:extLst>
              <a:ext uri="{FF2B5EF4-FFF2-40B4-BE49-F238E27FC236}">
                <a16:creationId xmlns:a16="http://schemas.microsoft.com/office/drawing/2014/main" id="{02BF26AA-0D0C-0C8E-1413-78825204E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600" y="3107470"/>
            <a:ext cx="5595504" cy="2874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19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AF8DD-CEDD-9E82-4534-3B27FEC2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6990AD-D5E9-1E37-EA9E-1B4AADD3B0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C84F86-8E64-0550-6A67-B8294773FC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¿Cómo funciona?</a:t>
            </a:r>
          </a:p>
          <a:p>
            <a:r>
              <a:rPr lang="es-CL" dirty="0"/>
              <a:t>Identificación de ítems frecuentes: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calculan todos los subconjuntos posibles de ítems.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eliminan aquellos subconjuntos cuyo soporte es menor al umbral mínimo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analizan de manera iterativa (primero ítems individuales, de a pares, tríos, </a:t>
            </a:r>
            <a:r>
              <a:rPr lang="es-CL" dirty="0" err="1"/>
              <a:t>etc</a:t>
            </a:r>
            <a:r>
              <a:rPr lang="es-CL" dirty="0"/>
              <a:t>)</a:t>
            </a:r>
          </a:p>
          <a:p>
            <a:endParaRPr lang="es-CL" dirty="0"/>
          </a:p>
          <a:p>
            <a:r>
              <a:rPr lang="es-CL" dirty="0"/>
              <a:t>Generación de reglas de asociación: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A partir de los ítems frecuentes, se generan reglas tipo A =&gt;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Se entregan métricas para estas reglas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/>
              <a:t>Confianza: P(B|A)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dirty="0" err="1"/>
              <a:t>Lift</a:t>
            </a:r>
            <a:r>
              <a:rPr lang="es-CL" dirty="0"/>
              <a:t>: Indica cuánto más probable es llevar B dado que se lleva A, respecto a solo llevar B.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945C3D-8656-33FC-DE29-44713A80FA7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52CC3FC-41C3-FB70-D80C-6D0AD0DF9D07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1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270C-6385-8E18-164C-810D2171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0BC1E6-9530-D50F-B894-F5690AB76B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Apriori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21AC4C-1DEF-C424-8649-15078EDB317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pic>
        <p:nvPicPr>
          <p:cNvPr id="9" name="Picture 8" descr="A diagram of a fruit and vegetable&#10;&#10;AI-generated content may be incorrect.">
            <a:extLst>
              <a:ext uri="{FF2B5EF4-FFF2-40B4-BE49-F238E27FC236}">
                <a16:creationId xmlns:a16="http://schemas.microsoft.com/office/drawing/2014/main" id="{0AD01C43-5E1B-5889-529D-1A3BE1016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764" y="1219200"/>
            <a:ext cx="7772400" cy="530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67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139640-BC66-C84A-AFF3-05F059059272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2FC02EC-7848-4D45-A571-39C51868FF71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9BB39BFE-BB35-42FB-AAFF-E3CD48B41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4ACC130D-6FF1-4ADA-B652-51859A788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9FC03D2C-CDB0-4943-BBB0-7A4DE8959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93121329-D2EE-47C2-9162-A7DEE17E3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9E38C50A-696E-4EF9-A0C7-B43D46BA78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276747B6-0C3A-4A19-AA98-70491DCA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D3D0C595-83D0-4598-A4DA-CB3B3C275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35D695EB-245F-4801-95F7-12C20203F5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DD788364-2338-42BF-BC36-B1CFC8911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A8E09B0-33E0-420E-BC56-357A8A56C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EAF3F43D-0984-41AC-A597-6F2E47CDB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D214E3C8-57A4-4D3B-93C0-CD8ED17B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8DC28DCC-842C-4EED-9DAD-722C5B434320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921DDF31-EE14-4503-AC78-A6F01892A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BC3EC658-9A6D-49BA-A9D1-08DA419F6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78F77729-ADC0-4F53-9329-AA9ADACEA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B9F63CEA-6F0F-4583-9979-F57540BA79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3258266-4F2E-4D42-84C6-43908DDA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C8B62A2-FBA9-48FF-A71E-8BADE05ED652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57B55019-CCE7-4B58-BA32-C3B09EA5A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CB5B4E82-E996-4916-89A7-673EE3DA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423FC57B-5B48-475C-876E-5AE9FB2B1743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D21E2C9C-117A-4B2A-A747-997D1A999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55B68F44-4184-4722-8C78-175C76E378B6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1B9484A-5325-47FE-8497-95216D2DE7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7C88850C-00F8-4F75-88DC-536CCBFB441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805DF44E-7373-46C8-8071-0E0091377CB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DD0F2332-B17A-4ED0-9412-46EBEC06E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36535D3A-F1DF-4D0A-8E11-B20915C7B1DE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527EA4EF-ED67-44E9-927E-A48FD7FD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1234D87-FB88-4D96-A302-E88BF73669BA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AC6CA6FE-D694-481C-9F52-81CA02CAAC64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BF3C03BD-4F8C-4EDF-BEA4-68921D797F4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BD90E2FF-B434-472F-9ACC-0E4F295593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9BAC5FD1-2356-4367-AD9D-C1590CED046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1253210D-2C1B-4D51-8576-0A7D423298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E46BCFEC-0F1D-4AC7-8B05-222FA1DAC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774C4C6-CFDB-4CD5-93AF-26DEDDA29138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Aprendizaje No-Supervisado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Agosto 2025</a:t>
            </a:r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L" b="0" dirty="0" err="1"/>
              <a:t>Apriori</a:t>
            </a:r>
            <a:endParaRPr lang="es-CL" b="0" dirty="0"/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F48B7CC0-4306-4D43-A068-6EC2E10368DD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41537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6132</TotalTime>
  <Words>292</Words>
  <Application>Microsoft Macintosh PowerPoint</Application>
  <PresentationFormat>Panorámica</PresentationFormat>
  <Paragraphs>49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Bitter</vt:lpstr>
      <vt:lpstr>Calibri</vt:lpstr>
      <vt:lpstr>Cambria</vt:lpstr>
      <vt:lpstr>Open Sans</vt:lpstr>
      <vt:lpstr>Segoe UI Light</vt:lpstr>
      <vt:lpstr>Template FIC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Rodrigo Fabián Gonzalez Sepulveda</cp:lastModifiedBy>
  <cp:revision>606</cp:revision>
  <dcterms:created xsi:type="dcterms:W3CDTF">2020-06-07T00:37:01Z</dcterms:created>
  <dcterms:modified xsi:type="dcterms:W3CDTF">2026-02-02T21:19:30Z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