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64" r:id="rId5"/>
    <p:sldId id="357" r:id="rId6"/>
    <p:sldId id="365" r:id="rId7"/>
    <p:sldId id="477" r:id="rId8"/>
    <p:sldId id="466" r:id="rId9"/>
    <p:sldId id="476" r:id="rId10"/>
    <p:sldId id="481" r:id="rId11"/>
    <p:sldId id="482" r:id="rId12"/>
    <p:sldId id="484" r:id="rId13"/>
    <p:sldId id="483" r:id="rId14"/>
    <p:sldId id="485" r:id="rId15"/>
    <p:sldId id="486" r:id="rId16"/>
    <p:sldId id="491" r:id="rId17"/>
    <p:sldId id="487" r:id="rId18"/>
    <p:sldId id="480" r:id="rId19"/>
    <p:sldId id="488" r:id="rId20"/>
    <p:sldId id="489" r:id="rId21"/>
    <p:sldId id="490" r:id="rId22"/>
    <p:sldId id="455" r:id="rId23"/>
    <p:sldId id="478" r:id="rId24"/>
    <p:sldId id="479" r:id="rId25"/>
    <p:sldId id="415" r:id="rId26"/>
    <p:sldId id="416" r:id="rId27"/>
    <p:sldId id="409" r:id="rId2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9991CA-E404-4645-BAC6-815AAED2CAC3}">
          <p14:sldIdLst>
            <p14:sldId id="364"/>
            <p14:sldId id="357"/>
            <p14:sldId id="365"/>
            <p14:sldId id="477"/>
            <p14:sldId id="466"/>
            <p14:sldId id="476"/>
            <p14:sldId id="481"/>
            <p14:sldId id="482"/>
            <p14:sldId id="484"/>
            <p14:sldId id="483"/>
            <p14:sldId id="485"/>
            <p14:sldId id="486"/>
            <p14:sldId id="491"/>
            <p14:sldId id="487"/>
            <p14:sldId id="480"/>
            <p14:sldId id="488"/>
            <p14:sldId id="489"/>
            <p14:sldId id="490"/>
            <p14:sldId id="455"/>
            <p14:sldId id="478"/>
            <p14:sldId id="479"/>
            <p14:sldId id="415"/>
            <p14:sldId id="416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70C"/>
    <a:srgbClr val="C7B613"/>
    <a:srgbClr val="8CBB23"/>
    <a:srgbClr val="24C679"/>
    <a:srgbClr val="353274"/>
    <a:srgbClr val="00B2D2"/>
    <a:srgbClr val="FFFFFF"/>
    <a:srgbClr val="00CAF2"/>
    <a:srgbClr val="00AACC"/>
    <a:srgbClr val="4DC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9A64D-7C55-2840-C072-F9058C5698AE}" v="1" dt="2024-08-16T20:21:03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3" autoAdjust="0"/>
    <p:restoredTop sz="96236" autoAdjust="0"/>
  </p:normalViewPr>
  <p:slideViewPr>
    <p:cSldViewPr snapToGrid="0" showGuides="1">
      <p:cViewPr varScale="1">
        <p:scale>
          <a:sx n="108" d="100"/>
          <a:sy n="108" d="100"/>
        </p:scale>
        <p:origin x="152" y="56"/>
      </p:cViewPr>
      <p:guideLst>
        <p:guide orient="horz" pos="2183"/>
        <p:guide pos="3545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945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7709-21C0-D665-FC48-69D70720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52573-4578-BBE5-6725-C8504CF7A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889A9-F09B-594F-193D-D7E05B72F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23055-4F1F-8172-7493-4D885AFDA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647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2A44-475D-EAAD-769F-480DAB1B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1CF25-B4FA-5849-2B59-010621A91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41F40-F234-DE85-94F4-8EAA49179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B72F3-30AC-C3EF-5BB8-538C44FB5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6797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7E21-E67E-7359-96D8-8E8EAC13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C80A8-A957-FD76-9774-5F76AB5EB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FD5AD-14CF-5E9D-36AA-9AB22D9B5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https://medium.com/@sachinsoni600517/concept-of-yolov1-the-evolution-of-real-time-object-detection-d773770ef773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55039-9F7C-843A-7CBF-CABB55338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5529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6253-AFFE-8EAA-AED1-FC4E3054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D484D-54EF-5080-352B-4A5096E0B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06AC6-948B-456F-6C82-11A0902C9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119B9-B574-AFA0-D261-CD95C8B72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5534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94E4-E08F-F86D-D1EB-33C9786C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E67B2-54E4-18A9-365E-5C914A381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B523D-5D60-D0FC-D8F3-93FE479DE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246C9-6BFA-6144-4626-BB80859EF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503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3A937-D730-B32E-854D-1BF99B79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11740-13E5-2D28-C28A-FFFD97DC8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09AD6-27A1-A5AB-620E-7A53200CA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https://medium.com/@abhishekjainindore24/deep-dive-into-yolov1-c70111debe60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480E0-61CF-858B-1D29-9E021D665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6650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93EE-7179-5A58-F9B9-E7AC6E712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F250E-AC20-2882-8DD2-6C908571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75176-6BE4-991E-9041-AC276AB81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https://medium.com/@abhishekjainindore24/deep-dive-into-yolov1-c70111debe60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682B6-E7B1-7441-2098-90901B613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308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CEC4-0A4E-5151-6593-46260511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32BBD-F2E6-A870-20CE-6F85AC730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6206-2AE9-1F81-0B0B-8613D26EE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https://medium.com/@abhishekjainindore24/deep-dive-into-yolov1-c70111debe60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A418E-E28E-06F2-8A07-7C0F009D3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9728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D9557-AF9E-9563-3B2B-55304292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8DECC-D23F-8DF6-0992-C8C790BDE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59D83-97E0-5C6A-E50D-74162F854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https://medium.com/@abhishekjainindore24/deep-dive-into-yolov1-c70111debe60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B3926-646D-E140-DE89-1ACD689CE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8085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EFF24-ECFA-19C0-51A1-FC763BC0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685EF-0700-0483-8C93-E5EF46F85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484FC-48B6-F51E-F7F5-FEE21867B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https://medium.com/@abhishekjainindore24/deep-dive-into-yolov1-c70111debe60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D514-9D4B-9479-108D-97BF24317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841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23046-FA04-0049-72AA-BFF998F1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3BE82-78D3-DF1D-2908-FC92276F1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75CE1-E4FF-E447-0FC3-864E780B6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https://medium.com/@abhishekjainindore24/deep-dive-into-yolov1-c70111debe60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FDABC-D4A6-28AB-1691-80B2AF76C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3462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A7998-942D-2FCF-BC17-BCE0558B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45BAB-91FB-1855-44E6-0A59C3A52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574EE-1E93-1D1B-2552-A6CB048D7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84F2-5FC9-BC18-7BB8-41434C5ED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454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FE12-FC81-7F94-5648-544E9070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82F93-6065-FE74-D53A-3B1CD418B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6401E-A8E8-1D03-61C0-11ED55FB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https://medium.com/@tejpal.abhyuday/introduction-to-graph-neural-networks-gnns-f79ca974a57d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1C0E3-4188-CBF2-7BE1-3A8806B03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1298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1E69-9626-8E9D-41E3-ED594B20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FDBE6-D5A6-D122-70AA-4B2F4CBE4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7EB25-2E8A-4ECB-10C6-445FDE3B2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https://medium.com/@tejpal.abhyuday/introduction-to-graph-neural-networks-gnns-f79ca974a57d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4FE8E-A168-5FB2-2256-7F9E3FFA8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3378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5ED6-6B65-B270-5E75-06D24D7B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A81C7-0B38-A36F-888F-B55DE15C3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A2F79-DD42-FD48-2E00-BD7352E3F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https://medium.com/@tejpal.abhyuday/introduction-to-graph-neural-networks-gnns-f79ca974a57d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E98AF-2B2E-280E-E3B2-47E2DFBDE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2354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7D08-E727-BA51-BD98-3859E9EF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DD59-4DA4-19DF-1CBA-A2CFCE8EC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39123-8CF7-C034-4BBA-F6C93853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501A-BD1E-D288-35A2-5E96E3A3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104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B646-0B88-1D2B-9E26-27E3659C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CB11-5506-43A5-93EF-FE43E3820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764D6-7AF7-2F6A-C886-BCB116D3C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8C67E-01D1-C779-1DA1-EBAF03913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3086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7DBC-C9FE-BCEA-5062-32C6FE4B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AB2DE-6511-DC57-795C-40C683787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07053-B951-1F59-37AB-AD42D506B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48788-A78C-E607-E12E-9B6D9A0F5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0627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Ventajas de YOLOv1</a:t>
            </a:r>
          </a:p>
          <a:p>
            <a:pPr marL="0" indent="0">
              <a:buFont typeface="+mj-lt"/>
              <a:buNone/>
            </a:pPr>
            <a:r>
              <a:rPr lang="es-ES" b="1" dirty="0"/>
              <a:t>1. Velocidad muy alta (tiempo real)</a:t>
            </a:r>
          </a:p>
          <a:p>
            <a:pPr marL="457200" lvl="1" indent="0">
              <a:buFont typeface="+mj-lt"/>
              <a:buNone/>
            </a:pPr>
            <a:r>
              <a:rPr lang="es-ES" dirty="0"/>
              <a:t>YOLOv1 es extremadamente rápido porque realiza </a:t>
            </a:r>
            <a:r>
              <a:rPr lang="es-ES" b="1" dirty="0"/>
              <a:t>todas las detecciones en una sola pasada</a:t>
            </a:r>
            <a:r>
              <a:rPr lang="es-ES" dirty="0"/>
              <a:t> por la red neuronal. Esto lo hace ideal para aplicaciones en tiempo real, como cámaras de vigilancia o autos autónomos.</a:t>
            </a:r>
          </a:p>
          <a:p>
            <a:endParaRPr lang="es-ES" b="1" dirty="0"/>
          </a:p>
          <a:p>
            <a:pPr marL="0" indent="0">
              <a:buFont typeface="+mj-lt"/>
              <a:buNone/>
            </a:pPr>
            <a:r>
              <a:rPr lang="es-ES" b="1" dirty="0"/>
              <a:t>2. Modelo unificado (</a:t>
            </a:r>
            <a:r>
              <a:rPr lang="es-ES" b="1" dirty="0" err="1"/>
              <a:t>end-to-end</a:t>
            </a:r>
            <a:r>
              <a:rPr lang="es-ES" b="1" dirty="0"/>
              <a:t>)</a:t>
            </a:r>
            <a:endParaRPr lang="es-ES" dirty="0"/>
          </a:p>
          <a:p>
            <a:pPr lvl="1"/>
            <a:r>
              <a:rPr lang="es-ES" dirty="0"/>
              <a:t>Toda la detección de objetos se trata como un </a:t>
            </a:r>
            <a:r>
              <a:rPr lang="es-ES" b="1" dirty="0"/>
              <a:t>único problema de regresión</a:t>
            </a:r>
            <a:r>
              <a:rPr lang="es-ES" dirty="0"/>
              <a:t>, lo que simplifica el entrenamiento y la implementación. No se necesitan etapas separadas para región-propuesta y clasificación.</a:t>
            </a:r>
          </a:p>
          <a:p>
            <a:endParaRPr lang="es-ES" b="1" dirty="0"/>
          </a:p>
          <a:p>
            <a:r>
              <a:rPr lang="es-ES" b="1" dirty="0"/>
              <a:t>3. Predicciones globales</a:t>
            </a:r>
            <a:endParaRPr lang="es-ES" dirty="0"/>
          </a:p>
          <a:p>
            <a:pPr lvl="1"/>
            <a:r>
              <a:rPr lang="es-ES" dirty="0"/>
              <a:t>Como analiza la imagen completa en una sola vez, YOLO tiene una mejor comprensión del </a:t>
            </a:r>
            <a:r>
              <a:rPr lang="es-ES" b="1" dirty="0"/>
              <a:t>contexto global</a:t>
            </a:r>
            <a:r>
              <a:rPr lang="es-ES" dirty="0"/>
              <a:t>, lo que reduce los falsos positivos en zonas confusas.</a:t>
            </a:r>
          </a:p>
          <a:p>
            <a:endParaRPr lang="es-ES" b="1" dirty="0"/>
          </a:p>
          <a:p>
            <a:r>
              <a:rPr lang="es-ES" b="1" dirty="0"/>
              <a:t>4. Fácil de implementar y reproducir</a:t>
            </a:r>
            <a:endParaRPr lang="es-ES" dirty="0"/>
          </a:p>
          <a:p>
            <a:pPr lvl="1"/>
            <a:r>
              <a:rPr lang="es-ES" dirty="0"/>
              <a:t>Su estructura sencilla hace que sea más accesible para estudiantes y desarrolladores que comienzan en detección de objetos.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6759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Desventajas de YOLOv1</a:t>
            </a:r>
          </a:p>
          <a:p>
            <a:r>
              <a:rPr lang="es-ES" b="1" dirty="0"/>
              <a:t>1. Baja precisión con objetos pequeños o cercanos entre sí</a:t>
            </a:r>
            <a:endParaRPr lang="es-ES" dirty="0"/>
          </a:p>
          <a:p>
            <a:pPr lvl="1"/>
            <a:r>
              <a:rPr lang="es-ES" dirty="0"/>
              <a:t>Debido a que cada celda solo puede predecir un número limitado de objetos (generalmente 2), YOLOv1 falla al detectar múltiples objetos pequeños en una misma región.</a:t>
            </a:r>
          </a:p>
          <a:p>
            <a:endParaRPr lang="es-ES" b="1" dirty="0"/>
          </a:p>
          <a:p>
            <a:r>
              <a:rPr lang="es-ES" b="1" dirty="0"/>
              <a:t>2. Ubicación de cajas menos precisa</a:t>
            </a:r>
            <a:endParaRPr lang="es-ES" dirty="0"/>
          </a:p>
          <a:p>
            <a:pPr lvl="1"/>
            <a:r>
              <a:rPr lang="es-ES" dirty="0"/>
              <a:t>El modelo tiende a generar </a:t>
            </a:r>
            <a:r>
              <a:rPr lang="es-ES" b="1" dirty="0"/>
              <a:t>cajas delimitadoras menos precisas</a:t>
            </a:r>
            <a:r>
              <a:rPr lang="es-ES" dirty="0"/>
              <a:t> que otros enfoques más complejos, especialmente en los bordes.</a:t>
            </a:r>
          </a:p>
          <a:p>
            <a:endParaRPr lang="es-ES" b="1" dirty="0"/>
          </a:p>
          <a:p>
            <a:r>
              <a:rPr lang="es-ES" b="1" dirty="0"/>
              <a:t>3. Problemas con objetos que cruzan celdas</a:t>
            </a:r>
            <a:endParaRPr lang="es-ES" dirty="0"/>
          </a:p>
          <a:p>
            <a:pPr lvl="1"/>
            <a:r>
              <a:rPr lang="es-ES" dirty="0"/>
              <a:t>Si un objeto se encuentra entre dos celdas, puede que ninguna lo detecte correctamente, ya que cada celda solo se responsabiliza por objetos cuyo centro esté dentro de ella.</a:t>
            </a:r>
          </a:p>
          <a:p>
            <a:endParaRPr lang="es-ES" b="1" dirty="0"/>
          </a:p>
          <a:p>
            <a:r>
              <a:rPr lang="es-ES" b="1" dirty="0"/>
              <a:t>4. </a:t>
            </a:r>
            <a:r>
              <a:rPr lang="es-ES" b="1" dirty="0" err="1"/>
              <a:t>Trade</a:t>
            </a:r>
            <a:r>
              <a:rPr lang="es-ES" b="1" dirty="0"/>
              <a:t>-off entre rapidez y precisión</a:t>
            </a:r>
            <a:endParaRPr lang="es-ES" dirty="0"/>
          </a:p>
          <a:p>
            <a:pPr lvl="1"/>
            <a:r>
              <a:rPr lang="es-ES" dirty="0"/>
              <a:t>Aunque YOLOv1 es rápido, </a:t>
            </a:r>
            <a:r>
              <a:rPr lang="es-ES" b="1" dirty="0"/>
              <a:t>sacrifica algo de precisión</a:t>
            </a:r>
            <a:r>
              <a:rPr lang="es-ES" dirty="0"/>
              <a:t>, especialmente en detecciones complejas. Es un claro ejemplo del clásico compromiso velocidad vs. exactitud.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435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‹Nº›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4678" y="329162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Tópicos avanzados en Inteligencia Artificial 1 | 2026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778046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48550/arXiv.1910.01268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38/s41598-021-81216-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3163330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EA85186-DB61-44DB-AC9B-36382C9DEAE5}"/>
              </a:ext>
            </a:extLst>
          </p:cNvPr>
          <p:cNvSpPr txBox="1"/>
          <p:nvPr/>
        </p:nvSpPr>
        <p:spPr>
          <a:xfrm>
            <a:off x="-247794" y="223086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20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E4D25E6-1475-41EF-BF64-AD8F37820790}"/>
              </a:ext>
            </a:extLst>
          </p:cNvPr>
          <p:cNvSpPr txBox="1"/>
          <p:nvPr/>
        </p:nvSpPr>
        <p:spPr>
          <a:xfrm>
            <a:off x="-247794" y="442161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26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EE8F19A-4B94-46D7-848B-682BCA26792F}"/>
              </a:ext>
            </a:extLst>
          </p:cNvPr>
          <p:cNvGrpSpPr/>
          <p:nvPr/>
        </p:nvGrpSpPr>
        <p:grpSpPr>
          <a:xfrm>
            <a:off x="4664487" y="2820152"/>
            <a:ext cx="2810041" cy="471179"/>
            <a:chOff x="4146859" y="3656362"/>
            <a:chExt cx="4114181" cy="689853"/>
          </a:xfrm>
        </p:grpSpPr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DC30F01A-AFA6-4122-99C9-6AB759A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859" y="3656362"/>
              <a:ext cx="362934" cy="667689"/>
            </a:xfrm>
            <a:custGeom>
              <a:avLst/>
              <a:gdLst>
                <a:gd name="T0" fmla="*/ 146 w 151"/>
                <a:gd name="T1" fmla="*/ 63 h 276"/>
                <a:gd name="T2" fmla="*/ 141 w 151"/>
                <a:gd name="T3" fmla="*/ 82 h 276"/>
                <a:gd name="T4" fmla="*/ 123 w 151"/>
                <a:gd name="T5" fmla="*/ 82 h 276"/>
                <a:gd name="T6" fmla="*/ 129 w 151"/>
                <a:gd name="T7" fmla="*/ 58 h 276"/>
                <a:gd name="T8" fmla="*/ 132 w 151"/>
                <a:gd name="T9" fmla="*/ 41 h 276"/>
                <a:gd name="T10" fmla="*/ 104 w 151"/>
                <a:gd name="T11" fmla="*/ 16 h 276"/>
                <a:gd name="T12" fmla="*/ 75 w 151"/>
                <a:gd name="T13" fmla="*/ 32 h 276"/>
                <a:gd name="T14" fmla="*/ 62 w 151"/>
                <a:gd name="T15" fmla="*/ 77 h 276"/>
                <a:gd name="T16" fmla="*/ 75 w 151"/>
                <a:gd name="T17" fmla="*/ 112 h 276"/>
                <a:gd name="T18" fmla="*/ 96 w 151"/>
                <a:gd name="T19" fmla="*/ 142 h 276"/>
                <a:gd name="T20" fmla="*/ 112 w 151"/>
                <a:gd name="T21" fmla="*/ 170 h 276"/>
                <a:gd name="T22" fmla="*/ 116 w 151"/>
                <a:gd name="T23" fmla="*/ 195 h 276"/>
                <a:gd name="T24" fmla="*/ 92 w 151"/>
                <a:gd name="T25" fmla="*/ 262 h 276"/>
                <a:gd name="T26" fmla="*/ 50 w 151"/>
                <a:gd name="T27" fmla="*/ 276 h 276"/>
                <a:gd name="T28" fmla="*/ 0 w 151"/>
                <a:gd name="T29" fmla="*/ 233 h 276"/>
                <a:gd name="T30" fmla="*/ 5 w 151"/>
                <a:gd name="T31" fmla="*/ 202 h 276"/>
                <a:gd name="T32" fmla="*/ 10 w 151"/>
                <a:gd name="T33" fmla="*/ 184 h 276"/>
                <a:gd name="T34" fmla="*/ 28 w 151"/>
                <a:gd name="T35" fmla="*/ 184 h 276"/>
                <a:gd name="T36" fmla="*/ 23 w 151"/>
                <a:gd name="T37" fmla="*/ 205 h 276"/>
                <a:gd name="T38" fmla="*/ 20 w 151"/>
                <a:gd name="T39" fmla="*/ 217 h 276"/>
                <a:gd name="T40" fmla="*/ 18 w 151"/>
                <a:gd name="T41" fmla="*/ 231 h 276"/>
                <a:gd name="T42" fmla="*/ 51 w 151"/>
                <a:gd name="T43" fmla="*/ 260 h 276"/>
                <a:gd name="T44" fmla="*/ 82 w 151"/>
                <a:gd name="T45" fmla="*/ 249 h 276"/>
                <a:gd name="T46" fmla="*/ 97 w 151"/>
                <a:gd name="T47" fmla="*/ 196 h 276"/>
                <a:gd name="T48" fmla="*/ 81 w 151"/>
                <a:gd name="T49" fmla="*/ 153 h 276"/>
                <a:gd name="T50" fmla="*/ 59 w 151"/>
                <a:gd name="T51" fmla="*/ 123 h 276"/>
                <a:gd name="T52" fmla="*/ 44 w 151"/>
                <a:gd name="T53" fmla="*/ 76 h 276"/>
                <a:gd name="T54" fmla="*/ 51 w 151"/>
                <a:gd name="T55" fmla="*/ 39 h 276"/>
                <a:gd name="T56" fmla="*/ 106 w 151"/>
                <a:gd name="T57" fmla="*/ 0 h 276"/>
                <a:gd name="T58" fmla="*/ 150 w 151"/>
                <a:gd name="T59" fmla="*/ 36 h 276"/>
                <a:gd name="T60" fmla="*/ 146 w 151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1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4" y="16"/>
                  </a:cubicBezTo>
                  <a:cubicBezTo>
                    <a:pt x="90" y="16"/>
                    <a:pt x="81" y="20"/>
                    <a:pt x="75" y="32"/>
                  </a:cubicBezTo>
                  <a:cubicBezTo>
                    <a:pt x="68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0"/>
                  </a:cubicBezTo>
                  <a:cubicBezTo>
                    <a:pt x="114" y="178"/>
                    <a:pt x="116" y="186"/>
                    <a:pt x="116" y="195"/>
                  </a:cubicBezTo>
                  <a:cubicBezTo>
                    <a:pt x="115" y="222"/>
                    <a:pt x="106" y="249"/>
                    <a:pt x="92" y="262"/>
                  </a:cubicBezTo>
                  <a:cubicBezTo>
                    <a:pt x="82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1" y="221"/>
                    <a:pt x="5" y="202"/>
                  </a:cubicBezTo>
                  <a:cubicBezTo>
                    <a:pt x="10" y="184"/>
                    <a:pt x="10" y="184"/>
                    <a:pt x="10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2" y="212"/>
                    <a:pt x="21" y="216"/>
                    <a:pt x="20" y="217"/>
                  </a:cubicBezTo>
                  <a:cubicBezTo>
                    <a:pt x="19" y="222"/>
                    <a:pt x="19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2" y="249"/>
                  </a:cubicBezTo>
                  <a:cubicBezTo>
                    <a:pt x="91" y="238"/>
                    <a:pt x="97" y="216"/>
                    <a:pt x="97" y="196"/>
                  </a:cubicBezTo>
                  <a:cubicBezTo>
                    <a:pt x="98" y="182"/>
                    <a:pt x="93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4" y="92"/>
                    <a:pt x="44" y="76"/>
                  </a:cubicBezTo>
                  <a:cubicBezTo>
                    <a:pt x="44" y="65"/>
                    <a:pt x="47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1" y="14"/>
                    <a:pt x="150" y="36"/>
                  </a:cubicBezTo>
                  <a:cubicBezTo>
                    <a:pt x="150" y="43"/>
                    <a:pt x="150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27AC7932-D805-4175-AD4B-448F80B16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974" y="3670215"/>
              <a:ext cx="385097" cy="656607"/>
            </a:xfrm>
            <a:custGeom>
              <a:avLst/>
              <a:gdLst>
                <a:gd name="T0" fmla="*/ 109 w 160"/>
                <a:gd name="T1" fmla="*/ 212 h 272"/>
                <a:gd name="T2" fmla="*/ 96 w 160"/>
                <a:gd name="T3" fmla="*/ 250 h 272"/>
                <a:gd name="T4" fmla="*/ 49 w 160"/>
                <a:gd name="T5" fmla="*/ 272 h 272"/>
                <a:gd name="T6" fmla="*/ 0 w 160"/>
                <a:gd name="T7" fmla="*/ 233 h 272"/>
                <a:gd name="T8" fmla="*/ 4 w 160"/>
                <a:gd name="T9" fmla="*/ 204 h 272"/>
                <a:gd name="T10" fmla="*/ 54 w 160"/>
                <a:gd name="T11" fmla="*/ 0 h 272"/>
                <a:gd name="T12" fmla="*/ 72 w 160"/>
                <a:gd name="T13" fmla="*/ 0 h 272"/>
                <a:gd name="T14" fmla="*/ 22 w 160"/>
                <a:gd name="T15" fmla="*/ 208 h 272"/>
                <a:gd name="T16" fmla="*/ 19 w 160"/>
                <a:gd name="T17" fmla="*/ 231 h 272"/>
                <a:gd name="T18" fmla="*/ 50 w 160"/>
                <a:gd name="T19" fmla="*/ 255 h 272"/>
                <a:gd name="T20" fmla="*/ 72 w 160"/>
                <a:gd name="T21" fmla="*/ 250 h 272"/>
                <a:gd name="T22" fmla="*/ 92 w 160"/>
                <a:gd name="T23" fmla="*/ 207 h 272"/>
                <a:gd name="T24" fmla="*/ 142 w 160"/>
                <a:gd name="T25" fmla="*/ 1 h 272"/>
                <a:gd name="T26" fmla="*/ 160 w 160"/>
                <a:gd name="T27" fmla="*/ 1 h 272"/>
                <a:gd name="T28" fmla="*/ 109 w 160"/>
                <a:gd name="T29" fmla="*/ 21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272">
                  <a:moveTo>
                    <a:pt x="109" y="212"/>
                  </a:moveTo>
                  <a:cubicBezTo>
                    <a:pt x="105" y="228"/>
                    <a:pt x="101" y="242"/>
                    <a:pt x="96" y="250"/>
                  </a:cubicBezTo>
                  <a:cubicBezTo>
                    <a:pt x="87" y="265"/>
                    <a:pt x="71" y="272"/>
                    <a:pt x="49" y="272"/>
                  </a:cubicBezTo>
                  <a:cubicBezTo>
                    <a:pt x="18" y="272"/>
                    <a:pt x="0" y="258"/>
                    <a:pt x="0" y="233"/>
                  </a:cubicBezTo>
                  <a:cubicBezTo>
                    <a:pt x="0" y="226"/>
                    <a:pt x="1" y="220"/>
                    <a:pt x="4" y="20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2" y="208"/>
                    <a:pt x="22" y="208"/>
                    <a:pt x="22" y="208"/>
                  </a:cubicBezTo>
                  <a:cubicBezTo>
                    <a:pt x="20" y="217"/>
                    <a:pt x="19" y="225"/>
                    <a:pt x="19" y="231"/>
                  </a:cubicBezTo>
                  <a:cubicBezTo>
                    <a:pt x="18" y="246"/>
                    <a:pt x="30" y="255"/>
                    <a:pt x="50" y="255"/>
                  </a:cubicBezTo>
                  <a:cubicBezTo>
                    <a:pt x="59" y="255"/>
                    <a:pt x="67" y="254"/>
                    <a:pt x="72" y="250"/>
                  </a:cubicBezTo>
                  <a:cubicBezTo>
                    <a:pt x="81" y="244"/>
                    <a:pt x="86" y="234"/>
                    <a:pt x="92" y="207"/>
                  </a:cubicBezTo>
                  <a:cubicBezTo>
                    <a:pt x="142" y="1"/>
                    <a:pt x="142" y="1"/>
                    <a:pt x="142" y="1"/>
                  </a:cubicBezTo>
                  <a:cubicBezTo>
                    <a:pt x="160" y="1"/>
                    <a:pt x="160" y="1"/>
                    <a:pt x="160" y="1"/>
                  </a:cubicBezTo>
                  <a:lnTo>
                    <a:pt x="109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61465C2B-7B9B-4B25-88DB-C2AA64659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778" y="3664674"/>
              <a:ext cx="362934" cy="664918"/>
            </a:xfrm>
            <a:custGeom>
              <a:avLst/>
              <a:gdLst>
                <a:gd name="T0" fmla="*/ 146 w 150"/>
                <a:gd name="T1" fmla="*/ 63 h 276"/>
                <a:gd name="T2" fmla="*/ 141 w 150"/>
                <a:gd name="T3" fmla="*/ 82 h 276"/>
                <a:gd name="T4" fmla="*/ 123 w 150"/>
                <a:gd name="T5" fmla="*/ 82 h 276"/>
                <a:gd name="T6" fmla="*/ 129 w 150"/>
                <a:gd name="T7" fmla="*/ 58 h 276"/>
                <a:gd name="T8" fmla="*/ 132 w 150"/>
                <a:gd name="T9" fmla="*/ 41 h 276"/>
                <a:gd name="T10" fmla="*/ 103 w 150"/>
                <a:gd name="T11" fmla="*/ 16 h 276"/>
                <a:gd name="T12" fmla="*/ 74 w 150"/>
                <a:gd name="T13" fmla="*/ 32 h 276"/>
                <a:gd name="T14" fmla="*/ 62 w 150"/>
                <a:gd name="T15" fmla="*/ 77 h 276"/>
                <a:gd name="T16" fmla="*/ 75 w 150"/>
                <a:gd name="T17" fmla="*/ 112 h 276"/>
                <a:gd name="T18" fmla="*/ 96 w 150"/>
                <a:gd name="T19" fmla="*/ 142 h 276"/>
                <a:gd name="T20" fmla="*/ 112 w 150"/>
                <a:gd name="T21" fmla="*/ 171 h 276"/>
                <a:gd name="T22" fmla="*/ 115 w 150"/>
                <a:gd name="T23" fmla="*/ 195 h 276"/>
                <a:gd name="T24" fmla="*/ 92 w 150"/>
                <a:gd name="T25" fmla="*/ 262 h 276"/>
                <a:gd name="T26" fmla="*/ 50 w 150"/>
                <a:gd name="T27" fmla="*/ 276 h 276"/>
                <a:gd name="T28" fmla="*/ 0 w 150"/>
                <a:gd name="T29" fmla="*/ 233 h 276"/>
                <a:gd name="T30" fmla="*/ 5 w 150"/>
                <a:gd name="T31" fmla="*/ 202 h 276"/>
                <a:gd name="T32" fmla="*/ 9 w 150"/>
                <a:gd name="T33" fmla="*/ 184 h 276"/>
                <a:gd name="T34" fmla="*/ 28 w 150"/>
                <a:gd name="T35" fmla="*/ 184 h 276"/>
                <a:gd name="T36" fmla="*/ 23 w 150"/>
                <a:gd name="T37" fmla="*/ 205 h 276"/>
                <a:gd name="T38" fmla="*/ 20 w 150"/>
                <a:gd name="T39" fmla="*/ 217 h 276"/>
                <a:gd name="T40" fmla="*/ 18 w 150"/>
                <a:gd name="T41" fmla="*/ 231 h 276"/>
                <a:gd name="T42" fmla="*/ 51 w 150"/>
                <a:gd name="T43" fmla="*/ 260 h 276"/>
                <a:gd name="T44" fmla="*/ 81 w 150"/>
                <a:gd name="T45" fmla="*/ 249 h 276"/>
                <a:gd name="T46" fmla="*/ 97 w 150"/>
                <a:gd name="T47" fmla="*/ 196 h 276"/>
                <a:gd name="T48" fmla="*/ 81 w 150"/>
                <a:gd name="T49" fmla="*/ 153 h 276"/>
                <a:gd name="T50" fmla="*/ 59 w 150"/>
                <a:gd name="T51" fmla="*/ 123 h 276"/>
                <a:gd name="T52" fmla="*/ 43 w 150"/>
                <a:gd name="T53" fmla="*/ 76 h 276"/>
                <a:gd name="T54" fmla="*/ 51 w 150"/>
                <a:gd name="T55" fmla="*/ 39 h 276"/>
                <a:gd name="T56" fmla="*/ 106 w 150"/>
                <a:gd name="T57" fmla="*/ 0 h 276"/>
                <a:gd name="T58" fmla="*/ 150 w 150"/>
                <a:gd name="T59" fmla="*/ 36 h 276"/>
                <a:gd name="T60" fmla="*/ 146 w 150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0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3" y="16"/>
                  </a:cubicBezTo>
                  <a:cubicBezTo>
                    <a:pt x="90" y="16"/>
                    <a:pt x="81" y="20"/>
                    <a:pt x="74" y="32"/>
                  </a:cubicBezTo>
                  <a:cubicBezTo>
                    <a:pt x="67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1"/>
                  </a:cubicBezTo>
                  <a:cubicBezTo>
                    <a:pt x="114" y="178"/>
                    <a:pt x="115" y="186"/>
                    <a:pt x="115" y="195"/>
                  </a:cubicBezTo>
                  <a:cubicBezTo>
                    <a:pt x="115" y="222"/>
                    <a:pt x="105" y="249"/>
                    <a:pt x="92" y="262"/>
                  </a:cubicBezTo>
                  <a:cubicBezTo>
                    <a:pt x="81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0" y="221"/>
                    <a:pt x="5" y="202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1" y="212"/>
                    <a:pt x="21" y="216"/>
                    <a:pt x="20" y="217"/>
                  </a:cubicBezTo>
                  <a:cubicBezTo>
                    <a:pt x="19" y="222"/>
                    <a:pt x="18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1" y="249"/>
                  </a:cubicBezTo>
                  <a:cubicBezTo>
                    <a:pt x="90" y="238"/>
                    <a:pt x="97" y="216"/>
                    <a:pt x="97" y="196"/>
                  </a:cubicBezTo>
                  <a:cubicBezTo>
                    <a:pt x="97" y="182"/>
                    <a:pt x="92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3" y="92"/>
                    <a:pt x="43" y="76"/>
                  </a:cubicBezTo>
                  <a:cubicBezTo>
                    <a:pt x="44" y="65"/>
                    <a:pt x="46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0" y="14"/>
                    <a:pt x="150" y="36"/>
                  </a:cubicBezTo>
                  <a:cubicBezTo>
                    <a:pt x="150" y="43"/>
                    <a:pt x="149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40948CE2-4865-4C3C-B1A7-288609C1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3" y="3675756"/>
              <a:ext cx="307524" cy="648295"/>
            </a:xfrm>
            <a:custGeom>
              <a:avLst/>
              <a:gdLst>
                <a:gd name="T0" fmla="*/ 108 w 111"/>
                <a:gd name="T1" fmla="*/ 15 h 234"/>
                <a:gd name="T2" fmla="*/ 69 w 111"/>
                <a:gd name="T3" fmla="*/ 15 h 234"/>
                <a:gd name="T4" fmla="*/ 17 w 111"/>
                <a:gd name="T5" fmla="*/ 234 h 234"/>
                <a:gd name="T6" fmla="*/ 0 w 111"/>
                <a:gd name="T7" fmla="*/ 234 h 234"/>
                <a:gd name="T8" fmla="*/ 52 w 111"/>
                <a:gd name="T9" fmla="*/ 15 h 234"/>
                <a:gd name="T10" fmla="*/ 13 w 111"/>
                <a:gd name="T11" fmla="*/ 15 h 234"/>
                <a:gd name="T12" fmla="*/ 17 w 111"/>
                <a:gd name="T13" fmla="*/ 0 h 234"/>
                <a:gd name="T14" fmla="*/ 111 w 111"/>
                <a:gd name="T15" fmla="*/ 1 h 234"/>
                <a:gd name="T16" fmla="*/ 108 w 111"/>
                <a:gd name="T17" fmla="*/ 1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34">
                  <a:moveTo>
                    <a:pt x="108" y="15"/>
                  </a:moveTo>
                  <a:lnTo>
                    <a:pt x="69" y="15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52" y="15"/>
                  </a:lnTo>
                  <a:lnTo>
                    <a:pt x="13" y="15"/>
                  </a:lnTo>
                  <a:lnTo>
                    <a:pt x="17" y="0"/>
                  </a:lnTo>
                  <a:lnTo>
                    <a:pt x="111" y="1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A6DA7523-8198-43CA-A281-DFC5A6B7B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6302" y="3675756"/>
              <a:ext cx="335229" cy="651066"/>
            </a:xfrm>
            <a:custGeom>
              <a:avLst/>
              <a:gdLst>
                <a:gd name="T0" fmla="*/ 53 w 121"/>
                <a:gd name="T1" fmla="*/ 148 h 235"/>
                <a:gd name="T2" fmla="*/ 96 w 121"/>
                <a:gd name="T3" fmla="*/ 148 h 235"/>
                <a:gd name="T4" fmla="*/ 107 w 121"/>
                <a:gd name="T5" fmla="*/ 19 h 235"/>
                <a:gd name="T6" fmla="*/ 53 w 121"/>
                <a:gd name="T7" fmla="*/ 148 h 235"/>
                <a:gd name="T8" fmla="*/ 107 w 121"/>
                <a:gd name="T9" fmla="*/ 235 h 235"/>
                <a:gd name="T10" fmla="*/ 91 w 121"/>
                <a:gd name="T11" fmla="*/ 235 h 235"/>
                <a:gd name="T12" fmla="*/ 96 w 121"/>
                <a:gd name="T13" fmla="*/ 164 h 235"/>
                <a:gd name="T14" fmla="*/ 47 w 121"/>
                <a:gd name="T15" fmla="*/ 163 h 235"/>
                <a:gd name="T16" fmla="*/ 16 w 121"/>
                <a:gd name="T17" fmla="*/ 235 h 235"/>
                <a:gd name="T18" fmla="*/ 0 w 121"/>
                <a:gd name="T19" fmla="*/ 235 h 235"/>
                <a:gd name="T20" fmla="*/ 99 w 121"/>
                <a:gd name="T21" fmla="*/ 0 h 235"/>
                <a:gd name="T22" fmla="*/ 121 w 121"/>
                <a:gd name="T23" fmla="*/ 0 h 235"/>
                <a:gd name="T24" fmla="*/ 107 w 121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1" h="235">
                  <a:moveTo>
                    <a:pt x="53" y="148"/>
                  </a:moveTo>
                  <a:lnTo>
                    <a:pt x="96" y="148"/>
                  </a:lnTo>
                  <a:lnTo>
                    <a:pt x="107" y="19"/>
                  </a:lnTo>
                  <a:lnTo>
                    <a:pt x="53" y="148"/>
                  </a:lnTo>
                  <a:close/>
                  <a:moveTo>
                    <a:pt x="107" y="235"/>
                  </a:moveTo>
                  <a:lnTo>
                    <a:pt x="91" y="235"/>
                  </a:lnTo>
                  <a:lnTo>
                    <a:pt x="96" y="164"/>
                  </a:lnTo>
                  <a:lnTo>
                    <a:pt x="47" y="163"/>
                  </a:lnTo>
                  <a:lnTo>
                    <a:pt x="16" y="235"/>
                  </a:lnTo>
                  <a:lnTo>
                    <a:pt x="0" y="235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07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DAA9A62C-8587-447A-AA3B-4F9C7977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811" y="3684067"/>
              <a:ext cx="196704" cy="642754"/>
            </a:xfrm>
            <a:custGeom>
              <a:avLst/>
              <a:gdLst>
                <a:gd name="T0" fmla="*/ 16 w 71"/>
                <a:gd name="T1" fmla="*/ 232 h 232"/>
                <a:gd name="T2" fmla="*/ 0 w 71"/>
                <a:gd name="T3" fmla="*/ 232 h 232"/>
                <a:gd name="T4" fmla="*/ 56 w 71"/>
                <a:gd name="T5" fmla="*/ 0 h 232"/>
                <a:gd name="T6" fmla="*/ 71 w 71"/>
                <a:gd name="T7" fmla="*/ 0 h 232"/>
                <a:gd name="T8" fmla="*/ 16 w 71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32">
                  <a:moveTo>
                    <a:pt x="16" y="232"/>
                  </a:moveTo>
                  <a:lnTo>
                    <a:pt x="0" y="232"/>
                  </a:lnTo>
                  <a:lnTo>
                    <a:pt x="56" y="0"/>
                  </a:lnTo>
                  <a:lnTo>
                    <a:pt x="71" y="0"/>
                  </a:lnTo>
                  <a:lnTo>
                    <a:pt x="16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6503B5E5-5612-4DAA-A5A9-642D640E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909" y="3684067"/>
              <a:ext cx="412802" cy="648295"/>
            </a:xfrm>
            <a:custGeom>
              <a:avLst/>
              <a:gdLst>
                <a:gd name="T0" fmla="*/ 93 w 149"/>
                <a:gd name="T1" fmla="*/ 234 h 234"/>
                <a:gd name="T2" fmla="*/ 68 w 149"/>
                <a:gd name="T3" fmla="*/ 234 h 234"/>
                <a:gd name="T4" fmla="*/ 66 w 149"/>
                <a:gd name="T5" fmla="*/ 17 h 234"/>
                <a:gd name="T6" fmla="*/ 16 w 149"/>
                <a:gd name="T7" fmla="*/ 233 h 234"/>
                <a:gd name="T8" fmla="*/ 0 w 149"/>
                <a:gd name="T9" fmla="*/ 233 h 234"/>
                <a:gd name="T10" fmla="*/ 56 w 149"/>
                <a:gd name="T11" fmla="*/ 0 h 234"/>
                <a:gd name="T12" fmla="*/ 80 w 149"/>
                <a:gd name="T13" fmla="*/ 1 h 234"/>
                <a:gd name="T14" fmla="*/ 83 w 149"/>
                <a:gd name="T15" fmla="*/ 224 h 234"/>
                <a:gd name="T16" fmla="*/ 134 w 149"/>
                <a:gd name="T17" fmla="*/ 1 h 234"/>
                <a:gd name="T18" fmla="*/ 149 w 149"/>
                <a:gd name="T19" fmla="*/ 1 h 234"/>
                <a:gd name="T20" fmla="*/ 93 w 149"/>
                <a:gd name="T2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" h="234">
                  <a:moveTo>
                    <a:pt x="93" y="234"/>
                  </a:moveTo>
                  <a:lnTo>
                    <a:pt x="68" y="234"/>
                  </a:lnTo>
                  <a:lnTo>
                    <a:pt x="66" y="17"/>
                  </a:lnTo>
                  <a:lnTo>
                    <a:pt x="16" y="233"/>
                  </a:lnTo>
                  <a:lnTo>
                    <a:pt x="0" y="233"/>
                  </a:lnTo>
                  <a:lnTo>
                    <a:pt x="56" y="0"/>
                  </a:lnTo>
                  <a:lnTo>
                    <a:pt x="80" y="1"/>
                  </a:lnTo>
                  <a:lnTo>
                    <a:pt x="83" y="224"/>
                  </a:lnTo>
                  <a:lnTo>
                    <a:pt x="134" y="1"/>
                  </a:lnTo>
                  <a:lnTo>
                    <a:pt x="149" y="1"/>
                  </a:lnTo>
                  <a:lnTo>
                    <a:pt x="93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E7F3BB04-B1BF-4565-BB5B-F1AE9CB24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1860" y="3686838"/>
              <a:ext cx="340770" cy="651066"/>
            </a:xfrm>
            <a:custGeom>
              <a:avLst/>
              <a:gdLst>
                <a:gd name="T0" fmla="*/ 53 w 123"/>
                <a:gd name="T1" fmla="*/ 148 h 235"/>
                <a:gd name="T2" fmla="*/ 98 w 123"/>
                <a:gd name="T3" fmla="*/ 148 h 235"/>
                <a:gd name="T4" fmla="*/ 108 w 123"/>
                <a:gd name="T5" fmla="*/ 17 h 235"/>
                <a:gd name="T6" fmla="*/ 53 w 123"/>
                <a:gd name="T7" fmla="*/ 148 h 235"/>
                <a:gd name="T8" fmla="*/ 108 w 123"/>
                <a:gd name="T9" fmla="*/ 235 h 235"/>
                <a:gd name="T10" fmla="*/ 91 w 123"/>
                <a:gd name="T11" fmla="*/ 234 h 235"/>
                <a:gd name="T12" fmla="*/ 97 w 123"/>
                <a:gd name="T13" fmla="*/ 164 h 235"/>
                <a:gd name="T14" fmla="*/ 47 w 123"/>
                <a:gd name="T15" fmla="*/ 163 h 235"/>
                <a:gd name="T16" fmla="*/ 17 w 123"/>
                <a:gd name="T17" fmla="*/ 234 h 235"/>
                <a:gd name="T18" fmla="*/ 0 w 123"/>
                <a:gd name="T19" fmla="*/ 234 h 235"/>
                <a:gd name="T20" fmla="*/ 100 w 123"/>
                <a:gd name="T21" fmla="*/ 0 h 235"/>
                <a:gd name="T22" fmla="*/ 123 w 123"/>
                <a:gd name="T23" fmla="*/ 0 h 235"/>
                <a:gd name="T24" fmla="*/ 108 w 123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35">
                  <a:moveTo>
                    <a:pt x="53" y="148"/>
                  </a:moveTo>
                  <a:lnTo>
                    <a:pt x="98" y="148"/>
                  </a:lnTo>
                  <a:lnTo>
                    <a:pt x="108" y="17"/>
                  </a:lnTo>
                  <a:lnTo>
                    <a:pt x="53" y="148"/>
                  </a:lnTo>
                  <a:close/>
                  <a:moveTo>
                    <a:pt x="108" y="235"/>
                  </a:moveTo>
                  <a:lnTo>
                    <a:pt x="91" y="234"/>
                  </a:lnTo>
                  <a:lnTo>
                    <a:pt x="97" y="164"/>
                  </a:lnTo>
                  <a:lnTo>
                    <a:pt x="47" y="163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100" y="0"/>
                  </a:lnTo>
                  <a:lnTo>
                    <a:pt x="123" y="0"/>
                  </a:lnTo>
                  <a:lnTo>
                    <a:pt x="108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4FA503D0-C63C-47F8-B45F-437E5B968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5138" y="3692379"/>
              <a:ext cx="351852" cy="648295"/>
            </a:xfrm>
            <a:custGeom>
              <a:avLst/>
              <a:gdLst>
                <a:gd name="T0" fmla="*/ 96 w 146"/>
                <a:gd name="T1" fmla="*/ 17 h 269"/>
                <a:gd name="T2" fmla="*/ 78 w 146"/>
                <a:gd name="T3" fmla="*/ 17 h 269"/>
                <a:gd name="T4" fmla="*/ 54 w 146"/>
                <a:gd name="T5" fmla="*/ 116 h 269"/>
                <a:gd name="T6" fmla="*/ 72 w 146"/>
                <a:gd name="T7" fmla="*/ 116 h 269"/>
                <a:gd name="T8" fmla="*/ 104 w 146"/>
                <a:gd name="T9" fmla="*/ 109 h 269"/>
                <a:gd name="T10" fmla="*/ 119 w 146"/>
                <a:gd name="T11" fmla="*/ 83 h 269"/>
                <a:gd name="T12" fmla="*/ 126 w 146"/>
                <a:gd name="T13" fmla="*/ 54 h 269"/>
                <a:gd name="T14" fmla="*/ 127 w 146"/>
                <a:gd name="T15" fmla="*/ 42 h 269"/>
                <a:gd name="T16" fmla="*/ 96 w 146"/>
                <a:gd name="T17" fmla="*/ 17 h 269"/>
                <a:gd name="T18" fmla="*/ 69 w 146"/>
                <a:gd name="T19" fmla="*/ 132 h 269"/>
                <a:gd name="T20" fmla="*/ 51 w 146"/>
                <a:gd name="T21" fmla="*/ 132 h 269"/>
                <a:gd name="T22" fmla="*/ 22 w 146"/>
                <a:gd name="T23" fmla="*/ 252 h 269"/>
                <a:gd name="T24" fmla="*/ 46 w 146"/>
                <a:gd name="T25" fmla="*/ 252 h 269"/>
                <a:gd name="T26" fmla="*/ 82 w 146"/>
                <a:gd name="T27" fmla="*/ 245 h 269"/>
                <a:gd name="T28" fmla="*/ 98 w 146"/>
                <a:gd name="T29" fmla="*/ 211 h 269"/>
                <a:gd name="T30" fmla="*/ 106 w 146"/>
                <a:gd name="T31" fmla="*/ 179 h 269"/>
                <a:gd name="T32" fmla="*/ 108 w 146"/>
                <a:gd name="T33" fmla="*/ 163 h 269"/>
                <a:gd name="T34" fmla="*/ 69 w 146"/>
                <a:gd name="T35" fmla="*/ 132 h 269"/>
                <a:gd name="T36" fmla="*/ 144 w 146"/>
                <a:gd name="T37" fmla="*/ 54 h 269"/>
                <a:gd name="T38" fmla="*/ 138 w 146"/>
                <a:gd name="T39" fmla="*/ 81 h 269"/>
                <a:gd name="T40" fmla="*/ 136 w 146"/>
                <a:gd name="T41" fmla="*/ 90 h 269"/>
                <a:gd name="T42" fmla="*/ 123 w 146"/>
                <a:gd name="T43" fmla="*/ 114 h 269"/>
                <a:gd name="T44" fmla="*/ 96 w 146"/>
                <a:gd name="T45" fmla="*/ 123 h 269"/>
                <a:gd name="T46" fmla="*/ 127 w 146"/>
                <a:gd name="T47" fmla="*/ 160 h 269"/>
                <a:gd name="T48" fmla="*/ 124 w 146"/>
                <a:gd name="T49" fmla="*/ 181 h 269"/>
                <a:gd name="T50" fmla="*/ 116 w 146"/>
                <a:gd name="T51" fmla="*/ 213 h 269"/>
                <a:gd name="T52" fmla="*/ 95 w 146"/>
                <a:gd name="T53" fmla="*/ 257 h 269"/>
                <a:gd name="T54" fmla="*/ 81 w 146"/>
                <a:gd name="T55" fmla="*/ 265 h 269"/>
                <a:gd name="T56" fmla="*/ 43 w 146"/>
                <a:gd name="T57" fmla="*/ 268 h 269"/>
                <a:gd name="T58" fmla="*/ 0 w 146"/>
                <a:gd name="T59" fmla="*/ 268 h 269"/>
                <a:gd name="T60" fmla="*/ 64 w 146"/>
                <a:gd name="T61" fmla="*/ 0 h 269"/>
                <a:gd name="T62" fmla="*/ 97 w 146"/>
                <a:gd name="T63" fmla="*/ 1 h 269"/>
                <a:gd name="T64" fmla="*/ 118 w 146"/>
                <a:gd name="T65" fmla="*/ 2 h 269"/>
                <a:gd name="T66" fmla="*/ 140 w 146"/>
                <a:gd name="T67" fmla="*/ 16 h 269"/>
                <a:gd name="T68" fmla="*/ 146 w 146"/>
                <a:gd name="T69" fmla="*/ 38 h 269"/>
                <a:gd name="T70" fmla="*/ 144 w 146"/>
                <a:gd name="T71" fmla="*/ 5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269">
                  <a:moveTo>
                    <a:pt x="96" y="17"/>
                  </a:moveTo>
                  <a:cubicBezTo>
                    <a:pt x="78" y="17"/>
                    <a:pt x="78" y="17"/>
                    <a:pt x="78" y="17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72" y="116"/>
                    <a:pt x="72" y="116"/>
                    <a:pt x="72" y="116"/>
                  </a:cubicBezTo>
                  <a:cubicBezTo>
                    <a:pt x="85" y="116"/>
                    <a:pt x="97" y="114"/>
                    <a:pt x="104" y="109"/>
                  </a:cubicBezTo>
                  <a:cubicBezTo>
                    <a:pt x="112" y="105"/>
                    <a:pt x="115" y="98"/>
                    <a:pt x="119" y="83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7" y="50"/>
                    <a:pt x="127" y="46"/>
                    <a:pt x="127" y="42"/>
                  </a:cubicBezTo>
                  <a:cubicBezTo>
                    <a:pt x="128" y="23"/>
                    <a:pt x="120" y="17"/>
                    <a:pt x="96" y="17"/>
                  </a:cubicBezTo>
                  <a:moveTo>
                    <a:pt x="69" y="132"/>
                  </a:moveTo>
                  <a:cubicBezTo>
                    <a:pt x="51" y="132"/>
                    <a:pt x="51" y="132"/>
                    <a:pt x="51" y="132"/>
                  </a:cubicBezTo>
                  <a:cubicBezTo>
                    <a:pt x="22" y="252"/>
                    <a:pt x="22" y="252"/>
                    <a:pt x="22" y="252"/>
                  </a:cubicBezTo>
                  <a:cubicBezTo>
                    <a:pt x="46" y="252"/>
                    <a:pt x="46" y="252"/>
                    <a:pt x="46" y="252"/>
                  </a:cubicBezTo>
                  <a:cubicBezTo>
                    <a:pt x="64" y="252"/>
                    <a:pt x="74" y="250"/>
                    <a:pt x="82" y="245"/>
                  </a:cubicBezTo>
                  <a:cubicBezTo>
                    <a:pt x="89" y="240"/>
                    <a:pt x="93" y="233"/>
                    <a:pt x="98" y="211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7" y="173"/>
                    <a:pt x="108" y="168"/>
                    <a:pt x="108" y="163"/>
                  </a:cubicBezTo>
                  <a:cubicBezTo>
                    <a:pt x="108" y="143"/>
                    <a:pt x="95" y="133"/>
                    <a:pt x="69" y="132"/>
                  </a:cubicBezTo>
                  <a:moveTo>
                    <a:pt x="144" y="54"/>
                  </a:moveTo>
                  <a:cubicBezTo>
                    <a:pt x="138" y="81"/>
                    <a:pt x="138" y="81"/>
                    <a:pt x="138" y="81"/>
                  </a:cubicBezTo>
                  <a:cubicBezTo>
                    <a:pt x="138" y="84"/>
                    <a:pt x="137" y="87"/>
                    <a:pt x="136" y="90"/>
                  </a:cubicBezTo>
                  <a:cubicBezTo>
                    <a:pt x="131" y="104"/>
                    <a:pt x="129" y="108"/>
                    <a:pt x="123" y="114"/>
                  </a:cubicBezTo>
                  <a:cubicBezTo>
                    <a:pt x="116" y="120"/>
                    <a:pt x="109" y="122"/>
                    <a:pt x="96" y="123"/>
                  </a:cubicBezTo>
                  <a:cubicBezTo>
                    <a:pt x="115" y="125"/>
                    <a:pt x="127" y="140"/>
                    <a:pt x="127" y="160"/>
                  </a:cubicBezTo>
                  <a:cubicBezTo>
                    <a:pt x="127" y="167"/>
                    <a:pt x="126" y="174"/>
                    <a:pt x="124" y="181"/>
                  </a:cubicBezTo>
                  <a:cubicBezTo>
                    <a:pt x="116" y="213"/>
                    <a:pt x="116" y="213"/>
                    <a:pt x="116" y="213"/>
                  </a:cubicBezTo>
                  <a:cubicBezTo>
                    <a:pt x="110" y="238"/>
                    <a:pt x="105" y="249"/>
                    <a:pt x="95" y="257"/>
                  </a:cubicBezTo>
                  <a:cubicBezTo>
                    <a:pt x="91" y="260"/>
                    <a:pt x="86" y="263"/>
                    <a:pt x="81" y="265"/>
                  </a:cubicBezTo>
                  <a:cubicBezTo>
                    <a:pt x="71" y="268"/>
                    <a:pt x="67" y="269"/>
                    <a:pt x="43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105" y="1"/>
                    <a:pt x="113" y="1"/>
                    <a:pt x="118" y="2"/>
                  </a:cubicBezTo>
                  <a:cubicBezTo>
                    <a:pt x="127" y="3"/>
                    <a:pt x="135" y="9"/>
                    <a:pt x="140" y="16"/>
                  </a:cubicBezTo>
                  <a:cubicBezTo>
                    <a:pt x="145" y="22"/>
                    <a:pt x="146" y="29"/>
                    <a:pt x="146" y="38"/>
                  </a:cubicBezTo>
                  <a:cubicBezTo>
                    <a:pt x="146" y="44"/>
                    <a:pt x="145" y="49"/>
                    <a:pt x="144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561322BD-2030-49E1-BE63-C18DF90F4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2400" y="3695149"/>
              <a:ext cx="224409" cy="648295"/>
            </a:xfrm>
            <a:custGeom>
              <a:avLst/>
              <a:gdLst>
                <a:gd name="T0" fmla="*/ 77 w 81"/>
                <a:gd name="T1" fmla="*/ 234 h 234"/>
                <a:gd name="T2" fmla="*/ 0 w 81"/>
                <a:gd name="T3" fmla="*/ 234 h 234"/>
                <a:gd name="T4" fmla="*/ 56 w 81"/>
                <a:gd name="T5" fmla="*/ 0 h 234"/>
                <a:gd name="T6" fmla="*/ 72 w 81"/>
                <a:gd name="T7" fmla="*/ 0 h 234"/>
                <a:gd name="T8" fmla="*/ 20 w 81"/>
                <a:gd name="T9" fmla="*/ 219 h 234"/>
                <a:gd name="T10" fmla="*/ 81 w 81"/>
                <a:gd name="T11" fmla="*/ 220 h 234"/>
                <a:gd name="T12" fmla="*/ 77 w 81"/>
                <a:gd name="T13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34">
                  <a:moveTo>
                    <a:pt x="77" y="234"/>
                  </a:moveTo>
                  <a:lnTo>
                    <a:pt x="0" y="234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20" y="219"/>
                  </a:lnTo>
                  <a:lnTo>
                    <a:pt x="81" y="220"/>
                  </a:lnTo>
                  <a:lnTo>
                    <a:pt x="77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068B0263-4BDA-4266-8231-46359A09B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253" y="3697920"/>
              <a:ext cx="376787" cy="648295"/>
            </a:xfrm>
            <a:custGeom>
              <a:avLst/>
              <a:gdLst>
                <a:gd name="T0" fmla="*/ 0 w 136"/>
                <a:gd name="T1" fmla="*/ 234 h 234"/>
                <a:gd name="T2" fmla="*/ 82 w 136"/>
                <a:gd name="T3" fmla="*/ 234 h 234"/>
                <a:gd name="T4" fmla="*/ 86 w 136"/>
                <a:gd name="T5" fmla="*/ 220 h 234"/>
                <a:gd name="T6" fmla="*/ 19 w 136"/>
                <a:gd name="T7" fmla="*/ 219 h 234"/>
                <a:gd name="T8" fmla="*/ 43 w 136"/>
                <a:gd name="T9" fmla="*/ 119 h 234"/>
                <a:gd name="T10" fmla="*/ 97 w 136"/>
                <a:gd name="T11" fmla="*/ 120 h 234"/>
                <a:gd name="T12" fmla="*/ 101 w 136"/>
                <a:gd name="T13" fmla="*/ 106 h 234"/>
                <a:gd name="T14" fmla="*/ 47 w 136"/>
                <a:gd name="T15" fmla="*/ 105 h 234"/>
                <a:gd name="T16" fmla="*/ 68 w 136"/>
                <a:gd name="T17" fmla="*/ 15 h 234"/>
                <a:gd name="T18" fmla="*/ 133 w 136"/>
                <a:gd name="T19" fmla="*/ 16 h 234"/>
                <a:gd name="T20" fmla="*/ 136 w 136"/>
                <a:gd name="T21" fmla="*/ 1 h 234"/>
                <a:gd name="T22" fmla="*/ 55 w 136"/>
                <a:gd name="T23" fmla="*/ 0 h 234"/>
                <a:gd name="T24" fmla="*/ 0 w 136"/>
                <a:gd name="T25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234">
                  <a:moveTo>
                    <a:pt x="0" y="234"/>
                  </a:moveTo>
                  <a:lnTo>
                    <a:pt x="82" y="234"/>
                  </a:lnTo>
                  <a:lnTo>
                    <a:pt x="86" y="220"/>
                  </a:lnTo>
                  <a:lnTo>
                    <a:pt x="19" y="219"/>
                  </a:lnTo>
                  <a:lnTo>
                    <a:pt x="43" y="119"/>
                  </a:lnTo>
                  <a:lnTo>
                    <a:pt x="97" y="120"/>
                  </a:lnTo>
                  <a:lnTo>
                    <a:pt x="101" y="106"/>
                  </a:lnTo>
                  <a:lnTo>
                    <a:pt x="47" y="105"/>
                  </a:lnTo>
                  <a:lnTo>
                    <a:pt x="68" y="15"/>
                  </a:lnTo>
                  <a:lnTo>
                    <a:pt x="133" y="16"/>
                  </a:lnTo>
                  <a:lnTo>
                    <a:pt x="136" y="1"/>
                  </a:lnTo>
                  <a:lnTo>
                    <a:pt x="55" y="0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7" name="Freeform 95">
            <a:extLst>
              <a:ext uri="{FF2B5EF4-FFF2-40B4-BE49-F238E27FC236}">
                <a16:creationId xmlns:a16="http://schemas.microsoft.com/office/drawing/2014/main" id="{0D9202B9-F851-497E-96DB-D38290B25AE9}"/>
              </a:ext>
            </a:extLst>
          </p:cNvPr>
          <p:cNvSpPr>
            <a:spLocks/>
          </p:cNvSpPr>
          <p:nvPr/>
        </p:nvSpPr>
        <p:spPr bwMode="auto">
          <a:xfrm>
            <a:off x="6394033" y="2286528"/>
            <a:ext cx="389810" cy="399273"/>
          </a:xfrm>
          <a:custGeom>
            <a:avLst/>
            <a:gdLst>
              <a:gd name="T0" fmla="*/ 124 w 206"/>
              <a:gd name="T1" fmla="*/ 84 h 211"/>
              <a:gd name="T2" fmla="*/ 124 w 206"/>
              <a:gd name="T3" fmla="*/ 0 h 211"/>
              <a:gd name="T4" fmla="*/ 81 w 206"/>
              <a:gd name="T5" fmla="*/ 0 h 211"/>
              <a:gd name="T6" fmla="*/ 81 w 206"/>
              <a:gd name="T7" fmla="*/ 84 h 211"/>
              <a:gd name="T8" fmla="*/ 0 w 206"/>
              <a:gd name="T9" fmla="*/ 84 h 211"/>
              <a:gd name="T10" fmla="*/ 0 w 206"/>
              <a:gd name="T11" fmla="*/ 127 h 211"/>
              <a:gd name="T12" fmla="*/ 81 w 206"/>
              <a:gd name="T13" fmla="*/ 127 h 211"/>
              <a:gd name="T14" fmla="*/ 81 w 206"/>
              <a:gd name="T15" fmla="*/ 211 h 211"/>
              <a:gd name="T16" fmla="*/ 124 w 206"/>
              <a:gd name="T17" fmla="*/ 211 h 211"/>
              <a:gd name="T18" fmla="*/ 124 w 206"/>
              <a:gd name="T19" fmla="*/ 127 h 211"/>
              <a:gd name="T20" fmla="*/ 206 w 206"/>
              <a:gd name="T21" fmla="*/ 127 h 211"/>
              <a:gd name="T22" fmla="*/ 206 w 206"/>
              <a:gd name="T23" fmla="*/ 84 h 211"/>
              <a:gd name="T24" fmla="*/ 124 w 206"/>
              <a:gd name="T25" fmla="*/ 84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6" h="211">
                <a:moveTo>
                  <a:pt x="124" y="84"/>
                </a:moveTo>
                <a:lnTo>
                  <a:pt x="124" y="0"/>
                </a:lnTo>
                <a:lnTo>
                  <a:pt x="81" y="0"/>
                </a:lnTo>
                <a:lnTo>
                  <a:pt x="81" y="84"/>
                </a:lnTo>
                <a:lnTo>
                  <a:pt x="0" y="84"/>
                </a:lnTo>
                <a:lnTo>
                  <a:pt x="0" y="127"/>
                </a:lnTo>
                <a:lnTo>
                  <a:pt x="81" y="127"/>
                </a:lnTo>
                <a:lnTo>
                  <a:pt x="81" y="211"/>
                </a:lnTo>
                <a:lnTo>
                  <a:pt x="124" y="211"/>
                </a:lnTo>
                <a:lnTo>
                  <a:pt x="124" y="127"/>
                </a:lnTo>
                <a:lnTo>
                  <a:pt x="206" y="127"/>
                </a:lnTo>
                <a:lnTo>
                  <a:pt x="206" y="84"/>
                </a:lnTo>
                <a:lnTo>
                  <a:pt x="124" y="84"/>
                </a:lnTo>
                <a:close/>
              </a:path>
            </a:pathLst>
          </a:custGeom>
          <a:solidFill>
            <a:srgbClr val="00B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02F83BB-8FC6-4DDA-B771-A0F42907B01F}"/>
              </a:ext>
            </a:extLst>
          </p:cNvPr>
          <p:cNvGrpSpPr/>
          <p:nvPr/>
        </p:nvGrpSpPr>
        <p:grpSpPr>
          <a:xfrm>
            <a:off x="4748077" y="2271174"/>
            <a:ext cx="1494903" cy="437118"/>
            <a:chOff x="4254909" y="2850150"/>
            <a:chExt cx="2188688" cy="639984"/>
          </a:xfrm>
        </p:grpSpPr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BCD3F546-2F0E-4B03-8564-B92C84AAC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909" y="2850150"/>
              <a:ext cx="293672" cy="639984"/>
            </a:xfrm>
            <a:custGeom>
              <a:avLst/>
              <a:gdLst>
                <a:gd name="T0" fmla="*/ 61 w 122"/>
                <a:gd name="T1" fmla="*/ 0 h 266"/>
                <a:gd name="T2" fmla="*/ 121 w 122"/>
                <a:gd name="T3" fmla="*/ 66 h 266"/>
                <a:gd name="T4" fmla="*/ 121 w 122"/>
                <a:gd name="T5" fmla="*/ 74 h 266"/>
                <a:gd name="T6" fmla="*/ 83 w 122"/>
                <a:gd name="T7" fmla="*/ 74 h 266"/>
                <a:gd name="T8" fmla="*/ 83 w 122"/>
                <a:gd name="T9" fmla="*/ 63 h 266"/>
                <a:gd name="T10" fmla="*/ 62 w 122"/>
                <a:gd name="T11" fmla="*/ 37 h 266"/>
                <a:gd name="T12" fmla="*/ 42 w 122"/>
                <a:gd name="T13" fmla="*/ 63 h 266"/>
                <a:gd name="T14" fmla="*/ 122 w 122"/>
                <a:gd name="T15" fmla="*/ 200 h 266"/>
                <a:gd name="T16" fmla="*/ 61 w 122"/>
                <a:gd name="T17" fmla="*/ 266 h 266"/>
                <a:gd name="T18" fmla="*/ 0 w 122"/>
                <a:gd name="T19" fmla="*/ 200 h 266"/>
                <a:gd name="T20" fmla="*/ 0 w 122"/>
                <a:gd name="T21" fmla="*/ 185 h 266"/>
                <a:gd name="T22" fmla="*/ 39 w 122"/>
                <a:gd name="T23" fmla="*/ 185 h 266"/>
                <a:gd name="T24" fmla="*/ 39 w 122"/>
                <a:gd name="T25" fmla="*/ 203 h 266"/>
                <a:gd name="T26" fmla="*/ 60 w 122"/>
                <a:gd name="T27" fmla="*/ 228 h 266"/>
                <a:gd name="T28" fmla="*/ 81 w 122"/>
                <a:gd name="T29" fmla="*/ 203 h 266"/>
                <a:gd name="T30" fmla="*/ 1 w 122"/>
                <a:gd name="T31" fmla="*/ 66 h 266"/>
                <a:gd name="T32" fmla="*/ 61 w 122"/>
                <a:gd name="T3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2" h="266">
                  <a:moveTo>
                    <a:pt x="61" y="0"/>
                  </a:moveTo>
                  <a:cubicBezTo>
                    <a:pt x="101" y="0"/>
                    <a:pt x="121" y="24"/>
                    <a:pt x="121" y="66"/>
                  </a:cubicBezTo>
                  <a:cubicBezTo>
                    <a:pt x="121" y="74"/>
                    <a:pt x="121" y="74"/>
                    <a:pt x="121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3" y="44"/>
                    <a:pt x="75" y="37"/>
                    <a:pt x="62" y="37"/>
                  </a:cubicBezTo>
                  <a:cubicBezTo>
                    <a:pt x="49" y="37"/>
                    <a:pt x="42" y="44"/>
                    <a:pt x="42" y="63"/>
                  </a:cubicBezTo>
                  <a:cubicBezTo>
                    <a:pt x="42" y="116"/>
                    <a:pt x="122" y="126"/>
                    <a:pt x="122" y="200"/>
                  </a:cubicBezTo>
                  <a:cubicBezTo>
                    <a:pt x="122" y="242"/>
                    <a:pt x="101" y="266"/>
                    <a:pt x="61" y="266"/>
                  </a:cubicBezTo>
                  <a:cubicBezTo>
                    <a:pt x="21" y="266"/>
                    <a:pt x="0" y="242"/>
                    <a:pt x="0" y="20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9" y="222"/>
                    <a:pt x="47" y="228"/>
                    <a:pt x="60" y="228"/>
                  </a:cubicBezTo>
                  <a:cubicBezTo>
                    <a:pt x="73" y="228"/>
                    <a:pt x="81" y="222"/>
                    <a:pt x="81" y="203"/>
                  </a:cubicBezTo>
                  <a:cubicBezTo>
                    <a:pt x="81" y="150"/>
                    <a:pt x="1" y="140"/>
                    <a:pt x="1" y="66"/>
                  </a:cubicBezTo>
                  <a:cubicBezTo>
                    <a:pt x="1" y="24"/>
                    <a:pt x="22" y="0"/>
                    <a:pt x="6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E94C4097-2057-40B3-BF85-9C044337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875" y="2855691"/>
              <a:ext cx="412802" cy="628902"/>
            </a:xfrm>
            <a:custGeom>
              <a:avLst/>
              <a:gdLst>
                <a:gd name="T0" fmla="*/ 76 w 149"/>
                <a:gd name="T1" fmla="*/ 160 h 227"/>
                <a:gd name="T2" fmla="*/ 101 w 149"/>
                <a:gd name="T3" fmla="*/ 0 h 227"/>
                <a:gd name="T4" fmla="*/ 149 w 149"/>
                <a:gd name="T5" fmla="*/ 0 h 227"/>
                <a:gd name="T6" fmla="*/ 149 w 149"/>
                <a:gd name="T7" fmla="*/ 227 h 227"/>
                <a:gd name="T8" fmla="*/ 116 w 149"/>
                <a:gd name="T9" fmla="*/ 227 h 227"/>
                <a:gd name="T10" fmla="*/ 116 w 149"/>
                <a:gd name="T11" fmla="*/ 65 h 227"/>
                <a:gd name="T12" fmla="*/ 92 w 149"/>
                <a:gd name="T13" fmla="*/ 227 h 227"/>
                <a:gd name="T14" fmla="*/ 58 w 149"/>
                <a:gd name="T15" fmla="*/ 227 h 227"/>
                <a:gd name="T16" fmla="*/ 32 w 149"/>
                <a:gd name="T17" fmla="*/ 66 h 227"/>
                <a:gd name="T18" fmla="*/ 32 w 149"/>
                <a:gd name="T19" fmla="*/ 227 h 227"/>
                <a:gd name="T20" fmla="*/ 0 w 149"/>
                <a:gd name="T21" fmla="*/ 227 h 227"/>
                <a:gd name="T22" fmla="*/ 0 w 149"/>
                <a:gd name="T23" fmla="*/ 0 h 227"/>
                <a:gd name="T24" fmla="*/ 50 w 149"/>
                <a:gd name="T25" fmla="*/ 0 h 227"/>
                <a:gd name="T26" fmla="*/ 76 w 149"/>
                <a:gd name="T27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227">
                  <a:moveTo>
                    <a:pt x="76" y="160"/>
                  </a:moveTo>
                  <a:lnTo>
                    <a:pt x="101" y="0"/>
                  </a:lnTo>
                  <a:lnTo>
                    <a:pt x="149" y="0"/>
                  </a:lnTo>
                  <a:lnTo>
                    <a:pt x="149" y="227"/>
                  </a:lnTo>
                  <a:lnTo>
                    <a:pt x="116" y="227"/>
                  </a:lnTo>
                  <a:lnTo>
                    <a:pt x="116" y="65"/>
                  </a:lnTo>
                  <a:lnTo>
                    <a:pt x="92" y="227"/>
                  </a:lnTo>
                  <a:lnTo>
                    <a:pt x="58" y="227"/>
                  </a:lnTo>
                  <a:lnTo>
                    <a:pt x="32" y="66"/>
                  </a:lnTo>
                  <a:lnTo>
                    <a:pt x="32" y="227"/>
                  </a:lnTo>
                  <a:lnTo>
                    <a:pt x="0" y="227"/>
                  </a:lnTo>
                  <a:lnTo>
                    <a:pt x="0" y="0"/>
                  </a:lnTo>
                  <a:lnTo>
                    <a:pt x="50" y="0"/>
                  </a:lnTo>
                  <a:lnTo>
                    <a:pt x="76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031ABB4A-9061-4D10-A8F5-EAA5B9E05B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8433" y="2855691"/>
              <a:ext cx="346311" cy="628902"/>
            </a:xfrm>
            <a:custGeom>
              <a:avLst/>
              <a:gdLst>
                <a:gd name="T0" fmla="*/ 44 w 125"/>
                <a:gd name="T1" fmla="*/ 154 h 227"/>
                <a:gd name="T2" fmla="*/ 78 w 125"/>
                <a:gd name="T3" fmla="*/ 154 h 227"/>
                <a:gd name="T4" fmla="*/ 61 w 125"/>
                <a:gd name="T5" fmla="*/ 40 h 227"/>
                <a:gd name="T6" fmla="*/ 44 w 125"/>
                <a:gd name="T7" fmla="*/ 154 h 227"/>
                <a:gd name="T8" fmla="*/ 125 w 125"/>
                <a:gd name="T9" fmla="*/ 227 h 227"/>
                <a:gd name="T10" fmla="*/ 89 w 125"/>
                <a:gd name="T11" fmla="*/ 227 h 227"/>
                <a:gd name="T12" fmla="*/ 83 w 125"/>
                <a:gd name="T13" fmla="*/ 186 h 227"/>
                <a:gd name="T14" fmla="*/ 39 w 125"/>
                <a:gd name="T15" fmla="*/ 186 h 227"/>
                <a:gd name="T16" fmla="*/ 33 w 125"/>
                <a:gd name="T17" fmla="*/ 227 h 227"/>
                <a:gd name="T18" fmla="*/ 0 w 125"/>
                <a:gd name="T19" fmla="*/ 227 h 227"/>
                <a:gd name="T20" fmla="*/ 37 w 125"/>
                <a:gd name="T21" fmla="*/ 0 h 227"/>
                <a:gd name="T22" fmla="*/ 88 w 125"/>
                <a:gd name="T23" fmla="*/ 0 h 227"/>
                <a:gd name="T24" fmla="*/ 125 w 125"/>
                <a:gd name="T25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27">
                  <a:moveTo>
                    <a:pt x="44" y="154"/>
                  </a:moveTo>
                  <a:lnTo>
                    <a:pt x="78" y="154"/>
                  </a:lnTo>
                  <a:lnTo>
                    <a:pt x="61" y="40"/>
                  </a:lnTo>
                  <a:lnTo>
                    <a:pt x="44" y="154"/>
                  </a:lnTo>
                  <a:close/>
                  <a:moveTo>
                    <a:pt x="125" y="227"/>
                  </a:moveTo>
                  <a:lnTo>
                    <a:pt x="89" y="227"/>
                  </a:lnTo>
                  <a:lnTo>
                    <a:pt x="83" y="186"/>
                  </a:lnTo>
                  <a:lnTo>
                    <a:pt x="39" y="186"/>
                  </a:lnTo>
                  <a:lnTo>
                    <a:pt x="33" y="227"/>
                  </a:lnTo>
                  <a:lnTo>
                    <a:pt x="0" y="227"/>
                  </a:lnTo>
                  <a:lnTo>
                    <a:pt x="37" y="0"/>
                  </a:lnTo>
                  <a:lnTo>
                    <a:pt x="88" y="0"/>
                  </a:lnTo>
                  <a:lnTo>
                    <a:pt x="125" y="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2CC0DAA0-EDF1-42D1-9615-60FC98E09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7729" y="2855691"/>
              <a:ext cx="307524" cy="628902"/>
            </a:xfrm>
            <a:custGeom>
              <a:avLst/>
              <a:gdLst>
                <a:gd name="T0" fmla="*/ 41 w 127"/>
                <a:gd name="T1" fmla="*/ 37 h 260"/>
                <a:gd name="T2" fmla="*/ 41 w 127"/>
                <a:gd name="T3" fmla="*/ 117 h 260"/>
                <a:gd name="T4" fmla="*/ 57 w 127"/>
                <a:gd name="T5" fmla="*/ 117 h 260"/>
                <a:gd name="T6" fmla="*/ 81 w 127"/>
                <a:gd name="T7" fmla="*/ 90 h 260"/>
                <a:gd name="T8" fmla="*/ 81 w 127"/>
                <a:gd name="T9" fmla="*/ 64 h 260"/>
                <a:gd name="T10" fmla="*/ 60 w 127"/>
                <a:gd name="T11" fmla="*/ 37 h 260"/>
                <a:gd name="T12" fmla="*/ 41 w 127"/>
                <a:gd name="T13" fmla="*/ 37 h 260"/>
                <a:gd name="T14" fmla="*/ 85 w 127"/>
                <a:gd name="T15" fmla="*/ 260 h 260"/>
                <a:gd name="T16" fmla="*/ 81 w 127"/>
                <a:gd name="T17" fmla="*/ 228 h 260"/>
                <a:gd name="T18" fmla="*/ 81 w 127"/>
                <a:gd name="T19" fmla="*/ 187 h 260"/>
                <a:gd name="T20" fmla="*/ 55 w 127"/>
                <a:gd name="T21" fmla="*/ 154 h 260"/>
                <a:gd name="T22" fmla="*/ 41 w 127"/>
                <a:gd name="T23" fmla="*/ 154 h 260"/>
                <a:gd name="T24" fmla="*/ 41 w 127"/>
                <a:gd name="T25" fmla="*/ 260 h 260"/>
                <a:gd name="T26" fmla="*/ 0 w 127"/>
                <a:gd name="T27" fmla="*/ 260 h 260"/>
                <a:gd name="T28" fmla="*/ 0 w 127"/>
                <a:gd name="T29" fmla="*/ 0 h 260"/>
                <a:gd name="T30" fmla="*/ 61 w 127"/>
                <a:gd name="T31" fmla="*/ 0 h 260"/>
                <a:gd name="T32" fmla="*/ 122 w 127"/>
                <a:gd name="T33" fmla="*/ 60 h 260"/>
                <a:gd name="T34" fmla="*/ 122 w 127"/>
                <a:gd name="T35" fmla="*/ 80 h 260"/>
                <a:gd name="T36" fmla="*/ 95 w 127"/>
                <a:gd name="T37" fmla="*/ 133 h 260"/>
                <a:gd name="T38" fmla="*/ 122 w 127"/>
                <a:gd name="T39" fmla="*/ 188 h 260"/>
                <a:gd name="T40" fmla="*/ 122 w 127"/>
                <a:gd name="T41" fmla="*/ 228 h 260"/>
                <a:gd name="T42" fmla="*/ 127 w 127"/>
                <a:gd name="T43" fmla="*/ 260 h 260"/>
                <a:gd name="T44" fmla="*/ 85 w 127"/>
                <a:gd name="T45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7" h="260">
                  <a:moveTo>
                    <a:pt x="41" y="37"/>
                  </a:moveTo>
                  <a:cubicBezTo>
                    <a:pt x="41" y="117"/>
                    <a:pt x="41" y="117"/>
                    <a:pt x="4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72" y="117"/>
                    <a:pt x="81" y="110"/>
                    <a:pt x="81" y="90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81" y="46"/>
                    <a:pt x="75" y="37"/>
                    <a:pt x="60" y="37"/>
                  </a:cubicBezTo>
                  <a:lnTo>
                    <a:pt x="41" y="37"/>
                  </a:lnTo>
                  <a:close/>
                  <a:moveTo>
                    <a:pt x="85" y="260"/>
                  </a:moveTo>
                  <a:cubicBezTo>
                    <a:pt x="83" y="253"/>
                    <a:pt x="81" y="249"/>
                    <a:pt x="81" y="228"/>
                  </a:cubicBezTo>
                  <a:cubicBezTo>
                    <a:pt x="81" y="187"/>
                    <a:pt x="81" y="187"/>
                    <a:pt x="81" y="187"/>
                  </a:cubicBezTo>
                  <a:cubicBezTo>
                    <a:pt x="81" y="163"/>
                    <a:pt x="73" y="154"/>
                    <a:pt x="55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1" y="260"/>
                    <a:pt x="41" y="260"/>
                    <a:pt x="41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04" y="0"/>
                    <a:pt x="122" y="20"/>
                    <a:pt x="122" y="6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2" y="107"/>
                    <a:pt x="113" y="124"/>
                    <a:pt x="95" y="133"/>
                  </a:cubicBezTo>
                  <a:cubicBezTo>
                    <a:pt x="115" y="142"/>
                    <a:pt x="122" y="161"/>
                    <a:pt x="122" y="188"/>
                  </a:cubicBezTo>
                  <a:cubicBezTo>
                    <a:pt x="122" y="228"/>
                    <a:pt x="122" y="228"/>
                    <a:pt x="122" y="228"/>
                  </a:cubicBezTo>
                  <a:cubicBezTo>
                    <a:pt x="122" y="241"/>
                    <a:pt x="123" y="250"/>
                    <a:pt x="127" y="260"/>
                  </a:cubicBezTo>
                  <a:lnTo>
                    <a:pt x="85" y="2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D529E29C-585E-49A1-B8B4-94425054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843" y="2855691"/>
              <a:ext cx="304754" cy="628902"/>
            </a:xfrm>
            <a:custGeom>
              <a:avLst/>
              <a:gdLst>
                <a:gd name="T0" fmla="*/ 0 w 110"/>
                <a:gd name="T1" fmla="*/ 0 h 227"/>
                <a:gd name="T2" fmla="*/ 110 w 110"/>
                <a:gd name="T3" fmla="*/ 0 h 227"/>
                <a:gd name="T4" fmla="*/ 110 w 110"/>
                <a:gd name="T5" fmla="*/ 32 h 227"/>
                <a:gd name="T6" fmla="*/ 72 w 110"/>
                <a:gd name="T7" fmla="*/ 32 h 227"/>
                <a:gd name="T8" fmla="*/ 72 w 110"/>
                <a:gd name="T9" fmla="*/ 227 h 227"/>
                <a:gd name="T10" fmla="*/ 37 w 110"/>
                <a:gd name="T11" fmla="*/ 227 h 227"/>
                <a:gd name="T12" fmla="*/ 37 w 110"/>
                <a:gd name="T13" fmla="*/ 32 h 227"/>
                <a:gd name="T14" fmla="*/ 0 w 110"/>
                <a:gd name="T15" fmla="*/ 32 h 227"/>
                <a:gd name="T16" fmla="*/ 0 w 110"/>
                <a:gd name="T1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227">
                  <a:moveTo>
                    <a:pt x="0" y="0"/>
                  </a:moveTo>
                  <a:lnTo>
                    <a:pt x="110" y="0"/>
                  </a:lnTo>
                  <a:lnTo>
                    <a:pt x="110" y="32"/>
                  </a:lnTo>
                  <a:lnTo>
                    <a:pt x="72" y="32"/>
                  </a:lnTo>
                  <a:lnTo>
                    <a:pt x="72" y="227"/>
                  </a:lnTo>
                  <a:lnTo>
                    <a:pt x="37" y="227"/>
                  </a:lnTo>
                  <a:lnTo>
                    <a:pt x="37" y="32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05F283D-3632-4966-A597-B02E54BCAB06}"/>
              </a:ext>
            </a:extLst>
          </p:cNvPr>
          <p:cNvGrpSpPr/>
          <p:nvPr/>
        </p:nvGrpSpPr>
        <p:grpSpPr>
          <a:xfrm>
            <a:off x="5148912" y="3397299"/>
            <a:ext cx="1894175" cy="493886"/>
            <a:chOff x="4856105" y="4501363"/>
            <a:chExt cx="2773261" cy="723099"/>
          </a:xfrm>
        </p:grpSpPr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D7B01D51-0C5F-4EE3-B8D5-FD1D16E02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8203" y="4501363"/>
              <a:ext cx="191163" cy="182852"/>
            </a:xfrm>
            <a:custGeom>
              <a:avLst/>
              <a:gdLst>
                <a:gd name="T0" fmla="*/ 69 w 69"/>
                <a:gd name="T1" fmla="*/ 65 h 66"/>
                <a:gd name="T2" fmla="*/ 59 w 69"/>
                <a:gd name="T3" fmla="*/ 66 h 66"/>
                <a:gd name="T4" fmla="*/ 54 w 69"/>
                <a:gd name="T5" fmla="*/ 12 h 66"/>
                <a:gd name="T6" fmla="*/ 2 w 69"/>
                <a:gd name="T7" fmla="*/ 20 h 66"/>
                <a:gd name="T8" fmla="*/ 0 w 69"/>
                <a:gd name="T9" fmla="*/ 10 h 66"/>
                <a:gd name="T10" fmla="*/ 64 w 69"/>
                <a:gd name="T11" fmla="*/ 0 h 66"/>
                <a:gd name="T12" fmla="*/ 69 w 69"/>
                <a:gd name="T13" fmla="*/ 6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6">
                  <a:moveTo>
                    <a:pt x="69" y="65"/>
                  </a:moveTo>
                  <a:lnTo>
                    <a:pt x="59" y="66"/>
                  </a:lnTo>
                  <a:lnTo>
                    <a:pt x="54" y="12"/>
                  </a:lnTo>
                  <a:lnTo>
                    <a:pt x="2" y="20"/>
                  </a:lnTo>
                  <a:lnTo>
                    <a:pt x="0" y="10"/>
                  </a:lnTo>
                  <a:lnTo>
                    <a:pt x="64" y="0"/>
                  </a:lnTo>
                  <a:lnTo>
                    <a:pt x="69" y="65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60AB9BED-2496-4B32-95F6-12715DEA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9499" y="4501363"/>
              <a:ext cx="41557" cy="3878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AE0E3A28-CCA9-43B9-9F82-773EF50511A3}"/>
                </a:ext>
              </a:extLst>
            </p:cNvPr>
            <p:cNvGrpSpPr/>
            <p:nvPr/>
          </p:nvGrpSpPr>
          <p:grpSpPr>
            <a:xfrm>
              <a:off x="4856105" y="4504132"/>
              <a:ext cx="2698458" cy="720330"/>
              <a:chOff x="4856105" y="4504132"/>
              <a:chExt cx="2698458" cy="720330"/>
            </a:xfrm>
          </p:grpSpPr>
          <p:sp>
            <p:nvSpPr>
              <p:cNvPr id="33" name="Freeform 101">
                <a:extLst>
                  <a:ext uri="{FF2B5EF4-FFF2-40B4-BE49-F238E27FC236}">
                    <a16:creationId xmlns:a16="http://schemas.microsoft.com/office/drawing/2014/main" id="{CED5016C-DECA-4CA4-84B1-DCFD3BEF1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1958" y="5188445"/>
                <a:ext cx="36016" cy="36017"/>
              </a:xfrm>
              <a:custGeom>
                <a:avLst/>
                <a:gdLst>
                  <a:gd name="T0" fmla="*/ 0 w 15"/>
                  <a:gd name="T1" fmla="*/ 8 h 15"/>
                  <a:gd name="T2" fmla="*/ 7 w 15"/>
                  <a:gd name="T3" fmla="*/ 0 h 15"/>
                  <a:gd name="T4" fmla="*/ 7 w 15"/>
                  <a:gd name="T5" fmla="*/ 0 h 15"/>
                  <a:gd name="T6" fmla="*/ 15 w 15"/>
                  <a:gd name="T7" fmla="*/ 7 h 15"/>
                  <a:gd name="T8" fmla="*/ 15 w 15"/>
                  <a:gd name="T9" fmla="*/ 7 h 15"/>
                  <a:gd name="T10" fmla="*/ 8 w 15"/>
                  <a:gd name="T11" fmla="*/ 15 h 15"/>
                  <a:gd name="T12" fmla="*/ 8 w 15"/>
                  <a:gd name="T13" fmla="*/ 15 h 15"/>
                  <a:gd name="T14" fmla="*/ 8 w 15"/>
                  <a:gd name="T15" fmla="*/ 15 h 15"/>
                  <a:gd name="T16" fmla="*/ 8 w 15"/>
                  <a:gd name="T17" fmla="*/ 15 h 15"/>
                  <a:gd name="T18" fmla="*/ 7 w 15"/>
                  <a:gd name="T19" fmla="*/ 15 h 15"/>
                  <a:gd name="T20" fmla="*/ 7 w 15"/>
                  <a:gd name="T21" fmla="*/ 15 h 15"/>
                  <a:gd name="T22" fmla="*/ 0 w 15"/>
                  <a:gd name="T23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0" y="8"/>
                    </a:moveTo>
                    <a:cubicBezTo>
                      <a:pt x="0" y="4"/>
                      <a:pt x="3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1" y="0"/>
                      <a:pt x="14" y="3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11"/>
                      <a:pt x="12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8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36DCB76C-FDFA-4B38-9883-1B0A45F4813D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14789"/>
                <a:chOff x="4856105" y="4504132"/>
                <a:chExt cx="2698458" cy="714789"/>
              </a:xfrm>
            </p:grpSpPr>
            <p:grpSp>
              <p:nvGrpSpPr>
                <p:cNvPr id="72" name="Grupo 71">
                  <a:extLst>
                    <a:ext uri="{FF2B5EF4-FFF2-40B4-BE49-F238E27FC236}">
                      <a16:creationId xmlns:a16="http://schemas.microsoft.com/office/drawing/2014/main" id="{C50589C0-1DE6-41BA-9CEE-4E2076817B4F}"/>
                    </a:ext>
                  </a:extLst>
                </p:cNvPr>
                <p:cNvGrpSpPr/>
                <p:nvPr/>
              </p:nvGrpSpPr>
              <p:grpSpPr>
                <a:xfrm>
                  <a:off x="4919827" y="4587247"/>
                  <a:ext cx="2634736" cy="631674"/>
                  <a:chOff x="4919827" y="4587247"/>
                  <a:chExt cx="2634736" cy="631674"/>
                </a:xfrm>
              </p:grpSpPr>
              <p:sp>
                <p:nvSpPr>
                  <p:cNvPr id="30" name="Freeform 98">
                    <a:extLst>
                      <a:ext uri="{FF2B5EF4-FFF2-40B4-BE49-F238E27FC236}">
                        <a16:creationId xmlns:a16="http://schemas.microsoft.com/office/drawing/2014/main" id="{281CC44C-D8B9-4DB2-8D95-5FAFCA3743C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9827" y="4590019"/>
                    <a:ext cx="1230098" cy="628902"/>
                  </a:xfrm>
                  <a:custGeom>
                    <a:avLst/>
                    <a:gdLst>
                      <a:gd name="T0" fmla="*/ 495 w 509"/>
                      <a:gd name="T1" fmla="*/ 254 h 261"/>
                      <a:gd name="T2" fmla="*/ 502 w 509"/>
                      <a:gd name="T3" fmla="*/ 247 h 261"/>
                      <a:gd name="T4" fmla="*/ 509 w 509"/>
                      <a:gd name="T5" fmla="*/ 254 h 261"/>
                      <a:gd name="T6" fmla="*/ 501 w 509"/>
                      <a:gd name="T7" fmla="*/ 261 h 261"/>
                      <a:gd name="T8" fmla="*/ 451 w 509"/>
                      <a:gd name="T9" fmla="*/ 249 h 261"/>
                      <a:gd name="T10" fmla="*/ 459 w 509"/>
                      <a:gd name="T11" fmla="*/ 243 h 261"/>
                      <a:gd name="T12" fmla="*/ 466 w 509"/>
                      <a:gd name="T13" fmla="*/ 251 h 261"/>
                      <a:gd name="T14" fmla="*/ 457 w 509"/>
                      <a:gd name="T15" fmla="*/ 257 h 261"/>
                      <a:gd name="T16" fmla="*/ 408 w 509"/>
                      <a:gd name="T17" fmla="*/ 242 h 261"/>
                      <a:gd name="T18" fmla="*/ 417 w 509"/>
                      <a:gd name="T19" fmla="*/ 236 h 261"/>
                      <a:gd name="T20" fmla="*/ 415 w 509"/>
                      <a:gd name="T21" fmla="*/ 251 h 261"/>
                      <a:gd name="T22" fmla="*/ 371 w 509"/>
                      <a:gd name="T23" fmla="*/ 241 h 261"/>
                      <a:gd name="T24" fmla="*/ 366 w 509"/>
                      <a:gd name="T25" fmla="*/ 232 h 261"/>
                      <a:gd name="T26" fmla="*/ 374 w 509"/>
                      <a:gd name="T27" fmla="*/ 227 h 261"/>
                      <a:gd name="T28" fmla="*/ 380 w 509"/>
                      <a:gd name="T29" fmla="*/ 236 h 261"/>
                      <a:gd name="T30" fmla="*/ 371 w 509"/>
                      <a:gd name="T31" fmla="*/ 241 h 261"/>
                      <a:gd name="T32" fmla="*/ 324 w 509"/>
                      <a:gd name="T33" fmla="*/ 220 h 261"/>
                      <a:gd name="T34" fmla="*/ 338 w 509"/>
                      <a:gd name="T35" fmla="*/ 225 h 261"/>
                      <a:gd name="T36" fmla="*/ 331 w 509"/>
                      <a:gd name="T37" fmla="*/ 230 h 261"/>
                      <a:gd name="T38" fmla="*/ 283 w 509"/>
                      <a:gd name="T39" fmla="*/ 205 h 261"/>
                      <a:gd name="T40" fmla="*/ 292 w 509"/>
                      <a:gd name="T41" fmla="*/ 201 h 261"/>
                      <a:gd name="T42" fmla="*/ 289 w 509"/>
                      <a:gd name="T43" fmla="*/ 215 h 261"/>
                      <a:gd name="T44" fmla="*/ 246 w 509"/>
                      <a:gd name="T45" fmla="*/ 198 h 261"/>
                      <a:gd name="T46" fmla="*/ 252 w 509"/>
                      <a:gd name="T47" fmla="*/ 184 h 261"/>
                      <a:gd name="T48" fmla="*/ 256 w 509"/>
                      <a:gd name="T49" fmla="*/ 194 h 261"/>
                      <a:gd name="T50" fmla="*/ 246 w 509"/>
                      <a:gd name="T51" fmla="*/ 198 h 261"/>
                      <a:gd name="T52" fmla="*/ 204 w 509"/>
                      <a:gd name="T53" fmla="*/ 168 h 261"/>
                      <a:gd name="T54" fmla="*/ 214 w 509"/>
                      <a:gd name="T55" fmla="*/ 165 h 261"/>
                      <a:gd name="T56" fmla="*/ 217 w 509"/>
                      <a:gd name="T57" fmla="*/ 175 h 261"/>
                      <a:gd name="T58" fmla="*/ 207 w 509"/>
                      <a:gd name="T59" fmla="*/ 178 h 261"/>
                      <a:gd name="T60" fmla="*/ 166 w 509"/>
                      <a:gd name="T61" fmla="*/ 146 h 261"/>
                      <a:gd name="T62" fmla="*/ 179 w 509"/>
                      <a:gd name="T63" fmla="*/ 154 h 261"/>
                      <a:gd name="T64" fmla="*/ 172 w 509"/>
                      <a:gd name="T65" fmla="*/ 157 h 261"/>
                      <a:gd name="T66" fmla="*/ 130 w 509"/>
                      <a:gd name="T67" fmla="*/ 121 h 261"/>
                      <a:gd name="T68" fmla="*/ 140 w 509"/>
                      <a:gd name="T69" fmla="*/ 120 h 261"/>
                      <a:gd name="T70" fmla="*/ 136 w 509"/>
                      <a:gd name="T71" fmla="*/ 133 h 261"/>
                      <a:gd name="T72" fmla="*/ 97 w 509"/>
                      <a:gd name="T73" fmla="*/ 105 h 261"/>
                      <a:gd name="T74" fmla="*/ 106 w 509"/>
                      <a:gd name="T75" fmla="*/ 94 h 261"/>
                      <a:gd name="T76" fmla="*/ 106 w 509"/>
                      <a:gd name="T77" fmla="*/ 94 h 261"/>
                      <a:gd name="T78" fmla="*/ 101 w 509"/>
                      <a:gd name="T79" fmla="*/ 107 h 261"/>
                      <a:gd name="T80" fmla="*/ 64 w 509"/>
                      <a:gd name="T81" fmla="*/ 76 h 261"/>
                      <a:gd name="T82" fmla="*/ 73 w 509"/>
                      <a:gd name="T83" fmla="*/ 65 h 261"/>
                      <a:gd name="T84" fmla="*/ 74 w 509"/>
                      <a:gd name="T85" fmla="*/ 76 h 261"/>
                      <a:gd name="T86" fmla="*/ 64 w 509"/>
                      <a:gd name="T87" fmla="*/ 76 h 261"/>
                      <a:gd name="T88" fmla="*/ 32 w 509"/>
                      <a:gd name="T89" fmla="*/ 35 h 261"/>
                      <a:gd name="T90" fmla="*/ 42 w 509"/>
                      <a:gd name="T91" fmla="*/ 35 h 261"/>
                      <a:gd name="T92" fmla="*/ 37 w 509"/>
                      <a:gd name="T93" fmla="*/ 47 h 261"/>
                      <a:gd name="T94" fmla="*/ 3 w 509"/>
                      <a:gd name="T95" fmla="*/ 12 h 261"/>
                      <a:gd name="T96" fmla="*/ 3 w 509"/>
                      <a:gd name="T97" fmla="*/ 2 h 261"/>
                      <a:gd name="T98" fmla="*/ 14 w 509"/>
                      <a:gd name="T99" fmla="*/ 3 h 261"/>
                      <a:gd name="T100" fmla="*/ 13 w 509"/>
                      <a:gd name="T101" fmla="*/ 13 h 261"/>
                      <a:gd name="T102" fmla="*/ 3 w 509"/>
                      <a:gd name="T103" fmla="*/ 12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509" h="261">
                        <a:moveTo>
                          <a:pt x="501" y="261"/>
                        </a:moveTo>
                        <a:cubicBezTo>
                          <a:pt x="497" y="261"/>
                          <a:pt x="494" y="258"/>
                          <a:pt x="495" y="254"/>
                        </a:cubicBezTo>
                        <a:cubicBezTo>
                          <a:pt x="495" y="254"/>
                          <a:pt x="495" y="254"/>
                          <a:pt x="495" y="254"/>
                        </a:cubicBezTo>
                        <a:cubicBezTo>
                          <a:pt x="495" y="250"/>
                          <a:pt x="498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6" y="247"/>
                          <a:pt x="509" y="250"/>
                          <a:pt x="509" y="254"/>
                        </a:cubicBezTo>
                        <a:cubicBezTo>
                          <a:pt x="509" y="254"/>
                          <a:pt x="509" y="254"/>
                          <a:pt x="509" y="254"/>
                        </a:cubicBezTo>
                        <a:cubicBezTo>
                          <a:pt x="509" y="258"/>
                          <a:pt x="506" y="261"/>
                          <a:pt x="502" y="261"/>
                        </a:cubicBezTo>
                        <a:cubicBezTo>
                          <a:pt x="502" y="261"/>
                          <a:pt x="502" y="261"/>
                          <a:pt x="502" y="261"/>
                        </a:cubicBezTo>
                        <a:cubicBezTo>
                          <a:pt x="502" y="261"/>
                          <a:pt x="502" y="261"/>
                          <a:pt x="501" y="261"/>
                        </a:cubicBezTo>
                        <a:close/>
                        <a:moveTo>
                          <a:pt x="457" y="257"/>
                        </a:moveTo>
                        <a:cubicBezTo>
                          <a:pt x="454" y="257"/>
                          <a:pt x="451" y="253"/>
                          <a:pt x="451" y="249"/>
                        </a:cubicBezTo>
                        <a:cubicBezTo>
                          <a:pt x="451" y="249"/>
                          <a:pt x="451" y="249"/>
                          <a:pt x="451" y="249"/>
                        </a:cubicBezTo>
                        <a:cubicBezTo>
                          <a:pt x="452" y="245"/>
                          <a:pt x="455" y="242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63" y="243"/>
                          <a:pt x="466" y="247"/>
                          <a:pt x="466" y="251"/>
                        </a:cubicBezTo>
                        <a:cubicBezTo>
                          <a:pt x="466" y="251"/>
                          <a:pt x="466" y="251"/>
                          <a:pt x="466" y="251"/>
                        </a:cubicBezTo>
                        <a:cubicBezTo>
                          <a:pt x="465" y="255"/>
                          <a:pt x="462" y="257"/>
                          <a:pt x="458" y="257"/>
                        </a:cubicBezTo>
                        <a:cubicBezTo>
                          <a:pt x="458" y="257"/>
                          <a:pt x="458" y="257"/>
                          <a:pt x="458" y="257"/>
                        </a:cubicBezTo>
                        <a:cubicBezTo>
                          <a:pt x="458" y="257"/>
                          <a:pt x="458" y="257"/>
                          <a:pt x="457" y="257"/>
                        </a:cubicBezTo>
                        <a:close/>
                        <a:moveTo>
                          <a:pt x="414" y="251"/>
                        </a:moveTo>
                        <a:cubicBezTo>
                          <a:pt x="414" y="251"/>
                          <a:pt x="414" y="251"/>
                          <a:pt x="414" y="251"/>
                        </a:cubicBezTo>
                        <a:cubicBezTo>
                          <a:pt x="410" y="250"/>
                          <a:pt x="407" y="246"/>
                          <a:pt x="408" y="242"/>
                        </a:cubicBezTo>
                        <a:cubicBezTo>
                          <a:pt x="408" y="242"/>
                          <a:pt x="408" y="242"/>
                          <a:pt x="408" y="242"/>
                        </a:cubicBezTo>
                        <a:cubicBezTo>
                          <a:pt x="409" y="238"/>
                          <a:pt x="413" y="236"/>
                          <a:pt x="417" y="236"/>
                        </a:cubicBezTo>
                        <a:cubicBezTo>
                          <a:pt x="417" y="236"/>
                          <a:pt x="417" y="236"/>
                          <a:pt x="417" y="236"/>
                        </a:cubicBezTo>
                        <a:cubicBezTo>
                          <a:pt x="421" y="237"/>
                          <a:pt x="423" y="241"/>
                          <a:pt x="422" y="245"/>
                        </a:cubicBezTo>
                        <a:cubicBezTo>
                          <a:pt x="422" y="245"/>
                          <a:pt x="422" y="245"/>
                          <a:pt x="422" y="245"/>
                        </a:cubicBezTo>
                        <a:cubicBezTo>
                          <a:pt x="422" y="248"/>
                          <a:pt x="419" y="251"/>
                          <a:pt x="415" y="251"/>
                        </a:cubicBezTo>
                        <a:cubicBezTo>
                          <a:pt x="415" y="251"/>
                          <a:pt x="415" y="251"/>
                          <a:pt x="415" y="251"/>
                        </a:cubicBezTo>
                        <a:cubicBezTo>
                          <a:pt x="415" y="251"/>
                          <a:pt x="414" y="251"/>
                          <a:pt x="414" y="251"/>
                        </a:cubicBezTo>
                        <a:close/>
                        <a:moveTo>
                          <a:pt x="371" y="241"/>
                        </a:moveTo>
                        <a:cubicBezTo>
                          <a:pt x="371" y="241"/>
                          <a:pt x="371" y="241"/>
                          <a:pt x="371" y="241"/>
                        </a:cubicBezTo>
                        <a:cubicBezTo>
                          <a:pt x="367" y="240"/>
                          <a:pt x="365" y="236"/>
                          <a:pt x="366" y="232"/>
                        </a:cubicBezTo>
                        <a:cubicBezTo>
                          <a:pt x="366" y="232"/>
                          <a:pt x="366" y="232"/>
                          <a:pt x="366" y="232"/>
                        </a:cubicBezTo>
                        <a:cubicBezTo>
                          <a:pt x="366" y="229"/>
                          <a:pt x="371" y="226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8" y="228"/>
                          <a:pt x="381" y="232"/>
                          <a:pt x="380" y="236"/>
                        </a:cubicBezTo>
                        <a:cubicBezTo>
                          <a:pt x="380" y="236"/>
                          <a:pt x="380" y="236"/>
                          <a:pt x="380" y="236"/>
                        </a:cubicBezTo>
                        <a:cubicBezTo>
                          <a:pt x="379" y="239"/>
                          <a:pt x="376" y="242"/>
                          <a:pt x="373" y="242"/>
                        </a:cubicBezTo>
                        <a:cubicBezTo>
                          <a:pt x="373" y="242"/>
                          <a:pt x="373" y="242"/>
                          <a:pt x="373" y="242"/>
                        </a:cubicBezTo>
                        <a:cubicBezTo>
                          <a:pt x="372" y="242"/>
                          <a:pt x="371" y="242"/>
                          <a:pt x="371" y="241"/>
                        </a:cubicBezTo>
                        <a:close/>
                        <a:moveTo>
                          <a:pt x="328" y="229"/>
                        </a:moveTo>
                        <a:cubicBezTo>
                          <a:pt x="325" y="228"/>
                          <a:pt x="322" y="224"/>
                          <a:pt x="324" y="220"/>
                        </a:cubicBezTo>
                        <a:cubicBezTo>
                          <a:pt x="324" y="220"/>
                          <a:pt x="324" y="220"/>
                          <a:pt x="324" y="220"/>
                        </a:cubicBezTo>
                        <a:cubicBezTo>
                          <a:pt x="325" y="216"/>
                          <a:pt x="329" y="214"/>
                          <a:pt x="333" y="215"/>
                        </a:cubicBezTo>
                        <a:cubicBezTo>
                          <a:pt x="333" y="215"/>
                          <a:pt x="333" y="215"/>
                          <a:pt x="333" y="215"/>
                        </a:cubicBezTo>
                        <a:cubicBezTo>
                          <a:pt x="337" y="217"/>
                          <a:pt x="339" y="221"/>
                          <a:pt x="338" y="225"/>
                        </a:cubicBezTo>
                        <a:cubicBezTo>
                          <a:pt x="338" y="225"/>
                          <a:pt x="338" y="225"/>
                          <a:pt x="338" y="225"/>
                        </a:cubicBezTo>
                        <a:cubicBezTo>
                          <a:pt x="337" y="228"/>
                          <a:pt x="334" y="230"/>
                          <a:pt x="331" y="230"/>
                        </a:cubicBezTo>
                        <a:cubicBezTo>
                          <a:pt x="331" y="230"/>
                          <a:pt x="331" y="230"/>
                          <a:pt x="331" y="230"/>
                        </a:cubicBezTo>
                        <a:cubicBezTo>
                          <a:pt x="330" y="230"/>
                          <a:pt x="329" y="230"/>
                          <a:pt x="328" y="229"/>
                        </a:cubicBezTo>
                        <a:close/>
                        <a:moveTo>
                          <a:pt x="287" y="215"/>
                        </a:moveTo>
                        <a:cubicBezTo>
                          <a:pt x="283" y="213"/>
                          <a:pt x="281" y="209"/>
                          <a:pt x="283" y="205"/>
                        </a:cubicBezTo>
                        <a:cubicBezTo>
                          <a:pt x="283" y="205"/>
                          <a:pt x="283" y="205"/>
                          <a:pt x="283" y="205"/>
                        </a:cubicBezTo>
                        <a:cubicBezTo>
                          <a:pt x="284" y="202"/>
                          <a:pt x="288" y="200"/>
                          <a:pt x="292" y="201"/>
                        </a:cubicBezTo>
                        <a:cubicBezTo>
                          <a:pt x="292" y="201"/>
                          <a:pt x="292" y="201"/>
                          <a:pt x="292" y="201"/>
                        </a:cubicBezTo>
                        <a:cubicBezTo>
                          <a:pt x="296" y="203"/>
                          <a:pt x="298" y="207"/>
                          <a:pt x="296" y="211"/>
                        </a:cubicBezTo>
                        <a:cubicBezTo>
                          <a:pt x="296" y="211"/>
                          <a:pt x="296" y="211"/>
                          <a:pt x="296" y="211"/>
                        </a:cubicBezTo>
                        <a:cubicBezTo>
                          <a:pt x="295" y="214"/>
                          <a:pt x="292" y="215"/>
                          <a:pt x="289" y="215"/>
                        </a:cubicBezTo>
                        <a:cubicBezTo>
                          <a:pt x="289" y="215"/>
                          <a:pt x="289" y="215"/>
                          <a:pt x="289" y="215"/>
                        </a:cubicBezTo>
                        <a:cubicBezTo>
                          <a:pt x="289" y="215"/>
                          <a:pt x="288" y="215"/>
                          <a:pt x="287" y="215"/>
                        </a:cubicBezTo>
                        <a:close/>
                        <a:moveTo>
                          <a:pt x="246" y="198"/>
                        </a:moveTo>
                        <a:cubicBezTo>
                          <a:pt x="243" y="196"/>
                          <a:pt x="241" y="192"/>
                          <a:pt x="243" y="188"/>
                        </a:cubicBezTo>
                        <a:cubicBezTo>
                          <a:pt x="243" y="188"/>
                          <a:pt x="243" y="188"/>
                          <a:pt x="243" y="188"/>
                        </a:cubicBezTo>
                        <a:cubicBezTo>
                          <a:pt x="244" y="184"/>
                          <a:pt x="249" y="183"/>
                          <a:pt x="252" y="184"/>
                        </a:cubicBezTo>
                        <a:cubicBezTo>
                          <a:pt x="252" y="184"/>
                          <a:pt x="252" y="184"/>
                          <a:pt x="252" y="184"/>
                        </a:cubicBezTo>
                        <a:cubicBezTo>
                          <a:pt x="256" y="186"/>
                          <a:pt x="258" y="190"/>
                          <a:pt x="256" y="194"/>
                        </a:cubicBezTo>
                        <a:cubicBezTo>
                          <a:pt x="256" y="194"/>
                          <a:pt x="256" y="194"/>
                          <a:pt x="256" y="194"/>
                        </a:cubicBezTo>
                        <a:cubicBezTo>
                          <a:pt x="255" y="197"/>
                          <a:pt x="252" y="198"/>
                          <a:pt x="249" y="198"/>
                        </a:cubicBezTo>
                        <a:cubicBezTo>
                          <a:pt x="249" y="198"/>
                          <a:pt x="249" y="198"/>
                          <a:pt x="249" y="198"/>
                        </a:cubicBezTo>
                        <a:cubicBezTo>
                          <a:pt x="248" y="198"/>
                          <a:pt x="247" y="198"/>
                          <a:pt x="246" y="198"/>
                        </a:cubicBezTo>
                        <a:close/>
                        <a:moveTo>
                          <a:pt x="207" y="178"/>
                        </a:moveTo>
                        <a:cubicBezTo>
                          <a:pt x="203" y="176"/>
                          <a:pt x="202" y="172"/>
                          <a:pt x="204" y="168"/>
                        </a:cubicBezTo>
                        <a:cubicBezTo>
                          <a:pt x="204" y="168"/>
                          <a:pt x="204" y="168"/>
                          <a:pt x="204" y="168"/>
                        </a:cubicBezTo>
                        <a:cubicBezTo>
                          <a:pt x="206" y="165"/>
                          <a:pt x="210" y="163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7" y="167"/>
                          <a:pt x="218" y="172"/>
                          <a:pt x="217" y="175"/>
                        </a:cubicBezTo>
                        <a:cubicBezTo>
                          <a:pt x="217" y="175"/>
                          <a:pt x="217" y="175"/>
                          <a:pt x="217" y="175"/>
                        </a:cubicBezTo>
                        <a:cubicBezTo>
                          <a:pt x="215" y="178"/>
                          <a:pt x="213" y="179"/>
                          <a:pt x="210" y="179"/>
                        </a:cubicBezTo>
                        <a:cubicBezTo>
                          <a:pt x="210" y="179"/>
                          <a:pt x="210" y="179"/>
                          <a:pt x="210" y="179"/>
                        </a:cubicBezTo>
                        <a:cubicBezTo>
                          <a:pt x="209" y="179"/>
                          <a:pt x="208" y="179"/>
                          <a:pt x="207" y="178"/>
                        </a:cubicBezTo>
                        <a:close/>
                        <a:moveTo>
                          <a:pt x="169" y="156"/>
                        </a:moveTo>
                        <a:cubicBezTo>
                          <a:pt x="165" y="154"/>
                          <a:pt x="164" y="149"/>
                          <a:pt x="166" y="146"/>
                        </a:cubicBezTo>
                        <a:cubicBezTo>
                          <a:pt x="166" y="146"/>
                          <a:pt x="166" y="146"/>
                          <a:pt x="166" y="146"/>
                        </a:cubicBezTo>
                        <a:cubicBezTo>
                          <a:pt x="168" y="143"/>
                          <a:pt x="173" y="141"/>
                          <a:pt x="176" y="144"/>
                        </a:cubicBezTo>
                        <a:cubicBezTo>
                          <a:pt x="176" y="144"/>
                          <a:pt x="176" y="144"/>
                          <a:pt x="176" y="144"/>
                        </a:cubicBezTo>
                        <a:cubicBezTo>
                          <a:pt x="180" y="146"/>
                          <a:pt x="181" y="150"/>
                          <a:pt x="179" y="154"/>
                        </a:cubicBezTo>
                        <a:cubicBezTo>
                          <a:pt x="179" y="154"/>
                          <a:pt x="179" y="154"/>
                          <a:pt x="179" y="154"/>
                        </a:cubicBezTo>
                        <a:cubicBezTo>
                          <a:pt x="177" y="156"/>
                          <a:pt x="175" y="157"/>
                          <a:pt x="172" y="157"/>
                        </a:cubicBezTo>
                        <a:cubicBezTo>
                          <a:pt x="172" y="157"/>
                          <a:pt x="172" y="157"/>
                          <a:pt x="172" y="157"/>
                        </a:cubicBezTo>
                        <a:cubicBezTo>
                          <a:pt x="171" y="157"/>
                          <a:pt x="170" y="157"/>
                          <a:pt x="169" y="156"/>
                        </a:cubicBezTo>
                        <a:close/>
                        <a:moveTo>
                          <a:pt x="132" y="132"/>
                        </a:moveTo>
                        <a:cubicBezTo>
                          <a:pt x="129" y="129"/>
                          <a:pt x="128" y="125"/>
                          <a:pt x="130" y="121"/>
                        </a:cubicBezTo>
                        <a:cubicBezTo>
                          <a:pt x="130" y="121"/>
                          <a:pt x="130" y="121"/>
                          <a:pt x="130" y="121"/>
                        </a:cubicBezTo>
                        <a:cubicBezTo>
                          <a:pt x="133" y="118"/>
                          <a:pt x="137" y="117"/>
                          <a:pt x="140" y="120"/>
                        </a:cubicBezTo>
                        <a:cubicBezTo>
                          <a:pt x="140" y="120"/>
                          <a:pt x="140" y="120"/>
                          <a:pt x="140" y="120"/>
                        </a:cubicBezTo>
                        <a:cubicBezTo>
                          <a:pt x="144" y="122"/>
                          <a:pt x="144" y="127"/>
                          <a:pt x="142" y="130"/>
                        </a:cubicBezTo>
                        <a:cubicBezTo>
                          <a:pt x="142" y="130"/>
                          <a:pt x="142" y="130"/>
                          <a:pt x="142" y="130"/>
                        </a:cubicBezTo>
                        <a:cubicBezTo>
                          <a:pt x="141" y="132"/>
                          <a:pt x="138" y="133"/>
                          <a:pt x="136" y="133"/>
                        </a:cubicBezTo>
                        <a:cubicBezTo>
                          <a:pt x="136" y="133"/>
                          <a:pt x="136" y="133"/>
                          <a:pt x="136" y="133"/>
                        </a:cubicBezTo>
                        <a:cubicBezTo>
                          <a:pt x="135" y="133"/>
                          <a:pt x="133" y="133"/>
                          <a:pt x="132" y="132"/>
                        </a:cubicBezTo>
                        <a:close/>
                        <a:moveTo>
                          <a:pt x="97" y="105"/>
                        </a:moveTo>
                        <a:cubicBezTo>
                          <a:pt x="94" y="102"/>
                          <a:pt x="93" y="98"/>
                          <a:pt x="96" y="95"/>
                        </a:cubicBezTo>
                        <a:cubicBezTo>
                          <a:pt x="96" y="95"/>
                          <a:pt x="96" y="95"/>
                          <a:pt x="96" y="95"/>
                        </a:cubicBezTo>
                        <a:cubicBezTo>
                          <a:pt x="98" y="92"/>
                          <a:pt x="103" y="91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9" y="96"/>
                          <a:pt x="110" y="101"/>
                          <a:pt x="107" y="104"/>
                        </a:cubicBezTo>
                        <a:cubicBezTo>
                          <a:pt x="107" y="104"/>
                          <a:pt x="107" y="104"/>
                          <a:pt x="107" y="104"/>
                        </a:cubicBezTo>
                        <a:cubicBezTo>
                          <a:pt x="106" y="106"/>
                          <a:pt x="104" y="107"/>
                          <a:pt x="101" y="107"/>
                        </a:cubicBezTo>
                        <a:cubicBezTo>
                          <a:pt x="101" y="107"/>
                          <a:pt x="101" y="107"/>
                          <a:pt x="101" y="107"/>
                        </a:cubicBezTo>
                        <a:cubicBezTo>
                          <a:pt x="100" y="107"/>
                          <a:pt x="98" y="106"/>
                          <a:pt x="97" y="105"/>
                        </a:cubicBezTo>
                        <a:close/>
                        <a:moveTo>
                          <a:pt x="64" y="76"/>
                        </a:moveTo>
                        <a:cubicBezTo>
                          <a:pt x="60" y="73"/>
                          <a:pt x="60" y="69"/>
                          <a:pt x="63" y="66"/>
                        </a:cubicBezTo>
                        <a:cubicBezTo>
                          <a:pt x="63" y="66"/>
                          <a:pt x="63" y="66"/>
                          <a:pt x="63" y="66"/>
                        </a:cubicBezTo>
                        <a:cubicBezTo>
                          <a:pt x="66" y="63"/>
                          <a:pt x="70" y="63"/>
                          <a:pt x="73" y="65"/>
                        </a:cubicBezTo>
                        <a:cubicBezTo>
                          <a:pt x="73" y="65"/>
                          <a:pt x="73" y="65"/>
                          <a:pt x="73" y="65"/>
                        </a:cubicBezTo>
                        <a:cubicBezTo>
                          <a:pt x="76" y="68"/>
                          <a:pt x="77" y="73"/>
                          <a:pt x="74" y="76"/>
                        </a:cubicBezTo>
                        <a:cubicBezTo>
                          <a:pt x="74" y="76"/>
                          <a:pt x="74" y="76"/>
                          <a:pt x="74" y="76"/>
                        </a:cubicBezTo>
                        <a:cubicBezTo>
                          <a:pt x="72" y="77"/>
                          <a:pt x="70" y="78"/>
                          <a:pt x="68" y="78"/>
                        </a:cubicBezTo>
                        <a:cubicBezTo>
                          <a:pt x="68" y="78"/>
                          <a:pt x="68" y="78"/>
                          <a:pt x="68" y="78"/>
                        </a:cubicBezTo>
                        <a:cubicBezTo>
                          <a:pt x="67" y="78"/>
                          <a:pt x="65" y="77"/>
                          <a:pt x="64" y="76"/>
                        </a:cubicBezTo>
                        <a:close/>
                        <a:moveTo>
                          <a:pt x="32" y="45"/>
                        </a:moveTo>
                        <a:cubicBezTo>
                          <a:pt x="32" y="45"/>
                          <a:pt x="32" y="45"/>
                          <a:pt x="32" y="45"/>
                        </a:cubicBezTo>
                        <a:cubicBezTo>
                          <a:pt x="29" y="42"/>
                          <a:pt x="29" y="38"/>
                          <a:pt x="32" y="35"/>
                        </a:cubicBezTo>
                        <a:cubicBezTo>
                          <a:pt x="32" y="35"/>
                          <a:pt x="32" y="35"/>
                          <a:pt x="32" y="35"/>
                        </a:cubicBezTo>
                        <a:cubicBezTo>
                          <a:pt x="35" y="32"/>
                          <a:pt x="40" y="32"/>
                          <a:pt x="42" y="35"/>
                        </a:cubicBezTo>
                        <a:cubicBezTo>
                          <a:pt x="42" y="35"/>
                          <a:pt x="42" y="35"/>
                          <a:pt x="42" y="35"/>
                        </a:cubicBezTo>
                        <a:cubicBezTo>
                          <a:pt x="45" y="38"/>
                          <a:pt x="45" y="43"/>
                          <a:pt x="42" y="45"/>
                        </a:cubicBezTo>
                        <a:cubicBezTo>
                          <a:pt x="42" y="45"/>
                          <a:pt x="42" y="45"/>
                          <a:pt x="42" y="45"/>
                        </a:cubicBezTo>
                        <a:cubicBezTo>
                          <a:pt x="41" y="47"/>
                          <a:pt x="39" y="47"/>
                          <a:pt x="37" y="47"/>
                        </a:cubicBezTo>
                        <a:cubicBezTo>
                          <a:pt x="37" y="47"/>
                          <a:pt x="37" y="47"/>
                          <a:pt x="37" y="47"/>
                        </a:cubicBezTo>
                        <a:cubicBezTo>
                          <a:pt x="35" y="47"/>
                          <a:pt x="33" y="47"/>
                          <a:pt x="32" y="45"/>
                        </a:cubicBezTo>
                        <a:close/>
                        <a:moveTo>
                          <a:pt x="3" y="12"/>
                        </a:moveTo>
                        <a:cubicBezTo>
                          <a:pt x="3" y="12"/>
                          <a:pt x="3" y="12"/>
                          <a:pt x="3" y="12"/>
                        </a:cubicBezTo>
                        <a:cubicBezTo>
                          <a:pt x="0" y="9"/>
                          <a:pt x="0" y="5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7" y="0"/>
                          <a:pt x="11" y="0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6" y="6"/>
                          <a:pt x="16" y="11"/>
                          <a:pt x="13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2" y="14"/>
                          <a:pt x="10" y="15"/>
                          <a:pt x="8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6" y="15"/>
                          <a:pt x="4" y="14"/>
                          <a:pt x="3" y="12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31" name="Freeform 99">
                    <a:extLst>
                      <a:ext uri="{FF2B5EF4-FFF2-40B4-BE49-F238E27FC236}">
                        <a16:creationId xmlns:a16="http://schemas.microsoft.com/office/drawing/2014/main" id="{81EA5ACD-824A-49DF-8932-FA2938E8C92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4587247"/>
                    <a:ext cx="1230098" cy="631672"/>
                  </a:xfrm>
                  <a:custGeom>
                    <a:avLst/>
                    <a:gdLst>
                      <a:gd name="T0" fmla="*/ 7 w 510"/>
                      <a:gd name="T1" fmla="*/ 248 h 262"/>
                      <a:gd name="T2" fmla="*/ 15 w 510"/>
                      <a:gd name="T3" fmla="*/ 255 h 262"/>
                      <a:gd name="T4" fmla="*/ 8 w 510"/>
                      <a:gd name="T5" fmla="*/ 262 h 262"/>
                      <a:gd name="T6" fmla="*/ 0 w 510"/>
                      <a:gd name="T7" fmla="*/ 256 h 262"/>
                      <a:gd name="T8" fmla="*/ 50 w 510"/>
                      <a:gd name="T9" fmla="*/ 244 h 262"/>
                      <a:gd name="T10" fmla="*/ 58 w 510"/>
                      <a:gd name="T11" fmla="*/ 250 h 262"/>
                      <a:gd name="T12" fmla="*/ 52 w 510"/>
                      <a:gd name="T13" fmla="*/ 258 h 262"/>
                      <a:gd name="T14" fmla="*/ 44 w 510"/>
                      <a:gd name="T15" fmla="*/ 252 h 262"/>
                      <a:gd name="T16" fmla="*/ 93 w 510"/>
                      <a:gd name="T17" fmla="*/ 237 h 262"/>
                      <a:gd name="T18" fmla="*/ 101 w 510"/>
                      <a:gd name="T19" fmla="*/ 243 h 262"/>
                      <a:gd name="T20" fmla="*/ 95 w 510"/>
                      <a:gd name="T21" fmla="*/ 252 h 262"/>
                      <a:gd name="T22" fmla="*/ 87 w 510"/>
                      <a:gd name="T23" fmla="*/ 246 h 262"/>
                      <a:gd name="T24" fmla="*/ 135 w 510"/>
                      <a:gd name="T25" fmla="*/ 228 h 262"/>
                      <a:gd name="T26" fmla="*/ 144 w 510"/>
                      <a:gd name="T27" fmla="*/ 233 h 262"/>
                      <a:gd name="T28" fmla="*/ 139 w 510"/>
                      <a:gd name="T29" fmla="*/ 242 h 262"/>
                      <a:gd name="T30" fmla="*/ 130 w 510"/>
                      <a:gd name="T31" fmla="*/ 237 h 262"/>
                      <a:gd name="T32" fmla="*/ 177 w 510"/>
                      <a:gd name="T33" fmla="*/ 216 h 262"/>
                      <a:gd name="T34" fmla="*/ 181 w 510"/>
                      <a:gd name="T35" fmla="*/ 230 h 262"/>
                      <a:gd name="T36" fmla="*/ 179 w 510"/>
                      <a:gd name="T37" fmla="*/ 231 h 262"/>
                      <a:gd name="T38" fmla="*/ 217 w 510"/>
                      <a:gd name="T39" fmla="*/ 202 h 262"/>
                      <a:gd name="T40" fmla="*/ 227 w 510"/>
                      <a:gd name="T41" fmla="*/ 206 h 262"/>
                      <a:gd name="T42" fmla="*/ 220 w 510"/>
                      <a:gd name="T43" fmla="*/ 216 h 262"/>
                      <a:gd name="T44" fmla="*/ 254 w 510"/>
                      <a:gd name="T45" fmla="*/ 195 h 262"/>
                      <a:gd name="T46" fmla="*/ 267 w 510"/>
                      <a:gd name="T47" fmla="*/ 189 h 262"/>
                      <a:gd name="T48" fmla="*/ 263 w 510"/>
                      <a:gd name="T49" fmla="*/ 199 h 262"/>
                      <a:gd name="T50" fmla="*/ 254 w 510"/>
                      <a:gd name="T51" fmla="*/ 195 h 262"/>
                      <a:gd name="T52" fmla="*/ 296 w 510"/>
                      <a:gd name="T53" fmla="*/ 166 h 262"/>
                      <a:gd name="T54" fmla="*/ 303 w 510"/>
                      <a:gd name="T55" fmla="*/ 179 h 262"/>
                      <a:gd name="T56" fmla="*/ 299 w 510"/>
                      <a:gd name="T57" fmla="*/ 180 h 262"/>
                      <a:gd name="T58" fmla="*/ 333 w 510"/>
                      <a:gd name="T59" fmla="*/ 144 h 262"/>
                      <a:gd name="T60" fmla="*/ 333 w 510"/>
                      <a:gd name="T61" fmla="*/ 144 h 262"/>
                      <a:gd name="T62" fmla="*/ 341 w 510"/>
                      <a:gd name="T63" fmla="*/ 157 h 262"/>
                      <a:gd name="T64" fmla="*/ 337 w 510"/>
                      <a:gd name="T65" fmla="*/ 158 h 262"/>
                      <a:gd name="T66" fmla="*/ 369 w 510"/>
                      <a:gd name="T67" fmla="*/ 120 h 262"/>
                      <a:gd name="T68" fmla="*/ 369 w 510"/>
                      <a:gd name="T69" fmla="*/ 120 h 262"/>
                      <a:gd name="T70" fmla="*/ 378 w 510"/>
                      <a:gd name="T71" fmla="*/ 132 h 262"/>
                      <a:gd name="T72" fmla="*/ 374 w 510"/>
                      <a:gd name="T73" fmla="*/ 134 h 262"/>
                      <a:gd name="T74" fmla="*/ 404 w 510"/>
                      <a:gd name="T75" fmla="*/ 94 h 262"/>
                      <a:gd name="T76" fmla="*/ 414 w 510"/>
                      <a:gd name="T77" fmla="*/ 95 h 262"/>
                      <a:gd name="T78" fmla="*/ 408 w 510"/>
                      <a:gd name="T79" fmla="*/ 107 h 262"/>
                      <a:gd name="T80" fmla="*/ 436 w 510"/>
                      <a:gd name="T81" fmla="*/ 76 h 262"/>
                      <a:gd name="T82" fmla="*/ 447 w 510"/>
                      <a:gd name="T83" fmla="*/ 66 h 262"/>
                      <a:gd name="T84" fmla="*/ 446 w 510"/>
                      <a:gd name="T85" fmla="*/ 77 h 262"/>
                      <a:gd name="T86" fmla="*/ 436 w 510"/>
                      <a:gd name="T87" fmla="*/ 76 h 262"/>
                      <a:gd name="T88" fmla="*/ 467 w 510"/>
                      <a:gd name="T89" fmla="*/ 36 h 262"/>
                      <a:gd name="T90" fmla="*/ 478 w 510"/>
                      <a:gd name="T91" fmla="*/ 46 h 262"/>
                      <a:gd name="T92" fmla="*/ 473 w 510"/>
                      <a:gd name="T93" fmla="*/ 48 h 262"/>
                      <a:gd name="T94" fmla="*/ 496 w 510"/>
                      <a:gd name="T95" fmla="*/ 3 h 262"/>
                      <a:gd name="T96" fmla="*/ 506 w 510"/>
                      <a:gd name="T97" fmla="*/ 3 h 262"/>
                      <a:gd name="T98" fmla="*/ 502 w 510"/>
                      <a:gd name="T99" fmla="*/ 15 h 2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510" h="262">
                        <a:moveTo>
                          <a:pt x="0" y="256"/>
                        </a:moveTo>
                        <a:cubicBezTo>
                          <a:pt x="0" y="251"/>
                          <a:pt x="3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11" y="248"/>
                          <a:pt x="14" y="251"/>
                          <a:pt x="15" y="255"/>
                        </a:cubicBezTo>
                        <a:cubicBezTo>
                          <a:pt x="15" y="255"/>
                          <a:pt x="15" y="255"/>
                          <a:pt x="15" y="255"/>
                        </a:cubicBezTo>
                        <a:cubicBezTo>
                          <a:pt x="15" y="259"/>
                          <a:pt x="12" y="262"/>
                          <a:pt x="8" y="262"/>
                        </a:cubicBezTo>
                        <a:cubicBezTo>
                          <a:pt x="8" y="262"/>
                          <a:pt x="8" y="262"/>
                          <a:pt x="8" y="262"/>
                        </a:cubicBezTo>
                        <a:cubicBezTo>
                          <a:pt x="8" y="262"/>
                          <a:pt x="8" y="262"/>
                          <a:pt x="7" y="262"/>
                        </a:cubicBezTo>
                        <a:cubicBezTo>
                          <a:pt x="7" y="262"/>
                          <a:pt x="7" y="262"/>
                          <a:pt x="7" y="262"/>
                        </a:cubicBezTo>
                        <a:cubicBezTo>
                          <a:pt x="4" y="262"/>
                          <a:pt x="0" y="259"/>
                          <a:pt x="0" y="256"/>
                        </a:cubicBezTo>
                        <a:close/>
                        <a:moveTo>
                          <a:pt x="44" y="252"/>
                        </a:moveTo>
                        <a:cubicBezTo>
                          <a:pt x="43" y="248"/>
                          <a:pt x="46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4" y="243"/>
                          <a:pt x="58" y="246"/>
                          <a:pt x="58" y="250"/>
                        </a:cubicBezTo>
                        <a:cubicBezTo>
                          <a:pt x="58" y="250"/>
                          <a:pt x="58" y="250"/>
                          <a:pt x="58" y="250"/>
                        </a:cubicBezTo>
                        <a:cubicBezTo>
                          <a:pt x="59" y="254"/>
                          <a:pt x="56" y="258"/>
                          <a:pt x="52" y="258"/>
                        </a:cubicBezTo>
                        <a:cubicBezTo>
                          <a:pt x="52" y="258"/>
                          <a:pt x="52" y="258"/>
                          <a:pt x="52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47" y="258"/>
                          <a:pt x="44" y="256"/>
                          <a:pt x="44" y="252"/>
                        </a:cubicBezTo>
                        <a:close/>
                        <a:moveTo>
                          <a:pt x="87" y="246"/>
                        </a:moveTo>
                        <a:cubicBezTo>
                          <a:pt x="86" y="242"/>
                          <a:pt x="89" y="238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7" y="237"/>
                          <a:pt x="101" y="239"/>
                          <a:pt x="101" y="243"/>
                        </a:cubicBezTo>
                        <a:cubicBezTo>
                          <a:pt x="101" y="243"/>
                          <a:pt x="101" y="243"/>
                          <a:pt x="101" y="243"/>
                        </a:cubicBezTo>
                        <a:cubicBezTo>
                          <a:pt x="102" y="247"/>
                          <a:pt x="99" y="251"/>
                          <a:pt x="95" y="252"/>
                        </a:cubicBezTo>
                        <a:cubicBezTo>
                          <a:pt x="95" y="252"/>
                          <a:pt x="95" y="252"/>
                          <a:pt x="95" y="252"/>
                        </a:cubicBezTo>
                        <a:cubicBezTo>
                          <a:pt x="95" y="252"/>
                          <a:pt x="95" y="252"/>
                          <a:pt x="94" y="252"/>
                        </a:cubicBezTo>
                        <a:cubicBezTo>
                          <a:pt x="94" y="252"/>
                          <a:pt x="94" y="252"/>
                          <a:pt x="94" y="252"/>
                        </a:cubicBezTo>
                        <a:cubicBezTo>
                          <a:pt x="91" y="252"/>
                          <a:pt x="88" y="249"/>
                          <a:pt x="87" y="246"/>
                        </a:cubicBezTo>
                        <a:close/>
                        <a:moveTo>
                          <a:pt x="130" y="237"/>
                        </a:moveTo>
                        <a:cubicBezTo>
                          <a:pt x="129" y="233"/>
                          <a:pt x="131" y="229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9" y="227"/>
                          <a:pt x="143" y="230"/>
                          <a:pt x="144" y="233"/>
                        </a:cubicBezTo>
                        <a:cubicBezTo>
                          <a:pt x="144" y="233"/>
                          <a:pt x="144" y="233"/>
                          <a:pt x="144" y="233"/>
                        </a:cubicBezTo>
                        <a:cubicBezTo>
                          <a:pt x="145" y="237"/>
                          <a:pt x="142" y="241"/>
                          <a:pt x="139" y="242"/>
                        </a:cubicBezTo>
                        <a:cubicBezTo>
                          <a:pt x="139" y="242"/>
                          <a:pt x="139" y="242"/>
                          <a:pt x="139" y="242"/>
                        </a:cubicBezTo>
                        <a:cubicBezTo>
                          <a:pt x="138" y="243"/>
                          <a:pt x="137" y="243"/>
                          <a:pt x="137" y="243"/>
                        </a:cubicBezTo>
                        <a:cubicBezTo>
                          <a:pt x="137" y="243"/>
                          <a:pt x="137" y="243"/>
                          <a:pt x="137" y="243"/>
                        </a:cubicBezTo>
                        <a:cubicBezTo>
                          <a:pt x="133" y="243"/>
                          <a:pt x="130" y="240"/>
                          <a:pt x="130" y="237"/>
                        </a:cubicBezTo>
                        <a:close/>
                        <a:moveTo>
                          <a:pt x="172" y="226"/>
                        </a:moveTo>
                        <a:cubicBezTo>
                          <a:pt x="171" y="222"/>
                          <a:pt x="173" y="218"/>
                          <a:pt x="177" y="216"/>
                        </a:cubicBezTo>
                        <a:cubicBezTo>
                          <a:pt x="177" y="216"/>
                          <a:pt x="177" y="216"/>
                          <a:pt x="177" y="216"/>
                        </a:cubicBezTo>
                        <a:cubicBezTo>
                          <a:pt x="180" y="215"/>
                          <a:pt x="185" y="217"/>
                          <a:pt x="186" y="221"/>
                        </a:cubicBezTo>
                        <a:cubicBezTo>
                          <a:pt x="186" y="221"/>
                          <a:pt x="186" y="221"/>
                          <a:pt x="186" y="221"/>
                        </a:cubicBezTo>
                        <a:cubicBezTo>
                          <a:pt x="187" y="225"/>
                          <a:pt x="185" y="229"/>
                          <a:pt x="181" y="230"/>
                        </a:cubicBezTo>
                        <a:cubicBezTo>
                          <a:pt x="181" y="230"/>
                          <a:pt x="181" y="230"/>
                          <a:pt x="181" y="230"/>
                        </a:cubicBezTo>
                        <a:cubicBezTo>
                          <a:pt x="180" y="231"/>
                          <a:pt x="180" y="231"/>
                          <a:pt x="179" y="231"/>
                        </a:cubicBezTo>
                        <a:cubicBezTo>
                          <a:pt x="179" y="231"/>
                          <a:pt x="179" y="231"/>
                          <a:pt x="179" y="231"/>
                        </a:cubicBezTo>
                        <a:cubicBezTo>
                          <a:pt x="176" y="231"/>
                          <a:pt x="173" y="229"/>
                          <a:pt x="172" y="226"/>
                        </a:cubicBezTo>
                        <a:close/>
                        <a:moveTo>
                          <a:pt x="213" y="212"/>
                        </a:moveTo>
                        <a:cubicBezTo>
                          <a:pt x="212" y="208"/>
                          <a:pt x="214" y="204"/>
                          <a:pt x="217" y="202"/>
                        </a:cubicBezTo>
                        <a:cubicBezTo>
                          <a:pt x="217" y="202"/>
                          <a:pt x="217" y="202"/>
                          <a:pt x="217" y="202"/>
                        </a:cubicBezTo>
                        <a:cubicBezTo>
                          <a:pt x="221" y="201"/>
                          <a:pt x="225" y="203"/>
                          <a:pt x="227" y="206"/>
                        </a:cubicBezTo>
                        <a:cubicBezTo>
                          <a:pt x="227" y="206"/>
                          <a:pt x="227" y="206"/>
                          <a:pt x="227" y="206"/>
                        </a:cubicBezTo>
                        <a:cubicBezTo>
                          <a:pt x="228" y="210"/>
                          <a:pt x="226" y="214"/>
                          <a:pt x="223" y="216"/>
                        </a:cubicBezTo>
                        <a:cubicBezTo>
                          <a:pt x="223" y="216"/>
                          <a:pt x="223" y="216"/>
                          <a:pt x="223" y="216"/>
                        </a:cubicBezTo>
                        <a:cubicBezTo>
                          <a:pt x="222" y="216"/>
                          <a:pt x="221" y="216"/>
                          <a:pt x="220" y="216"/>
                        </a:cubicBezTo>
                        <a:cubicBezTo>
                          <a:pt x="220" y="216"/>
                          <a:pt x="220" y="216"/>
                          <a:pt x="220" y="216"/>
                        </a:cubicBezTo>
                        <a:cubicBezTo>
                          <a:pt x="217" y="216"/>
                          <a:pt x="214" y="215"/>
                          <a:pt x="213" y="212"/>
                        </a:cubicBezTo>
                        <a:close/>
                        <a:moveTo>
                          <a:pt x="254" y="195"/>
                        </a:moveTo>
                        <a:cubicBezTo>
                          <a:pt x="252" y="191"/>
                          <a:pt x="254" y="187"/>
                          <a:pt x="257" y="185"/>
                        </a:cubicBezTo>
                        <a:cubicBezTo>
                          <a:pt x="257" y="185"/>
                          <a:pt x="257" y="185"/>
                          <a:pt x="257" y="185"/>
                        </a:cubicBezTo>
                        <a:cubicBezTo>
                          <a:pt x="261" y="184"/>
                          <a:pt x="265" y="185"/>
                          <a:pt x="267" y="189"/>
                        </a:cubicBezTo>
                        <a:cubicBezTo>
                          <a:pt x="267" y="189"/>
                          <a:pt x="267" y="189"/>
                          <a:pt x="267" y="189"/>
                        </a:cubicBezTo>
                        <a:cubicBezTo>
                          <a:pt x="269" y="193"/>
                          <a:pt x="267" y="197"/>
                          <a:pt x="263" y="199"/>
                        </a:cubicBezTo>
                        <a:cubicBezTo>
                          <a:pt x="263" y="199"/>
                          <a:pt x="263" y="199"/>
                          <a:pt x="263" y="199"/>
                        </a:cubicBezTo>
                        <a:cubicBezTo>
                          <a:pt x="262" y="199"/>
                          <a:pt x="261" y="199"/>
                          <a:pt x="260" y="199"/>
                        </a:cubicBezTo>
                        <a:cubicBezTo>
                          <a:pt x="260" y="199"/>
                          <a:pt x="260" y="199"/>
                          <a:pt x="260" y="199"/>
                        </a:cubicBezTo>
                        <a:cubicBezTo>
                          <a:pt x="258" y="199"/>
                          <a:pt x="255" y="198"/>
                          <a:pt x="254" y="195"/>
                        </a:cubicBezTo>
                        <a:close/>
                        <a:moveTo>
                          <a:pt x="293" y="176"/>
                        </a:moveTo>
                        <a:cubicBezTo>
                          <a:pt x="291" y="172"/>
                          <a:pt x="292" y="168"/>
                          <a:pt x="296" y="166"/>
                        </a:cubicBezTo>
                        <a:cubicBezTo>
                          <a:pt x="296" y="166"/>
                          <a:pt x="296" y="166"/>
                          <a:pt x="296" y="166"/>
                        </a:cubicBezTo>
                        <a:cubicBezTo>
                          <a:pt x="299" y="164"/>
                          <a:pt x="304" y="165"/>
                          <a:pt x="306" y="169"/>
                        </a:cubicBezTo>
                        <a:cubicBezTo>
                          <a:pt x="306" y="169"/>
                          <a:pt x="306" y="169"/>
                          <a:pt x="306" y="169"/>
                        </a:cubicBezTo>
                        <a:cubicBezTo>
                          <a:pt x="308" y="173"/>
                          <a:pt x="307" y="177"/>
                          <a:pt x="303" y="179"/>
                        </a:cubicBezTo>
                        <a:cubicBezTo>
                          <a:pt x="303" y="179"/>
                          <a:pt x="303" y="179"/>
                          <a:pt x="303" y="179"/>
                        </a:cubicBezTo>
                        <a:cubicBezTo>
                          <a:pt x="302" y="179"/>
                          <a:pt x="301" y="180"/>
                          <a:pt x="299" y="180"/>
                        </a:cubicBezTo>
                        <a:cubicBezTo>
                          <a:pt x="299" y="180"/>
                          <a:pt x="299" y="180"/>
                          <a:pt x="299" y="180"/>
                        </a:cubicBezTo>
                        <a:cubicBezTo>
                          <a:pt x="297" y="180"/>
                          <a:pt x="294" y="178"/>
                          <a:pt x="293" y="176"/>
                        </a:cubicBezTo>
                        <a:close/>
                        <a:moveTo>
                          <a:pt x="331" y="154"/>
                        </a:moveTo>
                        <a:cubicBezTo>
                          <a:pt x="329" y="151"/>
                          <a:pt x="330" y="147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7" y="142"/>
                          <a:pt x="341" y="143"/>
                          <a:pt x="343" y="147"/>
                        </a:cubicBezTo>
                        <a:cubicBezTo>
                          <a:pt x="343" y="147"/>
                          <a:pt x="343" y="147"/>
                          <a:pt x="343" y="147"/>
                        </a:cubicBezTo>
                        <a:cubicBezTo>
                          <a:pt x="346" y="150"/>
                          <a:pt x="344" y="155"/>
                          <a:pt x="341" y="157"/>
                        </a:cubicBezTo>
                        <a:cubicBezTo>
                          <a:pt x="341" y="157"/>
                          <a:pt x="341" y="157"/>
                          <a:pt x="341" y="157"/>
                        </a:cubicBezTo>
                        <a:cubicBezTo>
                          <a:pt x="340" y="158"/>
                          <a:pt x="339" y="158"/>
                          <a:pt x="337" y="158"/>
                        </a:cubicBezTo>
                        <a:cubicBezTo>
                          <a:pt x="337" y="158"/>
                          <a:pt x="337" y="158"/>
                          <a:pt x="337" y="158"/>
                        </a:cubicBezTo>
                        <a:cubicBezTo>
                          <a:pt x="335" y="158"/>
                          <a:pt x="332" y="157"/>
                          <a:pt x="331" y="154"/>
                        </a:cubicBezTo>
                        <a:close/>
                        <a:moveTo>
                          <a:pt x="368" y="131"/>
                        </a:moveTo>
                        <a:cubicBezTo>
                          <a:pt x="365" y="127"/>
                          <a:pt x="366" y="123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73" y="118"/>
                          <a:pt x="377" y="119"/>
                          <a:pt x="380" y="122"/>
                        </a:cubicBezTo>
                        <a:cubicBezTo>
                          <a:pt x="380" y="122"/>
                          <a:pt x="380" y="122"/>
                          <a:pt x="380" y="122"/>
                        </a:cubicBezTo>
                        <a:cubicBezTo>
                          <a:pt x="382" y="125"/>
                          <a:pt x="381" y="130"/>
                          <a:pt x="378" y="132"/>
                        </a:cubicBezTo>
                        <a:cubicBezTo>
                          <a:pt x="378" y="132"/>
                          <a:pt x="378" y="132"/>
                          <a:pt x="378" y="132"/>
                        </a:cubicBezTo>
                        <a:cubicBezTo>
                          <a:pt x="377" y="133"/>
                          <a:pt x="375" y="134"/>
                          <a:pt x="374" y="134"/>
                        </a:cubicBezTo>
                        <a:cubicBezTo>
                          <a:pt x="374" y="134"/>
                          <a:pt x="374" y="134"/>
                          <a:pt x="374" y="134"/>
                        </a:cubicBezTo>
                        <a:cubicBezTo>
                          <a:pt x="371" y="134"/>
                          <a:pt x="369" y="133"/>
                          <a:pt x="368" y="131"/>
                        </a:cubicBezTo>
                        <a:close/>
                        <a:moveTo>
                          <a:pt x="403" y="105"/>
                        </a:moveTo>
                        <a:cubicBezTo>
                          <a:pt x="400" y="101"/>
                          <a:pt x="401" y="97"/>
                          <a:pt x="404" y="94"/>
                        </a:cubicBezTo>
                        <a:cubicBezTo>
                          <a:pt x="404" y="94"/>
                          <a:pt x="404" y="94"/>
                          <a:pt x="404" y="94"/>
                        </a:cubicBezTo>
                        <a:cubicBezTo>
                          <a:pt x="407" y="92"/>
                          <a:pt x="412" y="92"/>
                          <a:pt x="414" y="95"/>
                        </a:cubicBezTo>
                        <a:cubicBezTo>
                          <a:pt x="414" y="95"/>
                          <a:pt x="414" y="95"/>
                          <a:pt x="414" y="95"/>
                        </a:cubicBezTo>
                        <a:cubicBezTo>
                          <a:pt x="417" y="99"/>
                          <a:pt x="416" y="103"/>
                          <a:pt x="413" y="106"/>
                        </a:cubicBezTo>
                        <a:cubicBezTo>
                          <a:pt x="413" y="106"/>
                          <a:pt x="413" y="106"/>
                          <a:pt x="413" y="106"/>
                        </a:cubicBezTo>
                        <a:cubicBezTo>
                          <a:pt x="412" y="107"/>
                          <a:pt x="410" y="107"/>
                          <a:pt x="408" y="107"/>
                        </a:cubicBezTo>
                        <a:cubicBezTo>
                          <a:pt x="408" y="107"/>
                          <a:pt x="408" y="107"/>
                          <a:pt x="408" y="107"/>
                        </a:cubicBezTo>
                        <a:cubicBezTo>
                          <a:pt x="406" y="107"/>
                          <a:pt x="404" y="106"/>
                          <a:pt x="403" y="105"/>
                        </a:cubicBezTo>
                        <a:close/>
                        <a:moveTo>
                          <a:pt x="436" y="76"/>
                        </a:moveTo>
                        <a:cubicBezTo>
                          <a:pt x="433" y="73"/>
                          <a:pt x="433" y="69"/>
                          <a:pt x="437" y="66"/>
                        </a:cubicBezTo>
                        <a:cubicBezTo>
                          <a:pt x="437" y="66"/>
                          <a:pt x="437" y="66"/>
                          <a:pt x="437" y="66"/>
                        </a:cubicBezTo>
                        <a:cubicBezTo>
                          <a:pt x="439" y="63"/>
                          <a:pt x="444" y="63"/>
                          <a:pt x="447" y="66"/>
                        </a:cubicBezTo>
                        <a:cubicBezTo>
                          <a:pt x="447" y="66"/>
                          <a:pt x="447" y="66"/>
                          <a:pt x="447" y="66"/>
                        </a:cubicBezTo>
                        <a:cubicBezTo>
                          <a:pt x="450" y="69"/>
                          <a:pt x="449" y="74"/>
                          <a:pt x="446" y="77"/>
                        </a:cubicBezTo>
                        <a:cubicBezTo>
                          <a:pt x="446" y="77"/>
                          <a:pt x="446" y="77"/>
                          <a:pt x="446" y="77"/>
                        </a:cubicBezTo>
                        <a:cubicBezTo>
                          <a:pt x="445" y="78"/>
                          <a:pt x="443" y="79"/>
                          <a:pt x="441" y="79"/>
                        </a:cubicBezTo>
                        <a:cubicBezTo>
                          <a:pt x="441" y="79"/>
                          <a:pt x="441" y="79"/>
                          <a:pt x="441" y="79"/>
                        </a:cubicBezTo>
                        <a:cubicBezTo>
                          <a:pt x="439" y="79"/>
                          <a:pt x="438" y="78"/>
                          <a:pt x="436" y="76"/>
                        </a:cubicBezTo>
                        <a:close/>
                        <a:moveTo>
                          <a:pt x="467" y="46"/>
                        </a:moveTo>
                        <a:cubicBezTo>
                          <a:pt x="465" y="43"/>
                          <a:pt x="464" y="38"/>
                          <a:pt x="467" y="36"/>
                        </a:cubicBezTo>
                        <a:cubicBezTo>
                          <a:pt x="467" y="36"/>
                          <a:pt x="467" y="36"/>
                          <a:pt x="467" y="36"/>
                        </a:cubicBezTo>
                        <a:cubicBezTo>
                          <a:pt x="470" y="33"/>
                          <a:pt x="475" y="33"/>
                          <a:pt x="478" y="35"/>
                        </a:cubicBezTo>
                        <a:cubicBezTo>
                          <a:pt x="478" y="35"/>
                          <a:pt x="478" y="35"/>
                          <a:pt x="478" y="35"/>
                        </a:cubicBezTo>
                        <a:cubicBezTo>
                          <a:pt x="480" y="38"/>
                          <a:pt x="481" y="43"/>
                          <a:pt x="478" y="46"/>
                        </a:cubicBezTo>
                        <a:cubicBezTo>
                          <a:pt x="478" y="46"/>
                          <a:pt x="478" y="46"/>
                          <a:pt x="478" y="46"/>
                        </a:cubicBezTo>
                        <a:cubicBezTo>
                          <a:pt x="476" y="47"/>
                          <a:pt x="474" y="48"/>
                          <a:pt x="473" y="48"/>
                        </a:cubicBezTo>
                        <a:cubicBezTo>
                          <a:pt x="473" y="48"/>
                          <a:pt x="473" y="48"/>
                          <a:pt x="473" y="48"/>
                        </a:cubicBezTo>
                        <a:cubicBezTo>
                          <a:pt x="471" y="48"/>
                          <a:pt x="469" y="47"/>
                          <a:pt x="467" y="46"/>
                        </a:cubicBezTo>
                        <a:close/>
                        <a:moveTo>
                          <a:pt x="497" y="14"/>
                        </a:moveTo>
                        <a:cubicBezTo>
                          <a:pt x="494" y="11"/>
                          <a:pt x="493" y="7"/>
                          <a:pt x="496" y="3"/>
                        </a:cubicBezTo>
                        <a:cubicBezTo>
                          <a:pt x="496" y="3"/>
                          <a:pt x="496" y="3"/>
                          <a:pt x="496" y="3"/>
                        </a:cubicBezTo>
                        <a:cubicBezTo>
                          <a:pt x="499" y="0"/>
                          <a:pt x="503" y="0"/>
                          <a:pt x="506" y="3"/>
                        </a:cubicBezTo>
                        <a:cubicBezTo>
                          <a:pt x="506" y="3"/>
                          <a:pt x="506" y="3"/>
                          <a:pt x="506" y="3"/>
                        </a:cubicBezTo>
                        <a:cubicBezTo>
                          <a:pt x="509" y="5"/>
                          <a:pt x="510" y="10"/>
                          <a:pt x="507" y="13"/>
                        </a:cubicBezTo>
                        <a:cubicBezTo>
                          <a:pt x="507" y="13"/>
                          <a:pt x="507" y="13"/>
                          <a:pt x="507" y="13"/>
                        </a:cubicBezTo>
                        <a:cubicBezTo>
                          <a:pt x="506" y="15"/>
                          <a:pt x="504" y="15"/>
                          <a:pt x="502" y="15"/>
                        </a:cubicBezTo>
                        <a:cubicBezTo>
                          <a:pt x="502" y="15"/>
                          <a:pt x="502" y="15"/>
                          <a:pt x="502" y="15"/>
                        </a:cubicBezTo>
                        <a:cubicBezTo>
                          <a:pt x="500" y="15"/>
                          <a:pt x="498" y="15"/>
                          <a:pt x="497" y="14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37" name="Freeform 105">
                  <a:extLst>
                    <a:ext uri="{FF2B5EF4-FFF2-40B4-BE49-F238E27FC236}">
                      <a16:creationId xmlns:a16="http://schemas.microsoft.com/office/drawing/2014/main" id="{8439197A-3810-4E1C-8DD4-29193B86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6105" y="450413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2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4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4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5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8B46C47-D79D-427B-837A-85FAE788605D}"/>
              </a:ext>
            </a:extLst>
          </p:cNvPr>
          <p:cNvGrpSpPr/>
          <p:nvPr/>
        </p:nvGrpSpPr>
        <p:grpSpPr>
          <a:xfrm>
            <a:off x="5037268" y="1529615"/>
            <a:ext cx="2206401" cy="1124016"/>
            <a:chOff x="4692647" y="1766887"/>
            <a:chExt cx="3230392" cy="1645672"/>
          </a:xfrm>
        </p:grpSpPr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B6E11CCB-33B1-45D5-AD4F-0F4EE6F7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2512150"/>
              <a:ext cx="210557" cy="180083"/>
            </a:xfrm>
            <a:custGeom>
              <a:avLst/>
              <a:gdLst>
                <a:gd name="T0" fmla="*/ 0 w 76"/>
                <a:gd name="T1" fmla="*/ 1 h 65"/>
                <a:gd name="T2" fmla="*/ 11 w 76"/>
                <a:gd name="T3" fmla="*/ 0 h 65"/>
                <a:gd name="T4" fmla="*/ 22 w 76"/>
                <a:gd name="T5" fmla="*/ 51 h 65"/>
                <a:gd name="T6" fmla="*/ 73 w 76"/>
                <a:gd name="T7" fmla="*/ 36 h 65"/>
                <a:gd name="T8" fmla="*/ 76 w 76"/>
                <a:gd name="T9" fmla="*/ 47 h 65"/>
                <a:gd name="T10" fmla="*/ 14 w 76"/>
                <a:gd name="T11" fmla="*/ 65 h 65"/>
                <a:gd name="T12" fmla="*/ 0 w 76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65">
                  <a:moveTo>
                    <a:pt x="0" y="1"/>
                  </a:moveTo>
                  <a:lnTo>
                    <a:pt x="11" y="0"/>
                  </a:lnTo>
                  <a:lnTo>
                    <a:pt x="22" y="51"/>
                  </a:lnTo>
                  <a:lnTo>
                    <a:pt x="73" y="36"/>
                  </a:lnTo>
                  <a:lnTo>
                    <a:pt x="76" y="47"/>
                  </a:lnTo>
                  <a:lnTo>
                    <a:pt x="14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9F2DCACC-34B1-4924-90BD-B34FA32866E4}"/>
                </a:ext>
              </a:extLst>
            </p:cNvPr>
            <p:cNvGrpSpPr/>
            <p:nvPr/>
          </p:nvGrpSpPr>
          <p:grpSpPr>
            <a:xfrm>
              <a:off x="4778531" y="1766887"/>
              <a:ext cx="3144508" cy="1645672"/>
              <a:chOff x="4778531" y="1766887"/>
              <a:chExt cx="3144508" cy="1645672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C92D2C5-3337-4334-A4F3-81370826EC26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36196" cy="1537623"/>
                <a:chOff x="4778531" y="1766887"/>
                <a:chExt cx="3136196" cy="1537623"/>
              </a:xfrm>
            </p:grpSpPr>
            <p:grpSp>
              <p:nvGrpSpPr>
                <p:cNvPr id="86" name="Grupo 85">
                  <a:extLst>
                    <a:ext uri="{FF2B5EF4-FFF2-40B4-BE49-F238E27FC236}">
                      <a16:creationId xmlns:a16="http://schemas.microsoft.com/office/drawing/2014/main" id="{4CE34E22-B103-4A8E-AD15-C5DCBDD19DDE}"/>
                    </a:ext>
                  </a:extLst>
                </p:cNvPr>
                <p:cNvGrpSpPr/>
                <p:nvPr/>
              </p:nvGrpSpPr>
              <p:grpSpPr>
                <a:xfrm>
                  <a:off x="4778531" y="1769658"/>
                  <a:ext cx="3136196" cy="1534852"/>
                  <a:chOff x="4778531" y="1769658"/>
                  <a:chExt cx="3136196" cy="1534852"/>
                </a:xfrm>
              </p:grpSpPr>
              <p:sp>
                <p:nvSpPr>
                  <p:cNvPr id="88" name="Freeform 96">
                    <a:extLst>
                      <a:ext uri="{FF2B5EF4-FFF2-40B4-BE49-F238E27FC236}">
                        <a16:creationId xmlns:a16="http://schemas.microsoft.com/office/drawing/2014/main" id="{14E3E661-D001-47B3-B59E-52BAE81BCB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1769658"/>
                    <a:ext cx="1590262" cy="1534852"/>
                  </a:xfrm>
                  <a:custGeom>
                    <a:avLst/>
                    <a:gdLst>
                      <a:gd name="T0" fmla="*/ 659 w 659"/>
                      <a:gd name="T1" fmla="*/ 629 h 636"/>
                      <a:gd name="T2" fmla="*/ 652 w 659"/>
                      <a:gd name="T3" fmla="*/ 636 h 636"/>
                      <a:gd name="T4" fmla="*/ 640 w 659"/>
                      <a:gd name="T5" fmla="*/ 586 h 636"/>
                      <a:gd name="T6" fmla="*/ 654 w 659"/>
                      <a:gd name="T7" fmla="*/ 584 h 636"/>
                      <a:gd name="T8" fmla="*/ 647 w 659"/>
                      <a:gd name="T9" fmla="*/ 592 h 636"/>
                      <a:gd name="T10" fmla="*/ 638 w 659"/>
                      <a:gd name="T11" fmla="*/ 534 h 636"/>
                      <a:gd name="T12" fmla="*/ 641 w 659"/>
                      <a:gd name="T13" fmla="*/ 548 h 636"/>
                      <a:gd name="T14" fmla="*/ 633 w 659"/>
                      <a:gd name="T15" fmla="*/ 543 h 636"/>
                      <a:gd name="T16" fmla="*/ 627 w 659"/>
                      <a:gd name="T17" fmla="*/ 491 h 636"/>
                      <a:gd name="T18" fmla="*/ 631 w 659"/>
                      <a:gd name="T19" fmla="*/ 505 h 636"/>
                      <a:gd name="T20" fmla="*/ 622 w 659"/>
                      <a:gd name="T21" fmla="*/ 500 h 636"/>
                      <a:gd name="T22" fmla="*/ 622 w 659"/>
                      <a:gd name="T23" fmla="*/ 453 h 636"/>
                      <a:gd name="T24" fmla="*/ 615 w 659"/>
                      <a:gd name="T25" fmla="*/ 463 h 636"/>
                      <a:gd name="T26" fmla="*/ 596 w 659"/>
                      <a:gd name="T27" fmla="*/ 408 h 636"/>
                      <a:gd name="T28" fmla="*/ 602 w 659"/>
                      <a:gd name="T29" fmla="*/ 421 h 636"/>
                      <a:gd name="T30" fmla="*/ 592 w 659"/>
                      <a:gd name="T31" fmla="*/ 417 h 636"/>
                      <a:gd name="T32" fmla="*/ 576 w 659"/>
                      <a:gd name="T33" fmla="*/ 368 h 636"/>
                      <a:gd name="T34" fmla="*/ 583 w 659"/>
                      <a:gd name="T35" fmla="*/ 381 h 636"/>
                      <a:gd name="T36" fmla="*/ 573 w 659"/>
                      <a:gd name="T37" fmla="*/ 378 h 636"/>
                      <a:gd name="T38" fmla="*/ 564 w 659"/>
                      <a:gd name="T39" fmla="*/ 332 h 636"/>
                      <a:gd name="T40" fmla="*/ 558 w 659"/>
                      <a:gd name="T41" fmla="*/ 343 h 636"/>
                      <a:gd name="T42" fmla="*/ 529 w 659"/>
                      <a:gd name="T43" fmla="*/ 292 h 636"/>
                      <a:gd name="T44" fmla="*/ 538 w 659"/>
                      <a:gd name="T45" fmla="*/ 304 h 636"/>
                      <a:gd name="T46" fmla="*/ 528 w 659"/>
                      <a:gd name="T47" fmla="*/ 303 h 636"/>
                      <a:gd name="T48" fmla="*/ 512 w 659"/>
                      <a:gd name="T49" fmla="*/ 258 h 636"/>
                      <a:gd name="T50" fmla="*/ 507 w 659"/>
                      <a:gd name="T51" fmla="*/ 270 h 636"/>
                      <a:gd name="T52" fmla="*/ 473 w 659"/>
                      <a:gd name="T53" fmla="*/ 224 h 636"/>
                      <a:gd name="T54" fmla="*/ 483 w 659"/>
                      <a:gd name="T55" fmla="*/ 235 h 636"/>
                      <a:gd name="T56" fmla="*/ 472 w 659"/>
                      <a:gd name="T57" fmla="*/ 234 h 636"/>
                      <a:gd name="T58" fmla="*/ 452 w 659"/>
                      <a:gd name="T59" fmla="*/ 193 h 636"/>
                      <a:gd name="T60" fmla="*/ 446 w 659"/>
                      <a:gd name="T61" fmla="*/ 205 h 636"/>
                      <a:gd name="T62" fmla="*/ 408 w 659"/>
                      <a:gd name="T63" fmla="*/ 164 h 636"/>
                      <a:gd name="T64" fmla="*/ 419 w 659"/>
                      <a:gd name="T65" fmla="*/ 173 h 636"/>
                      <a:gd name="T66" fmla="*/ 409 w 659"/>
                      <a:gd name="T67" fmla="*/ 174 h 636"/>
                      <a:gd name="T68" fmla="*/ 383 w 659"/>
                      <a:gd name="T69" fmla="*/ 135 h 636"/>
                      <a:gd name="T70" fmla="*/ 378 w 659"/>
                      <a:gd name="T71" fmla="*/ 148 h 636"/>
                      <a:gd name="T72" fmla="*/ 338 w 659"/>
                      <a:gd name="T73" fmla="*/ 122 h 636"/>
                      <a:gd name="T74" fmla="*/ 346 w 659"/>
                      <a:gd name="T75" fmla="*/ 110 h 636"/>
                      <a:gd name="T76" fmla="*/ 342 w 659"/>
                      <a:gd name="T77" fmla="*/ 123 h 636"/>
                      <a:gd name="T78" fmla="*/ 300 w 659"/>
                      <a:gd name="T79" fmla="*/ 100 h 636"/>
                      <a:gd name="T80" fmla="*/ 307 w 659"/>
                      <a:gd name="T81" fmla="*/ 87 h 636"/>
                      <a:gd name="T82" fmla="*/ 303 w 659"/>
                      <a:gd name="T83" fmla="*/ 101 h 636"/>
                      <a:gd name="T84" fmla="*/ 257 w 659"/>
                      <a:gd name="T85" fmla="*/ 70 h 636"/>
                      <a:gd name="T86" fmla="*/ 270 w 659"/>
                      <a:gd name="T87" fmla="*/ 76 h 636"/>
                      <a:gd name="T88" fmla="*/ 261 w 659"/>
                      <a:gd name="T89" fmla="*/ 80 h 636"/>
                      <a:gd name="T90" fmla="*/ 226 w 659"/>
                      <a:gd name="T91" fmla="*/ 49 h 636"/>
                      <a:gd name="T92" fmla="*/ 223 w 659"/>
                      <a:gd name="T93" fmla="*/ 63 h 636"/>
                      <a:gd name="T94" fmla="*/ 174 w 659"/>
                      <a:gd name="T95" fmla="*/ 39 h 636"/>
                      <a:gd name="T96" fmla="*/ 188 w 659"/>
                      <a:gd name="T97" fmla="*/ 43 h 636"/>
                      <a:gd name="T98" fmla="*/ 179 w 659"/>
                      <a:gd name="T99" fmla="*/ 48 h 636"/>
                      <a:gd name="T100" fmla="*/ 140 w 659"/>
                      <a:gd name="T101" fmla="*/ 21 h 636"/>
                      <a:gd name="T102" fmla="*/ 139 w 659"/>
                      <a:gd name="T103" fmla="*/ 36 h 636"/>
                      <a:gd name="T104" fmla="*/ 88 w 659"/>
                      <a:gd name="T105" fmla="*/ 18 h 636"/>
                      <a:gd name="T106" fmla="*/ 102 w 659"/>
                      <a:gd name="T107" fmla="*/ 20 h 636"/>
                      <a:gd name="T108" fmla="*/ 94 w 659"/>
                      <a:gd name="T109" fmla="*/ 26 h 636"/>
                      <a:gd name="T110" fmla="*/ 44 w 659"/>
                      <a:gd name="T111" fmla="*/ 11 h 636"/>
                      <a:gd name="T112" fmla="*/ 59 w 659"/>
                      <a:gd name="T113" fmla="*/ 13 h 636"/>
                      <a:gd name="T114" fmla="*/ 50 w 659"/>
                      <a:gd name="T115" fmla="*/ 19 h 636"/>
                      <a:gd name="T116" fmla="*/ 0 w 659"/>
                      <a:gd name="T117" fmla="*/ 7 h 636"/>
                      <a:gd name="T118" fmla="*/ 14 w 659"/>
                      <a:gd name="T119" fmla="*/ 8 h 636"/>
                      <a:gd name="T120" fmla="*/ 7 w 659"/>
                      <a:gd name="T121" fmla="*/ 15 h 6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659" h="636">
                        <a:moveTo>
                          <a:pt x="644" y="630"/>
                        </a:moveTo>
                        <a:cubicBezTo>
                          <a:pt x="644" y="626"/>
                          <a:pt x="647" y="622"/>
                          <a:pt x="651" y="622"/>
                        </a:cubicBezTo>
                        <a:cubicBezTo>
                          <a:pt x="651" y="622"/>
                          <a:pt x="651" y="622"/>
                          <a:pt x="651" y="622"/>
                        </a:cubicBezTo>
                        <a:cubicBezTo>
                          <a:pt x="655" y="622"/>
                          <a:pt x="659" y="625"/>
                          <a:pt x="659" y="629"/>
                        </a:cubicBezTo>
                        <a:cubicBezTo>
                          <a:pt x="659" y="629"/>
                          <a:pt x="659" y="629"/>
                          <a:pt x="659" y="629"/>
                        </a:cubicBezTo>
                        <a:cubicBezTo>
                          <a:pt x="659" y="633"/>
                          <a:pt x="656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48" y="636"/>
                          <a:pt x="645" y="634"/>
                          <a:pt x="644" y="630"/>
                        </a:cubicBezTo>
                        <a:close/>
                        <a:moveTo>
                          <a:pt x="640" y="586"/>
                        </a:move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39" y="582"/>
                          <a:pt x="642" y="578"/>
                          <a:pt x="646" y="578"/>
                        </a:cubicBezTo>
                        <a:cubicBezTo>
                          <a:pt x="646" y="578"/>
                          <a:pt x="646" y="578"/>
                          <a:pt x="646" y="578"/>
                        </a:cubicBezTo>
                        <a:cubicBezTo>
                          <a:pt x="650" y="577"/>
                          <a:pt x="654" y="580"/>
                          <a:pt x="654" y="584"/>
                        </a:cubicBezTo>
                        <a:cubicBezTo>
                          <a:pt x="654" y="584"/>
                          <a:pt x="654" y="584"/>
                          <a:pt x="654" y="584"/>
                        </a:cubicBezTo>
                        <a:cubicBezTo>
                          <a:pt x="655" y="588"/>
                          <a:pt x="652" y="592"/>
                          <a:pt x="648" y="592"/>
                        </a:cubicBezTo>
                        <a:cubicBezTo>
                          <a:pt x="648" y="592"/>
                          <a:pt x="648" y="592"/>
                          <a:pt x="648" y="592"/>
                        </a:cubicBezTo>
                        <a:cubicBezTo>
                          <a:pt x="648" y="592"/>
                          <a:pt x="647" y="592"/>
                          <a:pt x="647" y="592"/>
                        </a:cubicBezTo>
                        <a:cubicBezTo>
                          <a:pt x="647" y="592"/>
                          <a:pt x="647" y="592"/>
                          <a:pt x="647" y="592"/>
                        </a:cubicBezTo>
                        <a:cubicBezTo>
                          <a:pt x="643" y="592"/>
                          <a:pt x="640" y="590"/>
                          <a:pt x="640" y="586"/>
                        </a:cubicBezTo>
                        <a:close/>
                        <a:moveTo>
                          <a:pt x="633" y="543"/>
                        </a:moveTo>
                        <a:cubicBezTo>
                          <a:pt x="632" y="539"/>
                          <a:pt x="634" y="535"/>
                          <a:pt x="638" y="534"/>
                        </a:cubicBezTo>
                        <a:cubicBezTo>
                          <a:pt x="638" y="534"/>
                          <a:pt x="638" y="534"/>
                          <a:pt x="638" y="534"/>
                        </a:cubicBezTo>
                        <a:cubicBezTo>
                          <a:pt x="642" y="533"/>
                          <a:pt x="646" y="536"/>
                          <a:pt x="647" y="540"/>
                        </a:cubicBezTo>
                        <a:cubicBezTo>
                          <a:pt x="647" y="540"/>
                          <a:pt x="647" y="540"/>
                          <a:pt x="647" y="540"/>
                        </a:cubicBezTo>
                        <a:cubicBezTo>
                          <a:pt x="648" y="544"/>
                          <a:pt x="645" y="547"/>
                          <a:pt x="641" y="548"/>
                        </a:cubicBezTo>
                        <a:cubicBezTo>
                          <a:pt x="641" y="548"/>
                          <a:pt x="641" y="548"/>
                          <a:pt x="641" y="548"/>
                        </a:cubicBezTo>
                        <a:cubicBezTo>
                          <a:pt x="641" y="548"/>
                          <a:pt x="640" y="548"/>
                          <a:pt x="640" y="548"/>
                        </a:cubicBezTo>
                        <a:cubicBezTo>
                          <a:pt x="640" y="548"/>
                          <a:pt x="640" y="548"/>
                          <a:pt x="640" y="548"/>
                        </a:cubicBezTo>
                        <a:cubicBezTo>
                          <a:pt x="636" y="548"/>
                          <a:pt x="633" y="546"/>
                          <a:pt x="633" y="543"/>
                        </a:cubicBezTo>
                        <a:close/>
                        <a:moveTo>
                          <a:pt x="622" y="500"/>
                        </a:move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1" y="496"/>
                          <a:pt x="623" y="492"/>
                          <a:pt x="627" y="491"/>
                        </a:cubicBezTo>
                        <a:cubicBezTo>
                          <a:pt x="627" y="491"/>
                          <a:pt x="627" y="491"/>
                          <a:pt x="627" y="491"/>
                        </a:cubicBezTo>
                        <a:cubicBezTo>
                          <a:pt x="631" y="490"/>
                          <a:pt x="635" y="492"/>
                          <a:pt x="636" y="496"/>
                        </a:cubicBezTo>
                        <a:cubicBezTo>
                          <a:pt x="636" y="496"/>
                          <a:pt x="636" y="496"/>
                          <a:pt x="636" y="496"/>
                        </a:cubicBezTo>
                        <a:cubicBezTo>
                          <a:pt x="637" y="500"/>
                          <a:pt x="635" y="504"/>
                          <a:pt x="631" y="505"/>
                        </a:cubicBezTo>
                        <a:cubicBezTo>
                          <a:pt x="631" y="505"/>
                          <a:pt x="631" y="505"/>
                          <a:pt x="631" y="505"/>
                        </a:cubicBezTo>
                        <a:cubicBezTo>
                          <a:pt x="630" y="505"/>
                          <a:pt x="630" y="505"/>
                          <a:pt x="629" y="505"/>
                        </a:cubicBezTo>
                        <a:cubicBezTo>
                          <a:pt x="629" y="505"/>
                          <a:pt x="629" y="505"/>
                          <a:pt x="629" y="505"/>
                        </a:cubicBezTo>
                        <a:cubicBezTo>
                          <a:pt x="626" y="505"/>
                          <a:pt x="623" y="503"/>
                          <a:pt x="622" y="500"/>
                        </a:cubicBezTo>
                        <a:close/>
                        <a:moveTo>
                          <a:pt x="609" y="458"/>
                        </a:moveTo>
                        <a:cubicBezTo>
                          <a:pt x="607" y="454"/>
                          <a:pt x="609" y="450"/>
                          <a:pt x="613" y="449"/>
                        </a:cubicBezTo>
                        <a:cubicBezTo>
                          <a:pt x="613" y="449"/>
                          <a:pt x="613" y="449"/>
                          <a:pt x="613" y="449"/>
                        </a:cubicBezTo>
                        <a:cubicBezTo>
                          <a:pt x="617" y="447"/>
                          <a:pt x="621" y="449"/>
                          <a:pt x="622" y="453"/>
                        </a:cubicBezTo>
                        <a:cubicBezTo>
                          <a:pt x="622" y="453"/>
                          <a:pt x="622" y="453"/>
                          <a:pt x="622" y="453"/>
                        </a:cubicBezTo>
                        <a:cubicBezTo>
                          <a:pt x="624" y="457"/>
                          <a:pt x="622" y="461"/>
                          <a:pt x="618" y="463"/>
                        </a:cubicBezTo>
                        <a:cubicBezTo>
                          <a:pt x="618" y="463"/>
                          <a:pt x="618" y="463"/>
                          <a:pt x="618" y="463"/>
                        </a:cubicBezTo>
                        <a:cubicBezTo>
                          <a:pt x="617" y="463"/>
                          <a:pt x="616" y="463"/>
                          <a:pt x="615" y="463"/>
                        </a:cubicBezTo>
                        <a:cubicBezTo>
                          <a:pt x="615" y="463"/>
                          <a:pt x="615" y="463"/>
                          <a:pt x="615" y="463"/>
                        </a:cubicBezTo>
                        <a:cubicBezTo>
                          <a:pt x="613" y="463"/>
                          <a:pt x="610" y="461"/>
                          <a:pt x="609" y="458"/>
                        </a:cubicBezTo>
                        <a:close/>
                        <a:moveTo>
                          <a:pt x="592" y="417"/>
                        </a:moveTo>
                        <a:cubicBezTo>
                          <a:pt x="591" y="414"/>
                          <a:pt x="593" y="409"/>
                          <a:pt x="596" y="408"/>
                        </a:cubicBezTo>
                        <a:cubicBezTo>
                          <a:pt x="596" y="408"/>
                          <a:pt x="596" y="408"/>
                          <a:pt x="596" y="408"/>
                        </a:cubicBezTo>
                        <a:cubicBezTo>
                          <a:pt x="600" y="406"/>
                          <a:pt x="604" y="408"/>
                          <a:pt x="606" y="411"/>
                        </a:cubicBezTo>
                        <a:cubicBezTo>
                          <a:pt x="606" y="411"/>
                          <a:pt x="606" y="411"/>
                          <a:pt x="606" y="411"/>
                        </a:cubicBezTo>
                        <a:cubicBezTo>
                          <a:pt x="607" y="415"/>
                          <a:pt x="606" y="420"/>
                          <a:pt x="602" y="421"/>
                        </a:cubicBezTo>
                        <a:cubicBezTo>
                          <a:pt x="602" y="421"/>
                          <a:pt x="602" y="421"/>
                          <a:pt x="602" y="421"/>
                        </a:cubicBezTo>
                        <a:cubicBezTo>
                          <a:pt x="601" y="421"/>
                          <a:pt x="600" y="422"/>
                          <a:pt x="599" y="422"/>
                        </a:cubicBezTo>
                        <a:cubicBezTo>
                          <a:pt x="599" y="422"/>
                          <a:pt x="599" y="422"/>
                          <a:pt x="599" y="422"/>
                        </a:cubicBezTo>
                        <a:cubicBezTo>
                          <a:pt x="596" y="422"/>
                          <a:pt x="594" y="420"/>
                          <a:pt x="592" y="417"/>
                        </a:cubicBezTo>
                        <a:close/>
                        <a:moveTo>
                          <a:pt x="573" y="378"/>
                        </a:move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2" y="374"/>
                          <a:pt x="573" y="370"/>
                          <a:pt x="576" y="368"/>
                        </a:cubicBezTo>
                        <a:cubicBezTo>
                          <a:pt x="576" y="368"/>
                          <a:pt x="576" y="368"/>
                          <a:pt x="576" y="368"/>
                        </a:cubicBezTo>
                        <a:cubicBezTo>
                          <a:pt x="580" y="366"/>
                          <a:pt x="584" y="367"/>
                          <a:pt x="586" y="371"/>
                        </a:cubicBezTo>
                        <a:cubicBezTo>
                          <a:pt x="586" y="371"/>
                          <a:pt x="586" y="371"/>
                          <a:pt x="586" y="371"/>
                        </a:cubicBezTo>
                        <a:cubicBezTo>
                          <a:pt x="588" y="375"/>
                          <a:pt x="587" y="379"/>
                          <a:pt x="583" y="381"/>
                        </a:cubicBezTo>
                        <a:cubicBezTo>
                          <a:pt x="583" y="381"/>
                          <a:pt x="583" y="381"/>
                          <a:pt x="583" y="381"/>
                        </a:cubicBezTo>
                        <a:cubicBezTo>
                          <a:pt x="582" y="381"/>
                          <a:pt x="581" y="382"/>
                          <a:pt x="580" y="382"/>
                        </a:cubicBezTo>
                        <a:cubicBezTo>
                          <a:pt x="580" y="382"/>
                          <a:pt x="580" y="382"/>
                          <a:pt x="580" y="382"/>
                        </a:cubicBezTo>
                        <a:cubicBezTo>
                          <a:pt x="577" y="382"/>
                          <a:pt x="575" y="380"/>
                          <a:pt x="573" y="378"/>
                        </a:cubicBezTo>
                        <a:close/>
                        <a:moveTo>
                          <a:pt x="552" y="339"/>
                        </a:moveTo>
                        <a:cubicBezTo>
                          <a:pt x="550" y="336"/>
                          <a:pt x="551" y="331"/>
                          <a:pt x="554" y="329"/>
                        </a:cubicBezTo>
                        <a:cubicBezTo>
                          <a:pt x="554" y="329"/>
                          <a:pt x="554" y="329"/>
                          <a:pt x="554" y="329"/>
                        </a:cubicBezTo>
                        <a:cubicBezTo>
                          <a:pt x="558" y="327"/>
                          <a:pt x="562" y="328"/>
                          <a:pt x="564" y="332"/>
                        </a:cubicBezTo>
                        <a:cubicBezTo>
                          <a:pt x="564" y="332"/>
                          <a:pt x="564" y="332"/>
                          <a:pt x="564" y="332"/>
                        </a:cubicBezTo>
                        <a:cubicBezTo>
                          <a:pt x="566" y="335"/>
                          <a:pt x="565" y="340"/>
                          <a:pt x="562" y="342"/>
                        </a:cubicBezTo>
                        <a:cubicBezTo>
                          <a:pt x="562" y="342"/>
                          <a:pt x="562" y="342"/>
                          <a:pt x="562" y="342"/>
                        </a:cubicBezTo>
                        <a:cubicBezTo>
                          <a:pt x="561" y="343"/>
                          <a:pt x="559" y="343"/>
                          <a:pt x="558" y="343"/>
                        </a:cubicBezTo>
                        <a:cubicBezTo>
                          <a:pt x="558" y="343"/>
                          <a:pt x="558" y="343"/>
                          <a:pt x="558" y="343"/>
                        </a:cubicBezTo>
                        <a:cubicBezTo>
                          <a:pt x="556" y="343"/>
                          <a:pt x="553" y="342"/>
                          <a:pt x="552" y="339"/>
                        </a:cubicBezTo>
                        <a:close/>
                        <a:moveTo>
                          <a:pt x="528" y="303"/>
                        </a:moveTo>
                        <a:cubicBezTo>
                          <a:pt x="525" y="299"/>
                          <a:pt x="526" y="295"/>
                          <a:pt x="529" y="292"/>
                        </a:cubicBezTo>
                        <a:cubicBezTo>
                          <a:pt x="529" y="292"/>
                          <a:pt x="529" y="292"/>
                          <a:pt x="529" y="292"/>
                        </a:cubicBezTo>
                        <a:cubicBezTo>
                          <a:pt x="533" y="290"/>
                          <a:pt x="537" y="291"/>
                          <a:pt x="540" y="294"/>
                        </a:cubicBezTo>
                        <a:cubicBezTo>
                          <a:pt x="540" y="294"/>
                          <a:pt x="540" y="294"/>
                          <a:pt x="540" y="294"/>
                        </a:cubicBezTo>
                        <a:cubicBezTo>
                          <a:pt x="542" y="298"/>
                          <a:pt x="541" y="302"/>
                          <a:pt x="538" y="304"/>
                        </a:cubicBezTo>
                        <a:cubicBezTo>
                          <a:pt x="538" y="304"/>
                          <a:pt x="538" y="304"/>
                          <a:pt x="538" y="304"/>
                        </a:cubicBezTo>
                        <a:cubicBezTo>
                          <a:pt x="537" y="305"/>
                          <a:pt x="535" y="306"/>
                          <a:pt x="534" y="306"/>
                        </a:cubicBezTo>
                        <a:cubicBezTo>
                          <a:pt x="534" y="306"/>
                          <a:pt x="534" y="306"/>
                          <a:pt x="534" y="306"/>
                        </a:cubicBezTo>
                        <a:cubicBezTo>
                          <a:pt x="531" y="306"/>
                          <a:pt x="529" y="305"/>
                          <a:pt x="528" y="303"/>
                        </a:cubicBezTo>
                        <a:close/>
                        <a:moveTo>
                          <a:pt x="501" y="268"/>
                        </a:moveTo>
                        <a:cubicBezTo>
                          <a:pt x="499" y="265"/>
                          <a:pt x="499" y="260"/>
                          <a:pt x="502" y="257"/>
                        </a:cubicBezTo>
                        <a:cubicBezTo>
                          <a:pt x="502" y="257"/>
                          <a:pt x="502" y="257"/>
                          <a:pt x="502" y="257"/>
                        </a:cubicBezTo>
                        <a:cubicBezTo>
                          <a:pt x="505" y="255"/>
                          <a:pt x="510" y="255"/>
                          <a:pt x="512" y="258"/>
                        </a:cubicBezTo>
                        <a:cubicBezTo>
                          <a:pt x="512" y="258"/>
                          <a:pt x="512" y="258"/>
                          <a:pt x="512" y="258"/>
                        </a:cubicBezTo>
                        <a:cubicBezTo>
                          <a:pt x="515" y="262"/>
                          <a:pt x="514" y="266"/>
                          <a:pt x="511" y="269"/>
                        </a:cubicBezTo>
                        <a:cubicBezTo>
                          <a:pt x="511" y="269"/>
                          <a:pt x="511" y="269"/>
                          <a:pt x="511" y="269"/>
                        </a:cubicBezTo>
                        <a:cubicBezTo>
                          <a:pt x="510" y="270"/>
                          <a:pt x="508" y="270"/>
                          <a:pt x="507" y="270"/>
                        </a:cubicBezTo>
                        <a:cubicBezTo>
                          <a:pt x="507" y="270"/>
                          <a:pt x="507" y="270"/>
                          <a:pt x="507" y="270"/>
                        </a:cubicBezTo>
                        <a:cubicBezTo>
                          <a:pt x="505" y="270"/>
                          <a:pt x="503" y="269"/>
                          <a:pt x="501" y="268"/>
                        </a:cubicBezTo>
                        <a:close/>
                        <a:moveTo>
                          <a:pt x="472" y="234"/>
                        </a:moveTo>
                        <a:cubicBezTo>
                          <a:pt x="470" y="231"/>
                          <a:pt x="470" y="227"/>
                          <a:pt x="473" y="224"/>
                        </a:cubicBezTo>
                        <a:cubicBezTo>
                          <a:pt x="473" y="224"/>
                          <a:pt x="473" y="224"/>
                          <a:pt x="473" y="224"/>
                        </a:cubicBezTo>
                        <a:cubicBezTo>
                          <a:pt x="476" y="221"/>
                          <a:pt x="480" y="222"/>
                          <a:pt x="483" y="225"/>
                        </a:cubicBezTo>
                        <a:cubicBezTo>
                          <a:pt x="483" y="225"/>
                          <a:pt x="483" y="225"/>
                          <a:pt x="483" y="225"/>
                        </a:cubicBezTo>
                        <a:cubicBezTo>
                          <a:pt x="486" y="227"/>
                          <a:pt x="486" y="232"/>
                          <a:pt x="483" y="235"/>
                        </a:cubicBezTo>
                        <a:cubicBezTo>
                          <a:pt x="483" y="235"/>
                          <a:pt x="483" y="235"/>
                          <a:pt x="483" y="235"/>
                        </a:cubicBezTo>
                        <a:cubicBezTo>
                          <a:pt x="481" y="236"/>
                          <a:pt x="479" y="237"/>
                          <a:pt x="478" y="237"/>
                        </a:cubicBezTo>
                        <a:cubicBezTo>
                          <a:pt x="478" y="237"/>
                          <a:pt x="478" y="237"/>
                          <a:pt x="478" y="237"/>
                        </a:cubicBezTo>
                        <a:cubicBezTo>
                          <a:pt x="476" y="237"/>
                          <a:pt x="474" y="236"/>
                          <a:pt x="472" y="234"/>
                        </a:cubicBezTo>
                        <a:close/>
                        <a:moveTo>
                          <a:pt x="441" y="203"/>
                        </a:moveTo>
                        <a:cubicBezTo>
                          <a:pt x="439" y="200"/>
                          <a:pt x="438" y="196"/>
                          <a:pt x="441" y="193"/>
                        </a:cubicBezTo>
                        <a:cubicBezTo>
                          <a:pt x="441" y="193"/>
                          <a:pt x="441" y="193"/>
                          <a:pt x="441" y="193"/>
                        </a:cubicBezTo>
                        <a:cubicBezTo>
                          <a:pt x="444" y="190"/>
                          <a:pt x="449" y="190"/>
                          <a:pt x="452" y="193"/>
                        </a:cubicBezTo>
                        <a:cubicBezTo>
                          <a:pt x="452" y="193"/>
                          <a:pt x="452" y="193"/>
                          <a:pt x="452" y="193"/>
                        </a:cubicBezTo>
                        <a:cubicBezTo>
                          <a:pt x="454" y="195"/>
                          <a:pt x="455" y="200"/>
                          <a:pt x="452" y="203"/>
                        </a:cubicBezTo>
                        <a:cubicBezTo>
                          <a:pt x="452" y="203"/>
                          <a:pt x="452" y="203"/>
                          <a:pt x="452" y="203"/>
                        </a:cubicBezTo>
                        <a:cubicBezTo>
                          <a:pt x="450" y="204"/>
                          <a:pt x="448" y="205"/>
                          <a:pt x="446" y="205"/>
                        </a:cubicBezTo>
                        <a:cubicBezTo>
                          <a:pt x="446" y="205"/>
                          <a:pt x="446" y="205"/>
                          <a:pt x="446" y="205"/>
                        </a:cubicBezTo>
                        <a:cubicBezTo>
                          <a:pt x="445" y="205"/>
                          <a:pt x="443" y="205"/>
                          <a:pt x="441" y="203"/>
                        </a:cubicBezTo>
                        <a:close/>
                        <a:moveTo>
                          <a:pt x="409" y="174"/>
                        </a:moveTo>
                        <a:cubicBezTo>
                          <a:pt x="406" y="171"/>
                          <a:pt x="405" y="167"/>
                          <a:pt x="408" y="164"/>
                        </a:cubicBezTo>
                        <a:cubicBezTo>
                          <a:pt x="408" y="164"/>
                          <a:pt x="408" y="164"/>
                          <a:pt x="408" y="164"/>
                        </a:cubicBezTo>
                        <a:cubicBezTo>
                          <a:pt x="410" y="161"/>
                          <a:pt x="415" y="160"/>
                          <a:pt x="418" y="163"/>
                        </a:cubicBezTo>
                        <a:cubicBezTo>
                          <a:pt x="418" y="163"/>
                          <a:pt x="418" y="163"/>
                          <a:pt x="418" y="163"/>
                        </a:cubicBezTo>
                        <a:cubicBezTo>
                          <a:pt x="421" y="165"/>
                          <a:pt x="421" y="170"/>
                          <a:pt x="419" y="173"/>
                        </a:cubicBezTo>
                        <a:cubicBezTo>
                          <a:pt x="419" y="173"/>
                          <a:pt x="419" y="173"/>
                          <a:pt x="419" y="173"/>
                        </a:cubicBezTo>
                        <a:cubicBezTo>
                          <a:pt x="418" y="175"/>
                          <a:pt x="415" y="176"/>
                          <a:pt x="413" y="176"/>
                        </a:cubicBezTo>
                        <a:cubicBezTo>
                          <a:pt x="413" y="176"/>
                          <a:pt x="413" y="176"/>
                          <a:pt x="413" y="176"/>
                        </a:cubicBezTo>
                        <a:cubicBezTo>
                          <a:pt x="412" y="176"/>
                          <a:pt x="410" y="175"/>
                          <a:pt x="409" y="174"/>
                        </a:cubicBezTo>
                        <a:close/>
                        <a:moveTo>
                          <a:pt x="374" y="147"/>
                        </a:moveTo>
                        <a:cubicBezTo>
                          <a:pt x="371" y="145"/>
                          <a:pt x="370" y="140"/>
                          <a:pt x="372" y="137"/>
                        </a:cubicBezTo>
                        <a:cubicBezTo>
                          <a:pt x="372" y="137"/>
                          <a:pt x="372" y="137"/>
                          <a:pt x="372" y="137"/>
                        </a:cubicBezTo>
                        <a:cubicBezTo>
                          <a:pt x="375" y="134"/>
                          <a:pt x="379" y="133"/>
                          <a:pt x="383" y="135"/>
                        </a:cubicBezTo>
                        <a:cubicBezTo>
                          <a:pt x="383" y="135"/>
                          <a:pt x="383" y="135"/>
                          <a:pt x="383" y="135"/>
                        </a:cubicBezTo>
                        <a:cubicBezTo>
                          <a:pt x="386" y="137"/>
                          <a:pt x="387" y="142"/>
                          <a:pt x="384" y="145"/>
                        </a:cubicBezTo>
                        <a:cubicBezTo>
                          <a:pt x="384" y="145"/>
                          <a:pt x="384" y="145"/>
                          <a:pt x="384" y="145"/>
                        </a:cubicBezTo>
                        <a:cubicBezTo>
                          <a:pt x="383" y="147"/>
                          <a:pt x="381" y="148"/>
                          <a:pt x="378" y="148"/>
                        </a:cubicBezTo>
                        <a:cubicBezTo>
                          <a:pt x="378" y="148"/>
                          <a:pt x="378" y="148"/>
                          <a:pt x="378" y="148"/>
                        </a:cubicBezTo>
                        <a:cubicBezTo>
                          <a:pt x="377" y="148"/>
                          <a:pt x="375" y="148"/>
                          <a:pt x="374" y="147"/>
                        </a:cubicBezTo>
                        <a:close/>
                        <a:moveTo>
                          <a:pt x="338" y="122"/>
                        </a:move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4" y="120"/>
                          <a:pt x="333" y="116"/>
                          <a:pt x="335" y="112"/>
                        </a:cubicBezTo>
                        <a:cubicBezTo>
                          <a:pt x="335" y="112"/>
                          <a:pt x="335" y="112"/>
                          <a:pt x="335" y="112"/>
                        </a:cubicBezTo>
                        <a:cubicBezTo>
                          <a:pt x="338" y="109"/>
                          <a:pt x="342" y="108"/>
                          <a:pt x="346" y="110"/>
                        </a:cubicBezTo>
                        <a:cubicBezTo>
                          <a:pt x="346" y="110"/>
                          <a:pt x="346" y="110"/>
                          <a:pt x="346" y="110"/>
                        </a:cubicBezTo>
                        <a:cubicBezTo>
                          <a:pt x="349" y="112"/>
                          <a:pt x="350" y="117"/>
                          <a:pt x="348" y="120"/>
                        </a:cubicBezTo>
                        <a:cubicBezTo>
                          <a:pt x="348" y="120"/>
                          <a:pt x="348" y="120"/>
                          <a:pt x="348" y="120"/>
                        </a:cubicBezTo>
                        <a:cubicBezTo>
                          <a:pt x="346" y="122"/>
                          <a:pt x="344" y="123"/>
                          <a:pt x="342" y="123"/>
                        </a:cubicBezTo>
                        <a:cubicBezTo>
                          <a:pt x="342" y="123"/>
                          <a:pt x="342" y="123"/>
                          <a:pt x="342" y="123"/>
                        </a:cubicBezTo>
                        <a:cubicBezTo>
                          <a:pt x="340" y="123"/>
                          <a:pt x="339" y="123"/>
                          <a:pt x="338" y="122"/>
                        </a:cubicBezTo>
                        <a:close/>
                        <a:moveTo>
                          <a:pt x="300" y="100"/>
                        </a:move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296" y="98"/>
                          <a:pt x="295" y="93"/>
                          <a:pt x="297" y="90"/>
                        </a:cubicBezTo>
                        <a:cubicBezTo>
                          <a:pt x="297" y="90"/>
                          <a:pt x="297" y="90"/>
                          <a:pt x="297" y="90"/>
                        </a:cubicBezTo>
                        <a:cubicBezTo>
                          <a:pt x="299" y="86"/>
                          <a:pt x="303" y="85"/>
                          <a:pt x="307" y="87"/>
                        </a:cubicBezTo>
                        <a:cubicBezTo>
                          <a:pt x="307" y="87"/>
                          <a:pt x="307" y="87"/>
                          <a:pt x="307" y="87"/>
                        </a:cubicBezTo>
                        <a:cubicBezTo>
                          <a:pt x="310" y="89"/>
                          <a:pt x="312" y="93"/>
                          <a:pt x="310" y="97"/>
                        </a:cubicBezTo>
                        <a:cubicBezTo>
                          <a:pt x="310" y="97"/>
                          <a:pt x="310" y="97"/>
                          <a:pt x="310" y="97"/>
                        </a:cubicBezTo>
                        <a:cubicBezTo>
                          <a:pt x="309" y="99"/>
                          <a:pt x="306" y="101"/>
                          <a:pt x="303" y="101"/>
                        </a:cubicBezTo>
                        <a:cubicBezTo>
                          <a:pt x="303" y="101"/>
                          <a:pt x="303" y="101"/>
                          <a:pt x="303" y="101"/>
                        </a:cubicBezTo>
                        <a:cubicBezTo>
                          <a:pt x="302" y="101"/>
                          <a:pt x="301" y="101"/>
                          <a:pt x="300" y="100"/>
                        </a:cubicBezTo>
                        <a:close/>
                        <a:moveTo>
                          <a:pt x="261" y="80"/>
                        </a:moveTo>
                        <a:cubicBezTo>
                          <a:pt x="257" y="78"/>
                          <a:pt x="256" y="74"/>
                          <a:pt x="257" y="70"/>
                        </a:cubicBezTo>
                        <a:cubicBezTo>
                          <a:pt x="257" y="70"/>
                          <a:pt x="257" y="70"/>
                          <a:pt x="257" y="70"/>
                        </a:cubicBezTo>
                        <a:cubicBezTo>
                          <a:pt x="259" y="67"/>
                          <a:pt x="263" y="65"/>
                          <a:pt x="267" y="67"/>
                        </a:cubicBezTo>
                        <a:cubicBezTo>
                          <a:pt x="267" y="67"/>
                          <a:pt x="267" y="67"/>
                          <a:pt x="267" y="67"/>
                        </a:cubicBezTo>
                        <a:cubicBezTo>
                          <a:pt x="271" y="68"/>
                          <a:pt x="272" y="73"/>
                          <a:pt x="270" y="76"/>
                        </a:cubicBezTo>
                        <a:cubicBezTo>
                          <a:pt x="270" y="76"/>
                          <a:pt x="270" y="76"/>
                          <a:pt x="270" y="76"/>
                        </a:cubicBezTo>
                        <a:cubicBezTo>
                          <a:pt x="269" y="79"/>
                          <a:pt x="267" y="81"/>
                          <a:pt x="264" y="81"/>
                        </a:cubicBezTo>
                        <a:cubicBezTo>
                          <a:pt x="264" y="81"/>
                          <a:pt x="264" y="81"/>
                          <a:pt x="264" y="81"/>
                        </a:cubicBezTo>
                        <a:cubicBezTo>
                          <a:pt x="263" y="81"/>
                          <a:pt x="262" y="80"/>
                          <a:pt x="261" y="80"/>
                        </a:cubicBezTo>
                        <a:close/>
                        <a:moveTo>
                          <a:pt x="220" y="63"/>
                        </a:moveTo>
                        <a:cubicBezTo>
                          <a:pt x="217" y="61"/>
                          <a:pt x="215" y="57"/>
                          <a:pt x="216" y="53"/>
                        </a:cubicBezTo>
                        <a:cubicBezTo>
                          <a:pt x="216" y="53"/>
                          <a:pt x="216" y="53"/>
                          <a:pt x="216" y="53"/>
                        </a:cubicBezTo>
                        <a:cubicBezTo>
                          <a:pt x="218" y="49"/>
                          <a:pt x="222" y="47"/>
                          <a:pt x="226" y="49"/>
                        </a:cubicBezTo>
                        <a:cubicBezTo>
                          <a:pt x="226" y="49"/>
                          <a:pt x="226" y="49"/>
                          <a:pt x="226" y="49"/>
                        </a:cubicBezTo>
                        <a:cubicBezTo>
                          <a:pt x="230" y="50"/>
                          <a:pt x="231" y="55"/>
                          <a:pt x="230" y="58"/>
                        </a:cubicBezTo>
                        <a:cubicBezTo>
                          <a:pt x="230" y="58"/>
                          <a:pt x="230" y="58"/>
                          <a:pt x="230" y="58"/>
                        </a:cubicBezTo>
                        <a:cubicBezTo>
                          <a:pt x="229" y="61"/>
                          <a:pt x="226" y="63"/>
                          <a:pt x="223" y="63"/>
                        </a:cubicBezTo>
                        <a:cubicBezTo>
                          <a:pt x="223" y="63"/>
                          <a:pt x="223" y="63"/>
                          <a:pt x="223" y="63"/>
                        </a:cubicBezTo>
                        <a:cubicBezTo>
                          <a:pt x="222" y="63"/>
                          <a:pt x="221" y="63"/>
                          <a:pt x="220" y="63"/>
                        </a:cubicBezTo>
                        <a:close/>
                        <a:moveTo>
                          <a:pt x="179" y="48"/>
                        </a:moveTo>
                        <a:cubicBezTo>
                          <a:pt x="175" y="46"/>
                          <a:pt x="173" y="42"/>
                          <a:pt x="174" y="39"/>
                        </a:cubicBezTo>
                        <a:cubicBezTo>
                          <a:pt x="174" y="39"/>
                          <a:pt x="174" y="39"/>
                          <a:pt x="174" y="39"/>
                        </a:cubicBezTo>
                        <a:cubicBezTo>
                          <a:pt x="176" y="35"/>
                          <a:pt x="180" y="33"/>
                          <a:pt x="184" y="34"/>
                        </a:cubicBezTo>
                        <a:cubicBezTo>
                          <a:pt x="184" y="34"/>
                          <a:pt x="184" y="34"/>
                          <a:pt x="184" y="34"/>
                        </a:cubicBezTo>
                        <a:cubicBezTo>
                          <a:pt x="187" y="35"/>
                          <a:pt x="189" y="39"/>
                          <a:pt x="188" y="43"/>
                        </a:cubicBezTo>
                        <a:cubicBezTo>
                          <a:pt x="188" y="43"/>
                          <a:pt x="188" y="43"/>
                          <a:pt x="188" y="43"/>
                        </a:cubicBezTo>
                        <a:cubicBezTo>
                          <a:pt x="187" y="46"/>
                          <a:pt x="184" y="48"/>
                          <a:pt x="181" y="48"/>
                        </a:cubicBezTo>
                        <a:cubicBezTo>
                          <a:pt x="181" y="48"/>
                          <a:pt x="181" y="48"/>
                          <a:pt x="181" y="48"/>
                        </a:cubicBezTo>
                        <a:cubicBezTo>
                          <a:pt x="181" y="48"/>
                          <a:pt x="180" y="48"/>
                          <a:pt x="179" y="48"/>
                        </a:cubicBezTo>
                        <a:close/>
                        <a:moveTo>
                          <a:pt x="137" y="36"/>
                        </a:moveTo>
                        <a:cubicBezTo>
                          <a:pt x="133" y="35"/>
                          <a:pt x="130" y="31"/>
                          <a:pt x="132" y="27"/>
                        </a:cubicBezTo>
                        <a:cubicBezTo>
                          <a:pt x="132" y="27"/>
                          <a:pt x="132" y="27"/>
                          <a:pt x="132" y="27"/>
                        </a:cubicBezTo>
                        <a:cubicBezTo>
                          <a:pt x="133" y="23"/>
                          <a:pt x="136" y="20"/>
                          <a:pt x="140" y="21"/>
                        </a:cubicBezTo>
                        <a:cubicBezTo>
                          <a:pt x="140" y="21"/>
                          <a:pt x="140" y="21"/>
                          <a:pt x="140" y="21"/>
                        </a:cubicBezTo>
                        <a:cubicBezTo>
                          <a:pt x="144" y="22"/>
                          <a:pt x="147" y="26"/>
                          <a:pt x="146" y="30"/>
                        </a:cubicBezTo>
                        <a:cubicBezTo>
                          <a:pt x="146" y="30"/>
                          <a:pt x="146" y="30"/>
                          <a:pt x="146" y="30"/>
                        </a:cubicBezTo>
                        <a:cubicBezTo>
                          <a:pt x="145" y="34"/>
                          <a:pt x="142" y="36"/>
                          <a:pt x="139" y="36"/>
                        </a:cubicBezTo>
                        <a:cubicBezTo>
                          <a:pt x="139" y="36"/>
                          <a:pt x="139" y="36"/>
                          <a:pt x="139" y="36"/>
                        </a:cubicBezTo>
                        <a:cubicBezTo>
                          <a:pt x="138" y="36"/>
                          <a:pt x="137" y="36"/>
                          <a:pt x="137" y="36"/>
                        </a:cubicBezTo>
                        <a:close/>
                        <a:moveTo>
                          <a:pt x="94" y="26"/>
                        </a:moveTo>
                        <a:cubicBezTo>
                          <a:pt x="90" y="25"/>
                          <a:pt x="87" y="21"/>
                          <a:pt x="88" y="18"/>
                        </a:cubicBezTo>
                        <a:cubicBezTo>
                          <a:pt x="88" y="18"/>
                          <a:pt x="88" y="18"/>
                          <a:pt x="88" y="18"/>
                        </a:cubicBezTo>
                        <a:cubicBezTo>
                          <a:pt x="89" y="14"/>
                          <a:pt x="93" y="11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101" y="12"/>
                          <a:pt x="103" y="16"/>
                          <a:pt x="102" y="20"/>
                        </a:cubicBezTo>
                        <a:cubicBezTo>
                          <a:pt x="102" y="20"/>
                          <a:pt x="102" y="20"/>
                          <a:pt x="102" y="20"/>
                        </a:cubicBezTo>
                        <a:cubicBezTo>
                          <a:pt x="102" y="24"/>
                          <a:pt x="99" y="26"/>
                          <a:pt x="95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6"/>
                          <a:pt x="94" y="26"/>
                          <a:pt x="94" y="26"/>
                        </a:cubicBezTo>
                        <a:close/>
                        <a:moveTo>
                          <a:pt x="50" y="19"/>
                        </a:move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46" y="19"/>
                          <a:pt x="44" y="15"/>
                          <a:pt x="44" y="11"/>
                        </a:cubicBezTo>
                        <a:cubicBezTo>
                          <a:pt x="44" y="11"/>
                          <a:pt x="44" y="11"/>
                          <a:pt x="44" y="11"/>
                        </a:cubicBezTo>
                        <a:cubicBezTo>
                          <a:pt x="45" y="7"/>
                          <a:pt x="48" y="4"/>
                          <a:pt x="52" y="5"/>
                        </a:cubicBezTo>
                        <a:cubicBezTo>
                          <a:pt x="52" y="5"/>
                          <a:pt x="52" y="5"/>
                          <a:pt x="52" y="5"/>
                        </a:cubicBezTo>
                        <a:cubicBezTo>
                          <a:pt x="56" y="5"/>
                          <a:pt x="59" y="9"/>
                          <a:pt x="59" y="13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58" y="17"/>
                          <a:pt x="55" y="19"/>
                          <a:pt x="51" y="19"/>
                        </a:cubicBezTo>
                        <a:cubicBezTo>
                          <a:pt x="51" y="19"/>
                          <a:pt x="51" y="19"/>
                          <a:pt x="51" y="19"/>
                        </a:cubicBezTo>
                        <a:cubicBezTo>
                          <a:pt x="51" y="19"/>
                          <a:pt x="51" y="19"/>
                          <a:pt x="50" y="19"/>
                        </a:cubicBezTo>
                        <a:close/>
                        <a:moveTo>
                          <a:pt x="7" y="15"/>
                        </a:move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3" y="15"/>
                          <a:pt x="0" y="12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4" y="0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12" y="1"/>
                          <a:pt x="15" y="4"/>
                          <a:pt x="14" y="8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4" y="12"/>
                          <a:pt x="11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89" name="Freeform 97">
                    <a:extLst>
                      <a:ext uri="{FF2B5EF4-FFF2-40B4-BE49-F238E27FC236}">
                        <a16:creationId xmlns:a16="http://schemas.microsoft.com/office/drawing/2014/main" id="{A993C0FF-90A1-4CEE-B9AF-9DAA3063F7C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78531" y="1769658"/>
                    <a:ext cx="1365852" cy="822837"/>
                  </a:xfrm>
                  <a:custGeom>
                    <a:avLst/>
                    <a:gdLst>
                      <a:gd name="T0" fmla="*/ 2 w 566"/>
                      <a:gd name="T1" fmla="*/ 330 h 341"/>
                      <a:gd name="T2" fmla="*/ 15 w 566"/>
                      <a:gd name="T3" fmla="*/ 337 h 341"/>
                      <a:gd name="T4" fmla="*/ 8 w 566"/>
                      <a:gd name="T5" fmla="*/ 341 h 341"/>
                      <a:gd name="T6" fmla="*/ 27 w 566"/>
                      <a:gd name="T7" fmla="*/ 292 h 341"/>
                      <a:gd name="T8" fmla="*/ 37 w 566"/>
                      <a:gd name="T9" fmla="*/ 291 h 341"/>
                      <a:gd name="T10" fmla="*/ 33 w 566"/>
                      <a:gd name="T11" fmla="*/ 304 h 341"/>
                      <a:gd name="T12" fmla="*/ 55 w 566"/>
                      <a:gd name="T13" fmla="*/ 267 h 341"/>
                      <a:gd name="T14" fmla="*/ 64 w 566"/>
                      <a:gd name="T15" fmla="*/ 256 h 341"/>
                      <a:gd name="T16" fmla="*/ 65 w 566"/>
                      <a:gd name="T17" fmla="*/ 266 h 341"/>
                      <a:gd name="T18" fmla="*/ 55 w 566"/>
                      <a:gd name="T19" fmla="*/ 267 h 341"/>
                      <a:gd name="T20" fmla="*/ 83 w 566"/>
                      <a:gd name="T21" fmla="*/ 223 h 341"/>
                      <a:gd name="T22" fmla="*/ 94 w 566"/>
                      <a:gd name="T23" fmla="*/ 233 h 341"/>
                      <a:gd name="T24" fmla="*/ 89 w 566"/>
                      <a:gd name="T25" fmla="*/ 235 h 341"/>
                      <a:gd name="T26" fmla="*/ 115 w 566"/>
                      <a:gd name="T27" fmla="*/ 191 h 341"/>
                      <a:gd name="T28" fmla="*/ 125 w 566"/>
                      <a:gd name="T29" fmla="*/ 192 h 341"/>
                      <a:gd name="T30" fmla="*/ 120 w 566"/>
                      <a:gd name="T31" fmla="*/ 204 h 341"/>
                      <a:gd name="T32" fmla="*/ 148 w 566"/>
                      <a:gd name="T33" fmla="*/ 172 h 341"/>
                      <a:gd name="T34" fmla="*/ 159 w 566"/>
                      <a:gd name="T35" fmla="*/ 163 h 341"/>
                      <a:gd name="T36" fmla="*/ 158 w 566"/>
                      <a:gd name="T37" fmla="*/ 173 h 341"/>
                      <a:gd name="T38" fmla="*/ 148 w 566"/>
                      <a:gd name="T39" fmla="*/ 172 h 341"/>
                      <a:gd name="T40" fmla="*/ 184 w 566"/>
                      <a:gd name="T41" fmla="*/ 134 h 341"/>
                      <a:gd name="T42" fmla="*/ 192 w 566"/>
                      <a:gd name="T43" fmla="*/ 146 h 341"/>
                      <a:gd name="T44" fmla="*/ 192 w 566"/>
                      <a:gd name="T45" fmla="*/ 146 h 341"/>
                      <a:gd name="T46" fmla="*/ 182 w 566"/>
                      <a:gd name="T47" fmla="*/ 144 h 341"/>
                      <a:gd name="T48" fmla="*/ 221 w 566"/>
                      <a:gd name="T49" fmla="*/ 109 h 341"/>
                      <a:gd name="T50" fmla="*/ 229 w 566"/>
                      <a:gd name="T51" fmla="*/ 121 h 341"/>
                      <a:gd name="T52" fmla="*/ 229 w 566"/>
                      <a:gd name="T53" fmla="*/ 121 h 341"/>
                      <a:gd name="T54" fmla="*/ 219 w 566"/>
                      <a:gd name="T55" fmla="*/ 119 h 341"/>
                      <a:gd name="T56" fmla="*/ 260 w 566"/>
                      <a:gd name="T57" fmla="*/ 86 h 341"/>
                      <a:gd name="T58" fmla="*/ 267 w 566"/>
                      <a:gd name="T59" fmla="*/ 99 h 341"/>
                      <a:gd name="T60" fmla="*/ 267 w 566"/>
                      <a:gd name="T61" fmla="*/ 99 h 341"/>
                      <a:gd name="T62" fmla="*/ 257 w 566"/>
                      <a:gd name="T63" fmla="*/ 96 h 341"/>
                      <a:gd name="T64" fmla="*/ 300 w 566"/>
                      <a:gd name="T65" fmla="*/ 66 h 341"/>
                      <a:gd name="T66" fmla="*/ 306 w 566"/>
                      <a:gd name="T67" fmla="*/ 79 h 341"/>
                      <a:gd name="T68" fmla="*/ 303 w 566"/>
                      <a:gd name="T69" fmla="*/ 80 h 341"/>
                      <a:gd name="T70" fmla="*/ 341 w 566"/>
                      <a:gd name="T71" fmla="*/ 48 h 341"/>
                      <a:gd name="T72" fmla="*/ 350 w 566"/>
                      <a:gd name="T73" fmla="*/ 53 h 341"/>
                      <a:gd name="T74" fmla="*/ 346 w 566"/>
                      <a:gd name="T75" fmla="*/ 62 h 341"/>
                      <a:gd name="T76" fmla="*/ 343 w 566"/>
                      <a:gd name="T77" fmla="*/ 63 h 341"/>
                      <a:gd name="T78" fmla="*/ 383 w 566"/>
                      <a:gd name="T79" fmla="*/ 33 h 341"/>
                      <a:gd name="T80" fmla="*/ 392 w 566"/>
                      <a:gd name="T81" fmla="*/ 38 h 341"/>
                      <a:gd name="T82" fmla="*/ 387 w 566"/>
                      <a:gd name="T83" fmla="*/ 47 h 341"/>
                      <a:gd name="T84" fmla="*/ 385 w 566"/>
                      <a:gd name="T85" fmla="*/ 48 h 341"/>
                      <a:gd name="T86" fmla="*/ 426 w 566"/>
                      <a:gd name="T87" fmla="*/ 21 h 341"/>
                      <a:gd name="T88" fmla="*/ 435 w 566"/>
                      <a:gd name="T89" fmla="*/ 26 h 341"/>
                      <a:gd name="T90" fmla="*/ 428 w 566"/>
                      <a:gd name="T91" fmla="*/ 36 h 341"/>
                      <a:gd name="T92" fmla="*/ 464 w 566"/>
                      <a:gd name="T93" fmla="*/ 20 h 341"/>
                      <a:gd name="T94" fmla="*/ 478 w 566"/>
                      <a:gd name="T95" fmla="*/ 17 h 341"/>
                      <a:gd name="T96" fmla="*/ 472 w 566"/>
                      <a:gd name="T97" fmla="*/ 26 h 341"/>
                      <a:gd name="T98" fmla="*/ 471 w 566"/>
                      <a:gd name="T99" fmla="*/ 26 h 341"/>
                      <a:gd name="T100" fmla="*/ 507 w 566"/>
                      <a:gd name="T101" fmla="*/ 13 h 341"/>
                      <a:gd name="T102" fmla="*/ 522 w 566"/>
                      <a:gd name="T103" fmla="*/ 11 h 341"/>
                      <a:gd name="T104" fmla="*/ 516 w 566"/>
                      <a:gd name="T105" fmla="*/ 19 h 341"/>
                      <a:gd name="T106" fmla="*/ 507 w 566"/>
                      <a:gd name="T107" fmla="*/ 13 h 341"/>
                      <a:gd name="T108" fmla="*/ 558 w 566"/>
                      <a:gd name="T109" fmla="*/ 1 h 341"/>
                      <a:gd name="T110" fmla="*/ 559 w 566"/>
                      <a:gd name="T111" fmla="*/ 15 h 341"/>
                      <a:gd name="T112" fmla="*/ 559 w 566"/>
                      <a:gd name="T113" fmla="*/ 15 h 341"/>
                      <a:gd name="T114" fmla="*/ 552 w 566"/>
                      <a:gd name="T115" fmla="*/ 8 h 3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566" h="341">
                        <a:moveTo>
                          <a:pt x="5" y="340"/>
                        </a:moveTo>
                        <a:cubicBezTo>
                          <a:pt x="1" y="338"/>
                          <a:pt x="0" y="333"/>
                          <a:pt x="2" y="330"/>
                        </a:cubicBezTo>
                        <a:cubicBezTo>
                          <a:pt x="2" y="330"/>
                          <a:pt x="2" y="330"/>
                          <a:pt x="2" y="330"/>
                        </a:cubicBezTo>
                        <a:cubicBezTo>
                          <a:pt x="4" y="326"/>
                          <a:pt x="9" y="325"/>
                          <a:pt x="12" y="327"/>
                        </a:cubicBezTo>
                        <a:cubicBezTo>
                          <a:pt x="12" y="327"/>
                          <a:pt x="12" y="327"/>
                          <a:pt x="12" y="327"/>
                        </a:cubicBezTo>
                        <a:cubicBezTo>
                          <a:pt x="16" y="330"/>
                          <a:pt x="17" y="334"/>
                          <a:pt x="15" y="337"/>
                        </a:cubicBezTo>
                        <a:cubicBezTo>
                          <a:pt x="15" y="337"/>
                          <a:pt x="15" y="337"/>
                          <a:pt x="15" y="337"/>
                        </a:cubicBezTo>
                        <a:cubicBezTo>
                          <a:pt x="13" y="340"/>
                          <a:pt x="11" y="341"/>
                          <a:pt x="8" y="341"/>
                        </a:cubicBezTo>
                        <a:cubicBezTo>
                          <a:pt x="8" y="341"/>
                          <a:pt x="8" y="341"/>
                          <a:pt x="8" y="341"/>
                        </a:cubicBezTo>
                        <a:cubicBezTo>
                          <a:pt x="7" y="341"/>
                          <a:pt x="6" y="341"/>
                          <a:pt x="5" y="340"/>
                        </a:cubicBezTo>
                        <a:close/>
                        <a:moveTo>
                          <a:pt x="29" y="303"/>
                        </a:moveTo>
                        <a:cubicBezTo>
                          <a:pt x="25" y="300"/>
                          <a:pt x="25" y="296"/>
                          <a:pt x="27" y="292"/>
                        </a:cubicBezTo>
                        <a:cubicBezTo>
                          <a:pt x="27" y="292"/>
                          <a:pt x="27" y="292"/>
                          <a:pt x="27" y="292"/>
                        </a:cubicBezTo>
                        <a:cubicBezTo>
                          <a:pt x="29" y="289"/>
                          <a:pt x="34" y="288"/>
                          <a:pt x="37" y="291"/>
                        </a:cubicBezTo>
                        <a:cubicBezTo>
                          <a:pt x="37" y="291"/>
                          <a:pt x="37" y="291"/>
                          <a:pt x="37" y="291"/>
                        </a:cubicBezTo>
                        <a:cubicBezTo>
                          <a:pt x="40" y="293"/>
                          <a:pt x="41" y="298"/>
                          <a:pt x="39" y="301"/>
                        </a:cubicBezTo>
                        <a:cubicBezTo>
                          <a:pt x="39" y="301"/>
                          <a:pt x="39" y="301"/>
                          <a:pt x="39" y="301"/>
                        </a:cubicBezTo>
                        <a:cubicBezTo>
                          <a:pt x="37" y="303"/>
                          <a:pt x="35" y="304"/>
                          <a:pt x="33" y="304"/>
                        </a:cubicBezTo>
                        <a:cubicBezTo>
                          <a:pt x="33" y="304"/>
                          <a:pt x="33" y="304"/>
                          <a:pt x="33" y="304"/>
                        </a:cubicBezTo>
                        <a:cubicBezTo>
                          <a:pt x="31" y="304"/>
                          <a:pt x="30" y="304"/>
                          <a:pt x="29" y="303"/>
                        </a:cubicBezTo>
                        <a:close/>
                        <a:moveTo>
                          <a:pt x="55" y="267"/>
                        </a:moveTo>
                        <a:cubicBezTo>
                          <a:pt x="52" y="265"/>
                          <a:pt x="52" y="260"/>
                          <a:pt x="54" y="257"/>
                        </a:cubicBezTo>
                        <a:cubicBezTo>
                          <a:pt x="54" y="257"/>
                          <a:pt x="54" y="257"/>
                          <a:pt x="54" y="257"/>
                        </a:cubicBezTo>
                        <a:cubicBezTo>
                          <a:pt x="57" y="254"/>
                          <a:pt x="61" y="253"/>
                          <a:pt x="64" y="256"/>
                        </a:cubicBezTo>
                        <a:cubicBezTo>
                          <a:pt x="64" y="256"/>
                          <a:pt x="64" y="256"/>
                          <a:pt x="64" y="256"/>
                        </a:cubicBezTo>
                        <a:cubicBezTo>
                          <a:pt x="67" y="258"/>
                          <a:pt x="68" y="263"/>
                          <a:pt x="65" y="266"/>
                        </a:cubicBezTo>
                        <a:cubicBezTo>
                          <a:pt x="65" y="266"/>
                          <a:pt x="65" y="266"/>
                          <a:pt x="65" y="266"/>
                        </a:cubicBezTo>
                        <a:cubicBezTo>
                          <a:pt x="64" y="268"/>
                          <a:pt x="62" y="269"/>
                          <a:pt x="60" y="269"/>
                        </a:cubicBezTo>
                        <a:cubicBezTo>
                          <a:pt x="60" y="269"/>
                          <a:pt x="60" y="269"/>
                          <a:pt x="60" y="269"/>
                        </a:cubicBezTo>
                        <a:cubicBezTo>
                          <a:pt x="58" y="269"/>
                          <a:pt x="56" y="268"/>
                          <a:pt x="55" y="267"/>
                        </a:cubicBezTo>
                        <a:close/>
                        <a:moveTo>
                          <a:pt x="84" y="233"/>
                        </a:moveTo>
                        <a:cubicBezTo>
                          <a:pt x="81" y="231"/>
                          <a:pt x="81" y="226"/>
                          <a:pt x="83" y="223"/>
                        </a:cubicBezTo>
                        <a:cubicBezTo>
                          <a:pt x="83" y="223"/>
                          <a:pt x="83" y="223"/>
                          <a:pt x="83" y="223"/>
                        </a:cubicBezTo>
                        <a:cubicBezTo>
                          <a:pt x="86" y="220"/>
                          <a:pt x="91" y="220"/>
                          <a:pt x="94" y="223"/>
                        </a:cubicBezTo>
                        <a:cubicBezTo>
                          <a:pt x="94" y="223"/>
                          <a:pt x="94" y="223"/>
                          <a:pt x="94" y="223"/>
                        </a:cubicBezTo>
                        <a:cubicBezTo>
                          <a:pt x="97" y="225"/>
                          <a:pt x="97" y="230"/>
                          <a:pt x="94" y="233"/>
                        </a:cubicBezTo>
                        <a:cubicBezTo>
                          <a:pt x="94" y="233"/>
                          <a:pt x="94" y="233"/>
                          <a:pt x="94" y="233"/>
                        </a:cubicBezTo>
                        <a:cubicBezTo>
                          <a:pt x="93" y="235"/>
                          <a:pt x="91" y="235"/>
                          <a:pt x="89" y="235"/>
                        </a:cubicBezTo>
                        <a:cubicBezTo>
                          <a:pt x="89" y="235"/>
                          <a:pt x="89" y="235"/>
                          <a:pt x="89" y="235"/>
                        </a:cubicBezTo>
                        <a:cubicBezTo>
                          <a:pt x="87" y="235"/>
                          <a:pt x="85" y="235"/>
                          <a:pt x="84" y="233"/>
                        </a:cubicBezTo>
                        <a:close/>
                        <a:moveTo>
                          <a:pt x="115" y="202"/>
                        </a:moveTo>
                        <a:cubicBezTo>
                          <a:pt x="112" y="199"/>
                          <a:pt x="112" y="194"/>
                          <a:pt x="115" y="191"/>
                        </a:cubicBezTo>
                        <a:cubicBezTo>
                          <a:pt x="115" y="191"/>
                          <a:pt x="115" y="191"/>
                          <a:pt x="115" y="191"/>
                        </a:cubicBezTo>
                        <a:cubicBezTo>
                          <a:pt x="118" y="189"/>
                          <a:pt x="123" y="189"/>
                          <a:pt x="125" y="192"/>
                        </a:cubicBezTo>
                        <a:cubicBezTo>
                          <a:pt x="125" y="192"/>
                          <a:pt x="125" y="192"/>
                          <a:pt x="125" y="192"/>
                        </a:cubicBezTo>
                        <a:cubicBezTo>
                          <a:pt x="128" y="195"/>
                          <a:pt x="128" y="199"/>
                          <a:pt x="125" y="202"/>
                        </a:cubicBezTo>
                        <a:cubicBezTo>
                          <a:pt x="125" y="202"/>
                          <a:pt x="125" y="202"/>
                          <a:pt x="125" y="202"/>
                        </a:cubicBezTo>
                        <a:cubicBezTo>
                          <a:pt x="124" y="203"/>
                          <a:pt x="122" y="204"/>
                          <a:pt x="120" y="204"/>
                        </a:cubicBezTo>
                        <a:cubicBezTo>
                          <a:pt x="120" y="204"/>
                          <a:pt x="120" y="204"/>
                          <a:pt x="120" y="204"/>
                        </a:cubicBezTo>
                        <a:cubicBezTo>
                          <a:pt x="118" y="204"/>
                          <a:pt x="116" y="203"/>
                          <a:pt x="115" y="202"/>
                        </a:cubicBezTo>
                        <a:close/>
                        <a:moveTo>
                          <a:pt x="148" y="172"/>
                        </a:moveTo>
                        <a:cubicBezTo>
                          <a:pt x="145" y="169"/>
                          <a:pt x="145" y="164"/>
                          <a:pt x="149" y="162"/>
                        </a:cubicBezTo>
                        <a:cubicBezTo>
                          <a:pt x="149" y="162"/>
                          <a:pt x="149" y="162"/>
                          <a:pt x="149" y="162"/>
                        </a:cubicBezTo>
                        <a:cubicBezTo>
                          <a:pt x="152" y="159"/>
                          <a:pt x="156" y="160"/>
                          <a:pt x="159" y="163"/>
                        </a:cubicBezTo>
                        <a:cubicBezTo>
                          <a:pt x="159" y="163"/>
                          <a:pt x="159" y="163"/>
                          <a:pt x="159" y="163"/>
                        </a:cubicBezTo>
                        <a:cubicBezTo>
                          <a:pt x="161" y="166"/>
                          <a:pt x="161" y="170"/>
                          <a:pt x="158" y="173"/>
                        </a:cubicBezTo>
                        <a:cubicBezTo>
                          <a:pt x="158" y="173"/>
                          <a:pt x="158" y="173"/>
                          <a:pt x="158" y="173"/>
                        </a:cubicBezTo>
                        <a:cubicBezTo>
                          <a:pt x="157" y="174"/>
                          <a:pt x="155" y="175"/>
                          <a:pt x="153" y="175"/>
                        </a:cubicBezTo>
                        <a:cubicBezTo>
                          <a:pt x="153" y="175"/>
                          <a:pt x="153" y="175"/>
                          <a:pt x="153" y="175"/>
                        </a:cubicBezTo>
                        <a:cubicBezTo>
                          <a:pt x="151" y="175"/>
                          <a:pt x="149" y="174"/>
                          <a:pt x="148" y="172"/>
                        </a:cubicBezTo>
                        <a:close/>
                        <a:moveTo>
                          <a:pt x="182" y="144"/>
                        </a:moveTo>
                        <a:cubicBezTo>
                          <a:pt x="180" y="141"/>
                          <a:pt x="181" y="137"/>
                          <a:pt x="184" y="134"/>
                        </a:cubicBezTo>
                        <a:cubicBezTo>
                          <a:pt x="184" y="134"/>
                          <a:pt x="184" y="134"/>
                          <a:pt x="184" y="134"/>
                        </a:cubicBezTo>
                        <a:cubicBezTo>
                          <a:pt x="187" y="132"/>
                          <a:pt x="192" y="132"/>
                          <a:pt x="194" y="136"/>
                        </a:cubicBezTo>
                        <a:cubicBezTo>
                          <a:pt x="194" y="136"/>
                          <a:pt x="194" y="136"/>
                          <a:pt x="194" y="136"/>
                        </a:cubicBezTo>
                        <a:cubicBezTo>
                          <a:pt x="196" y="139"/>
                          <a:pt x="196" y="144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1" y="147"/>
                          <a:pt x="190" y="147"/>
                          <a:pt x="188" y="147"/>
                        </a:cubicBezTo>
                        <a:cubicBezTo>
                          <a:pt x="188" y="147"/>
                          <a:pt x="188" y="147"/>
                          <a:pt x="188" y="147"/>
                        </a:cubicBezTo>
                        <a:cubicBezTo>
                          <a:pt x="186" y="147"/>
                          <a:pt x="184" y="146"/>
                          <a:pt x="182" y="144"/>
                        </a:cubicBezTo>
                        <a:close/>
                        <a:moveTo>
                          <a:pt x="219" y="119"/>
                        </a:moveTo>
                        <a:cubicBezTo>
                          <a:pt x="217" y="116"/>
                          <a:pt x="218" y="111"/>
                          <a:pt x="221" y="109"/>
                        </a:cubicBezTo>
                        <a:cubicBezTo>
                          <a:pt x="221" y="109"/>
                          <a:pt x="221" y="109"/>
                          <a:pt x="221" y="109"/>
                        </a:cubicBezTo>
                        <a:cubicBezTo>
                          <a:pt x="224" y="107"/>
                          <a:pt x="229" y="108"/>
                          <a:pt x="231" y="111"/>
                        </a:cubicBezTo>
                        <a:cubicBezTo>
                          <a:pt x="231" y="111"/>
                          <a:pt x="231" y="111"/>
                          <a:pt x="231" y="111"/>
                        </a:cubicBezTo>
                        <a:cubicBezTo>
                          <a:pt x="233" y="115"/>
                          <a:pt x="232" y="119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8" y="122"/>
                          <a:pt x="226" y="123"/>
                          <a:pt x="225" y="123"/>
                        </a:cubicBezTo>
                        <a:cubicBezTo>
                          <a:pt x="225" y="123"/>
                          <a:pt x="225" y="123"/>
                          <a:pt x="225" y="123"/>
                        </a:cubicBezTo>
                        <a:cubicBezTo>
                          <a:pt x="222" y="123"/>
                          <a:pt x="220" y="121"/>
                          <a:pt x="219" y="119"/>
                        </a:cubicBezTo>
                        <a:close/>
                        <a:moveTo>
                          <a:pt x="257" y="96"/>
                        </a:moveTo>
                        <a:cubicBezTo>
                          <a:pt x="255" y="93"/>
                          <a:pt x="256" y="88"/>
                          <a:pt x="260" y="86"/>
                        </a:cubicBezTo>
                        <a:cubicBezTo>
                          <a:pt x="260" y="86"/>
                          <a:pt x="260" y="86"/>
                          <a:pt x="260" y="86"/>
                        </a:cubicBezTo>
                        <a:cubicBezTo>
                          <a:pt x="263" y="84"/>
                          <a:pt x="268" y="86"/>
                          <a:pt x="269" y="89"/>
                        </a:cubicBezTo>
                        <a:cubicBezTo>
                          <a:pt x="269" y="89"/>
                          <a:pt x="269" y="89"/>
                          <a:pt x="269" y="89"/>
                        </a:cubicBezTo>
                        <a:cubicBezTo>
                          <a:pt x="271" y="93"/>
                          <a:pt x="270" y="97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6" y="100"/>
                          <a:pt x="264" y="100"/>
                          <a:pt x="263" y="100"/>
                        </a:cubicBezTo>
                        <a:cubicBezTo>
                          <a:pt x="263" y="100"/>
                          <a:pt x="263" y="100"/>
                          <a:pt x="263" y="100"/>
                        </a:cubicBezTo>
                        <a:cubicBezTo>
                          <a:pt x="261" y="100"/>
                          <a:pt x="258" y="99"/>
                          <a:pt x="257" y="96"/>
                        </a:cubicBezTo>
                        <a:close/>
                        <a:moveTo>
                          <a:pt x="296" y="76"/>
                        </a:moveTo>
                        <a:cubicBezTo>
                          <a:pt x="294" y="72"/>
                          <a:pt x="296" y="68"/>
                          <a:pt x="300" y="66"/>
                        </a:cubicBezTo>
                        <a:cubicBezTo>
                          <a:pt x="300" y="66"/>
                          <a:pt x="300" y="66"/>
                          <a:pt x="300" y="66"/>
                        </a:cubicBezTo>
                        <a:cubicBezTo>
                          <a:pt x="303" y="64"/>
                          <a:pt x="307" y="66"/>
                          <a:pt x="309" y="70"/>
                        </a:cubicBezTo>
                        <a:cubicBezTo>
                          <a:pt x="309" y="70"/>
                          <a:pt x="309" y="70"/>
                          <a:pt x="309" y="70"/>
                        </a:cubicBezTo>
                        <a:cubicBezTo>
                          <a:pt x="311" y="73"/>
                          <a:pt x="309" y="78"/>
                          <a:pt x="306" y="79"/>
                        </a:cubicBezTo>
                        <a:cubicBezTo>
                          <a:pt x="306" y="79"/>
                          <a:pt x="306" y="79"/>
                          <a:pt x="306" y="79"/>
                        </a:cubicBezTo>
                        <a:cubicBezTo>
                          <a:pt x="305" y="80"/>
                          <a:pt x="304" y="80"/>
                          <a:pt x="303" y="80"/>
                        </a:cubicBezTo>
                        <a:cubicBezTo>
                          <a:pt x="303" y="80"/>
                          <a:pt x="303" y="80"/>
                          <a:pt x="303" y="80"/>
                        </a:cubicBezTo>
                        <a:cubicBezTo>
                          <a:pt x="300" y="80"/>
                          <a:pt x="297" y="78"/>
                          <a:pt x="296" y="76"/>
                        </a:cubicBezTo>
                        <a:close/>
                        <a:moveTo>
                          <a:pt x="337" y="58"/>
                        </a:moveTo>
                        <a:cubicBezTo>
                          <a:pt x="335" y="54"/>
                          <a:pt x="337" y="50"/>
                          <a:pt x="341" y="48"/>
                        </a:cubicBezTo>
                        <a:cubicBezTo>
                          <a:pt x="341" y="48"/>
                          <a:pt x="341" y="48"/>
                          <a:pt x="341" y="48"/>
                        </a:cubicBezTo>
                        <a:cubicBezTo>
                          <a:pt x="344" y="47"/>
                          <a:pt x="349" y="49"/>
                          <a:pt x="350" y="53"/>
                        </a:cubicBezTo>
                        <a:cubicBezTo>
                          <a:pt x="350" y="53"/>
                          <a:pt x="350" y="53"/>
                          <a:pt x="350" y="53"/>
                        </a:cubicBezTo>
                        <a:cubicBezTo>
                          <a:pt x="352" y="56"/>
                          <a:pt x="350" y="61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5" y="62"/>
                          <a:pt x="344" y="63"/>
                          <a:pt x="343" y="63"/>
                        </a:cubicBezTo>
                        <a:cubicBezTo>
                          <a:pt x="343" y="63"/>
                          <a:pt x="343" y="63"/>
                          <a:pt x="343" y="63"/>
                        </a:cubicBezTo>
                        <a:cubicBezTo>
                          <a:pt x="340" y="63"/>
                          <a:pt x="338" y="61"/>
                          <a:pt x="337" y="58"/>
                        </a:cubicBezTo>
                        <a:close/>
                        <a:moveTo>
                          <a:pt x="378" y="43"/>
                        </a:moveTo>
                        <a:cubicBezTo>
                          <a:pt x="377" y="39"/>
                          <a:pt x="379" y="35"/>
                          <a:pt x="383" y="33"/>
                        </a:cubicBezTo>
                        <a:cubicBezTo>
                          <a:pt x="383" y="33"/>
                          <a:pt x="383" y="33"/>
                          <a:pt x="383" y="33"/>
                        </a:cubicBezTo>
                        <a:cubicBezTo>
                          <a:pt x="387" y="32"/>
                          <a:pt x="391" y="34"/>
                          <a:pt x="392" y="38"/>
                        </a:cubicBezTo>
                        <a:cubicBezTo>
                          <a:pt x="392" y="38"/>
                          <a:pt x="392" y="38"/>
                          <a:pt x="392" y="38"/>
                        </a:cubicBezTo>
                        <a:cubicBezTo>
                          <a:pt x="393" y="42"/>
                          <a:pt x="391" y="46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8"/>
                          <a:pt x="386" y="48"/>
                          <a:pt x="385" y="48"/>
                        </a:cubicBezTo>
                        <a:cubicBezTo>
                          <a:pt x="385" y="48"/>
                          <a:pt x="385" y="48"/>
                          <a:pt x="385" y="48"/>
                        </a:cubicBezTo>
                        <a:cubicBezTo>
                          <a:pt x="382" y="48"/>
                          <a:pt x="379" y="46"/>
                          <a:pt x="378" y="43"/>
                        </a:cubicBezTo>
                        <a:close/>
                        <a:moveTo>
                          <a:pt x="421" y="30"/>
                        </a:moveTo>
                        <a:cubicBezTo>
                          <a:pt x="420" y="26"/>
                          <a:pt x="422" y="22"/>
                          <a:pt x="426" y="21"/>
                        </a:cubicBezTo>
                        <a:cubicBezTo>
                          <a:pt x="426" y="21"/>
                          <a:pt x="426" y="21"/>
                          <a:pt x="426" y="21"/>
                        </a:cubicBezTo>
                        <a:cubicBezTo>
                          <a:pt x="430" y="20"/>
                          <a:pt x="434" y="23"/>
                          <a:pt x="435" y="26"/>
                        </a:cubicBezTo>
                        <a:cubicBezTo>
                          <a:pt x="435" y="26"/>
                          <a:pt x="435" y="26"/>
                          <a:pt x="435" y="26"/>
                        </a:cubicBezTo>
                        <a:cubicBezTo>
                          <a:pt x="436" y="30"/>
                          <a:pt x="433" y="34"/>
                          <a:pt x="429" y="35"/>
                        </a:cubicBezTo>
                        <a:cubicBezTo>
                          <a:pt x="429" y="35"/>
                          <a:pt x="429" y="35"/>
                          <a:pt x="429" y="35"/>
                        </a:cubicBezTo>
                        <a:cubicBezTo>
                          <a:pt x="429" y="36"/>
                          <a:pt x="428" y="36"/>
                          <a:pt x="428" y="36"/>
                        </a:cubicBezTo>
                        <a:cubicBezTo>
                          <a:pt x="428" y="36"/>
                          <a:pt x="428" y="36"/>
                          <a:pt x="428" y="36"/>
                        </a:cubicBezTo>
                        <a:cubicBezTo>
                          <a:pt x="424" y="36"/>
                          <a:pt x="421" y="33"/>
                          <a:pt x="421" y="30"/>
                        </a:cubicBezTo>
                        <a:close/>
                        <a:moveTo>
                          <a:pt x="464" y="20"/>
                        </a:moveTo>
                        <a:cubicBezTo>
                          <a:pt x="463" y="16"/>
                          <a:pt x="466" y="12"/>
                          <a:pt x="470" y="12"/>
                        </a:cubicBezTo>
                        <a:cubicBezTo>
                          <a:pt x="470" y="12"/>
                          <a:pt x="470" y="12"/>
                          <a:pt x="470" y="12"/>
                        </a:cubicBezTo>
                        <a:cubicBezTo>
                          <a:pt x="474" y="11"/>
                          <a:pt x="477" y="13"/>
                          <a:pt x="478" y="17"/>
                        </a:cubicBezTo>
                        <a:cubicBezTo>
                          <a:pt x="478" y="17"/>
                          <a:pt x="478" y="17"/>
                          <a:pt x="478" y="17"/>
                        </a:cubicBezTo>
                        <a:cubicBezTo>
                          <a:pt x="479" y="21"/>
                          <a:pt x="476" y="25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1" y="26"/>
                          <a:pt x="471" y="26"/>
                        </a:cubicBezTo>
                        <a:cubicBezTo>
                          <a:pt x="471" y="26"/>
                          <a:pt x="471" y="26"/>
                          <a:pt x="471" y="26"/>
                        </a:cubicBezTo>
                        <a:cubicBezTo>
                          <a:pt x="468" y="26"/>
                          <a:pt x="464" y="24"/>
                          <a:pt x="464" y="20"/>
                        </a:cubicBezTo>
                        <a:close/>
                        <a:moveTo>
                          <a:pt x="507" y="13"/>
                        </a:moveTo>
                        <a:cubicBezTo>
                          <a:pt x="507" y="9"/>
                          <a:pt x="510" y="5"/>
                          <a:pt x="514" y="5"/>
                        </a:cubicBezTo>
                        <a:cubicBezTo>
                          <a:pt x="514" y="5"/>
                          <a:pt x="514" y="5"/>
                          <a:pt x="514" y="5"/>
                        </a:cubicBezTo>
                        <a:cubicBezTo>
                          <a:pt x="518" y="4"/>
                          <a:pt x="521" y="7"/>
                          <a:pt x="522" y="11"/>
                        </a:cubicBezTo>
                        <a:cubicBezTo>
                          <a:pt x="522" y="11"/>
                          <a:pt x="522" y="11"/>
                          <a:pt x="522" y="11"/>
                        </a:cubicBezTo>
                        <a:cubicBezTo>
                          <a:pt x="522" y="15"/>
                          <a:pt x="520" y="19"/>
                          <a:pt x="516" y="19"/>
                        </a:cubicBezTo>
                        <a:cubicBezTo>
                          <a:pt x="516" y="19"/>
                          <a:pt x="516" y="19"/>
                          <a:pt x="516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1" y="19"/>
                          <a:pt x="508" y="17"/>
                          <a:pt x="507" y="13"/>
                        </a:cubicBezTo>
                        <a:close/>
                        <a:moveTo>
                          <a:pt x="552" y="8"/>
                        </a:moveTo>
                        <a:cubicBezTo>
                          <a:pt x="551" y="4"/>
                          <a:pt x="554" y="1"/>
                          <a:pt x="558" y="1"/>
                        </a:cubicBezTo>
                        <a:cubicBezTo>
                          <a:pt x="558" y="1"/>
                          <a:pt x="558" y="1"/>
                          <a:pt x="558" y="1"/>
                        </a:cubicBezTo>
                        <a:cubicBezTo>
                          <a:pt x="562" y="0"/>
                          <a:pt x="566" y="3"/>
                          <a:pt x="566" y="7"/>
                        </a:cubicBezTo>
                        <a:cubicBezTo>
                          <a:pt x="566" y="7"/>
                          <a:pt x="566" y="7"/>
                          <a:pt x="566" y="7"/>
                        </a:cubicBezTo>
                        <a:cubicBezTo>
                          <a:pt x="566" y="11"/>
                          <a:pt x="563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5" y="15"/>
                          <a:pt x="552" y="12"/>
                          <a:pt x="552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87" name="Freeform 100">
                  <a:extLst>
                    <a:ext uri="{FF2B5EF4-FFF2-40B4-BE49-F238E27FC236}">
                      <a16:creationId xmlns:a16="http://schemas.microsoft.com/office/drawing/2014/main" id="{D0EE88E0-9EFB-4EDE-A343-5B57C3AFF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1766887"/>
                  <a:ext cx="36016" cy="36017"/>
                </a:xfrm>
                <a:custGeom>
                  <a:avLst/>
                  <a:gdLst>
                    <a:gd name="T0" fmla="*/ 0 w 15"/>
                    <a:gd name="T1" fmla="*/ 8 h 14"/>
                    <a:gd name="T2" fmla="*/ 7 w 15"/>
                    <a:gd name="T3" fmla="*/ 0 h 14"/>
                    <a:gd name="T4" fmla="*/ 7 w 15"/>
                    <a:gd name="T5" fmla="*/ 0 h 14"/>
                    <a:gd name="T6" fmla="*/ 15 w 15"/>
                    <a:gd name="T7" fmla="*/ 7 h 14"/>
                    <a:gd name="T8" fmla="*/ 15 w 15"/>
                    <a:gd name="T9" fmla="*/ 7 h 14"/>
                    <a:gd name="T10" fmla="*/ 8 w 15"/>
                    <a:gd name="T11" fmla="*/ 14 h 14"/>
                    <a:gd name="T12" fmla="*/ 8 w 15"/>
                    <a:gd name="T13" fmla="*/ 14 h 14"/>
                    <a:gd name="T14" fmla="*/ 8 w 15"/>
                    <a:gd name="T15" fmla="*/ 14 h 14"/>
                    <a:gd name="T16" fmla="*/ 8 w 15"/>
                    <a:gd name="T17" fmla="*/ 14 h 14"/>
                    <a:gd name="T18" fmla="*/ 8 w 15"/>
                    <a:gd name="T19" fmla="*/ 14 h 14"/>
                    <a:gd name="T20" fmla="*/ 8 w 15"/>
                    <a:gd name="T21" fmla="*/ 14 h 14"/>
                    <a:gd name="T22" fmla="*/ 0 w 15"/>
                    <a:gd name="T23" fmla="*/ 8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4">
                      <a:moveTo>
                        <a:pt x="0" y="8"/>
                      </a:move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5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4" y="14"/>
                        <a:pt x="1" y="11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  <p:sp>
            <p:nvSpPr>
              <p:cNvPr id="85" name="Freeform 103">
                <a:extLst>
                  <a:ext uri="{FF2B5EF4-FFF2-40B4-BE49-F238E27FC236}">
                    <a16:creationId xmlns:a16="http://schemas.microsoft.com/office/drawing/2014/main" id="{99289FFF-180A-45F5-BA85-73B6BD74B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1482" y="3373772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2 h 16"/>
                  <a:gd name="T8" fmla="*/ 12 w 17"/>
                  <a:gd name="T9" fmla="*/ 2 h 16"/>
                  <a:gd name="T10" fmla="*/ 15 w 17"/>
                  <a:gd name="T11" fmla="*/ 12 h 16"/>
                  <a:gd name="T12" fmla="*/ 15 w 17"/>
                  <a:gd name="T13" fmla="*/ 12 h 16"/>
                  <a:gd name="T14" fmla="*/ 8 w 17"/>
                  <a:gd name="T15" fmla="*/ 16 h 16"/>
                  <a:gd name="T16" fmla="*/ 8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1"/>
                      <a:pt x="9" y="0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6" y="5"/>
                      <a:pt x="17" y="9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3" y="15"/>
                      <a:pt x="11" y="16"/>
                      <a:pt x="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85A39D0-6933-4F0F-9A8C-486BB010C249}"/>
              </a:ext>
            </a:extLst>
          </p:cNvPr>
          <p:cNvSpPr txBox="1"/>
          <p:nvPr/>
        </p:nvSpPr>
        <p:spPr>
          <a:xfrm>
            <a:off x="2957936" y="4124618"/>
            <a:ext cx="627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1"/>
                </a:solidFill>
                <a:latin typeface="+mj-lt"/>
              </a:rPr>
              <a:t>Liderar la construcción </a:t>
            </a:r>
            <a:r>
              <a:rPr lang="es-MX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un mundo sostenible</a:t>
            </a:r>
            <a:endParaRPr lang="es-CL" sz="20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2803389" y="4700087"/>
            <a:ext cx="6585223" cy="829768"/>
          </a:xfrm>
        </p:spPr>
        <p:txBody>
          <a:bodyPr/>
          <a:lstStyle/>
          <a:p>
            <a:r>
              <a:rPr lang="es-ES" sz="2800" b="1" dirty="0"/>
              <a:t>Tópicos avanzados en Inteligencia Artificial</a:t>
            </a:r>
            <a:endParaRPr lang="es-CL" sz="2800" b="1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>
          <a:xfrm>
            <a:off x="4052888" y="5791385"/>
            <a:ext cx="4086225" cy="834884"/>
          </a:xfrm>
        </p:spPr>
        <p:txBody>
          <a:bodyPr/>
          <a:lstStyle/>
          <a:p>
            <a:r>
              <a:rPr lang="es-CL" sz="1800" dirty="0"/>
              <a:t>Profesor: </a:t>
            </a:r>
            <a:r>
              <a:rPr lang="es-CL" sz="1800" b="0" dirty="0"/>
              <a:t>Anthony D. Cho</a:t>
            </a:r>
          </a:p>
          <a:p>
            <a:r>
              <a:rPr lang="es-CL" sz="1800" dirty="0"/>
              <a:t>Ayudante</a:t>
            </a:r>
            <a:r>
              <a:rPr lang="es-CL" sz="1800" b="0" dirty="0"/>
              <a:t>: Luis Oliveros</a:t>
            </a:r>
          </a:p>
        </p:txBody>
      </p:sp>
    </p:spTree>
    <p:extLst>
      <p:ext uri="{BB962C8B-B14F-4D97-AF65-F5344CB8AC3E}">
        <p14:creationId xmlns:p14="http://schemas.microsoft.com/office/powerpoint/2010/main" val="51368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Only</a:t>
            </a:r>
            <a:r>
              <a:rPr lang="es-ES" dirty="0"/>
              <a:t> Look Once</a:t>
            </a:r>
          </a:p>
          <a:p>
            <a:r>
              <a:rPr lang="es-ES" dirty="0"/>
              <a:t>(YOLO)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9910830-C0DA-4DFC-A7C6-8717BF4C33D7}"/>
              </a:ext>
            </a:extLst>
          </p:cNvPr>
          <p:cNvSpPr txBox="1"/>
          <p:nvPr/>
        </p:nvSpPr>
        <p:spPr>
          <a:xfrm>
            <a:off x="260520" y="1161669"/>
            <a:ext cx="96656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Imagina que tienes una imagen y quieres saber </a:t>
            </a:r>
            <a:r>
              <a:rPr lang="es-ES" b="1" dirty="0"/>
              <a:t>qué objetos hay en ella</a:t>
            </a:r>
            <a:r>
              <a:rPr lang="es-ES" dirty="0"/>
              <a:t> y </a:t>
            </a:r>
            <a:r>
              <a:rPr lang="es-ES" b="1" dirty="0"/>
              <a:t>dónde están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b="1" dirty="0"/>
              <a:t>Por ejemplo</a:t>
            </a:r>
            <a:r>
              <a:rPr lang="es-ES" dirty="0"/>
              <a:t>, una foto de una calle con personas, autos y señales de tránsito.</a:t>
            </a:r>
          </a:p>
        </p:txBody>
      </p:sp>
      <p:pic>
        <p:nvPicPr>
          <p:cNvPr id="4" name="Imagen 3" descr="Un camión de bomberos pasando por una calle&#10;&#10;El contenido generado por IA puede ser incorrecto.">
            <a:extLst>
              <a:ext uri="{FF2B5EF4-FFF2-40B4-BE49-F238E27FC236}">
                <a16:creationId xmlns:a16="http://schemas.microsoft.com/office/drawing/2014/main" id="{7030E86D-8BEA-7BB8-0CE1-537E807E5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127" y="2342318"/>
            <a:ext cx="6349667" cy="38114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3C2549C-E36E-8699-7FDF-522F78AA18E4}"/>
              </a:ext>
            </a:extLst>
          </p:cNvPr>
          <p:cNvSpPr txBox="1"/>
          <p:nvPr/>
        </p:nvSpPr>
        <p:spPr>
          <a:xfrm>
            <a:off x="260520" y="2533078"/>
            <a:ext cx="45207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s-ES" dirty="0"/>
              <a:t>El </a:t>
            </a:r>
            <a:r>
              <a:rPr lang="es-ES" b="1" dirty="0"/>
              <a:t>objetivo de un modelo </a:t>
            </a:r>
            <a:r>
              <a:rPr lang="es-ES" dirty="0"/>
              <a:t>de detección de objetos es </a:t>
            </a:r>
            <a:r>
              <a:rPr lang="es-ES" dirty="0">
                <a:solidFill>
                  <a:srgbClr val="FF0000"/>
                </a:solidFill>
              </a:rPr>
              <a:t>identificar</a:t>
            </a:r>
            <a:r>
              <a:rPr lang="es-ES" dirty="0"/>
              <a:t> cada uno de estos objetos y </a:t>
            </a:r>
            <a:r>
              <a:rPr lang="es-ES" dirty="0">
                <a:solidFill>
                  <a:srgbClr val="FF0000"/>
                </a:solidFill>
              </a:rPr>
              <a:t>determinar su ubicación </a:t>
            </a:r>
            <a:r>
              <a:rPr lang="es-ES" dirty="0"/>
              <a:t>precisa dentro de la imagen.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58CEF0-7EBD-FD0D-6BAF-837BFE574892}"/>
              </a:ext>
            </a:extLst>
          </p:cNvPr>
          <p:cNvSpPr txBox="1"/>
          <p:nvPr/>
        </p:nvSpPr>
        <p:spPr>
          <a:xfrm>
            <a:off x="260521" y="4248045"/>
            <a:ext cx="45207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s-ES" dirty="0"/>
              <a:t>En esencia, se trata de </a:t>
            </a:r>
            <a:r>
              <a:rPr lang="es-ES" dirty="0">
                <a:solidFill>
                  <a:srgbClr val="FF0000"/>
                </a:solidFill>
              </a:rPr>
              <a:t>enseñarle a una máquina a "ver"</a:t>
            </a:r>
            <a:r>
              <a:rPr lang="es-ES" dirty="0"/>
              <a:t> y comprender el contenido visual de una imagen de manera </a:t>
            </a:r>
            <a:r>
              <a:rPr lang="es-ES" b="1" dirty="0"/>
              <a:t>similar a como lo haría un ser humano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43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FDA3-05C4-221B-4313-21AC2816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566B356-2BD1-BD02-C0AB-3628293698C3}"/>
              </a:ext>
            </a:extLst>
          </p:cNvPr>
          <p:cNvSpPr txBox="1"/>
          <p:nvPr/>
        </p:nvSpPr>
        <p:spPr>
          <a:xfrm>
            <a:off x="260520" y="1161669"/>
            <a:ext cx="11406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Antes de la aparición de YOLO, los modelos de detección de objetos solían ser lentos y computacionalmente costosos.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51C92D-04CD-4EA2-E6DB-199A00D17E06}"/>
              </a:ext>
            </a:extLst>
          </p:cNvPr>
          <p:cNvSpPr txBox="1"/>
          <p:nvPr/>
        </p:nvSpPr>
        <p:spPr>
          <a:xfrm>
            <a:off x="260520" y="2479004"/>
            <a:ext cx="71207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Estos modelos analizaban repetidamente diferentes partes de la imagen, buscando patrones que coincidieran con los objetos que estaban programados para detectar.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489BDA-0F38-160D-8652-F0E9EDA5B91E}"/>
              </a:ext>
            </a:extLst>
          </p:cNvPr>
          <p:cNvSpPr txBox="1"/>
          <p:nvPr/>
        </p:nvSpPr>
        <p:spPr>
          <a:xfrm>
            <a:off x="5783854" y="4947184"/>
            <a:ext cx="5883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Este enfoque, aunque efectivo, resultaba ineficiente y poco práctico para aplicaciones que requerían un procesamiento rápido, como la conducción autónoma o la vigilancia en tiempo real.</a:t>
            </a:r>
            <a:endParaRPr lang="es-CL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C997CA2-0D66-EB1C-7170-A98B4D53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198" y="1808000"/>
            <a:ext cx="3305175" cy="2790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80FB7AA-6477-B984-8286-1A113B3FE0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35" r="3159"/>
          <a:stretch>
            <a:fillRect/>
          </a:stretch>
        </p:blipFill>
        <p:spPr>
          <a:xfrm>
            <a:off x="448019" y="4038178"/>
            <a:ext cx="4928211" cy="24838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881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581A-0DA5-A92D-7057-4109C6F2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760B7E-FC59-6CEB-D00B-CB38C6979742}"/>
              </a:ext>
            </a:extLst>
          </p:cNvPr>
          <p:cNvSpPr txBox="1"/>
          <p:nvPr/>
        </p:nvSpPr>
        <p:spPr>
          <a:xfrm>
            <a:off x="319489" y="1383897"/>
            <a:ext cx="9166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Uno de los enfoques más conocidos y revolucionarios para hacer esto es </a:t>
            </a:r>
            <a:r>
              <a:rPr lang="es-ES" b="1" dirty="0"/>
              <a:t>YOLO</a:t>
            </a:r>
            <a:r>
              <a:rPr lang="es-ES" dirty="0"/>
              <a:t>, que significa </a:t>
            </a:r>
            <a:r>
              <a:rPr lang="es-ES" b="1" dirty="0"/>
              <a:t>"</a:t>
            </a:r>
            <a:r>
              <a:rPr lang="es-ES" b="1" dirty="0" err="1"/>
              <a:t>You</a:t>
            </a:r>
            <a:r>
              <a:rPr lang="es-ES" b="1" dirty="0"/>
              <a:t> </a:t>
            </a:r>
            <a:r>
              <a:rPr lang="es-ES" b="1" dirty="0" err="1"/>
              <a:t>Only</a:t>
            </a:r>
            <a:r>
              <a:rPr lang="es-ES" b="1" dirty="0"/>
              <a:t> Look Once”, </a:t>
            </a:r>
            <a:r>
              <a:rPr lang="es-ES" dirty="0"/>
              <a:t>que ha</a:t>
            </a:r>
            <a:r>
              <a:rPr lang="es-ES" b="1" dirty="0"/>
              <a:t> </a:t>
            </a:r>
            <a:r>
              <a:rPr lang="es-ES" dirty="0"/>
              <a:t>representado un cambio radical en la forma en que se aborda la detección de objetos, propuesto por </a:t>
            </a:r>
            <a:r>
              <a:rPr lang="es-CL" b="1" dirty="0"/>
              <a:t>Joseph </a:t>
            </a:r>
            <a:r>
              <a:rPr lang="es-CL" b="1" dirty="0" err="1"/>
              <a:t>Redmon</a:t>
            </a:r>
            <a:r>
              <a:rPr lang="es-CL" b="1" dirty="0"/>
              <a:t> y otros colegas </a:t>
            </a:r>
            <a:r>
              <a:rPr lang="es-CL" dirty="0"/>
              <a:t>en 2016.</a:t>
            </a:r>
            <a:endParaRPr lang="es-E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179E3-10A1-9C28-B3DF-5DA37AB34260}"/>
              </a:ext>
            </a:extLst>
          </p:cNvPr>
          <p:cNvSpPr txBox="1"/>
          <p:nvPr/>
        </p:nvSpPr>
        <p:spPr>
          <a:xfrm>
            <a:off x="0" y="6427113"/>
            <a:ext cx="11632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/>
              <a:t>J. </a:t>
            </a:r>
            <a:r>
              <a:rPr lang="es-CL" sz="1100" dirty="0" err="1"/>
              <a:t>Redmon</a:t>
            </a:r>
            <a:r>
              <a:rPr lang="es-CL" sz="1100" dirty="0"/>
              <a:t>, S. </a:t>
            </a:r>
            <a:r>
              <a:rPr lang="es-CL" sz="1100" dirty="0" err="1"/>
              <a:t>Divvala</a:t>
            </a:r>
            <a:r>
              <a:rPr lang="es-CL" sz="1100" dirty="0"/>
              <a:t>, R. </a:t>
            </a:r>
            <a:r>
              <a:rPr lang="es-CL" sz="1100" dirty="0" err="1"/>
              <a:t>Girshick</a:t>
            </a:r>
            <a:r>
              <a:rPr lang="es-CL" sz="1100" dirty="0"/>
              <a:t> and A. Farhadi, "</a:t>
            </a:r>
            <a:r>
              <a:rPr lang="es-CL" sz="1100" dirty="0" err="1"/>
              <a:t>You</a:t>
            </a:r>
            <a:r>
              <a:rPr lang="es-CL" sz="1100" dirty="0"/>
              <a:t> </a:t>
            </a:r>
            <a:r>
              <a:rPr lang="es-CL" sz="1100" dirty="0" err="1"/>
              <a:t>Only</a:t>
            </a:r>
            <a:r>
              <a:rPr lang="es-CL" sz="1100" dirty="0"/>
              <a:t> Look Once: </a:t>
            </a:r>
            <a:r>
              <a:rPr lang="es-CL" sz="1100" dirty="0" err="1"/>
              <a:t>Unified</a:t>
            </a:r>
            <a:r>
              <a:rPr lang="es-CL" sz="1100" dirty="0"/>
              <a:t>, Real-Time </a:t>
            </a:r>
            <a:r>
              <a:rPr lang="es-CL" sz="1100" dirty="0" err="1"/>
              <a:t>Object</a:t>
            </a:r>
            <a:r>
              <a:rPr lang="es-CL" sz="1100" dirty="0"/>
              <a:t> </a:t>
            </a:r>
            <a:r>
              <a:rPr lang="es-CL" sz="1100" dirty="0" err="1"/>
              <a:t>Detection</a:t>
            </a:r>
            <a:r>
              <a:rPr lang="es-CL" sz="1100" dirty="0"/>
              <a:t>," 2016 IEEE </a:t>
            </a:r>
            <a:r>
              <a:rPr lang="es-CL" sz="1100" dirty="0" err="1"/>
              <a:t>Conference</a:t>
            </a:r>
            <a:r>
              <a:rPr lang="es-CL" sz="1100" dirty="0"/>
              <a:t> </a:t>
            </a:r>
            <a:r>
              <a:rPr lang="es-CL" sz="1100" dirty="0" err="1"/>
              <a:t>on</a:t>
            </a:r>
            <a:r>
              <a:rPr lang="es-CL" sz="1100" dirty="0"/>
              <a:t> </a:t>
            </a:r>
            <a:r>
              <a:rPr lang="es-CL" sz="1100" dirty="0" err="1"/>
              <a:t>Computer</a:t>
            </a:r>
            <a:r>
              <a:rPr lang="es-CL" sz="1100" dirty="0"/>
              <a:t> </a:t>
            </a:r>
            <a:r>
              <a:rPr lang="es-CL" sz="1100" dirty="0" err="1"/>
              <a:t>Vision</a:t>
            </a:r>
            <a:r>
              <a:rPr lang="es-CL" sz="1100" dirty="0"/>
              <a:t> and </a:t>
            </a:r>
            <a:r>
              <a:rPr lang="es-CL" sz="1100" dirty="0" err="1"/>
              <a:t>Pattern</a:t>
            </a:r>
            <a:r>
              <a:rPr lang="es-CL" sz="1100" dirty="0"/>
              <a:t> </a:t>
            </a:r>
            <a:r>
              <a:rPr lang="es-CL" sz="1100" dirty="0" err="1"/>
              <a:t>Recognition</a:t>
            </a:r>
            <a:r>
              <a:rPr lang="es-CL" sz="1100" dirty="0"/>
              <a:t> (CVPR), Las Vegas, NV, USA, 2016, pp. 779-788, </a:t>
            </a:r>
            <a:r>
              <a:rPr lang="es-CL" sz="1100" dirty="0" err="1"/>
              <a:t>doi</a:t>
            </a:r>
            <a:r>
              <a:rPr lang="es-CL" sz="1100" dirty="0"/>
              <a:t>: </a:t>
            </a:r>
            <a:r>
              <a:rPr lang="es-CL" sz="1100" dirty="0">
                <a:hlinkClick r:id="rId3"/>
              </a:rPr>
              <a:t>10.1109/CVPR.2016.91</a:t>
            </a:r>
            <a:endParaRPr lang="en-US" sz="11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501B5B-27A6-F9D1-E243-F5F1E017E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27790" y="1062591"/>
            <a:ext cx="2023536" cy="1521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BB03ABE-DEBA-11FE-E4C5-0935B106DA6C}"/>
              </a:ext>
            </a:extLst>
          </p:cNvPr>
          <p:cNvSpPr txBox="1"/>
          <p:nvPr/>
        </p:nvSpPr>
        <p:spPr>
          <a:xfrm>
            <a:off x="319488" y="2908708"/>
            <a:ext cx="11431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idea detrás de YOLOv1 es </a:t>
            </a:r>
            <a:r>
              <a:rPr lang="es-ES" b="1" dirty="0"/>
              <a:t>rápida y directa</a:t>
            </a:r>
            <a:r>
              <a:rPr lang="es-ES" dirty="0"/>
              <a:t>: el modelo ve la imagen una sola vez, como si fuera una persona echando un vistazo rápido, y con eso ya intenta detectar todos los objetos de interés, permitiendo hacer predicciones </a:t>
            </a:r>
            <a:r>
              <a:rPr lang="es-ES" b="1" dirty="0"/>
              <a:t>en tiempo real</a:t>
            </a:r>
            <a:r>
              <a:rPr lang="es-ES" dirty="0"/>
              <a:t>.</a:t>
            </a:r>
            <a:endParaRPr lang="es-CL" dirty="0"/>
          </a:p>
        </p:txBody>
      </p:sp>
      <p:pic>
        <p:nvPicPr>
          <p:cNvPr id="10" name="Imagen 9" descr="Autobús de doble piso en la calle&#10;&#10;El contenido generado por IA puede ser incorrecto.">
            <a:extLst>
              <a:ext uri="{FF2B5EF4-FFF2-40B4-BE49-F238E27FC236}">
                <a16:creationId xmlns:a16="http://schemas.microsoft.com/office/drawing/2014/main" id="{8EAE5240-62F2-EF21-C46A-6B95CEAF7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701" y="3912871"/>
            <a:ext cx="3657855" cy="2195665"/>
          </a:xfrm>
          <a:prstGeom prst="rect">
            <a:avLst/>
          </a:prstGeom>
        </p:spPr>
      </p:pic>
      <p:pic>
        <p:nvPicPr>
          <p:cNvPr id="14" name="Imagen 13" descr="Un camión de bomberos pasando por una calle&#10;&#10;El contenido generado por IA puede ser incorrecto.">
            <a:extLst>
              <a:ext uri="{FF2B5EF4-FFF2-40B4-BE49-F238E27FC236}">
                <a16:creationId xmlns:a16="http://schemas.microsoft.com/office/drawing/2014/main" id="{29F0ED01-5225-11EA-A9CD-2248FC1FB1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89" y="3898156"/>
            <a:ext cx="3657855" cy="2195666"/>
          </a:xfrm>
          <a:prstGeom prst="rect">
            <a:avLst/>
          </a:prstGeom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C58E4048-2241-4E61-0C1D-728DB03E2EFD}"/>
              </a:ext>
            </a:extLst>
          </p:cNvPr>
          <p:cNvSpPr/>
          <p:nvPr/>
        </p:nvSpPr>
        <p:spPr>
          <a:xfrm>
            <a:off x="5527300" y="4924540"/>
            <a:ext cx="837282" cy="220337"/>
          </a:xfrm>
          <a:prstGeom prst="rightArrow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200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C509-F90D-2F67-C0D5-E5D0F1A1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C6FB99C7-3DB7-0D83-3D62-A8B7BE391B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C29E9C-1D56-5BF6-9833-65857155D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83" y="1574092"/>
            <a:ext cx="5200650" cy="4238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B0113DB-BB04-082C-B7B7-50EDBC301F3F}"/>
                  </a:ext>
                </a:extLst>
              </p:cNvPr>
              <p:cNvSpPr txBox="1"/>
              <p:nvPr/>
            </p:nvSpPr>
            <p:spPr>
              <a:xfrm>
                <a:off x="5787873" y="1257753"/>
                <a:ext cx="610334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CL" dirty="0"/>
                  <a:t>El proceso YOLO comienza redimensionando la imagen de entrada a 448 x 448 píxeles.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L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dirty="0"/>
                  <a:t>Se divide la imagen en una cuadrícula de tamaño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dirty="0"/>
                  <a:t>. </a:t>
                </a:r>
                <a:r>
                  <a:rPr lang="es-ES" b="1" dirty="0"/>
                  <a:t>En el </a:t>
                </a:r>
                <a:r>
                  <a:rPr lang="es-ES" b="1" dirty="0" err="1"/>
                  <a:t>paper</a:t>
                </a:r>
                <a:r>
                  <a:rPr lang="es-ES" b="1" dirty="0"/>
                  <a:t> establece</a:t>
                </a:r>
                <a14:m>
                  <m:oMath xmlns:m="http://schemas.openxmlformats.org/officeDocument/2006/math">
                    <m:r>
                      <a:rPr lang="es-E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L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CL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rgbClr val="FF0000"/>
                    </a:solidFill>
                  </a:rPr>
                  <a:t>La celda </a:t>
                </a:r>
                <a:r>
                  <a:rPr lang="es-ES" dirty="0"/>
                  <a:t>de la red en la que se encuentra el centro del objeto es la </a:t>
                </a:r>
                <a:r>
                  <a:rPr lang="es-ES" dirty="0">
                    <a:solidFill>
                      <a:srgbClr val="FF0000"/>
                    </a:solidFill>
                  </a:rPr>
                  <a:t>responsable de predecir ese objeto</a:t>
                </a:r>
                <a:r>
                  <a:rPr lang="es-ES" dirty="0"/>
                  <a:t>.</a:t>
                </a:r>
                <a:endParaRPr lang="es-CL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B0113DB-BB04-082C-B7B7-50EDBC30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873" y="1257753"/>
                <a:ext cx="6103344" cy="2308324"/>
              </a:xfrm>
              <a:prstGeom prst="rect">
                <a:avLst/>
              </a:prstGeom>
              <a:blipFill>
                <a:blip r:embed="rId4"/>
                <a:stretch>
                  <a:fillRect l="-599" t="-1319" r="-798" b="-316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47E4096E-BBD3-6A72-80E0-45592647640A}"/>
              </a:ext>
            </a:extLst>
          </p:cNvPr>
          <p:cNvSpPr txBox="1"/>
          <p:nvPr/>
        </p:nvSpPr>
        <p:spPr>
          <a:xfrm>
            <a:off x="6095999" y="3827825"/>
            <a:ext cx="57952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b="1" dirty="0"/>
              <a:t>Por ejemplo</a:t>
            </a:r>
            <a:r>
              <a:rPr lang="es-CL" dirty="0"/>
              <a:t>, </a:t>
            </a:r>
          </a:p>
          <a:p>
            <a:pPr algn="just"/>
            <a:endParaRPr lang="es-CL" dirty="0"/>
          </a:p>
          <a:p>
            <a:pPr algn="just"/>
            <a:r>
              <a:rPr lang="es-CL" dirty="0"/>
              <a:t>La celda que contiene el punto rojo (que representa el centro del caballo) es responsable de predecir el caballo.</a:t>
            </a:r>
          </a:p>
          <a:p>
            <a:pPr algn="just"/>
            <a:endParaRPr lang="es-CL" dirty="0"/>
          </a:p>
          <a:p>
            <a:pPr algn="just"/>
            <a:r>
              <a:rPr lang="es-CL" dirty="0"/>
              <a:t>Mientras que la celda con el punto azul es responsable de predecir al humano.</a:t>
            </a:r>
          </a:p>
        </p:txBody>
      </p:sp>
    </p:spTree>
    <p:extLst>
      <p:ext uri="{BB962C8B-B14F-4D97-AF65-F5344CB8AC3E}">
        <p14:creationId xmlns:p14="http://schemas.microsoft.com/office/powerpoint/2010/main" val="371952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D969-F22C-831B-46D2-DB3613C0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9EEEBA5A-0F3F-C877-7DC4-5E82D34D0B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EEF500-F4AA-8556-6620-E28449A0B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3393" y="3062689"/>
            <a:ext cx="7365214" cy="34750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AE8B2D6-EA3B-F2B7-86B0-7FBA4501652E}"/>
              </a:ext>
            </a:extLst>
          </p:cNvPr>
          <p:cNvSpPr txBox="1"/>
          <p:nvPr/>
        </p:nvSpPr>
        <p:spPr>
          <a:xfrm>
            <a:off x="363556" y="1265617"/>
            <a:ext cx="11116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dirty="0"/>
              <a:t>Para realizar la tarea de detección de objetos, el primer paso consiste en etiquetar las imágenes. </a:t>
            </a:r>
          </a:p>
          <a:p>
            <a:pPr algn="just"/>
            <a:endParaRPr lang="es-CL" dirty="0"/>
          </a:p>
          <a:p>
            <a:pPr algn="just"/>
            <a:r>
              <a:rPr lang="es-CL" dirty="0"/>
              <a:t>En este contexto, el </a:t>
            </a:r>
            <a:r>
              <a:rPr lang="es-CL" b="1" dirty="0"/>
              <a:t>etiquetado</a:t>
            </a:r>
            <a:r>
              <a:rPr lang="es-CL" dirty="0"/>
              <a:t> se refiere al </a:t>
            </a:r>
            <a:r>
              <a:rPr lang="es-CL" b="1" dirty="0"/>
              <a:t>proceso de anotar o marcar objetos específicos </a:t>
            </a:r>
            <a:r>
              <a:rPr lang="es-CL" dirty="0"/>
              <a:t>o regiones de interés dentro de una imagen o fotograma de vídeo, y </a:t>
            </a:r>
            <a:r>
              <a:rPr lang="es-CL" dirty="0">
                <a:solidFill>
                  <a:srgbClr val="FF0000"/>
                </a:solidFill>
              </a:rPr>
              <a:t>a menudo se representa mediante cuadros delimitadores</a:t>
            </a:r>
            <a:r>
              <a:rPr lang="es-C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401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EEA7-B33E-6AAF-05FD-1C453EF8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E979DC25-0FAA-643B-11A9-7817EE0790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82AE2A-2FF8-3DDA-CD9F-802355223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9615" y="2570900"/>
            <a:ext cx="7365214" cy="33946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46E3D93-B112-CBDB-47DA-E597160CE96C}"/>
                  </a:ext>
                </a:extLst>
              </p:cNvPr>
              <p:cNvSpPr txBox="1"/>
              <p:nvPr/>
            </p:nvSpPr>
            <p:spPr>
              <a:xfrm>
                <a:off x="330505" y="1140484"/>
                <a:ext cx="1111602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dirty="0"/>
                  <a:t>Al etiquetar objetos en una imagen para la detección de objetos, necesitamos encontrar las coordenadas del punto central (</a:t>
                </a:r>
                <a:r>
                  <a:rPr lang="es-ES" b="1" dirty="0" err="1"/>
                  <a:t>center_x</a:t>
                </a:r>
                <a:r>
                  <a:rPr lang="es-ES" b="1" dirty="0"/>
                  <a:t>, </a:t>
                </a:r>
                <a:r>
                  <a:rPr lang="es-ES" b="1" dirty="0" err="1"/>
                  <a:t>center_y</a:t>
                </a:r>
                <a:r>
                  <a:rPr lang="es-ES" dirty="0"/>
                  <a:t>) utilizando las coordenadas proporcionadas de la esquina superior izquierda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L" b="1" i="1" dirty="0" smtClean="0"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b="1" i="1" dirty="0" err="1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s-E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CL" b="1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</m:oMath>
                </a14:m>
                <a:r>
                  <a:rPr lang="es-ES" dirty="0"/>
                  <a:t>) y la esquina inferior derecha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es-E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es-ES" dirty="0"/>
                  <a:t>) de un cuadro delimitador.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46E3D93-B112-CBDB-47DA-E597160CE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05" y="1140484"/>
                <a:ext cx="11116020" cy="1200329"/>
              </a:xfrm>
              <a:prstGeom prst="rect">
                <a:avLst/>
              </a:prstGeom>
              <a:blipFill>
                <a:blip r:embed="rId4"/>
                <a:stretch>
                  <a:fillRect l="-439" t="-2538" r="-439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51A2A34B-56AB-7BEC-CD99-799F48AB1771}"/>
              </a:ext>
            </a:extLst>
          </p:cNvPr>
          <p:cNvSpPr txBox="1"/>
          <p:nvPr/>
        </p:nvSpPr>
        <p:spPr>
          <a:xfrm>
            <a:off x="330505" y="3029894"/>
            <a:ext cx="37126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Esto implica calcular el promedio entre los </a:t>
            </a:r>
            <a:r>
              <a:rPr lang="es-ES" b="1" dirty="0" err="1"/>
              <a:t>x’s</a:t>
            </a:r>
            <a:r>
              <a:rPr lang="es-ES" b="1" dirty="0"/>
              <a:t> (</a:t>
            </a:r>
            <a:r>
              <a:rPr lang="es-ES" b="1" dirty="0" err="1"/>
              <a:t>x_center</a:t>
            </a:r>
            <a:r>
              <a:rPr lang="es-ES" b="1" dirty="0"/>
              <a:t>)</a:t>
            </a:r>
            <a:r>
              <a:rPr lang="es-ES" dirty="0"/>
              <a:t>, y entre los </a:t>
            </a:r>
            <a:r>
              <a:rPr lang="es-ES" b="1" dirty="0" err="1"/>
              <a:t>y’s</a:t>
            </a:r>
            <a:r>
              <a:rPr lang="es-ES" b="1" dirty="0"/>
              <a:t> (</a:t>
            </a:r>
            <a:r>
              <a:rPr lang="es-ES" b="1" dirty="0" err="1"/>
              <a:t>y_center</a:t>
            </a:r>
            <a:r>
              <a:rPr lang="es-ES" b="1" dirty="0"/>
              <a:t>)</a:t>
            </a:r>
            <a:r>
              <a:rPr lang="es-ES" dirty="0"/>
              <a:t>. 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Estas coordenadas centrales ayudan a localizar la posición central del objeto etiquetado dentro del cuadro delimitador.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7113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5750-D107-FF95-2864-7FE61B08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3AA955DD-A384-56A9-C12A-32DE4A426B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54DD27-E3AD-43D8-62FA-84EA4AA496CF}"/>
              </a:ext>
            </a:extLst>
          </p:cNvPr>
          <p:cNvSpPr txBox="1"/>
          <p:nvPr/>
        </p:nvSpPr>
        <p:spPr>
          <a:xfrm>
            <a:off x="395868" y="1456119"/>
            <a:ext cx="6099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Después de calcular las coordenadas del centro de un cuadro delimitador, </a:t>
            </a:r>
            <a:r>
              <a:rPr lang="es-ES" b="1" dirty="0"/>
              <a:t>es habitual normalizar estas coordenadas</a:t>
            </a:r>
            <a:r>
              <a:rPr lang="es-ES" dirty="0"/>
              <a:t> para garantizar la coherencia y facilitar su uso.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30EF6-46FE-DCDD-68B3-F9B28927A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5856" y="1727610"/>
            <a:ext cx="3819761" cy="37469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36DAA-F469-AC9D-721C-4FD71F182F35}"/>
              </a:ext>
            </a:extLst>
          </p:cNvPr>
          <p:cNvSpPr txBox="1"/>
          <p:nvPr/>
        </p:nvSpPr>
        <p:spPr>
          <a:xfrm>
            <a:off x="395868" y="2933136"/>
            <a:ext cx="6099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Puede escalarlas a un rango entre 0 y 1 dividiéndolas por el ancho y la altura de la imagen (</a:t>
            </a:r>
            <a:r>
              <a:rPr lang="es-ES" b="1" dirty="0"/>
              <a:t>escalar imagen</a:t>
            </a:r>
            <a:r>
              <a:rPr lang="es-ES" dirty="0"/>
              <a:t>). Y también normalizar el ancho y la altura del cuadro delimitador dividiendo por el ancho y la altura de la imagen respectivamente (</a:t>
            </a:r>
            <a:r>
              <a:rPr lang="es-ES" b="1" dirty="0"/>
              <a:t>escalar cuadro</a:t>
            </a:r>
            <a:r>
              <a:rPr lang="es-ES" dirty="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EA100-1540-FF40-E370-FB07F76364EA}"/>
              </a:ext>
            </a:extLst>
          </p:cNvPr>
          <p:cNvSpPr txBox="1"/>
          <p:nvPr/>
        </p:nvSpPr>
        <p:spPr>
          <a:xfrm>
            <a:off x="395868" y="4687152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Es crucial </a:t>
            </a:r>
            <a:r>
              <a:rPr lang="en-US" dirty="0" err="1"/>
              <a:t>destacar</a:t>
            </a:r>
            <a:r>
              <a:rPr lang="en-US" dirty="0"/>
              <a:t> que </a:t>
            </a:r>
            <a:r>
              <a:rPr lang="en-US" dirty="0" err="1">
                <a:solidFill>
                  <a:srgbClr val="FF0000"/>
                </a:solidFill>
              </a:rPr>
              <a:t>este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proceso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cálculo</a:t>
            </a:r>
            <a:r>
              <a:rPr lang="en-US" dirty="0">
                <a:solidFill>
                  <a:srgbClr val="FF0000"/>
                </a:solidFill>
              </a:rPr>
              <a:t> se </a:t>
            </a:r>
            <a:r>
              <a:rPr lang="en-US" dirty="0" err="1">
                <a:solidFill>
                  <a:srgbClr val="FF0000"/>
                </a:solidFill>
              </a:rPr>
              <a:t>repite</a:t>
            </a:r>
            <a:r>
              <a:rPr lang="en-US" dirty="0">
                <a:solidFill>
                  <a:srgbClr val="FF0000"/>
                </a:solidFill>
              </a:rPr>
              <a:t> para </a:t>
            </a:r>
            <a:r>
              <a:rPr lang="en-US" dirty="0" err="1">
                <a:solidFill>
                  <a:srgbClr val="FF0000"/>
                </a:solidFill>
              </a:rPr>
              <a:t>cada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objeto</a:t>
            </a:r>
            <a:r>
              <a:rPr lang="en-US" dirty="0">
                <a:solidFill>
                  <a:srgbClr val="FF0000"/>
                </a:solidFill>
              </a:rPr>
              <a:t> de la imagen</a:t>
            </a:r>
            <a:r>
              <a:rPr lang="en-US" dirty="0"/>
              <a:t>, y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objeto</a:t>
            </a:r>
            <a:r>
              <a:rPr lang="en-US" dirty="0"/>
              <a:t> se </a:t>
            </a:r>
            <a:r>
              <a:rPr lang="en-US" dirty="0" err="1"/>
              <a:t>asigna</a:t>
            </a:r>
            <a:r>
              <a:rPr lang="en-US" dirty="0"/>
              <a:t> a la </a:t>
            </a:r>
            <a:r>
              <a:rPr lang="en-US" dirty="0" err="1"/>
              <a:t>celda</a:t>
            </a:r>
            <a:r>
              <a:rPr lang="en-US" dirty="0"/>
              <a:t> de la </a:t>
            </a:r>
            <a:r>
              <a:rPr lang="en-US" dirty="0" err="1"/>
              <a:t>cuadrícula</a:t>
            </a:r>
            <a:r>
              <a:rPr lang="en-US" dirty="0"/>
              <a:t> </a:t>
            </a:r>
            <a:r>
              <a:rPr lang="en-US" dirty="0" err="1"/>
              <a:t>correspondiente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114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80406-DD18-D0F9-94C1-3DB13285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A37318A6-9096-0DF2-A7E9-407DD57612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E58A82-6612-62CE-5E7B-3E7B81858D3E}"/>
              </a:ext>
            </a:extLst>
          </p:cNvPr>
          <p:cNvSpPr txBox="1"/>
          <p:nvPr/>
        </p:nvSpPr>
        <p:spPr>
          <a:xfrm>
            <a:off x="418170" y="1671709"/>
            <a:ext cx="5447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 esencial reconocer que no todas las celdas de la cuadrícula tendrán un objeto; de hecho, </a:t>
            </a:r>
            <a:r>
              <a:rPr lang="es-ES" b="1" dirty="0"/>
              <a:t>muchas celdas de la cuadrícula pueden permanecer vacías.</a:t>
            </a:r>
          </a:p>
        </p:txBody>
      </p:sp>
      <p:pic>
        <p:nvPicPr>
          <p:cNvPr id="7" name="Imagen 2">
            <a:extLst>
              <a:ext uri="{FF2B5EF4-FFF2-40B4-BE49-F238E27FC236}">
                <a16:creationId xmlns:a16="http://schemas.microsoft.com/office/drawing/2014/main" id="{69F42150-0B47-42CC-C7C6-783FE98ED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584" y="1522053"/>
            <a:ext cx="5200650" cy="4238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74E5F5-E41F-4A9F-3522-771DADC54EB0}"/>
              </a:ext>
            </a:extLst>
          </p:cNvPr>
          <p:cNvSpPr/>
          <p:nvPr/>
        </p:nvSpPr>
        <p:spPr>
          <a:xfrm>
            <a:off x="9537700" y="2793999"/>
            <a:ext cx="478368" cy="45720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028FB3-1D28-EF3A-9DB7-F974DE26DFBE}"/>
              </a:ext>
            </a:extLst>
          </p:cNvPr>
          <p:cNvSpPr/>
          <p:nvPr/>
        </p:nvSpPr>
        <p:spPr>
          <a:xfrm>
            <a:off x="9537700" y="3310466"/>
            <a:ext cx="478368" cy="45720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73B6B6-31E9-3B9E-C26D-59F76E425FF1}"/>
              </a:ext>
            </a:extLst>
          </p:cNvPr>
          <p:cNvSpPr/>
          <p:nvPr/>
        </p:nvSpPr>
        <p:spPr>
          <a:xfrm>
            <a:off x="2175932" y="4483869"/>
            <a:ext cx="2291366" cy="995442"/>
          </a:xfrm>
          <a:prstGeom prst="rect">
            <a:avLst/>
          </a:prstGeom>
          <a:solidFill>
            <a:srgbClr val="92D050"/>
          </a:solidFill>
          <a:ln w="57150">
            <a:solidFill>
              <a:srgbClr val="92D05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06070C"/>
                </a:solidFill>
              </a:rPr>
              <a:t>Celdas que tienen elementos </a:t>
            </a:r>
            <a:endParaRPr lang="en-US" dirty="0">
              <a:solidFill>
                <a:srgbClr val="06070C"/>
              </a:solidFill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00E0D64-7B08-B4AD-BD22-EBBD17DEAD26}"/>
              </a:ext>
            </a:extLst>
          </p:cNvPr>
          <p:cNvCxnSpPr>
            <a:stCxn id="8" idx="1"/>
            <a:endCxn id="10" idx="0"/>
          </p:cNvCxnSpPr>
          <p:nvPr/>
        </p:nvCxnSpPr>
        <p:spPr>
          <a:xfrm rot="10800000" flipV="1">
            <a:off x="3321616" y="3022599"/>
            <a:ext cx="6216085" cy="1461269"/>
          </a:xfrm>
          <a:prstGeom prst="bentConnector2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B42866B-F72A-ED9D-6393-A2817FFE2D56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rot="10800000" flipV="1">
            <a:off x="4467298" y="3539066"/>
            <a:ext cx="5070402" cy="1442523"/>
          </a:xfrm>
          <a:prstGeom prst="bentConnector3">
            <a:avLst>
              <a:gd name="adj1" fmla="val 79777"/>
            </a:avLst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02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D193-78E0-E63D-9C74-297A40FB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A39E1D6-7F45-DE2C-61BE-DBD89C53EB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C927A6-649D-0998-8EC6-123F97F3D22B}"/>
              </a:ext>
            </a:extLst>
          </p:cNvPr>
          <p:cNvSpPr txBox="1"/>
          <p:nvPr/>
        </p:nvSpPr>
        <p:spPr>
          <a:xfrm>
            <a:off x="439435" y="1259783"/>
            <a:ext cx="5447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Suponiendo un problema de 20 clases.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La salida para una celda del modelo se representa como:</a:t>
            </a:r>
          </a:p>
        </p:txBody>
      </p:sp>
      <p:pic>
        <p:nvPicPr>
          <p:cNvPr id="7" name="Imagen 2">
            <a:extLst>
              <a:ext uri="{FF2B5EF4-FFF2-40B4-BE49-F238E27FC236}">
                <a16:creationId xmlns:a16="http://schemas.microsoft.com/office/drawing/2014/main" id="{5E60356F-0727-6A4F-6989-507F13152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584" y="1522053"/>
            <a:ext cx="5200650" cy="4238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D5E51D-DE9C-4EF4-D94E-65BF28E5D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7480" y="2739376"/>
            <a:ext cx="4480105" cy="505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A6AB64-D232-9464-EE41-9D2664947008}"/>
                  </a:ext>
                </a:extLst>
              </p:cNvPr>
              <p:cNvSpPr txBox="1"/>
              <p:nvPr/>
            </p:nvSpPr>
            <p:spPr>
              <a:xfrm>
                <a:off x="503274" y="3641365"/>
                <a:ext cx="544737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CL" dirty="0"/>
                  <a:t>Donde </a:t>
                </a:r>
                <a14:m>
                  <m:oMath xmlns:m="http://schemas.openxmlformats.org/officeDocument/2006/math">
                    <m:r>
                      <a:rPr lang="es-CL" b="1" i="1" smtClean="0">
                        <a:latin typeface="Cambria Math" panose="02040503050406030204" pitchFamily="18" charset="0"/>
                      </a:rPr>
                      <m:t>𝒄𝒐𝒏𝒇</m:t>
                    </m:r>
                  </m:oMath>
                </a14:m>
                <a:r>
                  <a:rPr lang="es-ES" dirty="0"/>
                  <a:t>representa la puntuación de confianza u objetividad, con </a:t>
                </a:r>
                <a14:m>
                  <m:oMath xmlns:m="http://schemas.openxmlformats.org/officeDocument/2006/math">
                    <m:r>
                      <a:rPr lang="es-C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𝑐𝑜𝑛𝑓</m:t>
                    </m:r>
                    <m:r>
                      <a:rPr lang="es-C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" dirty="0">
                    <a:solidFill>
                      <a:srgbClr val="FF0000"/>
                    </a:solidFill>
                  </a:rPr>
                  <a:t> asignado a cada celda de la cuadrícula que contiene un centro de objeto</a:t>
                </a:r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CL" i="1">
                        <a:latin typeface="Cambria Math" panose="02040503050406030204" pitchFamily="18" charset="0"/>
                      </a:rPr>
                      <m:t>𝑐𝑜𝑛𝑓</m:t>
                    </m:r>
                    <m:r>
                      <a:rPr lang="es-CL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dirty="0"/>
                  <a:t> si no. 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A6AB64-D232-9464-EE41-9D2664947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74" y="3641365"/>
                <a:ext cx="5447371" cy="1200329"/>
              </a:xfrm>
              <a:prstGeom prst="rect">
                <a:avLst/>
              </a:prstGeom>
              <a:blipFill>
                <a:blip r:embed="rId5"/>
                <a:stretch>
                  <a:fillRect l="-1008" t="-2538" r="-100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497AB5-4906-B34E-9ADD-0754A6AD6218}"/>
                  </a:ext>
                </a:extLst>
              </p:cNvPr>
              <p:cNvSpPr txBox="1"/>
              <p:nvPr/>
            </p:nvSpPr>
            <p:spPr>
              <a:xfrm>
                <a:off x="581247" y="5195777"/>
                <a:ext cx="5447371" cy="646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CL" dirty="0"/>
                  <a:t>Los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CL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representan</a:t>
                </a:r>
                <a:r>
                  <a:rPr lang="en-US" dirty="0"/>
                  <a:t> las </a:t>
                </a:r>
                <a:r>
                  <a:rPr lang="en-US" dirty="0" err="1"/>
                  <a:t>probabilidades</a:t>
                </a:r>
                <a:r>
                  <a:rPr lang="en-US" dirty="0"/>
                  <a:t> de las </a:t>
                </a:r>
                <a:r>
                  <a:rPr lang="en-US" dirty="0" err="1"/>
                  <a:t>clases</a:t>
                </a:r>
                <a:r>
                  <a:rPr lang="en-US" dirty="0"/>
                  <a:t> bajo la </a:t>
                </a:r>
                <a:r>
                  <a:rPr lang="en-US" dirty="0" err="1"/>
                  <a:t>codificación</a:t>
                </a:r>
                <a:r>
                  <a:rPr lang="en-US" dirty="0"/>
                  <a:t> one-hot encoding.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497AB5-4906-B34E-9ADD-0754A6AD6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47" y="5195777"/>
                <a:ext cx="5447371" cy="646587"/>
              </a:xfrm>
              <a:prstGeom prst="rect">
                <a:avLst/>
              </a:prstGeom>
              <a:blipFill>
                <a:blip r:embed="rId6"/>
                <a:stretch>
                  <a:fillRect l="-895" t="-4717" r="-100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50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EA85-1B59-A16F-53A7-164C06E8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6C6E32C-9776-0BFA-A377-D0B16C7B7F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pic>
        <p:nvPicPr>
          <p:cNvPr id="7" name="Imagen 2">
            <a:extLst>
              <a:ext uri="{FF2B5EF4-FFF2-40B4-BE49-F238E27FC236}">
                <a16:creationId xmlns:a16="http://schemas.microsoft.com/office/drawing/2014/main" id="{AF20633B-FA23-3B02-EAE1-F752524A9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26" y="2672317"/>
            <a:ext cx="4372028" cy="35632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8DD5C-30A9-DE70-831A-9D5C5BD1C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0" r="1133"/>
          <a:stretch>
            <a:fillRect/>
          </a:stretch>
        </p:blipFill>
        <p:spPr>
          <a:xfrm>
            <a:off x="5167047" y="2812729"/>
            <a:ext cx="6504254" cy="3625850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26999457-FC7C-4487-0E72-A343296CE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53" y="1141616"/>
            <a:ext cx="111216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dejamos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cuadrícula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dos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cuadros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delimitadores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tendría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un vector de 30 </a:t>
            </a:r>
            <a:r>
              <a:rPr lang="en-US" altLang="en-US" dirty="0" err="1">
                <a:latin typeface="Arial" panose="020B0604020202020204" pitchFamily="34" charset="0"/>
              </a:rPr>
              <a:t>elementos</a:t>
            </a:r>
            <a:r>
              <a:rPr lang="en-US" altLang="en-US" dirty="0">
                <a:latin typeface="Arial" panose="020B0604020202020204" pitchFamily="34" charset="0"/>
              </a:rPr>
              <a:t> a </a:t>
            </a:r>
            <a:r>
              <a:rPr lang="en-US" altLang="en-US" dirty="0" err="1">
                <a:latin typeface="Arial" panose="020B0604020202020204" pitchFamily="34" charset="0"/>
              </a:rPr>
              <a:t>predecir</a:t>
            </a:r>
            <a:r>
              <a:rPr lang="en-US" altLang="en-US" dirty="0">
                <a:latin typeface="Arial" panose="020B0604020202020204" pitchFamily="34" charset="0"/>
              </a:rPr>
              <a:t> para </a:t>
            </a:r>
            <a:r>
              <a:rPr lang="en-US" altLang="en-US" dirty="0" err="1">
                <a:latin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celda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Agrupando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todos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los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vectores</a:t>
            </a:r>
            <a:r>
              <a:rPr lang="en-US" altLang="en-US" dirty="0">
                <a:latin typeface="Arial" panose="020B0604020202020204" pitchFamily="34" charset="0"/>
              </a:rPr>
              <a:t>, se </a:t>
            </a:r>
            <a:r>
              <a:rPr lang="en-US" altLang="en-US" dirty="0" err="1">
                <a:latin typeface="Arial" panose="020B0604020202020204" pitchFamily="34" charset="0"/>
              </a:rPr>
              <a:t>puede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generar</a:t>
            </a:r>
            <a:r>
              <a:rPr lang="en-US" altLang="en-US" dirty="0">
                <a:latin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</a:rPr>
              <a:t>cubo</a:t>
            </a:r>
            <a:r>
              <a:rPr lang="en-US" altLang="en-US" dirty="0">
                <a:latin typeface="Arial" panose="020B0604020202020204" pitchFamily="34" charset="0"/>
              </a:rPr>
              <a:t> de la </a:t>
            </a:r>
            <a:r>
              <a:rPr lang="en-US" altLang="en-US" dirty="0" err="1">
                <a:latin typeface="Arial" panose="020B0604020202020204" pitchFamily="34" charset="0"/>
              </a:rPr>
              <a:t>siguiente</a:t>
            </a:r>
            <a:r>
              <a:rPr lang="en-US" altLang="en-US" dirty="0">
                <a:latin typeface="Arial" panose="020B0604020202020204" pitchFamily="34" charset="0"/>
              </a:rPr>
              <a:t> forma: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10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FA5444-1C49-C1E8-000D-CFF60824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C7D4FBB-0396-DC31-72E3-13741829CC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pic>
        <p:nvPicPr>
          <p:cNvPr id="7" name="Imagen 2">
            <a:extLst>
              <a:ext uri="{FF2B5EF4-FFF2-40B4-BE49-F238E27FC236}">
                <a16:creationId xmlns:a16="http://schemas.microsoft.com/office/drawing/2014/main" id="{D9A89DF1-2954-806D-71F3-FBD26EB1F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26" y="2672317"/>
            <a:ext cx="4372028" cy="35632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2FFC45-301A-6887-4F2A-118ACF0BC9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97984" y="3023846"/>
            <a:ext cx="6791161" cy="32117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CE262F-9767-DFD2-009C-3EB9B6AED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759" y="6317865"/>
            <a:ext cx="1606102" cy="3700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DB775C-9647-F799-3A0B-F6FD5574C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31" y="6317865"/>
            <a:ext cx="1606102" cy="3700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321494-6577-4399-D228-A3AE792A0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502" y="6317865"/>
            <a:ext cx="1812847" cy="339908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F88C468A-03ED-9FB9-219E-4DB30871D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53" y="1141616"/>
            <a:ext cx="111216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dejamos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cuadrícula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dos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cuadros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delimitadores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tendría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un vector de 30 </a:t>
            </a:r>
            <a:r>
              <a:rPr lang="en-US" altLang="en-US" dirty="0" err="1">
                <a:latin typeface="Arial" panose="020B0604020202020204" pitchFamily="34" charset="0"/>
              </a:rPr>
              <a:t>elementos</a:t>
            </a:r>
            <a:r>
              <a:rPr lang="en-US" altLang="en-US" dirty="0">
                <a:latin typeface="Arial" panose="020B0604020202020204" pitchFamily="34" charset="0"/>
              </a:rPr>
              <a:t> a </a:t>
            </a:r>
            <a:r>
              <a:rPr lang="en-US" altLang="en-US" dirty="0" err="1">
                <a:latin typeface="Arial" panose="020B0604020202020204" pitchFamily="34" charset="0"/>
              </a:rPr>
              <a:t>predecir</a:t>
            </a:r>
            <a:r>
              <a:rPr lang="en-US" altLang="en-US" dirty="0">
                <a:latin typeface="Arial" panose="020B0604020202020204" pitchFamily="34" charset="0"/>
              </a:rPr>
              <a:t> para </a:t>
            </a:r>
            <a:r>
              <a:rPr lang="en-US" altLang="en-US" dirty="0" err="1">
                <a:latin typeface="Arial" panose="020B0604020202020204" pitchFamily="34" charset="0"/>
              </a:rPr>
              <a:t>una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celda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Agrupando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todos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los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vectores</a:t>
            </a:r>
            <a:r>
              <a:rPr lang="en-US" altLang="en-US" dirty="0">
                <a:latin typeface="Arial" panose="020B0604020202020204" pitchFamily="34" charset="0"/>
              </a:rPr>
              <a:t>, se </a:t>
            </a:r>
            <a:r>
              <a:rPr lang="en-US" altLang="en-US" dirty="0" err="1">
                <a:latin typeface="Arial" panose="020B0604020202020204" pitchFamily="34" charset="0"/>
              </a:rPr>
              <a:t>puede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generar</a:t>
            </a:r>
            <a:r>
              <a:rPr lang="en-US" altLang="en-US" dirty="0">
                <a:latin typeface="Arial" panose="020B0604020202020204" pitchFamily="34" charset="0"/>
              </a:rPr>
              <a:t> un </a:t>
            </a:r>
            <a:r>
              <a:rPr lang="en-US" altLang="en-US" dirty="0" err="1">
                <a:latin typeface="Arial" panose="020B0604020202020204" pitchFamily="34" charset="0"/>
              </a:rPr>
              <a:t>cubo</a:t>
            </a:r>
            <a:r>
              <a:rPr lang="en-US" altLang="en-US" dirty="0">
                <a:latin typeface="Arial" panose="020B0604020202020204" pitchFamily="34" charset="0"/>
              </a:rPr>
              <a:t> de la </a:t>
            </a:r>
            <a:r>
              <a:rPr lang="en-US" altLang="en-US" dirty="0" err="1">
                <a:latin typeface="Arial" panose="020B0604020202020204" pitchFamily="34" charset="0"/>
              </a:rPr>
              <a:t>siguiente</a:t>
            </a:r>
            <a:r>
              <a:rPr lang="en-US" altLang="en-US" dirty="0">
                <a:latin typeface="Arial" panose="020B0604020202020204" pitchFamily="34" charset="0"/>
              </a:rPr>
              <a:t> forma: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13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B894-742D-F2E7-89FB-27390609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0A46ACC-C9EB-58B0-24DB-5BC248752E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Proceso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40EF3E2D-CFBF-F887-A076-8464DEE3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27" y="1104352"/>
            <a:ext cx="111216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n-US" dirty="0">
                <a:latin typeface="Arial" panose="020B0604020202020204" pitchFamily="34" charset="0"/>
              </a:rPr>
              <a:t>Cuando recibimos predicciones para dos recuadros delimitadores dentro de una celda de la cuadrícula, </a:t>
            </a:r>
            <a:r>
              <a:rPr lang="es-ES" altLang="en-US" b="1" dirty="0">
                <a:latin typeface="Arial" panose="020B0604020202020204" pitchFamily="34" charset="0"/>
              </a:rPr>
              <a:t>tomamos la decisión de conservar sólo uno de ellos</a:t>
            </a:r>
            <a:r>
              <a:rPr lang="es-ES" altLang="en-US" dirty="0">
                <a:latin typeface="Arial" panose="020B0604020202020204" pitchFamily="34" charset="0"/>
              </a:rPr>
              <a:t>. En concreto, </a:t>
            </a:r>
            <a:r>
              <a:rPr lang="es-E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elegimos conservar el cuadro delimitador con la puntuación de confianza más alta.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diagram of a dog and a bicycle&#10;&#10;AI-generated content may be incorrect.">
            <a:extLst>
              <a:ext uri="{FF2B5EF4-FFF2-40B4-BE49-F238E27FC236}">
                <a16:creationId xmlns:a16="http://schemas.microsoft.com/office/drawing/2014/main" id="{8B16FC50-5CE0-4430-B753-64D843932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5" t="17674" r="3257"/>
          <a:stretch>
            <a:fillRect/>
          </a:stretch>
        </p:blipFill>
        <p:spPr>
          <a:xfrm>
            <a:off x="1993850" y="2247013"/>
            <a:ext cx="7227470" cy="45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8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43E74-7A2F-60D0-2422-8E92E53F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62D9BCCB-BD57-63BC-DB58-4A89AC8059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3967209" cy="391824"/>
          </a:xfrm>
        </p:spPr>
        <p:txBody>
          <a:bodyPr/>
          <a:lstStyle/>
          <a:p>
            <a:r>
              <a:rPr lang="es-CL" dirty="0"/>
              <a:t>YOLOv1: Arquitectura</a:t>
            </a:r>
          </a:p>
        </p:txBody>
      </p:sp>
      <p:pic>
        <p:nvPicPr>
          <p:cNvPr id="6" name="Imagen 5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C5914ECC-9EBD-D006-8075-7CF9E811F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5" t="21864" r="17624"/>
          <a:stretch>
            <a:fillRect/>
          </a:stretch>
        </p:blipFill>
        <p:spPr>
          <a:xfrm>
            <a:off x="119562" y="1041421"/>
            <a:ext cx="7408289" cy="37007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29F811-51D5-CC67-48D5-CFC8D285B468}"/>
              </a:ext>
            </a:extLst>
          </p:cNvPr>
          <p:cNvSpPr/>
          <p:nvPr/>
        </p:nvSpPr>
        <p:spPr>
          <a:xfrm>
            <a:off x="7081284" y="3558363"/>
            <a:ext cx="446567" cy="347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F4838-9BC1-2D5B-DC88-FFBA74B0B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971" y="4898658"/>
            <a:ext cx="6989082" cy="1835842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D5FC754-10CA-AD1D-6AAC-DE24115E646D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H="1">
            <a:off x="4649971" y="2891814"/>
            <a:ext cx="2877880" cy="2924765"/>
          </a:xfrm>
          <a:prstGeom prst="bentConnector5">
            <a:avLst>
              <a:gd name="adj1" fmla="val -7943"/>
              <a:gd name="adj2" fmla="val 65941"/>
              <a:gd name="adj3" fmla="val 107943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910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F573-77DE-EC80-21EF-8E420BD0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22AC0EC-267C-6C8E-1E2D-E42E8EA7AD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214080" cy="391824"/>
          </a:xfrm>
        </p:spPr>
        <p:txBody>
          <a:bodyPr/>
          <a:lstStyle/>
          <a:p>
            <a:r>
              <a:rPr lang="es-CL" dirty="0"/>
              <a:t>YOLOv1: Función de pérdida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8762C-146A-2AA8-8E59-7D4A07AA3C9E}"/>
              </a:ext>
            </a:extLst>
          </p:cNvPr>
          <p:cNvSpPr txBox="1"/>
          <p:nvPr/>
        </p:nvSpPr>
        <p:spPr>
          <a:xfrm>
            <a:off x="453655" y="1503102"/>
            <a:ext cx="8676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La perdida total es la suma de la pérdida que genera cada celda, es decir,</a:t>
            </a:r>
          </a:p>
          <a:p>
            <a:r>
              <a:rPr lang="en-US" dirty="0" err="1"/>
              <a:t>en</a:t>
            </a:r>
            <a:r>
              <a:rPr lang="en-US" dirty="0"/>
              <a:t> que </a:t>
            </a:r>
            <a:r>
              <a:rPr lang="en-US" dirty="0" err="1"/>
              <a:t>puede</a:t>
            </a:r>
            <a:r>
              <a:rPr lang="en-US" dirty="0"/>
              <a:t> ser </a:t>
            </a:r>
            <a:r>
              <a:rPr lang="en-US" dirty="0" err="1"/>
              <a:t>descompuesta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,</a:t>
            </a:r>
            <a:endParaRPr lang="es-C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A49B3-4236-AFA9-2C1B-C1D96CD30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417" y="1300499"/>
            <a:ext cx="961029" cy="784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52D06C-65F9-ED8F-4B42-AF99B9102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923" y="2855004"/>
            <a:ext cx="8021451" cy="249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12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9781-A6BF-3684-A989-AAEC9A3A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4E662F02-A1AC-86C3-5ED8-3128D9E4A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214080" cy="391824"/>
          </a:xfrm>
        </p:spPr>
        <p:txBody>
          <a:bodyPr/>
          <a:lstStyle/>
          <a:p>
            <a:r>
              <a:rPr lang="es-CL" dirty="0"/>
              <a:t>YOLOv1: Función de pérdida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B60D8-F98C-EBF5-5B26-358A92AB5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97" y="1381028"/>
            <a:ext cx="5512083" cy="863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675CD0-6B65-F66E-170E-2A1C548B5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958" y="2984577"/>
            <a:ext cx="8172870" cy="95254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836983-6ACE-4303-9F0B-ABE711969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213" y="4281903"/>
            <a:ext cx="3219615" cy="71123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421B49-B04B-CA91-B30F-5C13AC7B0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620" y="5335577"/>
            <a:ext cx="3067208" cy="1009702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64ACFF-8349-6443-B2D5-5162D9AB81E5}"/>
                  </a:ext>
                </a:extLst>
              </p:cNvPr>
              <p:cNvSpPr txBox="1"/>
              <p:nvPr/>
            </p:nvSpPr>
            <p:spPr>
              <a:xfrm>
                <a:off x="511697" y="5786582"/>
                <a:ext cx="5925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Donde,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representa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</a:t>
                </a:r>
                <a:r>
                  <a:rPr lang="en-US" dirty="0" err="1"/>
                  <a:t>predicho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64ACFF-8349-6443-B2D5-5162D9AB8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97" y="5786582"/>
                <a:ext cx="5925879" cy="369332"/>
              </a:xfrm>
              <a:prstGeom prst="rect">
                <a:avLst/>
              </a:prstGeom>
              <a:blipFill>
                <a:blip r:embed="rId7"/>
                <a:stretch>
                  <a:fillRect l="-9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93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7F370-F3B6-AEF9-00B9-A17B01E5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C2C961DF-B769-3999-6883-DAC5993027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214080" cy="391824"/>
          </a:xfrm>
        </p:spPr>
        <p:txBody>
          <a:bodyPr/>
          <a:lstStyle/>
          <a:p>
            <a:r>
              <a:rPr lang="es-CL" dirty="0"/>
              <a:t>YOLOv1: Función de pérdida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D75C2-76BF-B899-BA95-9DC1709A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97" y="1381028"/>
            <a:ext cx="5512083" cy="863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7ECB5D-D07F-07D7-0B8F-0D0B4F252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693" y="2425880"/>
            <a:ext cx="8172870" cy="95254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B03DEB-7107-EBB8-5737-E49C27F37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572" y="3745112"/>
            <a:ext cx="3219615" cy="71123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594222-8DB1-E92E-2D1D-D8DD70A204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4355" y="3595879"/>
            <a:ext cx="3067208" cy="1009702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27206B-BE41-7596-AC17-B399D4B5C372}"/>
                  </a:ext>
                </a:extLst>
              </p:cNvPr>
              <p:cNvSpPr txBox="1"/>
              <p:nvPr/>
            </p:nvSpPr>
            <p:spPr>
              <a:xfrm>
                <a:off x="511697" y="6353652"/>
                <a:ext cx="5925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Donde,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representa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</a:t>
                </a:r>
                <a:r>
                  <a:rPr lang="en-US" dirty="0" err="1"/>
                  <a:t>predicho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27206B-BE41-7596-AC17-B399D4B5C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97" y="6353652"/>
                <a:ext cx="5925879" cy="369332"/>
              </a:xfrm>
              <a:prstGeom prst="rect">
                <a:avLst/>
              </a:prstGeom>
              <a:blipFill>
                <a:blip r:embed="rId7"/>
                <a:stretch>
                  <a:fillRect l="-9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A62E271-BDB4-D7F2-0019-7CC2EE2A41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697" y="5090114"/>
            <a:ext cx="4599776" cy="77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93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B81E-89C3-A318-2158-CBC90443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4BD97-C6B6-2712-FDD1-C55CE96AA2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YOLO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5CB67D-873A-565D-CB68-EB0DF07D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357" y="1169510"/>
            <a:ext cx="9360665" cy="4953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37F67-702F-B1E4-C041-C06981A07C36}"/>
              </a:ext>
            </a:extLst>
          </p:cNvPr>
          <p:cNvSpPr txBox="1"/>
          <p:nvPr/>
        </p:nvSpPr>
        <p:spPr>
          <a:xfrm>
            <a:off x="1685580" y="6427113"/>
            <a:ext cx="10168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 err="1"/>
              <a:t>Andréanne</a:t>
            </a:r>
            <a:r>
              <a:rPr lang="es-CL" sz="1100" dirty="0"/>
              <a:t> </a:t>
            </a:r>
            <a:r>
              <a:rPr lang="es-CL" sz="1100" dirty="0" err="1"/>
              <a:t>Lemay</a:t>
            </a:r>
            <a:r>
              <a:rPr lang="es-CL" sz="1100" dirty="0"/>
              <a:t>, </a:t>
            </a:r>
            <a:r>
              <a:rPr lang="en-US" sz="1100" dirty="0"/>
              <a:t>Kidney Recognition in CT Using YOLOv3. </a:t>
            </a:r>
            <a:r>
              <a:rPr lang="en-US" sz="1100" dirty="0" err="1"/>
              <a:t>doi</a:t>
            </a:r>
            <a:r>
              <a:rPr lang="en-US" sz="1100" dirty="0"/>
              <a:t>: </a:t>
            </a:r>
            <a:r>
              <a:rPr lang="en-US" sz="1100" dirty="0">
                <a:hlinkClick r:id="rId4"/>
              </a:rPr>
              <a:t>https://doi.org/10.48550/arXiv.1910.01268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52934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6806-1770-3E27-EF1B-E9806A7F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58B67-D78C-B5AD-85FD-86A6A2BA8C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YOLO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93B93C-1F06-A7E6-DF2B-7760744FD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9635" y="992661"/>
            <a:ext cx="6173300" cy="5130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97EE8C-C95B-4DC5-FAEC-7CE94DCFB963}"/>
              </a:ext>
            </a:extLst>
          </p:cNvPr>
          <p:cNvSpPr txBox="1"/>
          <p:nvPr/>
        </p:nvSpPr>
        <p:spPr>
          <a:xfrm>
            <a:off x="1685580" y="6427113"/>
            <a:ext cx="10168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Lawal, M.O. Tomato detection based on modified YOLOv3 framework. Sci Rep 11, 1447 (2021). </a:t>
            </a:r>
            <a:r>
              <a:rPr lang="en-US" sz="1100" dirty="0">
                <a:hlinkClick r:id="rId4"/>
              </a:rPr>
              <a:t>https://doi.org/10.1038/s41598-021-81216-5</a:t>
            </a:r>
            <a:endParaRPr lang="en-US" sz="11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D35E7DC-C016-F366-8A64-F0141367CD05}"/>
              </a:ext>
            </a:extLst>
          </p:cNvPr>
          <p:cNvSpPr txBox="1"/>
          <p:nvPr/>
        </p:nvSpPr>
        <p:spPr>
          <a:xfrm>
            <a:off x="10322805" y="5279742"/>
            <a:ext cx="1531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Agricultura de precisión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98727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B0B8-85F9-2025-86F2-01F73C0C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EE4F1-CBF0-6282-5359-6106427FA8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YOLO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294F-8A57-4F83-E46C-A47DE58C40D6}"/>
              </a:ext>
            </a:extLst>
          </p:cNvPr>
          <p:cNvSpPr txBox="1"/>
          <p:nvPr/>
        </p:nvSpPr>
        <p:spPr>
          <a:xfrm>
            <a:off x="1685580" y="6427113"/>
            <a:ext cx="101685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Ahmed I, Ahmad M, Rodrigues JJPC, Jeon G, Din S. A deep learning-based social distance monitoring framework for COVID-19. Sustain Cities Soc. 2021 Feb;65:102571. </a:t>
            </a:r>
            <a:r>
              <a:rPr lang="en-US" sz="1100" dirty="0" err="1"/>
              <a:t>doi</a:t>
            </a:r>
            <a:r>
              <a:rPr lang="en-US" sz="1100" dirty="0"/>
              <a:t>: </a:t>
            </a:r>
            <a:r>
              <a:rPr lang="en-US" sz="1100" dirty="0">
                <a:hlinkClick r:id="rId3"/>
              </a:rPr>
              <a:t>10.1016/j.scs.2020.102571</a:t>
            </a:r>
            <a:r>
              <a:rPr lang="en-US" sz="1100" dirty="0"/>
              <a:t>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1929F1E-0A20-63D5-ECA3-88C76AC84EC0}"/>
              </a:ext>
            </a:extLst>
          </p:cNvPr>
          <p:cNvSpPr txBox="1"/>
          <p:nvPr/>
        </p:nvSpPr>
        <p:spPr>
          <a:xfrm>
            <a:off x="9397388" y="5868567"/>
            <a:ext cx="255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Sistemas de vigilancia</a:t>
            </a:r>
            <a:endParaRPr lang="es-CL" dirty="0"/>
          </a:p>
        </p:txBody>
      </p:sp>
      <p:pic>
        <p:nvPicPr>
          <p:cNvPr id="11" name="Imagen 10" descr="Una persona con un celular en la mano junto a una ventana&#10;&#10;El contenido generado por IA puede ser incorrecto.">
            <a:extLst>
              <a:ext uri="{FF2B5EF4-FFF2-40B4-BE49-F238E27FC236}">
                <a16:creationId xmlns:a16="http://schemas.microsoft.com/office/drawing/2014/main" id="{9AB22BDC-0231-9D8B-E4DB-AC1D64724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44" y="1178646"/>
            <a:ext cx="8216302" cy="450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00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BE12-692F-2517-F257-AC5BF84FD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Ventajas</a:t>
            </a:r>
            <a:endParaRPr lang="en-US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0BBFFDA-2E1C-622C-24C7-CC7865FB05F0}"/>
              </a:ext>
            </a:extLst>
          </p:cNvPr>
          <p:cNvGrpSpPr>
            <a:grpSpLocks noChangeAspect="1"/>
          </p:cNvGrpSpPr>
          <p:nvPr/>
        </p:nvGrpSpPr>
        <p:grpSpPr>
          <a:xfrm>
            <a:off x="647876" y="2432704"/>
            <a:ext cx="10565939" cy="2716955"/>
            <a:chOff x="879230" y="2824529"/>
            <a:chExt cx="7385539" cy="1899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46EBE6-C07E-838A-78B4-1BCEB547B557}"/>
                </a:ext>
              </a:extLst>
            </p:cNvPr>
            <p:cNvGrpSpPr/>
            <p:nvPr/>
          </p:nvGrpSpPr>
          <p:grpSpPr>
            <a:xfrm>
              <a:off x="879230" y="2824529"/>
              <a:ext cx="1688123" cy="1793630"/>
              <a:chOff x="422030" y="1160584"/>
              <a:chExt cx="1688123" cy="1793630"/>
            </a:xfrm>
          </p:grpSpPr>
          <p:sp>
            <p:nvSpPr>
              <p:cNvPr id="22" name="Rounded Rectangle 1">
                <a:extLst>
                  <a:ext uri="{FF2B5EF4-FFF2-40B4-BE49-F238E27FC236}">
                    <a16:creationId xmlns:a16="http://schemas.microsoft.com/office/drawing/2014/main" id="{7C93AF94-2BC1-F94C-5874-DA3E08F6DFF4}"/>
                  </a:ext>
                </a:extLst>
              </p:cNvPr>
              <p:cNvSpPr/>
              <p:nvPr/>
            </p:nvSpPr>
            <p:spPr>
              <a:xfrm>
                <a:off x="422030" y="1160584"/>
                <a:ext cx="1688123" cy="1793630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793630">
                    <a:moveTo>
                      <a:pt x="1688123" y="422030"/>
                    </a:moveTo>
                    <a:lnTo>
                      <a:pt x="0" y="422030"/>
                    </a:lnTo>
                    <a:cubicBezTo>
                      <a:pt x="0" y="188949"/>
                      <a:pt x="0" y="0"/>
                      <a:pt x="0" y="0"/>
                    </a:cubicBezTo>
                    <a:lnTo>
                      <a:pt x="1688123" y="0"/>
                    </a:lnTo>
                    <a:close/>
                    <a:moveTo>
                      <a:pt x="0" y="1371600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1371600"/>
                    </a:lnTo>
                    <a:close/>
                    <a:moveTo>
                      <a:pt x="1688123" y="1371600"/>
                    </a:moveTo>
                    <a:cubicBezTo>
                      <a:pt x="1688123" y="1661746"/>
                      <a:pt x="1626576" y="1740876"/>
                      <a:pt x="1626576" y="1740876"/>
                    </a:cubicBezTo>
                    <a:cubicBezTo>
                      <a:pt x="1406769" y="1793630"/>
                      <a:pt x="1166906" y="1793630"/>
                      <a:pt x="941374" y="1793630"/>
                    </a:cubicBezTo>
                    <a:lnTo>
                      <a:pt x="0" y="179363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">
                <a:extLst>
                  <a:ext uri="{FF2B5EF4-FFF2-40B4-BE49-F238E27FC236}">
                    <a16:creationId xmlns:a16="http://schemas.microsoft.com/office/drawing/2014/main" id="{769C49F9-75D2-ADA7-A89D-D5823C879E85}"/>
                  </a:ext>
                </a:extLst>
              </p:cNvPr>
              <p:cNvSpPr/>
              <p:nvPr/>
            </p:nvSpPr>
            <p:spPr>
              <a:xfrm>
                <a:off x="422030" y="1160584"/>
                <a:ext cx="1688123" cy="1793630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793630">
                    <a:moveTo>
                      <a:pt x="0" y="422029"/>
                    </a:moveTo>
                    <a:lnTo>
                      <a:pt x="0" y="0"/>
                    </a:lnTo>
                    <a:lnTo>
                      <a:pt x="1688123" y="0"/>
                    </a:lnTo>
                    <a:lnTo>
                      <a:pt x="1688123" y="422030"/>
                    </a:lnTo>
                    <a:moveTo>
                      <a:pt x="1688123" y="1371600"/>
                    </a:moveTo>
                    <a:lnTo>
                      <a:pt x="1688123" y="422030"/>
                    </a:lnTo>
                    <a:moveTo>
                      <a:pt x="0" y="1371600"/>
                    </a:moveTo>
                    <a:lnTo>
                      <a:pt x="0" y="422030"/>
                    </a:lnTo>
                    <a:moveTo>
                      <a:pt x="1688123" y="1371600"/>
                    </a:moveTo>
                    <a:cubicBezTo>
                      <a:pt x="1688123" y="1661746"/>
                      <a:pt x="1626576" y="1740876"/>
                      <a:pt x="1626576" y="1740876"/>
                    </a:cubicBezTo>
                    <a:cubicBezTo>
                      <a:pt x="1406769" y="1793630"/>
                      <a:pt x="1166907" y="1793630"/>
                      <a:pt x="941377" y="1793630"/>
                    </a:cubicBezTo>
                    <a:lnTo>
                      <a:pt x="0" y="1793630"/>
                    </a:lnTo>
                    <a:lnTo>
                      <a:pt x="0" y="1371600"/>
                    </a:ln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E2CD6C7E-CD5E-CCCC-0D8F-BDBD625727E9}"/>
                </a:ext>
              </a:extLst>
            </p:cNvPr>
            <p:cNvGrpSpPr/>
            <p:nvPr/>
          </p:nvGrpSpPr>
          <p:grpSpPr>
            <a:xfrm>
              <a:off x="2778369" y="2930037"/>
              <a:ext cx="1688123" cy="1793630"/>
              <a:chOff x="2321169" y="1266092"/>
              <a:chExt cx="1688123" cy="1793630"/>
            </a:xfrm>
          </p:grpSpPr>
          <p:sp>
            <p:nvSpPr>
              <p:cNvPr id="20" name="Rounded Rectangle 4">
                <a:extLst>
                  <a:ext uri="{FF2B5EF4-FFF2-40B4-BE49-F238E27FC236}">
                    <a16:creationId xmlns:a16="http://schemas.microsoft.com/office/drawing/2014/main" id="{BE44B0FB-5674-E232-054F-5CE8BDE24820}"/>
                  </a:ext>
                </a:extLst>
              </p:cNvPr>
              <p:cNvSpPr/>
              <p:nvPr/>
            </p:nvSpPr>
            <p:spPr>
              <a:xfrm>
                <a:off x="2321169" y="1266092"/>
                <a:ext cx="1688123" cy="1793630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793630">
                    <a:moveTo>
                      <a:pt x="1688123" y="422030"/>
                    </a:moveTo>
                    <a:lnTo>
                      <a:pt x="0" y="422030"/>
                    </a:lnTo>
                    <a:cubicBezTo>
                      <a:pt x="0" y="188949"/>
                      <a:pt x="0" y="0"/>
                      <a:pt x="0" y="0"/>
                    </a:cubicBezTo>
                    <a:lnTo>
                      <a:pt x="1688123" y="0"/>
                    </a:lnTo>
                    <a:close/>
                    <a:moveTo>
                      <a:pt x="0" y="1371600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1371600"/>
                    </a:lnTo>
                    <a:close/>
                    <a:moveTo>
                      <a:pt x="1688123" y="1371600"/>
                    </a:moveTo>
                    <a:lnTo>
                      <a:pt x="1688123" y="1793630"/>
                    </a:lnTo>
                    <a:lnTo>
                      <a:pt x="479180" y="1793630"/>
                    </a:lnTo>
                    <a:cubicBezTo>
                      <a:pt x="389199" y="1793630"/>
                      <a:pt x="231795" y="1788071"/>
                      <a:pt x="167053" y="1740876"/>
                    </a:cubicBezTo>
                    <a:lnTo>
                      <a:pt x="65942" y="1657350"/>
                    </a:lnTo>
                    <a:cubicBezTo>
                      <a:pt x="35169" y="1626576"/>
                      <a:pt x="6902" y="1590604"/>
                      <a:pt x="3965" y="1528231"/>
                    </a:cubicBezTo>
                    <a:cubicBezTo>
                      <a:pt x="1886" y="1484094"/>
                      <a:pt x="0" y="1433381"/>
                      <a:pt x="0" y="1394729"/>
                    </a:cubicBez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5">
                <a:extLst>
                  <a:ext uri="{FF2B5EF4-FFF2-40B4-BE49-F238E27FC236}">
                    <a16:creationId xmlns:a16="http://schemas.microsoft.com/office/drawing/2014/main" id="{21130B14-2B60-4ADE-9DB6-0CA15906E71D}"/>
                  </a:ext>
                </a:extLst>
              </p:cNvPr>
              <p:cNvSpPr/>
              <p:nvPr/>
            </p:nvSpPr>
            <p:spPr>
              <a:xfrm>
                <a:off x="2321169" y="1266092"/>
                <a:ext cx="1688123" cy="1793630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793630">
                    <a:moveTo>
                      <a:pt x="0" y="422029"/>
                    </a:moveTo>
                    <a:lnTo>
                      <a:pt x="0" y="0"/>
                    </a:lnTo>
                    <a:lnTo>
                      <a:pt x="1688123" y="0"/>
                    </a:lnTo>
                    <a:lnTo>
                      <a:pt x="1688123" y="422030"/>
                    </a:lnTo>
                    <a:moveTo>
                      <a:pt x="1688123" y="1371600"/>
                    </a:moveTo>
                    <a:lnTo>
                      <a:pt x="1688123" y="422030"/>
                    </a:lnTo>
                    <a:moveTo>
                      <a:pt x="0" y="1371600"/>
                    </a:moveTo>
                    <a:lnTo>
                      <a:pt x="0" y="422030"/>
                    </a:lnTo>
                    <a:moveTo>
                      <a:pt x="1688123" y="1371600"/>
                    </a:moveTo>
                    <a:lnTo>
                      <a:pt x="1688123" y="1793630"/>
                    </a:lnTo>
                    <a:lnTo>
                      <a:pt x="479180" y="1793630"/>
                    </a:lnTo>
                    <a:cubicBezTo>
                      <a:pt x="389199" y="1793630"/>
                      <a:pt x="231795" y="1788071"/>
                      <a:pt x="167053" y="1740876"/>
                    </a:cubicBezTo>
                    <a:lnTo>
                      <a:pt x="65942" y="1657350"/>
                    </a:lnTo>
                    <a:cubicBezTo>
                      <a:pt x="35169" y="1626576"/>
                      <a:pt x="6902" y="1590604"/>
                      <a:pt x="3965" y="1528231"/>
                    </a:cubicBezTo>
                    <a:cubicBezTo>
                      <a:pt x="1886" y="1484094"/>
                      <a:pt x="0" y="1433381"/>
                      <a:pt x="0" y="1394729"/>
                    </a:cubicBezTo>
                    <a:lnTo>
                      <a:pt x="0" y="1371600"/>
                    </a:lnTo>
                    <a:moveTo>
                      <a:pt x="4396" y="1538653"/>
                    </a:moveTo>
                    <a:cubicBezTo>
                      <a:pt x="17584" y="1652953"/>
                      <a:pt x="153865" y="1639765"/>
                      <a:pt x="153865" y="1639765"/>
                    </a:cubicBezTo>
                    <a:cubicBezTo>
                      <a:pt x="184638" y="1718896"/>
                      <a:pt x="206619" y="1767253"/>
                      <a:pt x="320919" y="1784838"/>
                    </a:cubicBez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29C98BB0-A70F-9201-9B8A-D06A6EC09A42}"/>
                </a:ext>
              </a:extLst>
            </p:cNvPr>
            <p:cNvGrpSpPr/>
            <p:nvPr/>
          </p:nvGrpSpPr>
          <p:grpSpPr>
            <a:xfrm>
              <a:off x="4677507" y="2824529"/>
              <a:ext cx="1688123" cy="1477107"/>
              <a:chOff x="4220307" y="1160584"/>
              <a:chExt cx="1688123" cy="1477107"/>
            </a:xfrm>
          </p:grpSpPr>
          <p:sp>
            <p:nvSpPr>
              <p:cNvPr id="18" name="Rounded Rectangle 7">
                <a:extLst>
                  <a:ext uri="{FF2B5EF4-FFF2-40B4-BE49-F238E27FC236}">
                    <a16:creationId xmlns:a16="http://schemas.microsoft.com/office/drawing/2014/main" id="{5B6ECFB1-1FE8-21CF-DD42-F5EBF85E57A5}"/>
                  </a:ext>
                </a:extLst>
              </p:cNvPr>
              <p:cNvSpPr/>
              <p:nvPr/>
            </p:nvSpPr>
            <p:spPr>
              <a:xfrm>
                <a:off x="4220307" y="1160584"/>
                <a:ext cx="1688123" cy="1477107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477107">
                    <a:moveTo>
                      <a:pt x="0" y="1055076"/>
                    </a:moveTo>
                    <a:lnTo>
                      <a:pt x="1688123" y="1055077"/>
                    </a:lnTo>
                    <a:cubicBezTo>
                      <a:pt x="1688123" y="1288158"/>
                      <a:pt x="1688123" y="1477107"/>
                      <a:pt x="1688123" y="1477107"/>
                    </a:cubicBezTo>
                    <a:lnTo>
                      <a:pt x="0" y="1477107"/>
                    </a:lnTo>
                    <a:close/>
                    <a:moveTo>
                      <a:pt x="0" y="1055076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1055076"/>
                    </a:lnTo>
                    <a:close/>
                    <a:moveTo>
                      <a:pt x="0" y="422030"/>
                    </a:moveTo>
                    <a:lnTo>
                      <a:pt x="0" y="187885"/>
                    </a:lnTo>
                    <a:cubicBezTo>
                      <a:pt x="0" y="139471"/>
                      <a:pt x="32950" y="97270"/>
                      <a:pt x="79918" y="85528"/>
                    </a:cubicBezTo>
                    <a:lnTo>
                      <a:pt x="107011" y="78754"/>
                    </a:lnTo>
                    <a:cubicBezTo>
                      <a:pt x="316234" y="26449"/>
                      <a:pt x="531083" y="0"/>
                      <a:pt x="746745" y="0"/>
                    </a:cubicBezTo>
                    <a:lnTo>
                      <a:pt x="1688123" y="0"/>
                    </a:lnTo>
                    <a:lnTo>
                      <a:pt x="1688123" y="422030"/>
                    </a:lnTo>
                    <a:close/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8">
                <a:extLst>
                  <a:ext uri="{FF2B5EF4-FFF2-40B4-BE49-F238E27FC236}">
                    <a16:creationId xmlns:a16="http://schemas.microsoft.com/office/drawing/2014/main" id="{6CF8BAD1-9D46-7989-51B1-AD9D9309DF4D}"/>
                  </a:ext>
                </a:extLst>
              </p:cNvPr>
              <p:cNvSpPr/>
              <p:nvPr/>
            </p:nvSpPr>
            <p:spPr>
              <a:xfrm>
                <a:off x="4220307" y="1160584"/>
                <a:ext cx="1688123" cy="1477107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477107">
                    <a:moveTo>
                      <a:pt x="1688123" y="1055077"/>
                    </a:moveTo>
                    <a:lnTo>
                      <a:pt x="1688123" y="1477107"/>
                    </a:lnTo>
                    <a:lnTo>
                      <a:pt x="0" y="1477107"/>
                    </a:lnTo>
                    <a:lnTo>
                      <a:pt x="0" y="1055076"/>
                    </a:lnTo>
                    <a:moveTo>
                      <a:pt x="1688123" y="422030"/>
                    </a:moveTo>
                    <a:lnTo>
                      <a:pt x="1688123" y="1055076"/>
                    </a:lnTo>
                    <a:moveTo>
                      <a:pt x="0" y="1055076"/>
                    </a:moveTo>
                    <a:lnTo>
                      <a:pt x="0" y="422030"/>
                    </a:lnTo>
                    <a:moveTo>
                      <a:pt x="0" y="422030"/>
                    </a:moveTo>
                    <a:lnTo>
                      <a:pt x="0" y="187885"/>
                    </a:lnTo>
                    <a:cubicBezTo>
                      <a:pt x="0" y="139471"/>
                      <a:pt x="32950" y="97270"/>
                      <a:pt x="79918" y="85528"/>
                    </a:cubicBezTo>
                    <a:lnTo>
                      <a:pt x="107011" y="78754"/>
                    </a:lnTo>
                    <a:cubicBezTo>
                      <a:pt x="316234" y="26449"/>
                      <a:pt x="531083" y="0"/>
                      <a:pt x="746745" y="0"/>
                    </a:cubicBezTo>
                    <a:lnTo>
                      <a:pt x="1688123" y="0"/>
                    </a:lnTo>
                    <a:lnTo>
                      <a:pt x="1688123" y="422030"/>
                    </a:lnTo>
                    <a:moveTo>
                      <a:pt x="61546" y="92319"/>
                    </a:moveTo>
                    <a:cubicBezTo>
                      <a:pt x="145073" y="61546"/>
                      <a:pt x="171450" y="149469"/>
                      <a:pt x="171450" y="149469"/>
                    </a:cubicBezTo>
                    <a:cubicBezTo>
                      <a:pt x="342411" y="43394"/>
                      <a:pt x="562924" y="22501"/>
                      <a:pt x="712176" y="1"/>
                    </a:cubicBez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0EE2471A-A0AF-BCE5-4390-28B74727D9AE}"/>
                </a:ext>
              </a:extLst>
            </p:cNvPr>
            <p:cNvGrpSpPr/>
            <p:nvPr/>
          </p:nvGrpSpPr>
          <p:grpSpPr>
            <a:xfrm>
              <a:off x="6576646" y="2930037"/>
              <a:ext cx="1688123" cy="1477107"/>
              <a:chOff x="6119446" y="1266092"/>
              <a:chExt cx="1688123" cy="1477107"/>
            </a:xfrm>
          </p:grpSpPr>
          <p:sp>
            <p:nvSpPr>
              <p:cNvPr id="16" name="Rounded Rectangle 10">
                <a:extLst>
                  <a:ext uri="{FF2B5EF4-FFF2-40B4-BE49-F238E27FC236}">
                    <a16:creationId xmlns:a16="http://schemas.microsoft.com/office/drawing/2014/main" id="{C976D91E-CA94-ECED-1204-B6091F3E0768}"/>
                  </a:ext>
                </a:extLst>
              </p:cNvPr>
              <p:cNvSpPr/>
              <p:nvPr/>
            </p:nvSpPr>
            <p:spPr>
              <a:xfrm>
                <a:off x="6119446" y="1266092"/>
                <a:ext cx="1688123" cy="1477107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477107">
                    <a:moveTo>
                      <a:pt x="0" y="1055076"/>
                    </a:moveTo>
                    <a:lnTo>
                      <a:pt x="1688123" y="1055077"/>
                    </a:lnTo>
                    <a:cubicBezTo>
                      <a:pt x="1688123" y="1288158"/>
                      <a:pt x="1688123" y="1477107"/>
                      <a:pt x="1688123" y="1477107"/>
                    </a:cubicBezTo>
                    <a:lnTo>
                      <a:pt x="0" y="1477107"/>
                    </a:lnTo>
                    <a:close/>
                    <a:moveTo>
                      <a:pt x="0" y="1055076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1055076"/>
                    </a:lnTo>
                    <a:close/>
                    <a:moveTo>
                      <a:pt x="0" y="422030"/>
                    </a:moveTo>
                    <a:lnTo>
                      <a:pt x="0" y="0"/>
                    </a:lnTo>
                    <a:lnTo>
                      <a:pt x="941374" y="0"/>
                    </a:lnTo>
                    <a:cubicBezTo>
                      <a:pt x="1166906" y="0"/>
                      <a:pt x="1406769" y="0"/>
                      <a:pt x="1626576" y="52753"/>
                    </a:cubicBezTo>
                    <a:cubicBezTo>
                      <a:pt x="1626576" y="52753"/>
                      <a:pt x="1688123" y="131884"/>
                      <a:pt x="1688123" y="422030"/>
                    </a:cubicBezTo>
                    <a:close/>
                  </a:path>
                </a:pathLst>
              </a:custGeom>
              <a:solidFill>
                <a:srgbClr val="DE58A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1">
                <a:extLst>
                  <a:ext uri="{FF2B5EF4-FFF2-40B4-BE49-F238E27FC236}">
                    <a16:creationId xmlns:a16="http://schemas.microsoft.com/office/drawing/2014/main" id="{CF310451-1A24-C28A-B97E-3B33173BD391}"/>
                  </a:ext>
                </a:extLst>
              </p:cNvPr>
              <p:cNvSpPr/>
              <p:nvPr/>
            </p:nvSpPr>
            <p:spPr>
              <a:xfrm>
                <a:off x="6119446" y="1266092"/>
                <a:ext cx="1688123" cy="1477107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1477107">
                    <a:moveTo>
                      <a:pt x="1688123" y="1055077"/>
                    </a:moveTo>
                    <a:lnTo>
                      <a:pt x="1688123" y="1477107"/>
                    </a:lnTo>
                    <a:lnTo>
                      <a:pt x="0" y="1477107"/>
                    </a:lnTo>
                    <a:lnTo>
                      <a:pt x="0" y="1055076"/>
                    </a:lnTo>
                    <a:moveTo>
                      <a:pt x="1688123" y="422030"/>
                    </a:moveTo>
                    <a:lnTo>
                      <a:pt x="1688123" y="1055076"/>
                    </a:lnTo>
                    <a:moveTo>
                      <a:pt x="0" y="1055076"/>
                    </a:moveTo>
                    <a:lnTo>
                      <a:pt x="0" y="422030"/>
                    </a:lnTo>
                    <a:moveTo>
                      <a:pt x="0" y="422030"/>
                    </a:moveTo>
                    <a:lnTo>
                      <a:pt x="0" y="0"/>
                    </a:lnTo>
                    <a:lnTo>
                      <a:pt x="941377" y="0"/>
                    </a:lnTo>
                    <a:cubicBezTo>
                      <a:pt x="1166907" y="0"/>
                      <a:pt x="1406769" y="0"/>
                      <a:pt x="1626576" y="52753"/>
                    </a:cubicBezTo>
                    <a:cubicBezTo>
                      <a:pt x="1626576" y="52753"/>
                      <a:pt x="1688123" y="131884"/>
                      <a:pt x="1688123" y="422030"/>
                    </a:cubicBez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77BAE92F-B462-136D-7576-B030A0D7B381}"/>
                </a:ext>
              </a:extLst>
            </p:cNvPr>
            <p:cNvSpPr txBox="1"/>
            <p:nvPr/>
          </p:nvSpPr>
          <p:spPr>
            <a:xfrm>
              <a:off x="1115690" y="3053129"/>
              <a:ext cx="1309631" cy="430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latin typeface="+mj-lt"/>
                </a:rPr>
                <a:t>Velocidad</a:t>
              </a:r>
              <a:r>
                <a:rPr sz="2000" b="1" dirty="0">
                  <a:latin typeface="+mj-lt"/>
                </a:rPr>
                <a:t> </a:t>
              </a:r>
              <a:r>
                <a:rPr sz="2000" b="1" dirty="0" err="1">
                  <a:latin typeface="+mj-lt"/>
                </a:rPr>
                <a:t>muy</a:t>
              </a:r>
              <a:r>
                <a:rPr sz="2000" b="1" dirty="0">
                  <a:latin typeface="+mj-lt"/>
                </a:rPr>
                <a:t>
</a:t>
              </a:r>
              <a:r>
                <a:rPr sz="2000" b="1" dirty="0" err="1">
                  <a:latin typeface="+mj-lt"/>
                </a:rPr>
                <a:t>alta</a:t>
              </a:r>
              <a:endParaRPr sz="2000" b="1" dirty="0">
                <a:latin typeface="+mj-lt"/>
              </a:endParaRPr>
            </a:p>
          </p:txBody>
        </p:sp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528FAAB9-10DC-8BFB-794D-8077322C9980}"/>
                </a:ext>
              </a:extLst>
            </p:cNvPr>
            <p:cNvSpPr txBox="1"/>
            <p:nvPr/>
          </p:nvSpPr>
          <p:spPr>
            <a:xfrm>
              <a:off x="3231029" y="3158637"/>
              <a:ext cx="839248" cy="430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Modelo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unificado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0" name="TextBox 16">
              <a:extLst>
                <a:ext uri="{FF2B5EF4-FFF2-40B4-BE49-F238E27FC236}">
                  <a16:creationId xmlns:a16="http://schemas.microsoft.com/office/drawing/2014/main" id="{E7EBF372-69FB-8AB0-13C2-C88255AFB094}"/>
                </a:ext>
              </a:extLst>
            </p:cNvPr>
            <p:cNvSpPr txBox="1"/>
            <p:nvPr/>
          </p:nvSpPr>
          <p:spPr>
            <a:xfrm>
              <a:off x="4988021" y="3053129"/>
              <a:ext cx="1128110" cy="430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Predicciones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globales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D4564390-8D44-EA34-C524-7CF4E46CA91F}"/>
                </a:ext>
              </a:extLst>
            </p:cNvPr>
            <p:cNvSpPr txBox="1"/>
            <p:nvPr/>
          </p:nvSpPr>
          <p:spPr>
            <a:xfrm>
              <a:off x="6879937" y="3158637"/>
              <a:ext cx="1173155" cy="430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Fácil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implementar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E2040FA7-4F6A-E1CE-37C6-4F9AEF3FE339}"/>
                </a:ext>
              </a:extLst>
            </p:cNvPr>
            <p:cNvSpPr txBox="1"/>
            <p:nvPr/>
          </p:nvSpPr>
          <p:spPr>
            <a:xfrm>
              <a:off x="1115690" y="3608628"/>
              <a:ext cx="1242494" cy="75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>
                  <a:latin typeface="+mj-lt"/>
                </a:rPr>
                <a:t>YOLOv1 es</a:t>
              </a:r>
              <a:r>
                <a:rPr lang="es-ES"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extremadamente</a:t>
              </a:r>
              <a:r>
                <a:rPr lang="es-ES" sz="140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rápido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debido</a:t>
              </a:r>
              <a:r>
                <a:rPr sz="1400" b="0" dirty="0">
                  <a:latin typeface="+mj-lt"/>
                </a:rPr>
                <a:t> a la</a:t>
              </a:r>
              <a:r>
                <a:rPr lang="es-ES"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detección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en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una</a:t>
              </a:r>
              <a:r>
                <a:rPr lang="es-ES" sz="1400" dirty="0">
                  <a:latin typeface="+mj-lt"/>
                </a:rPr>
                <a:t> </a:t>
              </a:r>
              <a:r>
                <a:rPr sz="1400" b="0" dirty="0">
                  <a:latin typeface="+mj-lt"/>
                </a:rPr>
                <a:t>sola </a:t>
              </a:r>
              <a:r>
                <a:rPr sz="1400" b="0" dirty="0" err="1">
                  <a:latin typeface="+mj-lt"/>
                </a:rPr>
                <a:t>pasada</a:t>
              </a:r>
              <a:r>
                <a:rPr sz="1400" b="0" dirty="0">
                  <a:latin typeface="+mj-lt"/>
                </a:rPr>
                <a:t>.</a:t>
              </a:r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5E2F9C31-7B40-EEEE-FB8D-4CF5AD561413}"/>
                </a:ext>
              </a:extLst>
            </p:cNvPr>
            <p:cNvSpPr txBox="1"/>
            <p:nvPr/>
          </p:nvSpPr>
          <p:spPr>
            <a:xfrm>
              <a:off x="3023548" y="3703055"/>
              <a:ext cx="1203106" cy="75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FFFFFF"/>
                  </a:solidFill>
                  <a:latin typeface="+mj-lt"/>
                </a:rPr>
                <a:t>La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detección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de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objetos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se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trata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como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un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único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problema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de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regresión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351530C8-73DE-5544-BDEF-2C8E94790430}"/>
                </a:ext>
              </a:extLst>
            </p:cNvPr>
            <p:cNvSpPr txBox="1"/>
            <p:nvPr/>
          </p:nvSpPr>
          <p:spPr>
            <a:xfrm>
              <a:off x="4809039" y="3602648"/>
              <a:ext cx="1400582" cy="4517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FFFFFF"/>
                  </a:solidFill>
                  <a:latin typeface="+mj-lt"/>
                </a:rPr>
                <a:t>YOLO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tiene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una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mejor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comprensión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del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contexto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global.</a:t>
              </a:r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8F7BF837-2E72-8B57-4DA6-522756C2B297}"/>
                </a:ext>
              </a:extLst>
            </p:cNvPr>
            <p:cNvSpPr txBox="1"/>
            <p:nvPr/>
          </p:nvSpPr>
          <p:spPr>
            <a:xfrm>
              <a:off x="6740838" y="3707593"/>
              <a:ext cx="1359738" cy="4517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FFFFFF"/>
                  </a:solidFill>
                  <a:latin typeface="+mj-lt"/>
                </a:rPr>
                <a:t>Su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estructura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sencilla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hace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que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sea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más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accesible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68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49D7-A279-23C1-7374-32DF463D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45DB-9F2A-5BC8-9512-54A34796E8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Desventajas</a:t>
            </a:r>
            <a:endParaRPr lang="en-US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1C72C84-AE2F-70CB-E583-68EF2F488CA0}"/>
              </a:ext>
            </a:extLst>
          </p:cNvPr>
          <p:cNvGrpSpPr>
            <a:grpSpLocks noChangeAspect="1"/>
          </p:cNvGrpSpPr>
          <p:nvPr/>
        </p:nvGrpSpPr>
        <p:grpSpPr>
          <a:xfrm>
            <a:off x="870731" y="1879015"/>
            <a:ext cx="10046985" cy="4107115"/>
            <a:chOff x="1298242" y="2571466"/>
            <a:chExt cx="6233141" cy="2548051"/>
          </a:xfrm>
        </p:grpSpPr>
        <p:sp>
          <p:nvSpPr>
            <p:cNvPr id="5" name="Rounded Rectangle 1">
              <a:extLst>
                <a:ext uri="{FF2B5EF4-FFF2-40B4-BE49-F238E27FC236}">
                  <a16:creationId xmlns:a16="http://schemas.microsoft.com/office/drawing/2014/main" id="{840F6BD9-F254-AC58-D1A5-81AA3CE77E72}"/>
                </a:ext>
              </a:extLst>
            </p:cNvPr>
            <p:cNvSpPr/>
            <p:nvPr/>
          </p:nvSpPr>
          <p:spPr>
            <a:xfrm>
              <a:off x="3230328" y="2571466"/>
              <a:ext cx="2483892" cy="2483892"/>
            </a:xfrm>
            <a:custGeom>
              <a:avLst/>
              <a:gdLst/>
              <a:ahLst/>
              <a:cxnLst/>
              <a:rect l="0" t="0" r="0" b="0"/>
              <a:pathLst>
                <a:path w="2483892" h="2483892">
                  <a:moveTo>
                    <a:pt x="1241946" y="0"/>
                  </a:moveTo>
                  <a:lnTo>
                    <a:pt x="1241946" y="2483892"/>
                  </a:lnTo>
                  <a:moveTo>
                    <a:pt x="2483892" y="1241946"/>
                  </a:moveTo>
                  <a:lnTo>
                    <a:pt x="0" y="1241945"/>
                  </a:lnTo>
                </a:path>
              </a:pathLst>
            </a:custGeom>
            <a:noFill/>
            <a:ln w="110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52A13A90-5E47-6060-B1E6-87F006075B73}"/>
                </a:ext>
              </a:extLst>
            </p:cNvPr>
            <p:cNvGrpSpPr/>
            <p:nvPr/>
          </p:nvGrpSpPr>
          <p:grpSpPr>
            <a:xfrm>
              <a:off x="3230328" y="2571466"/>
              <a:ext cx="1064525" cy="1064525"/>
              <a:chOff x="1774208" y="1951629"/>
              <a:chExt cx="1064525" cy="1064525"/>
            </a:xfrm>
          </p:grpSpPr>
          <p:sp>
            <p:nvSpPr>
              <p:cNvPr id="61" name="Rounded Rectangle 2">
                <a:extLst>
                  <a:ext uri="{FF2B5EF4-FFF2-40B4-BE49-F238E27FC236}">
                    <a16:creationId xmlns:a16="http://schemas.microsoft.com/office/drawing/2014/main" id="{E9A4E818-926A-2F38-AA13-7C656E637F58}"/>
                  </a:ext>
                </a:extLst>
              </p:cNvPr>
              <p:cNvSpPr/>
              <p:nvPr/>
            </p:nvSpPr>
            <p:spPr>
              <a:xfrm>
                <a:off x="1774208" y="1951629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1064525" y="1064525"/>
                    </a:moveTo>
                    <a:lnTo>
                      <a:pt x="819330" y="980554"/>
                    </a:lnTo>
                    <a:cubicBezTo>
                      <a:pt x="736503" y="1033702"/>
                      <a:pt x="637982" y="1064525"/>
                      <a:pt x="532262" y="1064525"/>
                    </a:cubicBezTo>
                    <a:cubicBezTo>
                      <a:pt x="238302" y="1064525"/>
                      <a:pt x="0" y="826223"/>
                      <a:pt x="0" y="532262"/>
                    </a:cubicBezTo>
                    <a:cubicBezTo>
                      <a:pt x="0" y="238302"/>
                      <a:pt x="238302" y="0"/>
                      <a:pt x="532262" y="0"/>
                    </a:cubicBezTo>
                    <a:cubicBezTo>
                      <a:pt x="826223" y="0"/>
                      <a:pt x="1064525" y="238302"/>
                      <a:pt x="1064525" y="532262"/>
                    </a:cubicBezTo>
                    <a:cubicBezTo>
                      <a:pt x="1064525" y="642133"/>
                      <a:pt x="1031235" y="744228"/>
                      <a:pt x="974191" y="829012"/>
                    </a:cubicBezTo>
                    <a:close/>
                  </a:path>
                </a:pathLst>
              </a:custGeom>
              <a:solidFill>
                <a:srgbClr val="E9FFB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Rounded Rectangle 3">
                <a:extLst>
                  <a:ext uri="{FF2B5EF4-FFF2-40B4-BE49-F238E27FC236}">
                    <a16:creationId xmlns:a16="http://schemas.microsoft.com/office/drawing/2014/main" id="{D4EFFE46-908A-20C6-49FE-EA4151BB8BBB}"/>
                  </a:ext>
                </a:extLst>
              </p:cNvPr>
              <p:cNvSpPr/>
              <p:nvPr/>
            </p:nvSpPr>
            <p:spPr>
              <a:xfrm>
                <a:off x="1774208" y="1951629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1064525" y="1064525"/>
                    </a:moveTo>
                    <a:lnTo>
                      <a:pt x="819330" y="980554"/>
                    </a:lnTo>
                    <a:cubicBezTo>
                      <a:pt x="736503" y="1033702"/>
                      <a:pt x="637982" y="1064525"/>
                      <a:pt x="532262" y="1064525"/>
                    </a:cubicBezTo>
                    <a:cubicBezTo>
                      <a:pt x="238302" y="1064525"/>
                      <a:pt x="0" y="826223"/>
                      <a:pt x="0" y="532262"/>
                    </a:cubicBezTo>
                    <a:cubicBezTo>
                      <a:pt x="0" y="238302"/>
                      <a:pt x="238302" y="0"/>
                      <a:pt x="532262" y="0"/>
                    </a:cubicBezTo>
                    <a:cubicBezTo>
                      <a:pt x="826223" y="0"/>
                      <a:pt x="1064525" y="238302"/>
                      <a:pt x="1064525" y="532262"/>
                    </a:cubicBezTo>
                    <a:cubicBezTo>
                      <a:pt x="1064525" y="642133"/>
                      <a:pt x="1031235" y="744228"/>
                      <a:pt x="974191" y="829012"/>
                    </a:cubicBezTo>
                    <a:close/>
                  </a:path>
                </a:pathLst>
              </a:custGeom>
              <a:noFill/>
              <a:ln w="110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247F529-FF38-8AEC-DC8F-88A30A10AEE2}"/>
                </a:ext>
              </a:extLst>
            </p:cNvPr>
            <p:cNvGrpSpPr/>
            <p:nvPr/>
          </p:nvGrpSpPr>
          <p:grpSpPr>
            <a:xfrm>
              <a:off x="3230328" y="3990834"/>
              <a:ext cx="1064525" cy="1064525"/>
              <a:chOff x="1774208" y="3370997"/>
              <a:chExt cx="1064525" cy="1064525"/>
            </a:xfrm>
          </p:grpSpPr>
          <p:sp>
            <p:nvSpPr>
              <p:cNvPr id="33" name="Rounded Rectangle 5">
                <a:extLst>
                  <a:ext uri="{FF2B5EF4-FFF2-40B4-BE49-F238E27FC236}">
                    <a16:creationId xmlns:a16="http://schemas.microsoft.com/office/drawing/2014/main" id="{5E7B239D-1238-20F8-9560-736D60C7D0F8}"/>
                  </a:ext>
                </a:extLst>
              </p:cNvPr>
              <p:cNvSpPr/>
              <p:nvPr/>
            </p:nvSpPr>
            <p:spPr>
              <a:xfrm>
                <a:off x="1774208" y="3370997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974191" y="235512"/>
                    </a:moveTo>
                    <a:cubicBezTo>
                      <a:pt x="1031235" y="320296"/>
                      <a:pt x="1064525" y="422391"/>
                      <a:pt x="1064525" y="532262"/>
                    </a:cubicBezTo>
                    <a:cubicBezTo>
                      <a:pt x="1064525" y="826223"/>
                      <a:pt x="826223" y="1064525"/>
                      <a:pt x="532262" y="1064525"/>
                    </a:cubicBezTo>
                    <a:cubicBezTo>
                      <a:pt x="238302" y="1064525"/>
                      <a:pt x="0" y="826223"/>
                      <a:pt x="0" y="532262"/>
                    </a:cubicBezTo>
                    <a:cubicBezTo>
                      <a:pt x="0" y="238302"/>
                      <a:pt x="238302" y="0"/>
                      <a:pt x="532262" y="0"/>
                    </a:cubicBezTo>
                    <a:cubicBezTo>
                      <a:pt x="637982" y="0"/>
                      <a:pt x="736503" y="30822"/>
                      <a:pt x="819330" y="83971"/>
                    </a:cubicBezTo>
                    <a:lnTo>
                      <a:pt x="1064525" y="0"/>
                    </a:lnTo>
                    <a:close/>
                  </a:path>
                </a:pathLst>
              </a:custGeom>
              <a:solidFill>
                <a:srgbClr val="FFF8B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6">
                <a:extLst>
                  <a:ext uri="{FF2B5EF4-FFF2-40B4-BE49-F238E27FC236}">
                    <a16:creationId xmlns:a16="http://schemas.microsoft.com/office/drawing/2014/main" id="{29CB5B84-D240-DCED-22C2-80E0EBAFDC6A}"/>
                  </a:ext>
                </a:extLst>
              </p:cNvPr>
              <p:cNvSpPr/>
              <p:nvPr/>
            </p:nvSpPr>
            <p:spPr>
              <a:xfrm>
                <a:off x="1774208" y="3370997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974191" y="235512"/>
                    </a:moveTo>
                    <a:cubicBezTo>
                      <a:pt x="1031235" y="320296"/>
                      <a:pt x="1064525" y="422391"/>
                      <a:pt x="1064525" y="532262"/>
                    </a:cubicBezTo>
                    <a:cubicBezTo>
                      <a:pt x="1064525" y="826223"/>
                      <a:pt x="826223" y="1064525"/>
                      <a:pt x="532262" y="1064525"/>
                    </a:cubicBezTo>
                    <a:cubicBezTo>
                      <a:pt x="238302" y="1064525"/>
                      <a:pt x="0" y="826223"/>
                      <a:pt x="0" y="532262"/>
                    </a:cubicBezTo>
                    <a:cubicBezTo>
                      <a:pt x="0" y="238302"/>
                      <a:pt x="238302" y="0"/>
                      <a:pt x="532262" y="0"/>
                    </a:cubicBezTo>
                    <a:cubicBezTo>
                      <a:pt x="637982" y="0"/>
                      <a:pt x="736503" y="30822"/>
                      <a:pt x="819330" y="83971"/>
                    </a:cubicBezTo>
                    <a:lnTo>
                      <a:pt x="1064525" y="0"/>
                    </a:lnTo>
                    <a:close/>
                  </a:path>
                </a:pathLst>
              </a:custGeom>
              <a:noFill/>
              <a:ln w="110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43B3D78-0B4F-DE3C-E351-1EA4FECED617}"/>
                </a:ext>
              </a:extLst>
            </p:cNvPr>
            <p:cNvGrpSpPr/>
            <p:nvPr/>
          </p:nvGrpSpPr>
          <p:grpSpPr>
            <a:xfrm>
              <a:off x="4649696" y="2571466"/>
              <a:ext cx="1064525" cy="1064525"/>
              <a:chOff x="3193576" y="1951629"/>
              <a:chExt cx="1064525" cy="1064525"/>
            </a:xfrm>
          </p:grpSpPr>
          <p:sp>
            <p:nvSpPr>
              <p:cNvPr id="31" name="Rounded Rectangle 8">
                <a:extLst>
                  <a:ext uri="{FF2B5EF4-FFF2-40B4-BE49-F238E27FC236}">
                    <a16:creationId xmlns:a16="http://schemas.microsoft.com/office/drawing/2014/main" id="{5BC49267-79B3-85E9-652E-B8C47DEDEE7A}"/>
                  </a:ext>
                </a:extLst>
              </p:cNvPr>
              <p:cNvSpPr/>
              <p:nvPr/>
            </p:nvSpPr>
            <p:spPr>
              <a:xfrm>
                <a:off x="3193576" y="1951629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90333" y="829012"/>
                    </a:moveTo>
                    <a:cubicBezTo>
                      <a:pt x="33290" y="744228"/>
                      <a:pt x="0" y="642133"/>
                      <a:pt x="0" y="532262"/>
                    </a:cubicBezTo>
                    <a:cubicBezTo>
                      <a:pt x="0" y="238302"/>
                      <a:pt x="238302" y="0"/>
                      <a:pt x="532262" y="0"/>
                    </a:cubicBezTo>
                    <a:cubicBezTo>
                      <a:pt x="826223" y="0"/>
                      <a:pt x="1064525" y="238302"/>
                      <a:pt x="1064525" y="532262"/>
                    </a:cubicBezTo>
                    <a:cubicBezTo>
                      <a:pt x="1064525" y="826223"/>
                      <a:pt x="826223" y="1064525"/>
                      <a:pt x="532262" y="1064525"/>
                    </a:cubicBezTo>
                    <a:cubicBezTo>
                      <a:pt x="426542" y="1064525"/>
                      <a:pt x="328021" y="1033702"/>
                      <a:pt x="245194" y="980554"/>
                    </a:cubicBezTo>
                    <a:lnTo>
                      <a:pt x="0" y="1064525"/>
                    </a:lnTo>
                    <a:close/>
                  </a:path>
                </a:pathLst>
              </a:custGeom>
              <a:solidFill>
                <a:srgbClr val="C8FFE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9">
                <a:extLst>
                  <a:ext uri="{FF2B5EF4-FFF2-40B4-BE49-F238E27FC236}">
                    <a16:creationId xmlns:a16="http://schemas.microsoft.com/office/drawing/2014/main" id="{136CC8DE-BA80-A5AA-84EC-72E7270B8DA7}"/>
                  </a:ext>
                </a:extLst>
              </p:cNvPr>
              <p:cNvSpPr/>
              <p:nvPr/>
            </p:nvSpPr>
            <p:spPr>
              <a:xfrm>
                <a:off x="3193576" y="1951629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90333" y="829012"/>
                    </a:moveTo>
                    <a:cubicBezTo>
                      <a:pt x="33290" y="744228"/>
                      <a:pt x="0" y="642133"/>
                      <a:pt x="0" y="532262"/>
                    </a:cubicBezTo>
                    <a:cubicBezTo>
                      <a:pt x="0" y="238302"/>
                      <a:pt x="238302" y="0"/>
                      <a:pt x="532262" y="0"/>
                    </a:cubicBezTo>
                    <a:cubicBezTo>
                      <a:pt x="826223" y="0"/>
                      <a:pt x="1064525" y="238302"/>
                      <a:pt x="1064525" y="532262"/>
                    </a:cubicBezTo>
                    <a:cubicBezTo>
                      <a:pt x="1064525" y="826223"/>
                      <a:pt x="826223" y="1064525"/>
                      <a:pt x="532262" y="1064525"/>
                    </a:cubicBezTo>
                    <a:cubicBezTo>
                      <a:pt x="426542" y="1064525"/>
                      <a:pt x="328021" y="1033702"/>
                      <a:pt x="245194" y="980554"/>
                    </a:cubicBezTo>
                    <a:lnTo>
                      <a:pt x="0" y="1064525"/>
                    </a:lnTo>
                    <a:close/>
                  </a:path>
                </a:pathLst>
              </a:custGeom>
              <a:noFill/>
              <a:ln w="110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" name="Group 13">
              <a:extLst>
                <a:ext uri="{FF2B5EF4-FFF2-40B4-BE49-F238E27FC236}">
                  <a16:creationId xmlns:a16="http://schemas.microsoft.com/office/drawing/2014/main" id="{C3F06300-8490-1A22-B2A1-8320160BF2BD}"/>
                </a:ext>
              </a:extLst>
            </p:cNvPr>
            <p:cNvGrpSpPr/>
            <p:nvPr/>
          </p:nvGrpSpPr>
          <p:grpSpPr>
            <a:xfrm>
              <a:off x="4649696" y="3990834"/>
              <a:ext cx="1064525" cy="1064525"/>
              <a:chOff x="3193576" y="3370997"/>
              <a:chExt cx="1064525" cy="1064525"/>
            </a:xfrm>
          </p:grpSpPr>
          <p:sp>
            <p:nvSpPr>
              <p:cNvPr id="29" name="Rounded Rectangle 11">
                <a:extLst>
                  <a:ext uri="{FF2B5EF4-FFF2-40B4-BE49-F238E27FC236}">
                    <a16:creationId xmlns:a16="http://schemas.microsoft.com/office/drawing/2014/main" id="{BC260D3B-6F12-A2EA-6771-D4C86A8512A7}"/>
                  </a:ext>
                </a:extLst>
              </p:cNvPr>
              <p:cNvSpPr/>
              <p:nvPr/>
            </p:nvSpPr>
            <p:spPr>
              <a:xfrm>
                <a:off x="3193576" y="3370997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0" y="0"/>
                    </a:moveTo>
                    <a:lnTo>
                      <a:pt x="245194" y="83971"/>
                    </a:lnTo>
                    <a:cubicBezTo>
                      <a:pt x="328021" y="30822"/>
                      <a:pt x="426542" y="0"/>
                      <a:pt x="532262" y="0"/>
                    </a:cubicBezTo>
                    <a:cubicBezTo>
                      <a:pt x="826223" y="0"/>
                      <a:pt x="1064525" y="238302"/>
                      <a:pt x="1064525" y="532262"/>
                    </a:cubicBezTo>
                    <a:cubicBezTo>
                      <a:pt x="1064525" y="826223"/>
                      <a:pt x="826223" y="1064525"/>
                      <a:pt x="532262" y="1064525"/>
                    </a:cubicBezTo>
                    <a:cubicBezTo>
                      <a:pt x="238302" y="1064525"/>
                      <a:pt x="0" y="826223"/>
                      <a:pt x="0" y="532262"/>
                    </a:cubicBezTo>
                    <a:cubicBezTo>
                      <a:pt x="0" y="422391"/>
                      <a:pt x="33290" y="320296"/>
                      <a:pt x="90333" y="235512"/>
                    </a:cubicBezTo>
                    <a:close/>
                  </a:path>
                </a:pathLst>
              </a:custGeom>
              <a:solidFill>
                <a:srgbClr val="D1F4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12">
                <a:extLst>
                  <a:ext uri="{FF2B5EF4-FFF2-40B4-BE49-F238E27FC236}">
                    <a16:creationId xmlns:a16="http://schemas.microsoft.com/office/drawing/2014/main" id="{6849DA4B-DAC4-36FD-D877-CC9A642EFCB1}"/>
                  </a:ext>
                </a:extLst>
              </p:cNvPr>
              <p:cNvSpPr/>
              <p:nvPr/>
            </p:nvSpPr>
            <p:spPr>
              <a:xfrm>
                <a:off x="3193576" y="3370997"/>
                <a:ext cx="1064525" cy="1064525"/>
              </a:xfrm>
              <a:custGeom>
                <a:avLst/>
                <a:gdLst/>
                <a:ahLst/>
                <a:cxnLst/>
                <a:rect l="0" t="0" r="0" b="0"/>
                <a:pathLst>
                  <a:path w="1064525" h="1064525">
                    <a:moveTo>
                      <a:pt x="0" y="0"/>
                    </a:moveTo>
                    <a:lnTo>
                      <a:pt x="245194" y="83971"/>
                    </a:lnTo>
                    <a:cubicBezTo>
                      <a:pt x="328021" y="30822"/>
                      <a:pt x="426542" y="0"/>
                      <a:pt x="532262" y="0"/>
                    </a:cubicBezTo>
                    <a:cubicBezTo>
                      <a:pt x="826223" y="0"/>
                      <a:pt x="1064525" y="238302"/>
                      <a:pt x="1064525" y="532262"/>
                    </a:cubicBezTo>
                    <a:cubicBezTo>
                      <a:pt x="1064525" y="826223"/>
                      <a:pt x="826223" y="1064525"/>
                      <a:pt x="532262" y="1064525"/>
                    </a:cubicBezTo>
                    <a:cubicBezTo>
                      <a:pt x="238302" y="1064525"/>
                      <a:pt x="0" y="826223"/>
                      <a:pt x="0" y="532262"/>
                    </a:cubicBezTo>
                    <a:cubicBezTo>
                      <a:pt x="0" y="422391"/>
                      <a:pt x="33290" y="320296"/>
                      <a:pt x="90333" y="235512"/>
                    </a:cubicBezTo>
                    <a:close/>
                  </a:path>
                </a:pathLst>
              </a:custGeom>
              <a:noFill/>
              <a:ln w="110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0" name="Rounded Rectangle 14">
              <a:extLst>
                <a:ext uri="{FF2B5EF4-FFF2-40B4-BE49-F238E27FC236}">
                  <a16:creationId xmlns:a16="http://schemas.microsoft.com/office/drawing/2014/main" id="{B2A17DB2-A083-0906-4224-560AB7279097}"/>
                </a:ext>
              </a:extLst>
            </p:cNvPr>
            <p:cNvSpPr/>
            <p:nvPr/>
          </p:nvSpPr>
          <p:spPr>
            <a:xfrm>
              <a:off x="4915791" y="4256965"/>
              <a:ext cx="536815" cy="532291"/>
            </a:xfrm>
            <a:custGeom>
              <a:avLst/>
              <a:gdLst/>
              <a:ahLst/>
              <a:cxnLst/>
              <a:rect l="0" t="0" r="0" b="0"/>
              <a:pathLst>
                <a:path w="536815" h="532291">
                  <a:moveTo>
                    <a:pt x="343788" y="243953"/>
                  </a:moveTo>
                  <a:lnTo>
                    <a:pt x="188545" y="243953"/>
                  </a:lnTo>
                  <a:cubicBezTo>
                    <a:pt x="176297" y="243953"/>
                    <a:pt x="166367" y="234024"/>
                    <a:pt x="166367" y="221776"/>
                  </a:cubicBezTo>
                  <a:lnTo>
                    <a:pt x="166367" y="22177"/>
                  </a:lnTo>
                  <a:cubicBezTo>
                    <a:pt x="166367" y="9929"/>
                    <a:pt x="176297" y="0"/>
                    <a:pt x="188545" y="0"/>
                  </a:cubicBezTo>
                  <a:lnTo>
                    <a:pt x="343788" y="0"/>
                  </a:lnTo>
                  <a:cubicBezTo>
                    <a:pt x="356037" y="0"/>
                    <a:pt x="365966" y="9929"/>
                    <a:pt x="365966" y="22177"/>
                  </a:cubicBezTo>
                  <a:lnTo>
                    <a:pt x="365966" y="221776"/>
                  </a:lnTo>
                  <a:cubicBezTo>
                    <a:pt x="365966" y="234024"/>
                    <a:pt x="356037" y="243953"/>
                    <a:pt x="343788" y="243953"/>
                  </a:cubicBezTo>
                  <a:close/>
                  <a:moveTo>
                    <a:pt x="321611" y="66532"/>
                  </a:moveTo>
                  <a:cubicBezTo>
                    <a:pt x="321611" y="54284"/>
                    <a:pt x="311682" y="44355"/>
                    <a:pt x="299433" y="44355"/>
                  </a:cubicBezTo>
                  <a:lnTo>
                    <a:pt x="232900" y="44355"/>
                  </a:lnTo>
                  <a:cubicBezTo>
                    <a:pt x="220652" y="44355"/>
                    <a:pt x="210723" y="54284"/>
                    <a:pt x="210723" y="66532"/>
                  </a:cubicBezTo>
                  <a:lnTo>
                    <a:pt x="210723" y="177420"/>
                  </a:lnTo>
                  <a:cubicBezTo>
                    <a:pt x="210723" y="189669"/>
                    <a:pt x="220652" y="199598"/>
                    <a:pt x="232900" y="199598"/>
                  </a:cubicBezTo>
                  <a:lnTo>
                    <a:pt x="299433" y="199598"/>
                  </a:lnTo>
                  <a:cubicBezTo>
                    <a:pt x="311682" y="199598"/>
                    <a:pt x="321611" y="189669"/>
                    <a:pt x="321611" y="177420"/>
                  </a:cubicBezTo>
                  <a:close/>
                  <a:moveTo>
                    <a:pt x="22213" y="221776"/>
                  </a:moveTo>
                  <a:cubicBezTo>
                    <a:pt x="22213" y="191155"/>
                    <a:pt x="47036" y="166332"/>
                    <a:pt x="77657" y="166332"/>
                  </a:cubicBezTo>
                  <a:cubicBezTo>
                    <a:pt x="108278" y="166332"/>
                    <a:pt x="133101" y="191155"/>
                    <a:pt x="133101" y="221776"/>
                  </a:cubicBezTo>
                  <a:cubicBezTo>
                    <a:pt x="133101" y="252397"/>
                    <a:pt x="108278" y="277220"/>
                    <a:pt x="77657" y="277220"/>
                  </a:cubicBezTo>
                  <a:cubicBezTo>
                    <a:pt x="47036" y="277220"/>
                    <a:pt x="22213" y="252397"/>
                    <a:pt x="22213" y="221776"/>
                  </a:cubicBezTo>
                  <a:moveTo>
                    <a:pt x="77657" y="288308"/>
                  </a:moveTo>
                  <a:cubicBezTo>
                    <a:pt x="120526" y="288308"/>
                    <a:pt x="155279" y="323061"/>
                    <a:pt x="155279" y="365930"/>
                  </a:cubicBezTo>
                  <a:lnTo>
                    <a:pt x="155279" y="410285"/>
                  </a:lnTo>
                  <a:cubicBezTo>
                    <a:pt x="155161" y="416360"/>
                    <a:pt x="150264" y="421256"/>
                    <a:pt x="144190" y="421374"/>
                  </a:cubicBezTo>
                  <a:lnTo>
                    <a:pt x="131105" y="421374"/>
                  </a:lnTo>
                  <a:cubicBezTo>
                    <a:pt x="125348" y="421238"/>
                    <a:pt x="120485" y="425615"/>
                    <a:pt x="120016" y="431354"/>
                  </a:cubicBezTo>
                  <a:lnTo>
                    <a:pt x="110923" y="522282"/>
                  </a:lnTo>
                  <a:cubicBezTo>
                    <a:pt x="110352" y="527970"/>
                    <a:pt x="105551" y="532291"/>
                    <a:pt x="99835" y="532262"/>
                  </a:cubicBezTo>
                  <a:lnTo>
                    <a:pt x="55479" y="532262"/>
                  </a:lnTo>
                  <a:cubicBezTo>
                    <a:pt x="49763" y="532291"/>
                    <a:pt x="44962" y="527970"/>
                    <a:pt x="44391" y="522282"/>
                  </a:cubicBezTo>
                  <a:lnTo>
                    <a:pt x="35298" y="431354"/>
                  </a:lnTo>
                  <a:cubicBezTo>
                    <a:pt x="34829" y="425615"/>
                    <a:pt x="29966" y="421238"/>
                    <a:pt x="24209" y="421374"/>
                  </a:cubicBezTo>
                  <a:lnTo>
                    <a:pt x="11124" y="421374"/>
                  </a:lnTo>
                  <a:cubicBezTo>
                    <a:pt x="8183" y="421410"/>
                    <a:pt x="5364" y="420202"/>
                    <a:pt x="3362" y="418047"/>
                  </a:cubicBezTo>
                  <a:cubicBezTo>
                    <a:pt x="1208" y="416045"/>
                    <a:pt x="0" y="413226"/>
                    <a:pt x="35" y="410285"/>
                  </a:cubicBezTo>
                  <a:lnTo>
                    <a:pt x="35" y="365930"/>
                  </a:lnTo>
                  <a:cubicBezTo>
                    <a:pt x="35" y="323061"/>
                    <a:pt x="34788" y="288308"/>
                    <a:pt x="77657" y="288308"/>
                  </a:cubicBezTo>
                  <a:close/>
                  <a:moveTo>
                    <a:pt x="482842" y="293853"/>
                  </a:moveTo>
                  <a:cubicBezTo>
                    <a:pt x="504864" y="293913"/>
                    <a:pt x="524243" y="308403"/>
                    <a:pt x="530529" y="329509"/>
                  </a:cubicBezTo>
                  <a:cubicBezTo>
                    <a:pt x="536815" y="350616"/>
                    <a:pt x="528522" y="373347"/>
                    <a:pt x="510120" y="385446"/>
                  </a:cubicBezTo>
                  <a:cubicBezTo>
                    <a:pt x="507007" y="387537"/>
                    <a:pt x="505104" y="391011"/>
                    <a:pt x="505020" y="394761"/>
                  </a:cubicBezTo>
                  <a:lnTo>
                    <a:pt x="505020" y="510085"/>
                  </a:lnTo>
                  <a:cubicBezTo>
                    <a:pt x="505020" y="522333"/>
                    <a:pt x="495090" y="532262"/>
                    <a:pt x="482842" y="532262"/>
                  </a:cubicBezTo>
                  <a:cubicBezTo>
                    <a:pt x="470594" y="532262"/>
                    <a:pt x="460664" y="522333"/>
                    <a:pt x="460664" y="510085"/>
                  </a:cubicBezTo>
                  <a:lnTo>
                    <a:pt x="460664" y="443552"/>
                  </a:lnTo>
                  <a:cubicBezTo>
                    <a:pt x="460721" y="441506"/>
                    <a:pt x="459600" y="439610"/>
                    <a:pt x="457781" y="438673"/>
                  </a:cubicBezTo>
                  <a:cubicBezTo>
                    <a:pt x="456026" y="437541"/>
                    <a:pt x="453771" y="437541"/>
                    <a:pt x="452015" y="438673"/>
                  </a:cubicBezTo>
                  <a:cubicBezTo>
                    <a:pt x="396608" y="474765"/>
                    <a:pt x="325122" y="474765"/>
                    <a:pt x="269715" y="438673"/>
                  </a:cubicBezTo>
                  <a:cubicBezTo>
                    <a:pt x="267920" y="437686"/>
                    <a:pt x="265744" y="437686"/>
                    <a:pt x="263949" y="438673"/>
                  </a:cubicBezTo>
                  <a:cubicBezTo>
                    <a:pt x="262200" y="439682"/>
                    <a:pt x="261106" y="441533"/>
                    <a:pt x="261066" y="443552"/>
                  </a:cubicBezTo>
                  <a:lnTo>
                    <a:pt x="261066" y="510085"/>
                  </a:lnTo>
                  <a:cubicBezTo>
                    <a:pt x="261066" y="522333"/>
                    <a:pt x="251137" y="532262"/>
                    <a:pt x="238888" y="532262"/>
                  </a:cubicBezTo>
                  <a:cubicBezTo>
                    <a:pt x="226640" y="532262"/>
                    <a:pt x="216711" y="522333"/>
                    <a:pt x="216711" y="510085"/>
                  </a:cubicBezTo>
                  <a:lnTo>
                    <a:pt x="216711" y="394761"/>
                  </a:lnTo>
                  <a:cubicBezTo>
                    <a:pt x="216747" y="390980"/>
                    <a:pt x="214815" y="387452"/>
                    <a:pt x="211610" y="385446"/>
                  </a:cubicBezTo>
                  <a:cubicBezTo>
                    <a:pt x="193999" y="373929"/>
                    <a:pt x="185506" y="352601"/>
                    <a:pt x="190379" y="332130"/>
                  </a:cubicBezTo>
                  <a:cubicBezTo>
                    <a:pt x="195252" y="311659"/>
                    <a:pt x="212443" y="296445"/>
                    <a:pt x="233355" y="294097"/>
                  </a:cubicBezTo>
                  <a:cubicBezTo>
                    <a:pt x="254266" y="291749"/>
                    <a:pt x="274403" y="302772"/>
                    <a:pt x="283694" y="321652"/>
                  </a:cubicBezTo>
                  <a:cubicBezTo>
                    <a:pt x="292986" y="340533"/>
                    <a:pt x="289434" y="363213"/>
                    <a:pt x="274816" y="378350"/>
                  </a:cubicBezTo>
                  <a:cubicBezTo>
                    <a:pt x="272703" y="380505"/>
                    <a:pt x="272703" y="383956"/>
                    <a:pt x="274816" y="386112"/>
                  </a:cubicBezTo>
                  <a:cubicBezTo>
                    <a:pt x="322352" y="433185"/>
                    <a:pt x="398934" y="433185"/>
                    <a:pt x="446471" y="386112"/>
                  </a:cubicBezTo>
                  <a:cubicBezTo>
                    <a:pt x="448584" y="383956"/>
                    <a:pt x="448584" y="380505"/>
                    <a:pt x="446471" y="378350"/>
                  </a:cubicBezTo>
                  <a:cubicBezTo>
                    <a:pt x="432603" y="363936"/>
                    <a:pt x="428682" y="342634"/>
                    <a:pt x="436508" y="324227"/>
                  </a:cubicBezTo>
                  <a:cubicBezTo>
                    <a:pt x="444335" y="305820"/>
                    <a:pt x="462397" y="293865"/>
                    <a:pt x="482398" y="293853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5">
              <a:extLst>
                <a:ext uri="{FF2B5EF4-FFF2-40B4-BE49-F238E27FC236}">
                  <a16:creationId xmlns:a16="http://schemas.microsoft.com/office/drawing/2014/main" id="{02C530EE-CF91-448F-1282-E8419A2D41BB}"/>
                </a:ext>
              </a:extLst>
            </p:cNvPr>
            <p:cNvSpPr/>
            <p:nvPr/>
          </p:nvSpPr>
          <p:spPr>
            <a:xfrm>
              <a:off x="3496460" y="4256495"/>
              <a:ext cx="532262" cy="532732"/>
            </a:xfrm>
            <a:custGeom>
              <a:avLst/>
              <a:gdLst/>
              <a:ahLst/>
              <a:cxnLst/>
              <a:rect l="0" t="0" r="0" b="0"/>
              <a:pathLst>
                <a:path w="532262" h="532732">
                  <a:moveTo>
                    <a:pt x="51230" y="292327"/>
                  </a:moveTo>
                  <a:cubicBezTo>
                    <a:pt x="36830" y="283640"/>
                    <a:pt x="27919" y="268150"/>
                    <a:pt x="27648" y="251334"/>
                  </a:cubicBezTo>
                  <a:cubicBezTo>
                    <a:pt x="27378" y="234519"/>
                    <a:pt x="35786" y="218750"/>
                    <a:pt x="49899" y="209604"/>
                  </a:cubicBezTo>
                  <a:cubicBezTo>
                    <a:pt x="52432" y="192823"/>
                    <a:pt x="64593" y="179098"/>
                    <a:pt x="80948" y="174564"/>
                  </a:cubicBezTo>
                  <a:cubicBezTo>
                    <a:pt x="84139" y="151225"/>
                    <a:pt x="103966" y="133758"/>
                    <a:pt x="127521" y="133535"/>
                  </a:cubicBezTo>
                  <a:cubicBezTo>
                    <a:pt x="130320" y="133196"/>
                    <a:pt x="133149" y="133196"/>
                    <a:pt x="135948" y="133535"/>
                  </a:cubicBezTo>
                  <a:cubicBezTo>
                    <a:pt x="139758" y="133887"/>
                    <a:pt x="143032" y="136385"/>
                    <a:pt x="144376" y="139967"/>
                  </a:cubicBezTo>
                  <a:cubicBezTo>
                    <a:pt x="145801" y="142830"/>
                    <a:pt x="145801" y="146196"/>
                    <a:pt x="144376" y="149060"/>
                  </a:cubicBezTo>
                  <a:cubicBezTo>
                    <a:pt x="140542" y="160267"/>
                    <a:pt x="138593" y="172033"/>
                    <a:pt x="138610" y="183879"/>
                  </a:cubicBezTo>
                  <a:cubicBezTo>
                    <a:pt x="138495" y="216122"/>
                    <a:pt x="153216" y="246628"/>
                    <a:pt x="178529" y="266601"/>
                  </a:cubicBezTo>
                  <a:cubicBezTo>
                    <a:pt x="180124" y="267791"/>
                    <a:pt x="181353" y="269405"/>
                    <a:pt x="182078" y="271258"/>
                  </a:cubicBezTo>
                  <a:cubicBezTo>
                    <a:pt x="185716" y="280349"/>
                    <a:pt x="190405" y="288983"/>
                    <a:pt x="196050" y="296984"/>
                  </a:cubicBezTo>
                  <a:cubicBezTo>
                    <a:pt x="198585" y="300736"/>
                    <a:pt x="198585" y="305652"/>
                    <a:pt x="196050" y="309404"/>
                  </a:cubicBezTo>
                  <a:cubicBezTo>
                    <a:pt x="187373" y="323744"/>
                    <a:pt x="171998" y="332685"/>
                    <a:pt x="155243" y="333134"/>
                  </a:cubicBezTo>
                  <a:lnTo>
                    <a:pt x="155243" y="355311"/>
                  </a:lnTo>
                  <a:cubicBezTo>
                    <a:pt x="155123" y="364448"/>
                    <a:pt x="147746" y="371825"/>
                    <a:pt x="138610" y="371945"/>
                  </a:cubicBezTo>
                  <a:lnTo>
                    <a:pt x="116432" y="371945"/>
                  </a:lnTo>
                  <a:cubicBezTo>
                    <a:pt x="107296" y="371825"/>
                    <a:pt x="99918" y="364448"/>
                    <a:pt x="99799" y="355311"/>
                  </a:cubicBezTo>
                  <a:lnTo>
                    <a:pt x="99799" y="333134"/>
                  </a:lnTo>
                  <a:cubicBezTo>
                    <a:pt x="76358" y="331790"/>
                    <a:pt x="56594" y="315185"/>
                    <a:pt x="51230" y="292327"/>
                  </a:cubicBezTo>
                  <a:close/>
                  <a:moveTo>
                    <a:pt x="172268" y="184631"/>
                  </a:moveTo>
                  <a:cubicBezTo>
                    <a:pt x="171868" y="160436"/>
                    <a:pt x="183525" y="137626"/>
                    <a:pt x="203368" y="123777"/>
                  </a:cubicBezTo>
                  <a:cubicBezTo>
                    <a:pt x="205803" y="122083"/>
                    <a:pt x="207538" y="119561"/>
                    <a:pt x="208247" y="116680"/>
                  </a:cubicBezTo>
                  <a:cubicBezTo>
                    <a:pt x="212328" y="93599"/>
                    <a:pt x="228643" y="74565"/>
                    <a:pt x="250828" y="67003"/>
                  </a:cubicBezTo>
                  <a:cubicBezTo>
                    <a:pt x="254900" y="65911"/>
                    <a:pt x="257944" y="62519"/>
                    <a:pt x="258590" y="58353"/>
                  </a:cubicBezTo>
                  <a:cubicBezTo>
                    <a:pt x="264019" y="24721"/>
                    <a:pt x="293052" y="0"/>
                    <a:pt x="327119" y="0"/>
                  </a:cubicBezTo>
                  <a:cubicBezTo>
                    <a:pt x="361187" y="0"/>
                    <a:pt x="390219" y="24721"/>
                    <a:pt x="395648" y="58353"/>
                  </a:cubicBezTo>
                  <a:cubicBezTo>
                    <a:pt x="396295" y="62519"/>
                    <a:pt x="399338" y="65911"/>
                    <a:pt x="403410" y="67003"/>
                  </a:cubicBezTo>
                  <a:cubicBezTo>
                    <a:pt x="425424" y="74698"/>
                    <a:pt x="441547" y="93706"/>
                    <a:pt x="445548" y="116680"/>
                  </a:cubicBezTo>
                  <a:cubicBezTo>
                    <a:pt x="446257" y="119560"/>
                    <a:pt x="447992" y="122083"/>
                    <a:pt x="450427" y="123777"/>
                  </a:cubicBezTo>
                  <a:cubicBezTo>
                    <a:pt x="470462" y="137596"/>
                    <a:pt x="482259" y="160521"/>
                    <a:pt x="481858" y="184857"/>
                  </a:cubicBezTo>
                  <a:cubicBezTo>
                    <a:pt x="481457" y="209193"/>
                    <a:pt x="468911" y="231716"/>
                    <a:pt x="448431" y="244867"/>
                  </a:cubicBezTo>
                  <a:cubicBezTo>
                    <a:pt x="445989" y="246249"/>
                    <a:pt x="444224" y="248575"/>
                    <a:pt x="443552" y="251298"/>
                  </a:cubicBezTo>
                  <a:cubicBezTo>
                    <a:pt x="434974" y="284385"/>
                    <a:pt x="406234" y="308305"/>
                    <a:pt x="372140" y="310734"/>
                  </a:cubicBezTo>
                  <a:lnTo>
                    <a:pt x="366817" y="310734"/>
                  </a:lnTo>
                  <a:cubicBezTo>
                    <a:pt x="363726" y="310486"/>
                    <a:pt x="360672" y="311544"/>
                    <a:pt x="358396" y="313651"/>
                  </a:cubicBezTo>
                  <a:cubicBezTo>
                    <a:pt x="356120" y="315758"/>
                    <a:pt x="354831" y="318722"/>
                    <a:pt x="354841" y="321823"/>
                  </a:cubicBezTo>
                  <a:lnTo>
                    <a:pt x="354841" y="355311"/>
                  </a:lnTo>
                  <a:cubicBezTo>
                    <a:pt x="354744" y="364118"/>
                    <a:pt x="347883" y="371366"/>
                    <a:pt x="339095" y="371945"/>
                  </a:cubicBezTo>
                  <a:lnTo>
                    <a:pt x="316918" y="371945"/>
                  </a:lnTo>
                  <a:cubicBezTo>
                    <a:pt x="307781" y="371825"/>
                    <a:pt x="300404" y="364448"/>
                    <a:pt x="300284" y="355311"/>
                  </a:cubicBezTo>
                  <a:lnTo>
                    <a:pt x="300284" y="322045"/>
                  </a:lnTo>
                  <a:cubicBezTo>
                    <a:pt x="300294" y="318944"/>
                    <a:pt x="299005" y="315980"/>
                    <a:pt x="296729" y="313873"/>
                  </a:cubicBezTo>
                  <a:cubicBezTo>
                    <a:pt x="294454" y="311766"/>
                    <a:pt x="291400" y="310708"/>
                    <a:pt x="288308" y="310956"/>
                  </a:cubicBezTo>
                  <a:lnTo>
                    <a:pt x="282099" y="310956"/>
                  </a:lnTo>
                  <a:cubicBezTo>
                    <a:pt x="247648" y="308623"/>
                    <a:pt x="218628" y="284351"/>
                    <a:pt x="210243" y="250855"/>
                  </a:cubicBezTo>
                  <a:cubicBezTo>
                    <a:pt x="209570" y="248131"/>
                    <a:pt x="207806" y="245805"/>
                    <a:pt x="205364" y="244423"/>
                  </a:cubicBezTo>
                  <a:cubicBezTo>
                    <a:pt x="185074" y="231238"/>
                    <a:pt x="172668" y="208826"/>
                    <a:pt x="172268" y="184631"/>
                  </a:cubicBezTo>
                  <a:close/>
                  <a:moveTo>
                    <a:pt x="0" y="421844"/>
                  </a:moveTo>
                  <a:cubicBezTo>
                    <a:pt x="0" y="409596"/>
                    <a:pt x="9929" y="399667"/>
                    <a:pt x="22177" y="399667"/>
                  </a:cubicBezTo>
                  <a:lnTo>
                    <a:pt x="510085" y="399667"/>
                  </a:lnTo>
                  <a:cubicBezTo>
                    <a:pt x="522333" y="399667"/>
                    <a:pt x="532262" y="409596"/>
                    <a:pt x="532262" y="421844"/>
                  </a:cubicBezTo>
                  <a:cubicBezTo>
                    <a:pt x="532262" y="434093"/>
                    <a:pt x="522333" y="444022"/>
                    <a:pt x="510085" y="444022"/>
                  </a:cubicBezTo>
                  <a:lnTo>
                    <a:pt x="22177" y="444022"/>
                  </a:lnTo>
                  <a:cubicBezTo>
                    <a:pt x="9929" y="444022"/>
                    <a:pt x="0" y="434093"/>
                    <a:pt x="0" y="421844"/>
                  </a:cubicBezTo>
                  <a:close/>
                  <a:moveTo>
                    <a:pt x="532262" y="510555"/>
                  </a:moveTo>
                  <a:cubicBezTo>
                    <a:pt x="532262" y="522803"/>
                    <a:pt x="522333" y="532732"/>
                    <a:pt x="510085" y="532732"/>
                  </a:cubicBezTo>
                  <a:lnTo>
                    <a:pt x="22177" y="532732"/>
                  </a:lnTo>
                  <a:cubicBezTo>
                    <a:pt x="9929" y="532732"/>
                    <a:pt x="0" y="522803"/>
                    <a:pt x="0" y="510555"/>
                  </a:cubicBezTo>
                  <a:cubicBezTo>
                    <a:pt x="0" y="498306"/>
                    <a:pt x="9929" y="488377"/>
                    <a:pt x="22177" y="488377"/>
                  </a:cubicBezTo>
                  <a:lnTo>
                    <a:pt x="510085" y="488377"/>
                  </a:lnTo>
                  <a:cubicBezTo>
                    <a:pt x="522333" y="488377"/>
                    <a:pt x="532262" y="498306"/>
                    <a:pt x="532262" y="510555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6">
              <a:extLst>
                <a:ext uri="{FF2B5EF4-FFF2-40B4-BE49-F238E27FC236}">
                  <a16:creationId xmlns:a16="http://schemas.microsoft.com/office/drawing/2014/main" id="{55851D86-98A7-8A75-2938-EF9A9040A11A}"/>
                </a:ext>
              </a:extLst>
            </p:cNvPr>
            <p:cNvSpPr/>
            <p:nvPr/>
          </p:nvSpPr>
          <p:spPr>
            <a:xfrm>
              <a:off x="4913346" y="2835120"/>
              <a:ext cx="534878" cy="537256"/>
            </a:xfrm>
            <a:custGeom>
              <a:avLst/>
              <a:gdLst/>
              <a:ahLst/>
              <a:cxnLst/>
              <a:rect l="0" t="0" r="0" b="0"/>
              <a:pathLst>
                <a:path w="534878" h="537256">
                  <a:moveTo>
                    <a:pt x="183702" y="13737"/>
                  </a:moveTo>
                  <a:cubicBezTo>
                    <a:pt x="186597" y="18862"/>
                    <a:pt x="187336" y="24928"/>
                    <a:pt x="185756" y="30598"/>
                  </a:cubicBezTo>
                  <a:lnTo>
                    <a:pt x="174667" y="70518"/>
                  </a:lnTo>
                  <a:cubicBezTo>
                    <a:pt x="171387" y="82322"/>
                    <a:pt x="159158" y="89230"/>
                    <a:pt x="147354" y="85947"/>
                  </a:cubicBezTo>
                  <a:cubicBezTo>
                    <a:pt x="135551" y="82664"/>
                    <a:pt x="128645" y="70433"/>
                    <a:pt x="131931" y="58631"/>
                  </a:cubicBezTo>
                  <a:lnTo>
                    <a:pt x="143020" y="18711"/>
                  </a:lnTo>
                  <a:cubicBezTo>
                    <a:pt x="146297" y="6910"/>
                    <a:pt x="158519" y="0"/>
                    <a:pt x="170321" y="3275"/>
                  </a:cubicBezTo>
                  <a:cubicBezTo>
                    <a:pt x="175993" y="4849"/>
                    <a:pt x="180806" y="8612"/>
                    <a:pt x="183702" y="13737"/>
                  </a:cubicBezTo>
                  <a:close/>
                  <a:moveTo>
                    <a:pt x="364685" y="3275"/>
                  </a:moveTo>
                  <a:cubicBezTo>
                    <a:pt x="370355" y="1695"/>
                    <a:pt x="376421" y="2435"/>
                    <a:pt x="381546" y="5330"/>
                  </a:cubicBezTo>
                  <a:cubicBezTo>
                    <a:pt x="386671" y="8225"/>
                    <a:pt x="390435" y="13039"/>
                    <a:pt x="392008" y="18711"/>
                  </a:cubicBezTo>
                  <a:lnTo>
                    <a:pt x="403097" y="58631"/>
                  </a:lnTo>
                  <a:cubicBezTo>
                    <a:pt x="406383" y="70433"/>
                    <a:pt x="399477" y="82664"/>
                    <a:pt x="387674" y="85947"/>
                  </a:cubicBezTo>
                  <a:cubicBezTo>
                    <a:pt x="375870" y="89230"/>
                    <a:pt x="363641" y="82322"/>
                    <a:pt x="360361" y="70518"/>
                  </a:cubicBezTo>
                  <a:lnTo>
                    <a:pt x="349272" y="30598"/>
                  </a:lnTo>
                  <a:cubicBezTo>
                    <a:pt x="345980" y="18796"/>
                    <a:pt x="352882" y="6562"/>
                    <a:pt x="364685" y="3275"/>
                  </a:cubicBezTo>
                  <a:close/>
                  <a:moveTo>
                    <a:pt x="328713" y="372843"/>
                  </a:moveTo>
                  <a:lnTo>
                    <a:pt x="323257" y="325649"/>
                  </a:lnTo>
                  <a:cubicBezTo>
                    <a:pt x="323070" y="325068"/>
                    <a:pt x="322777" y="324526"/>
                    <a:pt x="322393" y="324052"/>
                  </a:cubicBezTo>
                  <a:lnTo>
                    <a:pt x="212636" y="324052"/>
                  </a:lnTo>
                  <a:cubicBezTo>
                    <a:pt x="212251" y="324526"/>
                    <a:pt x="211957" y="325068"/>
                    <a:pt x="211771" y="325649"/>
                  </a:cubicBezTo>
                  <a:lnTo>
                    <a:pt x="206293" y="372843"/>
                  </a:lnTo>
                  <a:lnTo>
                    <a:pt x="328669" y="372843"/>
                  </a:lnTo>
                  <a:close/>
                  <a:moveTo>
                    <a:pt x="388393" y="390585"/>
                  </a:moveTo>
                  <a:cubicBezTo>
                    <a:pt x="395046" y="395021"/>
                    <a:pt x="397264" y="403892"/>
                    <a:pt x="397264" y="410545"/>
                  </a:cubicBezTo>
                  <a:lnTo>
                    <a:pt x="397264" y="437158"/>
                  </a:lnTo>
                  <a:cubicBezTo>
                    <a:pt x="397264" y="452682"/>
                    <a:pt x="386175" y="463771"/>
                    <a:pt x="370651" y="463771"/>
                  </a:cubicBezTo>
                  <a:lnTo>
                    <a:pt x="356236" y="463771"/>
                  </a:lnTo>
                  <a:lnTo>
                    <a:pt x="356236" y="477078"/>
                  </a:lnTo>
                  <a:cubicBezTo>
                    <a:pt x="356236" y="489326"/>
                    <a:pt x="346306" y="499255"/>
                    <a:pt x="334058" y="499255"/>
                  </a:cubicBezTo>
                  <a:cubicBezTo>
                    <a:pt x="321810" y="499255"/>
                    <a:pt x="311880" y="489326"/>
                    <a:pt x="311880" y="477078"/>
                  </a:cubicBezTo>
                  <a:lnTo>
                    <a:pt x="311880" y="463771"/>
                  </a:lnTo>
                  <a:lnTo>
                    <a:pt x="223170" y="463771"/>
                  </a:lnTo>
                  <a:lnTo>
                    <a:pt x="223170" y="477078"/>
                  </a:lnTo>
                  <a:cubicBezTo>
                    <a:pt x="223170" y="489326"/>
                    <a:pt x="213241" y="499255"/>
                    <a:pt x="200992" y="499255"/>
                  </a:cubicBezTo>
                  <a:cubicBezTo>
                    <a:pt x="188744" y="499255"/>
                    <a:pt x="178815" y="489326"/>
                    <a:pt x="178815" y="477078"/>
                  </a:cubicBezTo>
                  <a:lnTo>
                    <a:pt x="178815" y="463771"/>
                  </a:lnTo>
                  <a:lnTo>
                    <a:pt x="164399" y="463771"/>
                  </a:lnTo>
                  <a:cubicBezTo>
                    <a:pt x="148875" y="463771"/>
                    <a:pt x="137786" y="452682"/>
                    <a:pt x="137786" y="437158"/>
                  </a:cubicBezTo>
                  <a:lnTo>
                    <a:pt x="137786" y="410545"/>
                  </a:lnTo>
                  <a:cubicBezTo>
                    <a:pt x="137786" y="403892"/>
                    <a:pt x="140004" y="395021"/>
                    <a:pt x="146657" y="390585"/>
                  </a:cubicBezTo>
                  <a:lnTo>
                    <a:pt x="161139" y="377722"/>
                  </a:lnTo>
                  <a:lnTo>
                    <a:pt x="161184" y="377234"/>
                  </a:lnTo>
                  <a:lnTo>
                    <a:pt x="161228" y="376946"/>
                  </a:lnTo>
                  <a:lnTo>
                    <a:pt x="167881" y="319284"/>
                  </a:lnTo>
                  <a:cubicBezTo>
                    <a:pt x="167953" y="318682"/>
                    <a:pt x="168049" y="318082"/>
                    <a:pt x="168169" y="317488"/>
                  </a:cubicBezTo>
                  <a:cubicBezTo>
                    <a:pt x="171962" y="298437"/>
                    <a:pt x="188151" y="279697"/>
                    <a:pt x="212081" y="279697"/>
                  </a:cubicBezTo>
                  <a:lnTo>
                    <a:pt x="322969" y="279697"/>
                  </a:lnTo>
                  <a:cubicBezTo>
                    <a:pt x="346899" y="279697"/>
                    <a:pt x="363088" y="298415"/>
                    <a:pt x="366903" y="317488"/>
                  </a:cubicBezTo>
                  <a:cubicBezTo>
                    <a:pt x="367017" y="318082"/>
                    <a:pt x="367106" y="318682"/>
                    <a:pt x="367169" y="319284"/>
                  </a:cubicBezTo>
                  <a:lnTo>
                    <a:pt x="373822" y="376946"/>
                  </a:lnTo>
                  <a:cubicBezTo>
                    <a:pt x="373858" y="377204"/>
                    <a:pt x="373887" y="377463"/>
                    <a:pt x="373911" y="377722"/>
                  </a:cubicBezTo>
                  <a:close/>
                  <a:moveTo>
                    <a:pt x="423079" y="127381"/>
                  </a:moveTo>
                  <a:lnTo>
                    <a:pt x="445256" y="207221"/>
                  </a:lnTo>
                  <a:cubicBezTo>
                    <a:pt x="448542" y="219023"/>
                    <a:pt x="441636" y="231254"/>
                    <a:pt x="429833" y="234537"/>
                  </a:cubicBezTo>
                  <a:cubicBezTo>
                    <a:pt x="418030" y="237820"/>
                    <a:pt x="405801" y="230912"/>
                    <a:pt x="402520" y="219108"/>
                  </a:cubicBezTo>
                  <a:lnTo>
                    <a:pt x="380343" y="139268"/>
                  </a:lnTo>
                  <a:cubicBezTo>
                    <a:pt x="378127" y="131603"/>
                    <a:pt x="380200" y="123338"/>
                    <a:pt x="385771" y="117626"/>
                  </a:cubicBezTo>
                  <a:cubicBezTo>
                    <a:pt x="391342" y="111914"/>
                    <a:pt x="399552" y="109634"/>
                    <a:pt x="407270" y="111657"/>
                  </a:cubicBezTo>
                  <a:cubicBezTo>
                    <a:pt x="414989" y="113680"/>
                    <a:pt x="421026" y="119693"/>
                    <a:pt x="423079" y="127403"/>
                  </a:cubicBezTo>
                  <a:close/>
                  <a:moveTo>
                    <a:pt x="437517" y="260669"/>
                  </a:moveTo>
                  <a:cubicBezTo>
                    <a:pt x="449257" y="257170"/>
                    <a:pt x="461610" y="263853"/>
                    <a:pt x="465105" y="275594"/>
                  </a:cubicBezTo>
                  <a:lnTo>
                    <a:pt x="489501" y="357651"/>
                  </a:lnTo>
                  <a:cubicBezTo>
                    <a:pt x="492889" y="369356"/>
                    <a:pt x="486199" y="381602"/>
                    <a:pt x="474518" y="385075"/>
                  </a:cubicBezTo>
                  <a:cubicBezTo>
                    <a:pt x="462838" y="388548"/>
                    <a:pt x="450544" y="381947"/>
                    <a:pt x="446986" y="370293"/>
                  </a:cubicBezTo>
                  <a:lnTo>
                    <a:pt x="422591" y="288235"/>
                  </a:lnTo>
                  <a:cubicBezTo>
                    <a:pt x="419107" y="276502"/>
                    <a:pt x="425787" y="264165"/>
                    <a:pt x="437517" y="260669"/>
                  </a:cubicBezTo>
                  <a:close/>
                  <a:moveTo>
                    <a:pt x="509572" y="426801"/>
                  </a:moveTo>
                  <a:lnTo>
                    <a:pt x="531749" y="506640"/>
                  </a:lnTo>
                  <a:cubicBezTo>
                    <a:pt x="534878" y="518388"/>
                    <a:pt x="527965" y="530465"/>
                    <a:pt x="516251" y="533717"/>
                  </a:cubicBezTo>
                  <a:cubicBezTo>
                    <a:pt x="504537" y="536969"/>
                    <a:pt x="492389" y="530184"/>
                    <a:pt x="489013" y="518506"/>
                  </a:cubicBezTo>
                  <a:lnTo>
                    <a:pt x="466835" y="438666"/>
                  </a:lnTo>
                  <a:cubicBezTo>
                    <a:pt x="463556" y="426866"/>
                    <a:pt x="470462" y="414641"/>
                    <a:pt x="482261" y="411359"/>
                  </a:cubicBezTo>
                  <a:cubicBezTo>
                    <a:pt x="494061" y="408077"/>
                    <a:pt x="506287" y="414980"/>
                    <a:pt x="509572" y="426779"/>
                  </a:cubicBezTo>
                  <a:close/>
                  <a:moveTo>
                    <a:pt x="111971" y="127403"/>
                  </a:moveTo>
                  <a:cubicBezTo>
                    <a:pt x="115252" y="115599"/>
                    <a:pt x="127481" y="108691"/>
                    <a:pt x="139284" y="111974"/>
                  </a:cubicBezTo>
                  <a:cubicBezTo>
                    <a:pt x="151088" y="115257"/>
                    <a:pt x="157993" y="127488"/>
                    <a:pt x="154708" y="139291"/>
                  </a:cubicBezTo>
                  <a:lnTo>
                    <a:pt x="132530" y="219130"/>
                  </a:lnTo>
                  <a:cubicBezTo>
                    <a:pt x="129250" y="230934"/>
                    <a:pt x="117020" y="237842"/>
                    <a:pt x="105217" y="234559"/>
                  </a:cubicBezTo>
                  <a:cubicBezTo>
                    <a:pt x="93414" y="231276"/>
                    <a:pt x="86508" y="219045"/>
                    <a:pt x="89794" y="207243"/>
                  </a:cubicBezTo>
                  <a:close/>
                  <a:moveTo>
                    <a:pt x="112459" y="288258"/>
                  </a:moveTo>
                  <a:lnTo>
                    <a:pt x="88064" y="370315"/>
                  </a:lnTo>
                  <a:cubicBezTo>
                    <a:pt x="84506" y="381969"/>
                    <a:pt x="72212" y="388570"/>
                    <a:pt x="60532" y="385098"/>
                  </a:cubicBezTo>
                  <a:cubicBezTo>
                    <a:pt x="48852" y="381625"/>
                    <a:pt x="42161" y="369379"/>
                    <a:pt x="45549" y="357674"/>
                  </a:cubicBezTo>
                  <a:lnTo>
                    <a:pt x="69945" y="275616"/>
                  </a:lnTo>
                  <a:cubicBezTo>
                    <a:pt x="73441" y="263887"/>
                    <a:pt x="85778" y="257207"/>
                    <a:pt x="97512" y="260691"/>
                  </a:cubicBezTo>
                  <a:cubicBezTo>
                    <a:pt x="109250" y="264177"/>
                    <a:pt x="115942" y="276518"/>
                    <a:pt x="112459" y="288258"/>
                  </a:cubicBezTo>
                  <a:close/>
                  <a:moveTo>
                    <a:pt x="25457" y="426801"/>
                  </a:moveTo>
                  <a:cubicBezTo>
                    <a:pt x="28739" y="414994"/>
                    <a:pt x="40972" y="408083"/>
                    <a:pt x="52779" y="411365"/>
                  </a:cubicBezTo>
                  <a:cubicBezTo>
                    <a:pt x="64587" y="414648"/>
                    <a:pt x="71498" y="426881"/>
                    <a:pt x="68215" y="438688"/>
                  </a:cubicBezTo>
                  <a:lnTo>
                    <a:pt x="46037" y="518528"/>
                  </a:lnTo>
                  <a:cubicBezTo>
                    <a:pt x="42763" y="530338"/>
                    <a:pt x="30534" y="537256"/>
                    <a:pt x="18724" y="533979"/>
                  </a:cubicBezTo>
                  <a:cubicBezTo>
                    <a:pt x="6915" y="530702"/>
                    <a:pt x="0" y="518471"/>
                    <a:pt x="3279" y="506663"/>
                  </a:cubicBezTo>
                  <a:lnTo>
                    <a:pt x="25457" y="426823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7">
              <a:extLst>
                <a:ext uri="{FF2B5EF4-FFF2-40B4-BE49-F238E27FC236}">
                  <a16:creationId xmlns:a16="http://schemas.microsoft.com/office/drawing/2014/main" id="{D684D512-8B30-81B2-311F-57FD0EF5C678}"/>
                </a:ext>
              </a:extLst>
            </p:cNvPr>
            <p:cNvSpPr/>
            <p:nvPr/>
          </p:nvSpPr>
          <p:spPr>
            <a:xfrm>
              <a:off x="3500030" y="2841563"/>
              <a:ext cx="523147" cy="522753"/>
            </a:xfrm>
            <a:custGeom>
              <a:avLst/>
              <a:gdLst/>
              <a:ahLst/>
              <a:cxnLst/>
              <a:rect l="0" t="0" r="0" b="0"/>
              <a:pathLst>
                <a:path w="523147" h="522753">
                  <a:moveTo>
                    <a:pt x="193588" y="39436"/>
                  </a:moveTo>
                  <a:lnTo>
                    <a:pt x="120624" y="112467"/>
                  </a:lnTo>
                  <a:lnTo>
                    <a:pt x="368347" y="112467"/>
                  </a:lnTo>
                  <a:lnTo>
                    <a:pt x="295317" y="39436"/>
                  </a:lnTo>
                  <a:cubicBezTo>
                    <a:pt x="289551" y="33868"/>
                    <a:pt x="287239" y="25622"/>
                    <a:pt x="289269" y="17868"/>
                  </a:cubicBezTo>
                  <a:cubicBezTo>
                    <a:pt x="291298" y="10114"/>
                    <a:pt x="297354" y="4059"/>
                    <a:pt x="305108" y="2029"/>
                  </a:cubicBezTo>
                  <a:cubicBezTo>
                    <a:pt x="312862" y="0"/>
                    <a:pt x="321108" y="2312"/>
                    <a:pt x="326676" y="8077"/>
                  </a:cubicBezTo>
                  <a:lnTo>
                    <a:pt x="426475" y="107876"/>
                  </a:lnTo>
                  <a:cubicBezTo>
                    <a:pt x="427854" y="109244"/>
                    <a:pt x="429047" y="110788"/>
                    <a:pt x="430023" y="112467"/>
                  </a:cubicBezTo>
                  <a:lnTo>
                    <a:pt x="446280" y="112467"/>
                  </a:lnTo>
                  <a:cubicBezTo>
                    <a:pt x="460562" y="112467"/>
                    <a:pt x="472516" y="120362"/>
                    <a:pt x="479945" y="130630"/>
                  </a:cubicBezTo>
                  <a:cubicBezTo>
                    <a:pt x="487375" y="140899"/>
                    <a:pt x="491167" y="154627"/>
                    <a:pt x="488173" y="168088"/>
                  </a:cubicBezTo>
                  <a:lnTo>
                    <a:pt x="488129" y="168221"/>
                  </a:lnTo>
                  <a:lnTo>
                    <a:pt x="460251" y="287670"/>
                  </a:lnTo>
                  <a:cubicBezTo>
                    <a:pt x="453465" y="289333"/>
                    <a:pt x="447034" y="291884"/>
                    <a:pt x="441090" y="295210"/>
                  </a:cubicBezTo>
                  <a:cubicBezTo>
                    <a:pt x="411939" y="222578"/>
                    <a:pt x="329427" y="187329"/>
                    <a:pt x="256794" y="216480"/>
                  </a:cubicBezTo>
                  <a:cubicBezTo>
                    <a:pt x="184161" y="245631"/>
                    <a:pt x="148912" y="328143"/>
                    <a:pt x="178064" y="400776"/>
                  </a:cubicBezTo>
                  <a:lnTo>
                    <a:pt x="91438" y="400776"/>
                  </a:lnTo>
                  <a:cubicBezTo>
                    <a:pt x="69837" y="400776"/>
                    <a:pt x="55377" y="385252"/>
                    <a:pt x="49877" y="368796"/>
                  </a:cubicBezTo>
                  <a:lnTo>
                    <a:pt x="49589" y="367820"/>
                  </a:lnTo>
                  <a:lnTo>
                    <a:pt x="3016" y="168088"/>
                  </a:lnTo>
                  <a:cubicBezTo>
                    <a:pt x="0" y="154604"/>
                    <a:pt x="3792" y="140899"/>
                    <a:pt x="11221" y="130653"/>
                  </a:cubicBezTo>
                  <a:cubicBezTo>
                    <a:pt x="18651" y="120362"/>
                    <a:pt x="30605" y="112467"/>
                    <a:pt x="44865" y="112467"/>
                  </a:cubicBezTo>
                  <a:lnTo>
                    <a:pt x="58925" y="112467"/>
                  </a:lnTo>
                  <a:cubicBezTo>
                    <a:pt x="59896" y="110789"/>
                    <a:pt x="61081" y="109246"/>
                    <a:pt x="62452" y="107876"/>
                  </a:cubicBezTo>
                  <a:lnTo>
                    <a:pt x="162251" y="8077"/>
                  </a:lnTo>
                  <a:cubicBezTo>
                    <a:pt x="167819" y="2312"/>
                    <a:pt x="176065" y="0"/>
                    <a:pt x="183819" y="2029"/>
                  </a:cubicBezTo>
                  <a:cubicBezTo>
                    <a:pt x="191573" y="4059"/>
                    <a:pt x="197628" y="10114"/>
                    <a:pt x="199658" y="17868"/>
                  </a:cubicBezTo>
                  <a:cubicBezTo>
                    <a:pt x="201687" y="25622"/>
                    <a:pt x="199375" y="33868"/>
                    <a:pt x="193610" y="39436"/>
                  </a:cubicBezTo>
                  <a:close/>
                  <a:moveTo>
                    <a:pt x="319113" y="296541"/>
                  </a:moveTo>
                  <a:cubicBezTo>
                    <a:pt x="319113" y="272044"/>
                    <a:pt x="338972" y="252186"/>
                    <a:pt x="363468" y="252186"/>
                  </a:cubicBezTo>
                  <a:cubicBezTo>
                    <a:pt x="387965" y="252186"/>
                    <a:pt x="407824" y="272044"/>
                    <a:pt x="407824" y="296541"/>
                  </a:cubicBezTo>
                  <a:cubicBezTo>
                    <a:pt x="407824" y="321038"/>
                    <a:pt x="387965" y="340896"/>
                    <a:pt x="363468" y="340896"/>
                  </a:cubicBezTo>
                  <a:cubicBezTo>
                    <a:pt x="338972" y="340896"/>
                    <a:pt x="319113" y="321038"/>
                    <a:pt x="319113" y="296541"/>
                  </a:cubicBezTo>
                  <a:close/>
                  <a:moveTo>
                    <a:pt x="201572" y="363074"/>
                  </a:moveTo>
                  <a:cubicBezTo>
                    <a:pt x="201572" y="338577"/>
                    <a:pt x="221430" y="318719"/>
                    <a:pt x="245927" y="318719"/>
                  </a:cubicBezTo>
                  <a:cubicBezTo>
                    <a:pt x="270424" y="318719"/>
                    <a:pt x="290282" y="338577"/>
                    <a:pt x="290282" y="363074"/>
                  </a:cubicBezTo>
                  <a:cubicBezTo>
                    <a:pt x="290282" y="387571"/>
                    <a:pt x="270424" y="407429"/>
                    <a:pt x="245927" y="407429"/>
                  </a:cubicBezTo>
                  <a:cubicBezTo>
                    <a:pt x="221430" y="407429"/>
                    <a:pt x="201572" y="387571"/>
                    <a:pt x="201572" y="363074"/>
                  </a:cubicBezTo>
                  <a:close/>
                  <a:moveTo>
                    <a:pt x="434437" y="363074"/>
                  </a:moveTo>
                  <a:cubicBezTo>
                    <a:pt x="434437" y="338577"/>
                    <a:pt x="454295" y="318719"/>
                    <a:pt x="478792" y="318719"/>
                  </a:cubicBezTo>
                  <a:cubicBezTo>
                    <a:pt x="503289" y="318719"/>
                    <a:pt x="523147" y="338577"/>
                    <a:pt x="523147" y="363074"/>
                  </a:cubicBezTo>
                  <a:cubicBezTo>
                    <a:pt x="523147" y="387571"/>
                    <a:pt x="503289" y="407429"/>
                    <a:pt x="478792" y="407429"/>
                  </a:cubicBezTo>
                  <a:cubicBezTo>
                    <a:pt x="454295" y="407429"/>
                    <a:pt x="434437" y="387571"/>
                    <a:pt x="434437" y="363074"/>
                  </a:cubicBezTo>
                  <a:close/>
                  <a:moveTo>
                    <a:pt x="341291" y="389687"/>
                  </a:moveTo>
                  <a:cubicBezTo>
                    <a:pt x="346526" y="382706"/>
                    <a:pt x="354743" y="378598"/>
                    <a:pt x="363468" y="378598"/>
                  </a:cubicBezTo>
                  <a:cubicBezTo>
                    <a:pt x="372194" y="378598"/>
                    <a:pt x="380411" y="382706"/>
                    <a:pt x="385646" y="389687"/>
                  </a:cubicBezTo>
                  <a:lnTo>
                    <a:pt x="452090" y="478264"/>
                  </a:lnTo>
                  <a:cubicBezTo>
                    <a:pt x="467326" y="497559"/>
                    <a:pt x="451292" y="522753"/>
                    <a:pt x="430001" y="522753"/>
                  </a:cubicBezTo>
                  <a:lnTo>
                    <a:pt x="296936" y="522753"/>
                  </a:lnTo>
                  <a:cubicBezTo>
                    <a:pt x="275645" y="522753"/>
                    <a:pt x="259611" y="497559"/>
                    <a:pt x="274847" y="478264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A87D8D7F-AF79-ABDF-BC27-1D02AA7DB96B}"/>
                </a:ext>
              </a:extLst>
            </p:cNvPr>
            <p:cNvSpPr txBox="1"/>
            <p:nvPr/>
          </p:nvSpPr>
          <p:spPr>
            <a:xfrm>
              <a:off x="5830376" y="2646301"/>
              <a:ext cx="1701007" cy="3818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3CC583"/>
                  </a:solidFill>
                  <a:latin typeface="+mj-lt"/>
                </a:rPr>
                <a:t>Ubicación de cajas menos precisa</a:t>
              </a:r>
              <a:endParaRPr sz="2000" b="1" dirty="0">
                <a:solidFill>
                  <a:srgbClr val="3CC583"/>
                </a:solidFill>
                <a:latin typeface="+mj-lt"/>
              </a:endParaRPr>
            </a:p>
          </p:txBody>
        </p:sp>
        <p:sp>
          <p:nvSpPr>
            <p:cNvPr id="16" name="TextBox 19">
              <a:extLst>
                <a:ext uri="{FF2B5EF4-FFF2-40B4-BE49-F238E27FC236}">
                  <a16:creationId xmlns:a16="http://schemas.microsoft.com/office/drawing/2014/main" id="{C034B1FF-2510-CFD8-A671-0135E928F3D3}"/>
                </a:ext>
              </a:extLst>
            </p:cNvPr>
            <p:cNvSpPr txBox="1"/>
            <p:nvPr/>
          </p:nvSpPr>
          <p:spPr>
            <a:xfrm>
              <a:off x="1630677" y="3127991"/>
              <a:ext cx="1422229" cy="400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Falla al detectar múltiples objetos pequeños en una misma región.</a:t>
              </a:r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946CAD56-2D0C-DDA3-2C81-4C8B3CE3C515}"/>
                </a:ext>
              </a:extLst>
            </p:cNvPr>
            <p:cNvSpPr txBox="1"/>
            <p:nvPr/>
          </p:nvSpPr>
          <p:spPr>
            <a:xfrm>
              <a:off x="5830376" y="3102309"/>
              <a:ext cx="1701007" cy="400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Tiende a generar cajas delimitadoras menos precisas</a:t>
              </a:r>
              <a:r>
                <a:rPr lang="es-ES" sz="1400" dirty="0"/>
                <a:t>, especialmente en los bordes.</a:t>
              </a:r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6D08EF36-296F-2B95-F0B4-9C00068D738C}"/>
                </a:ext>
              </a:extLst>
            </p:cNvPr>
            <p:cNvSpPr txBox="1"/>
            <p:nvPr/>
          </p:nvSpPr>
          <p:spPr>
            <a:xfrm>
              <a:off x="1298243" y="2644176"/>
              <a:ext cx="1754664" cy="3818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ES" sz="2000" b="1" dirty="0">
                  <a:solidFill>
                    <a:srgbClr val="92BD39"/>
                  </a:solidFill>
                  <a:latin typeface="+mj-lt"/>
                </a:rPr>
                <a:t>Baja precisión con objetos pequeños</a:t>
              </a:r>
              <a:endParaRPr sz="2000" b="1" dirty="0">
                <a:solidFill>
                  <a:srgbClr val="92BD39"/>
                </a:solidFill>
                <a:latin typeface="+mj-lt"/>
              </a:endParaRPr>
            </a:p>
          </p:txBody>
        </p:sp>
        <p:sp>
          <p:nvSpPr>
            <p:cNvPr id="25" name="TextBox 27">
              <a:extLst>
                <a:ext uri="{FF2B5EF4-FFF2-40B4-BE49-F238E27FC236}">
                  <a16:creationId xmlns:a16="http://schemas.microsoft.com/office/drawing/2014/main" id="{B6C6BC8B-D39D-3436-E809-A7DC97C0083C}"/>
                </a:ext>
              </a:extLst>
            </p:cNvPr>
            <p:cNvSpPr txBox="1"/>
            <p:nvPr/>
          </p:nvSpPr>
          <p:spPr>
            <a:xfrm>
              <a:off x="1298242" y="4081802"/>
              <a:ext cx="1754664" cy="5728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ES" sz="2000" b="1" dirty="0">
                  <a:solidFill>
                    <a:srgbClr val="E0CB15"/>
                  </a:solidFill>
                  <a:latin typeface="+mj-lt"/>
                </a:rPr>
                <a:t>Problemas con objetos que cruzan celdas</a:t>
              </a:r>
              <a:endParaRPr sz="2000" b="1" dirty="0">
                <a:solidFill>
                  <a:srgbClr val="E0CB15"/>
                </a:solidFill>
                <a:latin typeface="+mj-lt"/>
              </a:endParaRPr>
            </a:p>
          </p:txBody>
        </p:sp>
        <p:sp>
          <p:nvSpPr>
            <p:cNvPr id="26" name="TextBox 28">
              <a:extLst>
                <a:ext uri="{FF2B5EF4-FFF2-40B4-BE49-F238E27FC236}">
                  <a16:creationId xmlns:a16="http://schemas.microsoft.com/office/drawing/2014/main" id="{55AF9D3F-C6DC-4587-CD39-3E79DFB51AA2}"/>
                </a:ext>
              </a:extLst>
            </p:cNvPr>
            <p:cNvSpPr txBox="1"/>
            <p:nvPr/>
          </p:nvSpPr>
          <p:spPr>
            <a:xfrm>
              <a:off x="5830376" y="4518042"/>
              <a:ext cx="1352028" cy="400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S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acrifica algo de precisión, especialmente en detecciones complejas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C188E90F-EB9F-EEB5-ECFF-21835ACE3E9F}"/>
                </a:ext>
              </a:extLst>
            </p:cNvPr>
            <p:cNvSpPr txBox="1"/>
            <p:nvPr/>
          </p:nvSpPr>
          <p:spPr>
            <a:xfrm>
              <a:off x="1434692" y="4718534"/>
              <a:ext cx="1618216" cy="400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Si un objeto se encuentra entre dos celdas, puede que ninguna lo detecte correctamente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28" name="TextBox 30">
              <a:extLst>
                <a:ext uri="{FF2B5EF4-FFF2-40B4-BE49-F238E27FC236}">
                  <a16:creationId xmlns:a16="http://schemas.microsoft.com/office/drawing/2014/main" id="{948278E9-EB38-8AC3-95E6-F14B624DFE62}"/>
                </a:ext>
              </a:extLst>
            </p:cNvPr>
            <p:cNvSpPr txBox="1"/>
            <p:nvPr/>
          </p:nvSpPr>
          <p:spPr>
            <a:xfrm>
              <a:off x="5830376" y="4081802"/>
              <a:ext cx="1530136" cy="3818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ES" sz="2000" b="1" dirty="0" err="1">
                  <a:solidFill>
                    <a:srgbClr val="1EABDA"/>
                  </a:solidFill>
                  <a:latin typeface="+mj-lt"/>
                </a:rPr>
                <a:t>Trade</a:t>
              </a:r>
              <a:r>
                <a:rPr lang="es-ES" sz="2000" b="1" dirty="0">
                  <a:solidFill>
                    <a:srgbClr val="1EABDA"/>
                  </a:solidFill>
                  <a:latin typeface="+mj-lt"/>
                </a:rPr>
                <a:t>-off entre rapidez y precisión</a:t>
              </a:r>
              <a:endParaRPr sz="2000" b="1" dirty="0">
                <a:solidFill>
                  <a:srgbClr val="1EABDA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588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and a square&#10;&#10;AI-generated content may be incorrect.">
            <a:extLst>
              <a:ext uri="{FF2B5EF4-FFF2-40B4-BE49-F238E27FC236}">
                <a16:creationId xmlns:a16="http://schemas.microsoft.com/office/drawing/2014/main" id="{BC7CEF28-6506-3127-8AB2-F02377489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586023"/>
            <a:ext cx="3948223" cy="3948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C6096E-6F18-9FDF-6A7E-591FC5C6BA28}"/>
              </a:ext>
            </a:extLst>
          </p:cNvPr>
          <p:cNvSpPr txBox="1"/>
          <p:nvPr/>
        </p:nvSpPr>
        <p:spPr>
          <a:xfrm>
            <a:off x="6096000" y="3298524"/>
            <a:ext cx="48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Veamos cómo funciona…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2403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9127</TotalTime>
  <Words>1703</Words>
  <Application>Microsoft Office PowerPoint</Application>
  <PresentationFormat>Panorámica</PresentationFormat>
  <Paragraphs>155</Paragraphs>
  <Slides>24</Slides>
  <Notes>21</Notes>
  <HiddenSlides>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Bitter</vt:lpstr>
      <vt:lpstr>Arial</vt:lpstr>
      <vt:lpstr>Calibri</vt:lpstr>
      <vt:lpstr>Cambria</vt:lpstr>
      <vt:lpstr>Cambria Math</vt:lpstr>
      <vt:lpstr>Open Sans</vt:lpstr>
      <vt:lpstr>Segoe UI Light</vt:lpstr>
      <vt:lpstr>Template FIC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Anthony Douglas Cho Lo</cp:lastModifiedBy>
  <cp:revision>675</cp:revision>
  <dcterms:created xsi:type="dcterms:W3CDTF">2020-06-07T00:37:01Z</dcterms:created>
  <dcterms:modified xsi:type="dcterms:W3CDTF">2026-05-29T04:46:33Z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