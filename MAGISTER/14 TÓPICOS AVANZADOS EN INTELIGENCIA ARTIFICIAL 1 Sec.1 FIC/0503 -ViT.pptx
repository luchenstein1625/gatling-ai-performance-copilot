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64" r:id="rId5"/>
    <p:sldId id="357" r:id="rId6"/>
    <p:sldId id="365" r:id="rId7"/>
    <p:sldId id="466" r:id="rId8"/>
    <p:sldId id="449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55" r:id="rId20"/>
    <p:sldId id="415" r:id="rId21"/>
    <p:sldId id="416" r:id="rId22"/>
    <p:sldId id="467" r:id="rId23"/>
    <p:sldId id="409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9991CA-E404-4645-BAC6-815AAED2CAC3}">
          <p14:sldIdLst>
            <p14:sldId id="364"/>
            <p14:sldId id="357"/>
            <p14:sldId id="365"/>
            <p14:sldId id="466"/>
            <p14:sldId id="449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55"/>
            <p14:sldId id="415"/>
            <p14:sldId id="416"/>
            <p14:sldId id="467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CC"/>
    <a:srgbClr val="C7B613"/>
    <a:srgbClr val="06070C"/>
    <a:srgbClr val="8CBB23"/>
    <a:srgbClr val="24C679"/>
    <a:srgbClr val="353274"/>
    <a:srgbClr val="00B2D2"/>
    <a:srgbClr val="FFFFFF"/>
    <a:srgbClr val="00CAF2"/>
    <a:srgbClr val="4D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9A64D-7C55-2840-C072-F9058C5698AE}" v="1" dt="2024-08-16T20:21:03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3" autoAdjust="0"/>
    <p:restoredTop sz="95254" autoAdjust="0"/>
  </p:normalViewPr>
  <p:slideViewPr>
    <p:cSldViewPr snapToGrid="0" showGuides="1">
      <p:cViewPr varScale="1">
        <p:scale>
          <a:sx n="108" d="100"/>
          <a:sy n="108" d="100"/>
        </p:scale>
        <p:origin x="152" y="56"/>
      </p:cViewPr>
      <p:guideLst>
        <p:guide orient="horz" pos="2183"/>
        <p:guide pos="3545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94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2A44-475D-EAAD-769F-480DAB1B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1CF25-B4FA-5849-2B59-010621A91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41F40-F234-DE85-94F4-8EAA49179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B72F3-30AC-C3EF-5BB8-538C44FB5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6797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9D98-06D5-AA5C-BEFF-20737B9E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49511-2D89-7B0F-9D6F-60475102A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A337D-20B9-9B66-DA18-A87356FF0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F12B-89B7-7C31-736D-6779C9EA9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9416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4491-6813-5E5D-851F-C07674C9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8BD5F-0F81-98A0-91D8-CBEE7528C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28481-280F-5259-2BA0-36D68CC4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48F24-A9C6-25AA-AB7D-0C14A7DF5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515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8225-50A8-41E4-1987-9ADE64BD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1CDB7-D228-B4DF-E92A-95853538F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5361A-8FF0-675A-C62D-1EB92F17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DE391-A59C-5590-F1CB-C19DE0C8F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841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06FE-97BA-70E4-8017-98C920F4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8DCCF-4F73-7CFE-CE0A-3A6CE1097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B11F2-B303-C3CD-09A4-95B9522B7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C3ECA-2EAC-3230-7D31-4A08E8809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6242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FB18-1CE8-ED64-0C65-388C36F5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959CE-08F4-A52A-96C5-CB2DEBE88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9EC29-37AD-27E8-60D3-A48D62334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5607F-7542-BE5B-1E04-C3A9D71B3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5725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D62C-FBD1-AD0B-7702-79EB8D4C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6FFE9-33C7-6B69-92C1-62DB0BBA1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2AB02-A897-21FB-1E45-08FE48F8C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399B-BA22-D0FD-C481-FD8FC6E94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2030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D500-C21C-707C-B79F-787BD3E5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87AD9-9521-43C9-2EC5-7349584B0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65B9A-A348-A154-9A9C-7DED9981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B0A9A-BF6B-7E2F-CD67-59728DFDC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5943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99B8-C3FE-20B1-6794-29F9A935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D3135-BC39-5825-6F26-DA6B280C4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1DD96-7D3B-0706-7465-4578A5948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01327-7576-E604-47EF-6155B3427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7250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60A6-AC98-91F9-F7BC-2122E916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E7501-353D-C882-E4C3-83F5E7DF9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5D0E0-C14A-4B1C-3632-B783447DE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0CD0F-5797-4610-0B0A-B6D1A1098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7904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F5BCD-A803-A972-A5F5-75730B99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63C65-564C-A748-8221-903F89559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B4EBE-ABDC-F7C7-8D7E-828C2C955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https://towardsdatascience.com/what-are-vision-transformers-and-how-are-they-important-for-general-purpose-learning-edd008545e9e/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13DF5-FA51-A19B-8C8C-A399D8678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5247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ED3EE-2023-D232-7717-ECC2E77D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6A39C-CAE1-017D-DDDF-57ACCD66F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EF491-B5D5-1E7A-D085-4E23A62A7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https://towardsdatascience.com/what-are-vision-transformers-and-how-are-they-important-for-general-purpose-learning-edd008545e9e/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3C1A8-0790-9E90-C68F-1F652E002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0803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7D08-E727-BA51-BD98-3859E9EF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DD59-4DA4-19DF-1CBA-A2CFCE8EC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39123-8CF7-C034-4BBA-F6C93853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501A-BD1E-D288-35A2-5E96E3A3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04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Ventajas de </a:t>
            </a:r>
            <a:r>
              <a:rPr lang="es-ES" b="1" dirty="0" err="1"/>
              <a:t>ViT</a:t>
            </a:r>
            <a:r>
              <a:rPr lang="es-ES" b="1" dirty="0"/>
              <a:t> (</a:t>
            </a:r>
            <a:r>
              <a:rPr lang="es-ES" b="1" dirty="0" err="1"/>
              <a:t>Vision</a:t>
            </a:r>
            <a:r>
              <a:rPr lang="es-ES" b="1" dirty="0"/>
              <a:t> </a:t>
            </a:r>
            <a:r>
              <a:rPr lang="es-ES" b="1" dirty="0" err="1"/>
              <a:t>Transformer</a:t>
            </a:r>
            <a:r>
              <a:rPr lang="es-ES" b="1" dirty="0"/>
              <a:t>)</a:t>
            </a:r>
          </a:p>
          <a:p>
            <a:endParaRPr lang="es-ES" b="1" dirty="0"/>
          </a:p>
          <a:p>
            <a:r>
              <a:rPr lang="es-ES" b="1" dirty="0"/>
              <a:t>Captura relaciones globales en la imagen</a:t>
            </a:r>
            <a:br>
              <a:rPr lang="es-ES" dirty="0"/>
            </a:br>
            <a:r>
              <a:rPr lang="es-ES" dirty="0"/>
              <a:t>Gracias al mecanismo de atención, </a:t>
            </a:r>
            <a:r>
              <a:rPr lang="es-ES" dirty="0" err="1"/>
              <a:t>ViT</a:t>
            </a:r>
            <a:r>
              <a:rPr lang="es-ES" dirty="0"/>
              <a:t> puede identificar relaciones entre partes distantes de una imagen mejor que las CNN tradicionales, que tienden a centrarse en regiones locales.</a:t>
            </a:r>
          </a:p>
          <a:p>
            <a:endParaRPr lang="es-ES" b="1" dirty="0"/>
          </a:p>
          <a:p>
            <a:r>
              <a:rPr lang="es-ES" b="1" dirty="0"/>
              <a:t>Escalable y flexible</a:t>
            </a:r>
            <a:br>
              <a:rPr lang="es-ES" dirty="0"/>
            </a:br>
            <a:r>
              <a:rPr lang="es-ES" dirty="0"/>
              <a:t>La arquitectura </a:t>
            </a:r>
            <a:r>
              <a:rPr lang="es-ES" dirty="0" err="1"/>
              <a:t>Transformer</a:t>
            </a:r>
            <a:r>
              <a:rPr lang="es-ES" dirty="0"/>
              <a:t> es más modular y se adapta fácilmente a distintas tareas de visión (clasificación, segmentación, detección) sin muchos cambios estructurales.</a:t>
            </a:r>
          </a:p>
          <a:p>
            <a:endParaRPr lang="es-ES" b="1" dirty="0"/>
          </a:p>
          <a:p>
            <a:r>
              <a:rPr lang="es-ES" b="1" dirty="0"/>
              <a:t>Reutilización de avances en NLP</a:t>
            </a:r>
            <a:br>
              <a:rPr lang="es-ES" dirty="0"/>
            </a:br>
            <a:r>
              <a:rPr lang="es-ES" dirty="0" err="1"/>
              <a:t>ViT</a:t>
            </a:r>
            <a:r>
              <a:rPr lang="es-ES" dirty="0"/>
              <a:t> hereda los beneficios del ecosistema </a:t>
            </a:r>
            <a:r>
              <a:rPr lang="es-ES" dirty="0" err="1"/>
              <a:t>Transformer</a:t>
            </a:r>
            <a:r>
              <a:rPr lang="es-ES" dirty="0"/>
              <a:t>, como técnicas de entrenamiento y escalado ya probadas en lenguaje natural.</a:t>
            </a:r>
          </a:p>
          <a:p>
            <a:endParaRPr lang="es-ES" b="1" dirty="0"/>
          </a:p>
          <a:p>
            <a:r>
              <a:rPr lang="es-ES" b="1" dirty="0"/>
              <a:t>Alto rendimiento con grandes </a:t>
            </a:r>
            <a:r>
              <a:rPr lang="es-ES" b="1" dirty="0" err="1"/>
              <a:t>datasets</a:t>
            </a:r>
            <a:br>
              <a:rPr lang="es-ES" dirty="0"/>
            </a:br>
            <a:r>
              <a:rPr lang="es-ES" dirty="0"/>
              <a:t>Supera a las CNN en precisión cuando se entrena con grandes cantidades de datos (por ejemplo, en ImageNet-21k o JFT-300M).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6759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Desventajas de </a:t>
            </a:r>
            <a:r>
              <a:rPr lang="es-ES" b="1" dirty="0" err="1"/>
              <a:t>ViT</a:t>
            </a:r>
            <a:endParaRPr lang="es-ES" b="1" dirty="0"/>
          </a:p>
          <a:p>
            <a:endParaRPr lang="es-ES" b="1" dirty="0"/>
          </a:p>
          <a:p>
            <a:r>
              <a:rPr lang="es-ES" b="1" dirty="0"/>
              <a:t>Necesita muchos datos para rendir bien</a:t>
            </a:r>
            <a:br>
              <a:rPr lang="es-ES" dirty="0"/>
            </a:br>
            <a:r>
              <a:rPr lang="es-ES" dirty="0"/>
              <a:t>A diferencia de las CNN, que generalizan bien con pocos datos, </a:t>
            </a:r>
            <a:r>
              <a:rPr lang="es-ES" dirty="0" err="1"/>
              <a:t>ViT</a:t>
            </a:r>
            <a:r>
              <a:rPr lang="es-ES" dirty="0"/>
              <a:t> tiende a tener bajo rendimiento si se entrena desde cero en </a:t>
            </a:r>
            <a:r>
              <a:rPr lang="es-ES" dirty="0" err="1"/>
              <a:t>datasets</a:t>
            </a:r>
            <a:r>
              <a:rPr lang="es-ES" dirty="0"/>
              <a:t> pequeños.</a:t>
            </a:r>
          </a:p>
          <a:p>
            <a:endParaRPr lang="es-ES" b="1" dirty="0"/>
          </a:p>
          <a:p>
            <a:r>
              <a:rPr lang="es-ES" b="1" dirty="0"/>
              <a:t>Entrenamiento costoso</a:t>
            </a:r>
            <a:br>
              <a:rPr lang="es-ES" dirty="0"/>
            </a:br>
            <a:r>
              <a:rPr lang="es-ES" dirty="0"/>
              <a:t>Requiere </a:t>
            </a:r>
            <a:r>
              <a:rPr lang="es-ES" b="1" dirty="0"/>
              <a:t>más poder computacional</a:t>
            </a:r>
            <a:r>
              <a:rPr lang="es-ES" dirty="0"/>
              <a:t> para entrenarse eficientemente (memoria y tiempo), especialmente en comparación con redes convolucionales optimizadas.</a:t>
            </a:r>
          </a:p>
          <a:p>
            <a:endParaRPr lang="es-ES" b="1" dirty="0"/>
          </a:p>
          <a:p>
            <a:r>
              <a:rPr lang="es-ES" b="1" dirty="0"/>
              <a:t>Menor inductiva </a:t>
            </a:r>
            <a:r>
              <a:rPr lang="es-ES" b="1" dirty="0" err="1"/>
              <a:t>bias</a:t>
            </a:r>
            <a:r>
              <a:rPr lang="es-ES" b="1" dirty="0"/>
              <a:t> visual</a:t>
            </a:r>
            <a:br>
              <a:rPr lang="es-ES" dirty="0"/>
            </a:br>
            <a:r>
              <a:rPr lang="es-ES" dirty="0"/>
              <a:t>No aprovecha ciertas propiedades de las imágenes (como la localización espacial y la jerarquía de patrones), lo que las CNN captan de forma natural gracias a la convolución.</a:t>
            </a:r>
          </a:p>
          <a:p>
            <a:endParaRPr lang="es-ES" b="1" dirty="0"/>
          </a:p>
          <a:p>
            <a:r>
              <a:rPr lang="es-ES" b="1" dirty="0"/>
              <a:t>Más difícil de interpretar</a:t>
            </a:r>
            <a:br>
              <a:rPr lang="es-ES" dirty="0"/>
            </a:br>
            <a:r>
              <a:rPr lang="es-ES" dirty="0"/>
              <a:t>Los mecanismos de atención pueden ser complejos de visualizar o entender, lo que puede dificultar la explicación de por qué el modelo toma ciertas decisiones.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4359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486-E236-8358-DCEB-1852ECBF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B24EA-58D6-FD37-F996-D9AD6F248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E479B-069A-73D5-E1BB-32C5219B9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34B5D-9F55-552C-8911-7D73B4BDF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85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4678" y="329162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Tópicos avanzados en Inteligencia Artificial 1 | 2026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010.1192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EA85186-DB61-44DB-AC9B-36382C9DEAE5}"/>
              </a:ext>
            </a:extLst>
          </p:cNvPr>
          <p:cNvSpPr txBox="1"/>
          <p:nvPr/>
        </p:nvSpPr>
        <p:spPr>
          <a:xfrm>
            <a:off x="-247794" y="223086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E4D25E6-1475-41EF-BF64-AD8F37820790}"/>
              </a:ext>
            </a:extLst>
          </p:cNvPr>
          <p:cNvSpPr txBox="1"/>
          <p:nvPr/>
        </p:nvSpPr>
        <p:spPr>
          <a:xfrm>
            <a:off x="-247794" y="442161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26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E8F19A-4B94-46D7-848B-682BCA26792F}"/>
              </a:ext>
            </a:extLst>
          </p:cNvPr>
          <p:cNvGrpSpPr/>
          <p:nvPr/>
        </p:nvGrpSpPr>
        <p:grpSpPr>
          <a:xfrm>
            <a:off x="4664487" y="2820152"/>
            <a:ext cx="2810041" cy="471179"/>
            <a:chOff x="4146859" y="3656362"/>
            <a:chExt cx="4114181" cy="689853"/>
          </a:xfrm>
        </p:grpSpPr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DC30F01A-AFA6-4122-99C9-6AB759A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859" y="3656362"/>
              <a:ext cx="362934" cy="667689"/>
            </a:xfrm>
            <a:custGeom>
              <a:avLst/>
              <a:gdLst>
                <a:gd name="T0" fmla="*/ 146 w 151"/>
                <a:gd name="T1" fmla="*/ 63 h 276"/>
                <a:gd name="T2" fmla="*/ 141 w 151"/>
                <a:gd name="T3" fmla="*/ 82 h 276"/>
                <a:gd name="T4" fmla="*/ 123 w 151"/>
                <a:gd name="T5" fmla="*/ 82 h 276"/>
                <a:gd name="T6" fmla="*/ 129 w 151"/>
                <a:gd name="T7" fmla="*/ 58 h 276"/>
                <a:gd name="T8" fmla="*/ 132 w 151"/>
                <a:gd name="T9" fmla="*/ 41 h 276"/>
                <a:gd name="T10" fmla="*/ 104 w 151"/>
                <a:gd name="T11" fmla="*/ 16 h 276"/>
                <a:gd name="T12" fmla="*/ 75 w 151"/>
                <a:gd name="T13" fmla="*/ 32 h 276"/>
                <a:gd name="T14" fmla="*/ 62 w 151"/>
                <a:gd name="T15" fmla="*/ 77 h 276"/>
                <a:gd name="T16" fmla="*/ 75 w 151"/>
                <a:gd name="T17" fmla="*/ 112 h 276"/>
                <a:gd name="T18" fmla="*/ 96 w 151"/>
                <a:gd name="T19" fmla="*/ 142 h 276"/>
                <a:gd name="T20" fmla="*/ 112 w 151"/>
                <a:gd name="T21" fmla="*/ 170 h 276"/>
                <a:gd name="T22" fmla="*/ 116 w 151"/>
                <a:gd name="T23" fmla="*/ 195 h 276"/>
                <a:gd name="T24" fmla="*/ 92 w 151"/>
                <a:gd name="T25" fmla="*/ 262 h 276"/>
                <a:gd name="T26" fmla="*/ 50 w 151"/>
                <a:gd name="T27" fmla="*/ 276 h 276"/>
                <a:gd name="T28" fmla="*/ 0 w 151"/>
                <a:gd name="T29" fmla="*/ 233 h 276"/>
                <a:gd name="T30" fmla="*/ 5 w 151"/>
                <a:gd name="T31" fmla="*/ 202 h 276"/>
                <a:gd name="T32" fmla="*/ 10 w 151"/>
                <a:gd name="T33" fmla="*/ 184 h 276"/>
                <a:gd name="T34" fmla="*/ 28 w 151"/>
                <a:gd name="T35" fmla="*/ 184 h 276"/>
                <a:gd name="T36" fmla="*/ 23 w 151"/>
                <a:gd name="T37" fmla="*/ 205 h 276"/>
                <a:gd name="T38" fmla="*/ 20 w 151"/>
                <a:gd name="T39" fmla="*/ 217 h 276"/>
                <a:gd name="T40" fmla="*/ 18 w 151"/>
                <a:gd name="T41" fmla="*/ 231 h 276"/>
                <a:gd name="T42" fmla="*/ 51 w 151"/>
                <a:gd name="T43" fmla="*/ 260 h 276"/>
                <a:gd name="T44" fmla="*/ 82 w 151"/>
                <a:gd name="T45" fmla="*/ 249 h 276"/>
                <a:gd name="T46" fmla="*/ 97 w 151"/>
                <a:gd name="T47" fmla="*/ 196 h 276"/>
                <a:gd name="T48" fmla="*/ 81 w 151"/>
                <a:gd name="T49" fmla="*/ 153 h 276"/>
                <a:gd name="T50" fmla="*/ 59 w 151"/>
                <a:gd name="T51" fmla="*/ 123 h 276"/>
                <a:gd name="T52" fmla="*/ 44 w 151"/>
                <a:gd name="T53" fmla="*/ 76 h 276"/>
                <a:gd name="T54" fmla="*/ 51 w 151"/>
                <a:gd name="T55" fmla="*/ 39 h 276"/>
                <a:gd name="T56" fmla="*/ 106 w 151"/>
                <a:gd name="T57" fmla="*/ 0 h 276"/>
                <a:gd name="T58" fmla="*/ 150 w 151"/>
                <a:gd name="T59" fmla="*/ 36 h 276"/>
                <a:gd name="T60" fmla="*/ 146 w 151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1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4" y="16"/>
                  </a:cubicBezTo>
                  <a:cubicBezTo>
                    <a:pt x="90" y="16"/>
                    <a:pt x="81" y="20"/>
                    <a:pt x="75" y="32"/>
                  </a:cubicBezTo>
                  <a:cubicBezTo>
                    <a:pt x="68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0"/>
                  </a:cubicBezTo>
                  <a:cubicBezTo>
                    <a:pt x="114" y="178"/>
                    <a:pt x="116" y="186"/>
                    <a:pt x="116" y="195"/>
                  </a:cubicBezTo>
                  <a:cubicBezTo>
                    <a:pt x="115" y="222"/>
                    <a:pt x="106" y="249"/>
                    <a:pt x="92" y="262"/>
                  </a:cubicBezTo>
                  <a:cubicBezTo>
                    <a:pt x="82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1" y="221"/>
                    <a:pt x="5" y="202"/>
                  </a:cubicBezTo>
                  <a:cubicBezTo>
                    <a:pt x="10" y="184"/>
                    <a:pt x="10" y="184"/>
                    <a:pt x="10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2" y="212"/>
                    <a:pt x="21" y="216"/>
                    <a:pt x="20" y="217"/>
                  </a:cubicBezTo>
                  <a:cubicBezTo>
                    <a:pt x="19" y="222"/>
                    <a:pt x="19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2" y="249"/>
                  </a:cubicBezTo>
                  <a:cubicBezTo>
                    <a:pt x="91" y="238"/>
                    <a:pt x="97" y="216"/>
                    <a:pt x="97" y="196"/>
                  </a:cubicBezTo>
                  <a:cubicBezTo>
                    <a:pt x="98" y="182"/>
                    <a:pt x="93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4" y="92"/>
                    <a:pt x="44" y="76"/>
                  </a:cubicBezTo>
                  <a:cubicBezTo>
                    <a:pt x="44" y="65"/>
                    <a:pt x="47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1" y="14"/>
                    <a:pt x="150" y="36"/>
                  </a:cubicBezTo>
                  <a:cubicBezTo>
                    <a:pt x="150" y="43"/>
                    <a:pt x="150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27AC7932-D805-4175-AD4B-448F80B1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974" y="3670215"/>
              <a:ext cx="385097" cy="656607"/>
            </a:xfrm>
            <a:custGeom>
              <a:avLst/>
              <a:gdLst>
                <a:gd name="T0" fmla="*/ 109 w 160"/>
                <a:gd name="T1" fmla="*/ 212 h 272"/>
                <a:gd name="T2" fmla="*/ 96 w 160"/>
                <a:gd name="T3" fmla="*/ 250 h 272"/>
                <a:gd name="T4" fmla="*/ 49 w 160"/>
                <a:gd name="T5" fmla="*/ 272 h 272"/>
                <a:gd name="T6" fmla="*/ 0 w 160"/>
                <a:gd name="T7" fmla="*/ 233 h 272"/>
                <a:gd name="T8" fmla="*/ 4 w 160"/>
                <a:gd name="T9" fmla="*/ 204 h 272"/>
                <a:gd name="T10" fmla="*/ 54 w 160"/>
                <a:gd name="T11" fmla="*/ 0 h 272"/>
                <a:gd name="T12" fmla="*/ 72 w 160"/>
                <a:gd name="T13" fmla="*/ 0 h 272"/>
                <a:gd name="T14" fmla="*/ 22 w 160"/>
                <a:gd name="T15" fmla="*/ 208 h 272"/>
                <a:gd name="T16" fmla="*/ 19 w 160"/>
                <a:gd name="T17" fmla="*/ 231 h 272"/>
                <a:gd name="T18" fmla="*/ 50 w 160"/>
                <a:gd name="T19" fmla="*/ 255 h 272"/>
                <a:gd name="T20" fmla="*/ 72 w 160"/>
                <a:gd name="T21" fmla="*/ 250 h 272"/>
                <a:gd name="T22" fmla="*/ 92 w 160"/>
                <a:gd name="T23" fmla="*/ 207 h 272"/>
                <a:gd name="T24" fmla="*/ 142 w 160"/>
                <a:gd name="T25" fmla="*/ 1 h 272"/>
                <a:gd name="T26" fmla="*/ 160 w 160"/>
                <a:gd name="T27" fmla="*/ 1 h 272"/>
                <a:gd name="T28" fmla="*/ 109 w 160"/>
                <a:gd name="T29" fmla="*/ 21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272">
                  <a:moveTo>
                    <a:pt x="109" y="212"/>
                  </a:moveTo>
                  <a:cubicBezTo>
                    <a:pt x="105" y="228"/>
                    <a:pt x="101" y="242"/>
                    <a:pt x="96" y="250"/>
                  </a:cubicBezTo>
                  <a:cubicBezTo>
                    <a:pt x="87" y="265"/>
                    <a:pt x="71" y="272"/>
                    <a:pt x="49" y="272"/>
                  </a:cubicBezTo>
                  <a:cubicBezTo>
                    <a:pt x="18" y="272"/>
                    <a:pt x="0" y="258"/>
                    <a:pt x="0" y="233"/>
                  </a:cubicBezTo>
                  <a:cubicBezTo>
                    <a:pt x="0" y="226"/>
                    <a:pt x="1" y="220"/>
                    <a:pt x="4" y="20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2" y="208"/>
                    <a:pt x="22" y="208"/>
                    <a:pt x="22" y="208"/>
                  </a:cubicBezTo>
                  <a:cubicBezTo>
                    <a:pt x="20" y="217"/>
                    <a:pt x="19" y="225"/>
                    <a:pt x="19" y="231"/>
                  </a:cubicBezTo>
                  <a:cubicBezTo>
                    <a:pt x="18" y="246"/>
                    <a:pt x="30" y="255"/>
                    <a:pt x="50" y="255"/>
                  </a:cubicBezTo>
                  <a:cubicBezTo>
                    <a:pt x="59" y="255"/>
                    <a:pt x="67" y="254"/>
                    <a:pt x="72" y="250"/>
                  </a:cubicBezTo>
                  <a:cubicBezTo>
                    <a:pt x="81" y="244"/>
                    <a:pt x="86" y="234"/>
                    <a:pt x="92" y="207"/>
                  </a:cubicBezTo>
                  <a:cubicBezTo>
                    <a:pt x="142" y="1"/>
                    <a:pt x="142" y="1"/>
                    <a:pt x="142" y="1"/>
                  </a:cubicBezTo>
                  <a:cubicBezTo>
                    <a:pt x="160" y="1"/>
                    <a:pt x="160" y="1"/>
                    <a:pt x="160" y="1"/>
                  </a:cubicBezTo>
                  <a:lnTo>
                    <a:pt x="109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61465C2B-7B9B-4B25-88DB-C2AA6465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778" y="3664674"/>
              <a:ext cx="362934" cy="664918"/>
            </a:xfrm>
            <a:custGeom>
              <a:avLst/>
              <a:gdLst>
                <a:gd name="T0" fmla="*/ 146 w 150"/>
                <a:gd name="T1" fmla="*/ 63 h 276"/>
                <a:gd name="T2" fmla="*/ 141 w 150"/>
                <a:gd name="T3" fmla="*/ 82 h 276"/>
                <a:gd name="T4" fmla="*/ 123 w 150"/>
                <a:gd name="T5" fmla="*/ 82 h 276"/>
                <a:gd name="T6" fmla="*/ 129 w 150"/>
                <a:gd name="T7" fmla="*/ 58 h 276"/>
                <a:gd name="T8" fmla="*/ 132 w 150"/>
                <a:gd name="T9" fmla="*/ 41 h 276"/>
                <a:gd name="T10" fmla="*/ 103 w 150"/>
                <a:gd name="T11" fmla="*/ 16 h 276"/>
                <a:gd name="T12" fmla="*/ 74 w 150"/>
                <a:gd name="T13" fmla="*/ 32 h 276"/>
                <a:gd name="T14" fmla="*/ 62 w 150"/>
                <a:gd name="T15" fmla="*/ 77 h 276"/>
                <a:gd name="T16" fmla="*/ 75 w 150"/>
                <a:gd name="T17" fmla="*/ 112 h 276"/>
                <a:gd name="T18" fmla="*/ 96 w 150"/>
                <a:gd name="T19" fmla="*/ 142 h 276"/>
                <a:gd name="T20" fmla="*/ 112 w 150"/>
                <a:gd name="T21" fmla="*/ 171 h 276"/>
                <a:gd name="T22" fmla="*/ 115 w 150"/>
                <a:gd name="T23" fmla="*/ 195 h 276"/>
                <a:gd name="T24" fmla="*/ 92 w 150"/>
                <a:gd name="T25" fmla="*/ 262 h 276"/>
                <a:gd name="T26" fmla="*/ 50 w 150"/>
                <a:gd name="T27" fmla="*/ 276 h 276"/>
                <a:gd name="T28" fmla="*/ 0 w 150"/>
                <a:gd name="T29" fmla="*/ 233 h 276"/>
                <a:gd name="T30" fmla="*/ 5 w 150"/>
                <a:gd name="T31" fmla="*/ 202 h 276"/>
                <a:gd name="T32" fmla="*/ 9 w 150"/>
                <a:gd name="T33" fmla="*/ 184 h 276"/>
                <a:gd name="T34" fmla="*/ 28 w 150"/>
                <a:gd name="T35" fmla="*/ 184 h 276"/>
                <a:gd name="T36" fmla="*/ 23 w 150"/>
                <a:gd name="T37" fmla="*/ 205 h 276"/>
                <a:gd name="T38" fmla="*/ 20 w 150"/>
                <a:gd name="T39" fmla="*/ 217 h 276"/>
                <a:gd name="T40" fmla="*/ 18 w 150"/>
                <a:gd name="T41" fmla="*/ 231 h 276"/>
                <a:gd name="T42" fmla="*/ 51 w 150"/>
                <a:gd name="T43" fmla="*/ 260 h 276"/>
                <a:gd name="T44" fmla="*/ 81 w 150"/>
                <a:gd name="T45" fmla="*/ 249 h 276"/>
                <a:gd name="T46" fmla="*/ 97 w 150"/>
                <a:gd name="T47" fmla="*/ 196 h 276"/>
                <a:gd name="T48" fmla="*/ 81 w 150"/>
                <a:gd name="T49" fmla="*/ 153 h 276"/>
                <a:gd name="T50" fmla="*/ 59 w 150"/>
                <a:gd name="T51" fmla="*/ 123 h 276"/>
                <a:gd name="T52" fmla="*/ 43 w 150"/>
                <a:gd name="T53" fmla="*/ 76 h 276"/>
                <a:gd name="T54" fmla="*/ 51 w 150"/>
                <a:gd name="T55" fmla="*/ 39 h 276"/>
                <a:gd name="T56" fmla="*/ 106 w 150"/>
                <a:gd name="T57" fmla="*/ 0 h 276"/>
                <a:gd name="T58" fmla="*/ 150 w 150"/>
                <a:gd name="T59" fmla="*/ 36 h 276"/>
                <a:gd name="T60" fmla="*/ 146 w 150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3" y="16"/>
                  </a:cubicBezTo>
                  <a:cubicBezTo>
                    <a:pt x="90" y="16"/>
                    <a:pt x="81" y="20"/>
                    <a:pt x="74" y="32"/>
                  </a:cubicBezTo>
                  <a:cubicBezTo>
                    <a:pt x="67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1"/>
                  </a:cubicBezTo>
                  <a:cubicBezTo>
                    <a:pt x="114" y="178"/>
                    <a:pt x="115" y="186"/>
                    <a:pt x="115" y="195"/>
                  </a:cubicBezTo>
                  <a:cubicBezTo>
                    <a:pt x="115" y="222"/>
                    <a:pt x="105" y="249"/>
                    <a:pt x="92" y="262"/>
                  </a:cubicBezTo>
                  <a:cubicBezTo>
                    <a:pt x="81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0" y="221"/>
                    <a:pt x="5" y="20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1" y="212"/>
                    <a:pt x="21" y="216"/>
                    <a:pt x="20" y="217"/>
                  </a:cubicBezTo>
                  <a:cubicBezTo>
                    <a:pt x="19" y="222"/>
                    <a:pt x="18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1" y="249"/>
                  </a:cubicBezTo>
                  <a:cubicBezTo>
                    <a:pt x="90" y="238"/>
                    <a:pt x="97" y="216"/>
                    <a:pt x="97" y="196"/>
                  </a:cubicBezTo>
                  <a:cubicBezTo>
                    <a:pt x="97" y="182"/>
                    <a:pt x="92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3" y="92"/>
                    <a:pt x="43" y="76"/>
                  </a:cubicBezTo>
                  <a:cubicBezTo>
                    <a:pt x="44" y="65"/>
                    <a:pt x="46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0" y="14"/>
                    <a:pt x="150" y="36"/>
                  </a:cubicBezTo>
                  <a:cubicBezTo>
                    <a:pt x="150" y="43"/>
                    <a:pt x="149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40948CE2-4865-4C3C-B1A7-288609C1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3" y="3675756"/>
              <a:ext cx="307524" cy="648295"/>
            </a:xfrm>
            <a:custGeom>
              <a:avLst/>
              <a:gdLst>
                <a:gd name="T0" fmla="*/ 108 w 111"/>
                <a:gd name="T1" fmla="*/ 15 h 234"/>
                <a:gd name="T2" fmla="*/ 69 w 111"/>
                <a:gd name="T3" fmla="*/ 15 h 234"/>
                <a:gd name="T4" fmla="*/ 17 w 111"/>
                <a:gd name="T5" fmla="*/ 234 h 234"/>
                <a:gd name="T6" fmla="*/ 0 w 111"/>
                <a:gd name="T7" fmla="*/ 234 h 234"/>
                <a:gd name="T8" fmla="*/ 52 w 111"/>
                <a:gd name="T9" fmla="*/ 15 h 234"/>
                <a:gd name="T10" fmla="*/ 13 w 111"/>
                <a:gd name="T11" fmla="*/ 15 h 234"/>
                <a:gd name="T12" fmla="*/ 17 w 111"/>
                <a:gd name="T13" fmla="*/ 0 h 234"/>
                <a:gd name="T14" fmla="*/ 111 w 111"/>
                <a:gd name="T15" fmla="*/ 1 h 234"/>
                <a:gd name="T16" fmla="*/ 108 w 111"/>
                <a:gd name="T17" fmla="*/ 1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34">
                  <a:moveTo>
                    <a:pt x="108" y="15"/>
                  </a:moveTo>
                  <a:lnTo>
                    <a:pt x="69" y="15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52" y="15"/>
                  </a:lnTo>
                  <a:lnTo>
                    <a:pt x="13" y="15"/>
                  </a:lnTo>
                  <a:lnTo>
                    <a:pt x="17" y="0"/>
                  </a:lnTo>
                  <a:lnTo>
                    <a:pt x="111" y="1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A6DA7523-8198-43CA-A281-DFC5A6B7B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6302" y="3675756"/>
              <a:ext cx="335229" cy="651066"/>
            </a:xfrm>
            <a:custGeom>
              <a:avLst/>
              <a:gdLst>
                <a:gd name="T0" fmla="*/ 53 w 121"/>
                <a:gd name="T1" fmla="*/ 148 h 235"/>
                <a:gd name="T2" fmla="*/ 96 w 121"/>
                <a:gd name="T3" fmla="*/ 148 h 235"/>
                <a:gd name="T4" fmla="*/ 107 w 121"/>
                <a:gd name="T5" fmla="*/ 19 h 235"/>
                <a:gd name="T6" fmla="*/ 53 w 121"/>
                <a:gd name="T7" fmla="*/ 148 h 235"/>
                <a:gd name="T8" fmla="*/ 107 w 121"/>
                <a:gd name="T9" fmla="*/ 235 h 235"/>
                <a:gd name="T10" fmla="*/ 91 w 121"/>
                <a:gd name="T11" fmla="*/ 235 h 235"/>
                <a:gd name="T12" fmla="*/ 96 w 121"/>
                <a:gd name="T13" fmla="*/ 164 h 235"/>
                <a:gd name="T14" fmla="*/ 47 w 121"/>
                <a:gd name="T15" fmla="*/ 163 h 235"/>
                <a:gd name="T16" fmla="*/ 16 w 121"/>
                <a:gd name="T17" fmla="*/ 235 h 235"/>
                <a:gd name="T18" fmla="*/ 0 w 121"/>
                <a:gd name="T19" fmla="*/ 235 h 235"/>
                <a:gd name="T20" fmla="*/ 99 w 121"/>
                <a:gd name="T21" fmla="*/ 0 h 235"/>
                <a:gd name="T22" fmla="*/ 121 w 121"/>
                <a:gd name="T23" fmla="*/ 0 h 235"/>
                <a:gd name="T24" fmla="*/ 107 w 121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235">
                  <a:moveTo>
                    <a:pt x="53" y="148"/>
                  </a:moveTo>
                  <a:lnTo>
                    <a:pt x="96" y="148"/>
                  </a:lnTo>
                  <a:lnTo>
                    <a:pt x="107" y="19"/>
                  </a:lnTo>
                  <a:lnTo>
                    <a:pt x="53" y="148"/>
                  </a:lnTo>
                  <a:close/>
                  <a:moveTo>
                    <a:pt x="107" y="235"/>
                  </a:moveTo>
                  <a:lnTo>
                    <a:pt x="91" y="235"/>
                  </a:lnTo>
                  <a:lnTo>
                    <a:pt x="96" y="164"/>
                  </a:lnTo>
                  <a:lnTo>
                    <a:pt x="47" y="163"/>
                  </a:lnTo>
                  <a:lnTo>
                    <a:pt x="16" y="235"/>
                  </a:lnTo>
                  <a:lnTo>
                    <a:pt x="0" y="235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07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DAA9A62C-8587-447A-AA3B-4F9C7977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811" y="3684067"/>
              <a:ext cx="196704" cy="642754"/>
            </a:xfrm>
            <a:custGeom>
              <a:avLst/>
              <a:gdLst>
                <a:gd name="T0" fmla="*/ 16 w 71"/>
                <a:gd name="T1" fmla="*/ 232 h 232"/>
                <a:gd name="T2" fmla="*/ 0 w 71"/>
                <a:gd name="T3" fmla="*/ 232 h 232"/>
                <a:gd name="T4" fmla="*/ 56 w 71"/>
                <a:gd name="T5" fmla="*/ 0 h 232"/>
                <a:gd name="T6" fmla="*/ 71 w 71"/>
                <a:gd name="T7" fmla="*/ 0 h 232"/>
                <a:gd name="T8" fmla="*/ 16 w 71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32">
                  <a:moveTo>
                    <a:pt x="16" y="232"/>
                  </a:moveTo>
                  <a:lnTo>
                    <a:pt x="0" y="232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16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503B5E5-5612-4DAA-A5A9-642D640E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909" y="3684067"/>
              <a:ext cx="412802" cy="648295"/>
            </a:xfrm>
            <a:custGeom>
              <a:avLst/>
              <a:gdLst>
                <a:gd name="T0" fmla="*/ 93 w 149"/>
                <a:gd name="T1" fmla="*/ 234 h 234"/>
                <a:gd name="T2" fmla="*/ 68 w 149"/>
                <a:gd name="T3" fmla="*/ 234 h 234"/>
                <a:gd name="T4" fmla="*/ 66 w 149"/>
                <a:gd name="T5" fmla="*/ 17 h 234"/>
                <a:gd name="T6" fmla="*/ 16 w 149"/>
                <a:gd name="T7" fmla="*/ 233 h 234"/>
                <a:gd name="T8" fmla="*/ 0 w 149"/>
                <a:gd name="T9" fmla="*/ 233 h 234"/>
                <a:gd name="T10" fmla="*/ 56 w 149"/>
                <a:gd name="T11" fmla="*/ 0 h 234"/>
                <a:gd name="T12" fmla="*/ 80 w 149"/>
                <a:gd name="T13" fmla="*/ 1 h 234"/>
                <a:gd name="T14" fmla="*/ 83 w 149"/>
                <a:gd name="T15" fmla="*/ 224 h 234"/>
                <a:gd name="T16" fmla="*/ 134 w 149"/>
                <a:gd name="T17" fmla="*/ 1 h 234"/>
                <a:gd name="T18" fmla="*/ 149 w 149"/>
                <a:gd name="T19" fmla="*/ 1 h 234"/>
                <a:gd name="T20" fmla="*/ 93 w 149"/>
                <a:gd name="T2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34">
                  <a:moveTo>
                    <a:pt x="93" y="234"/>
                  </a:moveTo>
                  <a:lnTo>
                    <a:pt x="68" y="234"/>
                  </a:lnTo>
                  <a:lnTo>
                    <a:pt x="66" y="17"/>
                  </a:lnTo>
                  <a:lnTo>
                    <a:pt x="16" y="233"/>
                  </a:lnTo>
                  <a:lnTo>
                    <a:pt x="0" y="233"/>
                  </a:lnTo>
                  <a:lnTo>
                    <a:pt x="56" y="0"/>
                  </a:lnTo>
                  <a:lnTo>
                    <a:pt x="80" y="1"/>
                  </a:lnTo>
                  <a:lnTo>
                    <a:pt x="83" y="224"/>
                  </a:lnTo>
                  <a:lnTo>
                    <a:pt x="134" y="1"/>
                  </a:lnTo>
                  <a:lnTo>
                    <a:pt x="149" y="1"/>
                  </a:lnTo>
                  <a:lnTo>
                    <a:pt x="93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E7F3BB04-B1BF-4565-BB5B-F1AE9CB24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1860" y="3686838"/>
              <a:ext cx="340770" cy="651066"/>
            </a:xfrm>
            <a:custGeom>
              <a:avLst/>
              <a:gdLst>
                <a:gd name="T0" fmla="*/ 53 w 123"/>
                <a:gd name="T1" fmla="*/ 148 h 235"/>
                <a:gd name="T2" fmla="*/ 98 w 123"/>
                <a:gd name="T3" fmla="*/ 148 h 235"/>
                <a:gd name="T4" fmla="*/ 108 w 123"/>
                <a:gd name="T5" fmla="*/ 17 h 235"/>
                <a:gd name="T6" fmla="*/ 53 w 123"/>
                <a:gd name="T7" fmla="*/ 148 h 235"/>
                <a:gd name="T8" fmla="*/ 108 w 123"/>
                <a:gd name="T9" fmla="*/ 235 h 235"/>
                <a:gd name="T10" fmla="*/ 91 w 123"/>
                <a:gd name="T11" fmla="*/ 234 h 235"/>
                <a:gd name="T12" fmla="*/ 97 w 123"/>
                <a:gd name="T13" fmla="*/ 164 h 235"/>
                <a:gd name="T14" fmla="*/ 47 w 123"/>
                <a:gd name="T15" fmla="*/ 163 h 235"/>
                <a:gd name="T16" fmla="*/ 17 w 123"/>
                <a:gd name="T17" fmla="*/ 234 h 235"/>
                <a:gd name="T18" fmla="*/ 0 w 123"/>
                <a:gd name="T19" fmla="*/ 234 h 235"/>
                <a:gd name="T20" fmla="*/ 100 w 123"/>
                <a:gd name="T21" fmla="*/ 0 h 235"/>
                <a:gd name="T22" fmla="*/ 123 w 123"/>
                <a:gd name="T23" fmla="*/ 0 h 235"/>
                <a:gd name="T24" fmla="*/ 108 w 123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35">
                  <a:moveTo>
                    <a:pt x="53" y="148"/>
                  </a:moveTo>
                  <a:lnTo>
                    <a:pt x="98" y="148"/>
                  </a:lnTo>
                  <a:lnTo>
                    <a:pt x="108" y="17"/>
                  </a:lnTo>
                  <a:lnTo>
                    <a:pt x="53" y="148"/>
                  </a:lnTo>
                  <a:close/>
                  <a:moveTo>
                    <a:pt x="108" y="235"/>
                  </a:moveTo>
                  <a:lnTo>
                    <a:pt x="91" y="234"/>
                  </a:lnTo>
                  <a:lnTo>
                    <a:pt x="97" y="164"/>
                  </a:lnTo>
                  <a:lnTo>
                    <a:pt x="47" y="163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100" y="0"/>
                  </a:lnTo>
                  <a:lnTo>
                    <a:pt x="123" y="0"/>
                  </a:lnTo>
                  <a:lnTo>
                    <a:pt x="108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4FA503D0-C63C-47F8-B45F-437E5B96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5138" y="3692379"/>
              <a:ext cx="351852" cy="648295"/>
            </a:xfrm>
            <a:custGeom>
              <a:avLst/>
              <a:gdLst>
                <a:gd name="T0" fmla="*/ 96 w 146"/>
                <a:gd name="T1" fmla="*/ 17 h 269"/>
                <a:gd name="T2" fmla="*/ 78 w 146"/>
                <a:gd name="T3" fmla="*/ 17 h 269"/>
                <a:gd name="T4" fmla="*/ 54 w 146"/>
                <a:gd name="T5" fmla="*/ 116 h 269"/>
                <a:gd name="T6" fmla="*/ 72 w 146"/>
                <a:gd name="T7" fmla="*/ 116 h 269"/>
                <a:gd name="T8" fmla="*/ 104 w 146"/>
                <a:gd name="T9" fmla="*/ 109 h 269"/>
                <a:gd name="T10" fmla="*/ 119 w 146"/>
                <a:gd name="T11" fmla="*/ 83 h 269"/>
                <a:gd name="T12" fmla="*/ 126 w 146"/>
                <a:gd name="T13" fmla="*/ 54 h 269"/>
                <a:gd name="T14" fmla="*/ 127 w 146"/>
                <a:gd name="T15" fmla="*/ 42 h 269"/>
                <a:gd name="T16" fmla="*/ 96 w 146"/>
                <a:gd name="T17" fmla="*/ 17 h 269"/>
                <a:gd name="T18" fmla="*/ 69 w 146"/>
                <a:gd name="T19" fmla="*/ 132 h 269"/>
                <a:gd name="T20" fmla="*/ 51 w 146"/>
                <a:gd name="T21" fmla="*/ 132 h 269"/>
                <a:gd name="T22" fmla="*/ 22 w 146"/>
                <a:gd name="T23" fmla="*/ 252 h 269"/>
                <a:gd name="T24" fmla="*/ 46 w 146"/>
                <a:gd name="T25" fmla="*/ 252 h 269"/>
                <a:gd name="T26" fmla="*/ 82 w 146"/>
                <a:gd name="T27" fmla="*/ 245 h 269"/>
                <a:gd name="T28" fmla="*/ 98 w 146"/>
                <a:gd name="T29" fmla="*/ 211 h 269"/>
                <a:gd name="T30" fmla="*/ 106 w 146"/>
                <a:gd name="T31" fmla="*/ 179 h 269"/>
                <a:gd name="T32" fmla="*/ 108 w 146"/>
                <a:gd name="T33" fmla="*/ 163 h 269"/>
                <a:gd name="T34" fmla="*/ 69 w 146"/>
                <a:gd name="T35" fmla="*/ 132 h 269"/>
                <a:gd name="T36" fmla="*/ 144 w 146"/>
                <a:gd name="T37" fmla="*/ 54 h 269"/>
                <a:gd name="T38" fmla="*/ 138 w 146"/>
                <a:gd name="T39" fmla="*/ 81 h 269"/>
                <a:gd name="T40" fmla="*/ 136 w 146"/>
                <a:gd name="T41" fmla="*/ 90 h 269"/>
                <a:gd name="T42" fmla="*/ 123 w 146"/>
                <a:gd name="T43" fmla="*/ 114 h 269"/>
                <a:gd name="T44" fmla="*/ 96 w 146"/>
                <a:gd name="T45" fmla="*/ 123 h 269"/>
                <a:gd name="T46" fmla="*/ 127 w 146"/>
                <a:gd name="T47" fmla="*/ 160 h 269"/>
                <a:gd name="T48" fmla="*/ 124 w 146"/>
                <a:gd name="T49" fmla="*/ 181 h 269"/>
                <a:gd name="T50" fmla="*/ 116 w 146"/>
                <a:gd name="T51" fmla="*/ 213 h 269"/>
                <a:gd name="T52" fmla="*/ 95 w 146"/>
                <a:gd name="T53" fmla="*/ 257 h 269"/>
                <a:gd name="T54" fmla="*/ 81 w 146"/>
                <a:gd name="T55" fmla="*/ 265 h 269"/>
                <a:gd name="T56" fmla="*/ 43 w 146"/>
                <a:gd name="T57" fmla="*/ 268 h 269"/>
                <a:gd name="T58" fmla="*/ 0 w 146"/>
                <a:gd name="T59" fmla="*/ 268 h 269"/>
                <a:gd name="T60" fmla="*/ 64 w 146"/>
                <a:gd name="T61" fmla="*/ 0 h 269"/>
                <a:gd name="T62" fmla="*/ 97 w 146"/>
                <a:gd name="T63" fmla="*/ 1 h 269"/>
                <a:gd name="T64" fmla="*/ 118 w 146"/>
                <a:gd name="T65" fmla="*/ 2 h 269"/>
                <a:gd name="T66" fmla="*/ 140 w 146"/>
                <a:gd name="T67" fmla="*/ 16 h 269"/>
                <a:gd name="T68" fmla="*/ 146 w 146"/>
                <a:gd name="T69" fmla="*/ 38 h 269"/>
                <a:gd name="T70" fmla="*/ 144 w 146"/>
                <a:gd name="T71" fmla="*/ 5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269">
                  <a:moveTo>
                    <a:pt x="96" y="17"/>
                  </a:moveTo>
                  <a:cubicBezTo>
                    <a:pt x="78" y="17"/>
                    <a:pt x="78" y="17"/>
                    <a:pt x="78" y="17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85" y="116"/>
                    <a:pt x="97" y="114"/>
                    <a:pt x="104" y="109"/>
                  </a:cubicBezTo>
                  <a:cubicBezTo>
                    <a:pt x="112" y="105"/>
                    <a:pt x="115" y="98"/>
                    <a:pt x="119" y="83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0"/>
                    <a:pt x="127" y="46"/>
                    <a:pt x="127" y="42"/>
                  </a:cubicBezTo>
                  <a:cubicBezTo>
                    <a:pt x="128" y="23"/>
                    <a:pt x="120" y="17"/>
                    <a:pt x="96" y="17"/>
                  </a:cubicBezTo>
                  <a:moveTo>
                    <a:pt x="69" y="132"/>
                  </a:moveTo>
                  <a:cubicBezTo>
                    <a:pt x="51" y="132"/>
                    <a:pt x="51" y="132"/>
                    <a:pt x="51" y="132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46" y="252"/>
                    <a:pt x="46" y="252"/>
                    <a:pt x="46" y="252"/>
                  </a:cubicBezTo>
                  <a:cubicBezTo>
                    <a:pt x="64" y="252"/>
                    <a:pt x="74" y="250"/>
                    <a:pt x="82" y="245"/>
                  </a:cubicBezTo>
                  <a:cubicBezTo>
                    <a:pt x="89" y="240"/>
                    <a:pt x="93" y="233"/>
                    <a:pt x="98" y="211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7" y="173"/>
                    <a:pt x="108" y="168"/>
                    <a:pt x="108" y="163"/>
                  </a:cubicBezTo>
                  <a:cubicBezTo>
                    <a:pt x="108" y="143"/>
                    <a:pt x="95" y="133"/>
                    <a:pt x="69" y="132"/>
                  </a:cubicBezTo>
                  <a:moveTo>
                    <a:pt x="144" y="54"/>
                  </a:moveTo>
                  <a:cubicBezTo>
                    <a:pt x="138" y="81"/>
                    <a:pt x="138" y="81"/>
                    <a:pt x="138" y="81"/>
                  </a:cubicBezTo>
                  <a:cubicBezTo>
                    <a:pt x="138" y="84"/>
                    <a:pt x="137" y="87"/>
                    <a:pt x="136" y="90"/>
                  </a:cubicBezTo>
                  <a:cubicBezTo>
                    <a:pt x="131" y="104"/>
                    <a:pt x="129" y="108"/>
                    <a:pt x="123" y="114"/>
                  </a:cubicBezTo>
                  <a:cubicBezTo>
                    <a:pt x="116" y="120"/>
                    <a:pt x="109" y="122"/>
                    <a:pt x="96" y="123"/>
                  </a:cubicBezTo>
                  <a:cubicBezTo>
                    <a:pt x="115" y="125"/>
                    <a:pt x="127" y="140"/>
                    <a:pt x="127" y="160"/>
                  </a:cubicBezTo>
                  <a:cubicBezTo>
                    <a:pt x="127" y="167"/>
                    <a:pt x="126" y="174"/>
                    <a:pt x="124" y="181"/>
                  </a:cubicBezTo>
                  <a:cubicBezTo>
                    <a:pt x="116" y="213"/>
                    <a:pt x="116" y="213"/>
                    <a:pt x="116" y="213"/>
                  </a:cubicBezTo>
                  <a:cubicBezTo>
                    <a:pt x="110" y="238"/>
                    <a:pt x="105" y="249"/>
                    <a:pt x="95" y="257"/>
                  </a:cubicBezTo>
                  <a:cubicBezTo>
                    <a:pt x="91" y="260"/>
                    <a:pt x="86" y="263"/>
                    <a:pt x="81" y="265"/>
                  </a:cubicBezTo>
                  <a:cubicBezTo>
                    <a:pt x="71" y="268"/>
                    <a:pt x="67" y="269"/>
                    <a:pt x="43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105" y="1"/>
                    <a:pt x="113" y="1"/>
                    <a:pt x="118" y="2"/>
                  </a:cubicBezTo>
                  <a:cubicBezTo>
                    <a:pt x="127" y="3"/>
                    <a:pt x="135" y="9"/>
                    <a:pt x="140" y="16"/>
                  </a:cubicBezTo>
                  <a:cubicBezTo>
                    <a:pt x="145" y="22"/>
                    <a:pt x="146" y="29"/>
                    <a:pt x="146" y="38"/>
                  </a:cubicBezTo>
                  <a:cubicBezTo>
                    <a:pt x="146" y="44"/>
                    <a:pt x="145" y="49"/>
                    <a:pt x="144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561322BD-2030-49E1-BE63-C18DF90F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2400" y="3695149"/>
              <a:ext cx="224409" cy="648295"/>
            </a:xfrm>
            <a:custGeom>
              <a:avLst/>
              <a:gdLst>
                <a:gd name="T0" fmla="*/ 77 w 81"/>
                <a:gd name="T1" fmla="*/ 234 h 234"/>
                <a:gd name="T2" fmla="*/ 0 w 81"/>
                <a:gd name="T3" fmla="*/ 234 h 234"/>
                <a:gd name="T4" fmla="*/ 56 w 81"/>
                <a:gd name="T5" fmla="*/ 0 h 234"/>
                <a:gd name="T6" fmla="*/ 72 w 81"/>
                <a:gd name="T7" fmla="*/ 0 h 234"/>
                <a:gd name="T8" fmla="*/ 20 w 81"/>
                <a:gd name="T9" fmla="*/ 219 h 234"/>
                <a:gd name="T10" fmla="*/ 81 w 81"/>
                <a:gd name="T11" fmla="*/ 220 h 234"/>
                <a:gd name="T12" fmla="*/ 77 w 81"/>
                <a:gd name="T13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34">
                  <a:moveTo>
                    <a:pt x="77" y="234"/>
                  </a:moveTo>
                  <a:lnTo>
                    <a:pt x="0" y="234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20" y="219"/>
                  </a:lnTo>
                  <a:lnTo>
                    <a:pt x="81" y="220"/>
                  </a:lnTo>
                  <a:lnTo>
                    <a:pt x="7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068B0263-4BDA-4266-8231-46359A09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253" y="3697920"/>
              <a:ext cx="376787" cy="648295"/>
            </a:xfrm>
            <a:custGeom>
              <a:avLst/>
              <a:gdLst>
                <a:gd name="T0" fmla="*/ 0 w 136"/>
                <a:gd name="T1" fmla="*/ 234 h 234"/>
                <a:gd name="T2" fmla="*/ 82 w 136"/>
                <a:gd name="T3" fmla="*/ 234 h 234"/>
                <a:gd name="T4" fmla="*/ 86 w 136"/>
                <a:gd name="T5" fmla="*/ 220 h 234"/>
                <a:gd name="T6" fmla="*/ 19 w 136"/>
                <a:gd name="T7" fmla="*/ 219 h 234"/>
                <a:gd name="T8" fmla="*/ 43 w 136"/>
                <a:gd name="T9" fmla="*/ 119 h 234"/>
                <a:gd name="T10" fmla="*/ 97 w 136"/>
                <a:gd name="T11" fmla="*/ 120 h 234"/>
                <a:gd name="T12" fmla="*/ 101 w 136"/>
                <a:gd name="T13" fmla="*/ 106 h 234"/>
                <a:gd name="T14" fmla="*/ 47 w 136"/>
                <a:gd name="T15" fmla="*/ 105 h 234"/>
                <a:gd name="T16" fmla="*/ 68 w 136"/>
                <a:gd name="T17" fmla="*/ 15 h 234"/>
                <a:gd name="T18" fmla="*/ 133 w 136"/>
                <a:gd name="T19" fmla="*/ 16 h 234"/>
                <a:gd name="T20" fmla="*/ 136 w 136"/>
                <a:gd name="T21" fmla="*/ 1 h 234"/>
                <a:gd name="T22" fmla="*/ 55 w 136"/>
                <a:gd name="T23" fmla="*/ 0 h 234"/>
                <a:gd name="T24" fmla="*/ 0 w 136"/>
                <a:gd name="T2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34">
                  <a:moveTo>
                    <a:pt x="0" y="234"/>
                  </a:moveTo>
                  <a:lnTo>
                    <a:pt x="82" y="234"/>
                  </a:lnTo>
                  <a:lnTo>
                    <a:pt x="86" y="220"/>
                  </a:lnTo>
                  <a:lnTo>
                    <a:pt x="19" y="219"/>
                  </a:lnTo>
                  <a:lnTo>
                    <a:pt x="43" y="119"/>
                  </a:lnTo>
                  <a:lnTo>
                    <a:pt x="97" y="120"/>
                  </a:lnTo>
                  <a:lnTo>
                    <a:pt x="101" y="106"/>
                  </a:lnTo>
                  <a:lnTo>
                    <a:pt x="47" y="105"/>
                  </a:lnTo>
                  <a:lnTo>
                    <a:pt x="68" y="15"/>
                  </a:lnTo>
                  <a:lnTo>
                    <a:pt x="133" y="16"/>
                  </a:lnTo>
                  <a:lnTo>
                    <a:pt x="136" y="1"/>
                  </a:lnTo>
                  <a:lnTo>
                    <a:pt x="55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7" name="Freeform 95">
            <a:extLst>
              <a:ext uri="{FF2B5EF4-FFF2-40B4-BE49-F238E27FC236}">
                <a16:creationId xmlns:a16="http://schemas.microsoft.com/office/drawing/2014/main" id="{0D9202B9-F851-497E-96DB-D38290B25AE9}"/>
              </a:ext>
            </a:extLst>
          </p:cNvPr>
          <p:cNvSpPr>
            <a:spLocks/>
          </p:cNvSpPr>
          <p:nvPr/>
        </p:nvSpPr>
        <p:spPr bwMode="auto">
          <a:xfrm>
            <a:off x="6394033" y="2286528"/>
            <a:ext cx="389810" cy="399273"/>
          </a:xfrm>
          <a:custGeom>
            <a:avLst/>
            <a:gdLst>
              <a:gd name="T0" fmla="*/ 124 w 206"/>
              <a:gd name="T1" fmla="*/ 84 h 211"/>
              <a:gd name="T2" fmla="*/ 124 w 206"/>
              <a:gd name="T3" fmla="*/ 0 h 211"/>
              <a:gd name="T4" fmla="*/ 81 w 206"/>
              <a:gd name="T5" fmla="*/ 0 h 211"/>
              <a:gd name="T6" fmla="*/ 81 w 206"/>
              <a:gd name="T7" fmla="*/ 84 h 211"/>
              <a:gd name="T8" fmla="*/ 0 w 206"/>
              <a:gd name="T9" fmla="*/ 84 h 211"/>
              <a:gd name="T10" fmla="*/ 0 w 206"/>
              <a:gd name="T11" fmla="*/ 127 h 211"/>
              <a:gd name="T12" fmla="*/ 81 w 206"/>
              <a:gd name="T13" fmla="*/ 127 h 211"/>
              <a:gd name="T14" fmla="*/ 81 w 206"/>
              <a:gd name="T15" fmla="*/ 211 h 211"/>
              <a:gd name="T16" fmla="*/ 124 w 206"/>
              <a:gd name="T17" fmla="*/ 211 h 211"/>
              <a:gd name="T18" fmla="*/ 124 w 206"/>
              <a:gd name="T19" fmla="*/ 127 h 211"/>
              <a:gd name="T20" fmla="*/ 206 w 206"/>
              <a:gd name="T21" fmla="*/ 127 h 211"/>
              <a:gd name="T22" fmla="*/ 206 w 206"/>
              <a:gd name="T23" fmla="*/ 84 h 211"/>
              <a:gd name="T24" fmla="*/ 124 w 206"/>
              <a:gd name="T25" fmla="*/ 84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6" h="211">
                <a:moveTo>
                  <a:pt x="124" y="84"/>
                </a:moveTo>
                <a:lnTo>
                  <a:pt x="124" y="0"/>
                </a:lnTo>
                <a:lnTo>
                  <a:pt x="81" y="0"/>
                </a:lnTo>
                <a:lnTo>
                  <a:pt x="81" y="84"/>
                </a:lnTo>
                <a:lnTo>
                  <a:pt x="0" y="84"/>
                </a:lnTo>
                <a:lnTo>
                  <a:pt x="0" y="127"/>
                </a:lnTo>
                <a:lnTo>
                  <a:pt x="81" y="127"/>
                </a:lnTo>
                <a:lnTo>
                  <a:pt x="81" y="211"/>
                </a:lnTo>
                <a:lnTo>
                  <a:pt x="124" y="211"/>
                </a:lnTo>
                <a:lnTo>
                  <a:pt x="124" y="127"/>
                </a:lnTo>
                <a:lnTo>
                  <a:pt x="206" y="127"/>
                </a:lnTo>
                <a:lnTo>
                  <a:pt x="206" y="84"/>
                </a:lnTo>
                <a:lnTo>
                  <a:pt x="124" y="84"/>
                </a:lnTo>
                <a:close/>
              </a:path>
            </a:pathLst>
          </a:custGeom>
          <a:solidFill>
            <a:srgbClr val="00B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02F83BB-8FC6-4DDA-B771-A0F42907B01F}"/>
              </a:ext>
            </a:extLst>
          </p:cNvPr>
          <p:cNvGrpSpPr/>
          <p:nvPr/>
        </p:nvGrpSpPr>
        <p:grpSpPr>
          <a:xfrm>
            <a:off x="4748077" y="2271174"/>
            <a:ext cx="1494903" cy="437118"/>
            <a:chOff x="4254909" y="2850150"/>
            <a:chExt cx="2188688" cy="639984"/>
          </a:xfrm>
        </p:grpSpPr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BCD3F546-2F0E-4B03-8564-B92C84AAC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909" y="2850150"/>
              <a:ext cx="293672" cy="639984"/>
            </a:xfrm>
            <a:custGeom>
              <a:avLst/>
              <a:gdLst>
                <a:gd name="T0" fmla="*/ 61 w 122"/>
                <a:gd name="T1" fmla="*/ 0 h 266"/>
                <a:gd name="T2" fmla="*/ 121 w 122"/>
                <a:gd name="T3" fmla="*/ 66 h 266"/>
                <a:gd name="T4" fmla="*/ 121 w 122"/>
                <a:gd name="T5" fmla="*/ 74 h 266"/>
                <a:gd name="T6" fmla="*/ 83 w 122"/>
                <a:gd name="T7" fmla="*/ 74 h 266"/>
                <a:gd name="T8" fmla="*/ 83 w 122"/>
                <a:gd name="T9" fmla="*/ 63 h 266"/>
                <a:gd name="T10" fmla="*/ 62 w 122"/>
                <a:gd name="T11" fmla="*/ 37 h 266"/>
                <a:gd name="T12" fmla="*/ 42 w 122"/>
                <a:gd name="T13" fmla="*/ 63 h 266"/>
                <a:gd name="T14" fmla="*/ 122 w 122"/>
                <a:gd name="T15" fmla="*/ 200 h 266"/>
                <a:gd name="T16" fmla="*/ 61 w 122"/>
                <a:gd name="T17" fmla="*/ 266 h 266"/>
                <a:gd name="T18" fmla="*/ 0 w 122"/>
                <a:gd name="T19" fmla="*/ 200 h 266"/>
                <a:gd name="T20" fmla="*/ 0 w 122"/>
                <a:gd name="T21" fmla="*/ 185 h 266"/>
                <a:gd name="T22" fmla="*/ 39 w 122"/>
                <a:gd name="T23" fmla="*/ 185 h 266"/>
                <a:gd name="T24" fmla="*/ 39 w 122"/>
                <a:gd name="T25" fmla="*/ 203 h 266"/>
                <a:gd name="T26" fmla="*/ 60 w 122"/>
                <a:gd name="T27" fmla="*/ 228 h 266"/>
                <a:gd name="T28" fmla="*/ 81 w 122"/>
                <a:gd name="T29" fmla="*/ 203 h 266"/>
                <a:gd name="T30" fmla="*/ 1 w 122"/>
                <a:gd name="T31" fmla="*/ 66 h 266"/>
                <a:gd name="T32" fmla="*/ 61 w 122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266">
                  <a:moveTo>
                    <a:pt x="61" y="0"/>
                  </a:moveTo>
                  <a:cubicBezTo>
                    <a:pt x="101" y="0"/>
                    <a:pt x="121" y="24"/>
                    <a:pt x="121" y="66"/>
                  </a:cubicBezTo>
                  <a:cubicBezTo>
                    <a:pt x="121" y="74"/>
                    <a:pt x="121" y="74"/>
                    <a:pt x="121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3" y="44"/>
                    <a:pt x="75" y="37"/>
                    <a:pt x="62" y="37"/>
                  </a:cubicBezTo>
                  <a:cubicBezTo>
                    <a:pt x="49" y="37"/>
                    <a:pt x="42" y="44"/>
                    <a:pt x="42" y="63"/>
                  </a:cubicBezTo>
                  <a:cubicBezTo>
                    <a:pt x="42" y="116"/>
                    <a:pt x="122" y="126"/>
                    <a:pt x="122" y="200"/>
                  </a:cubicBezTo>
                  <a:cubicBezTo>
                    <a:pt x="122" y="242"/>
                    <a:pt x="101" y="266"/>
                    <a:pt x="61" y="266"/>
                  </a:cubicBezTo>
                  <a:cubicBezTo>
                    <a:pt x="21" y="266"/>
                    <a:pt x="0" y="242"/>
                    <a:pt x="0" y="20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22"/>
                    <a:pt x="47" y="228"/>
                    <a:pt x="60" y="228"/>
                  </a:cubicBezTo>
                  <a:cubicBezTo>
                    <a:pt x="73" y="228"/>
                    <a:pt x="81" y="222"/>
                    <a:pt x="81" y="203"/>
                  </a:cubicBezTo>
                  <a:cubicBezTo>
                    <a:pt x="81" y="150"/>
                    <a:pt x="1" y="140"/>
                    <a:pt x="1" y="66"/>
                  </a:cubicBezTo>
                  <a:cubicBezTo>
                    <a:pt x="1" y="24"/>
                    <a:pt x="22" y="0"/>
                    <a:pt x="6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E94C4097-2057-40B3-BF85-9C044337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875" y="2855691"/>
              <a:ext cx="412802" cy="628902"/>
            </a:xfrm>
            <a:custGeom>
              <a:avLst/>
              <a:gdLst>
                <a:gd name="T0" fmla="*/ 76 w 149"/>
                <a:gd name="T1" fmla="*/ 160 h 227"/>
                <a:gd name="T2" fmla="*/ 101 w 149"/>
                <a:gd name="T3" fmla="*/ 0 h 227"/>
                <a:gd name="T4" fmla="*/ 149 w 149"/>
                <a:gd name="T5" fmla="*/ 0 h 227"/>
                <a:gd name="T6" fmla="*/ 149 w 149"/>
                <a:gd name="T7" fmla="*/ 227 h 227"/>
                <a:gd name="T8" fmla="*/ 116 w 149"/>
                <a:gd name="T9" fmla="*/ 227 h 227"/>
                <a:gd name="T10" fmla="*/ 116 w 149"/>
                <a:gd name="T11" fmla="*/ 65 h 227"/>
                <a:gd name="T12" fmla="*/ 92 w 149"/>
                <a:gd name="T13" fmla="*/ 227 h 227"/>
                <a:gd name="T14" fmla="*/ 58 w 149"/>
                <a:gd name="T15" fmla="*/ 227 h 227"/>
                <a:gd name="T16" fmla="*/ 32 w 149"/>
                <a:gd name="T17" fmla="*/ 66 h 227"/>
                <a:gd name="T18" fmla="*/ 32 w 149"/>
                <a:gd name="T19" fmla="*/ 227 h 227"/>
                <a:gd name="T20" fmla="*/ 0 w 149"/>
                <a:gd name="T21" fmla="*/ 227 h 227"/>
                <a:gd name="T22" fmla="*/ 0 w 149"/>
                <a:gd name="T23" fmla="*/ 0 h 227"/>
                <a:gd name="T24" fmla="*/ 50 w 149"/>
                <a:gd name="T25" fmla="*/ 0 h 227"/>
                <a:gd name="T26" fmla="*/ 76 w 149"/>
                <a:gd name="T27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227">
                  <a:moveTo>
                    <a:pt x="76" y="160"/>
                  </a:moveTo>
                  <a:lnTo>
                    <a:pt x="101" y="0"/>
                  </a:lnTo>
                  <a:lnTo>
                    <a:pt x="149" y="0"/>
                  </a:lnTo>
                  <a:lnTo>
                    <a:pt x="149" y="227"/>
                  </a:lnTo>
                  <a:lnTo>
                    <a:pt x="116" y="227"/>
                  </a:lnTo>
                  <a:lnTo>
                    <a:pt x="116" y="65"/>
                  </a:lnTo>
                  <a:lnTo>
                    <a:pt x="92" y="227"/>
                  </a:lnTo>
                  <a:lnTo>
                    <a:pt x="58" y="227"/>
                  </a:lnTo>
                  <a:lnTo>
                    <a:pt x="32" y="66"/>
                  </a:lnTo>
                  <a:lnTo>
                    <a:pt x="32" y="227"/>
                  </a:lnTo>
                  <a:lnTo>
                    <a:pt x="0" y="227"/>
                  </a:lnTo>
                  <a:lnTo>
                    <a:pt x="0" y="0"/>
                  </a:lnTo>
                  <a:lnTo>
                    <a:pt x="50" y="0"/>
                  </a:lnTo>
                  <a:lnTo>
                    <a:pt x="76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31ABB4A-9061-4D10-A8F5-EAA5B9E05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8433" y="2855691"/>
              <a:ext cx="346311" cy="628902"/>
            </a:xfrm>
            <a:custGeom>
              <a:avLst/>
              <a:gdLst>
                <a:gd name="T0" fmla="*/ 44 w 125"/>
                <a:gd name="T1" fmla="*/ 154 h 227"/>
                <a:gd name="T2" fmla="*/ 78 w 125"/>
                <a:gd name="T3" fmla="*/ 154 h 227"/>
                <a:gd name="T4" fmla="*/ 61 w 125"/>
                <a:gd name="T5" fmla="*/ 40 h 227"/>
                <a:gd name="T6" fmla="*/ 44 w 125"/>
                <a:gd name="T7" fmla="*/ 154 h 227"/>
                <a:gd name="T8" fmla="*/ 125 w 125"/>
                <a:gd name="T9" fmla="*/ 227 h 227"/>
                <a:gd name="T10" fmla="*/ 89 w 125"/>
                <a:gd name="T11" fmla="*/ 227 h 227"/>
                <a:gd name="T12" fmla="*/ 83 w 125"/>
                <a:gd name="T13" fmla="*/ 186 h 227"/>
                <a:gd name="T14" fmla="*/ 39 w 125"/>
                <a:gd name="T15" fmla="*/ 186 h 227"/>
                <a:gd name="T16" fmla="*/ 33 w 125"/>
                <a:gd name="T17" fmla="*/ 227 h 227"/>
                <a:gd name="T18" fmla="*/ 0 w 125"/>
                <a:gd name="T19" fmla="*/ 227 h 227"/>
                <a:gd name="T20" fmla="*/ 37 w 125"/>
                <a:gd name="T21" fmla="*/ 0 h 227"/>
                <a:gd name="T22" fmla="*/ 88 w 125"/>
                <a:gd name="T23" fmla="*/ 0 h 227"/>
                <a:gd name="T24" fmla="*/ 125 w 125"/>
                <a:gd name="T25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27">
                  <a:moveTo>
                    <a:pt x="44" y="154"/>
                  </a:moveTo>
                  <a:lnTo>
                    <a:pt x="78" y="154"/>
                  </a:lnTo>
                  <a:lnTo>
                    <a:pt x="61" y="40"/>
                  </a:lnTo>
                  <a:lnTo>
                    <a:pt x="44" y="154"/>
                  </a:lnTo>
                  <a:close/>
                  <a:moveTo>
                    <a:pt x="125" y="227"/>
                  </a:moveTo>
                  <a:lnTo>
                    <a:pt x="89" y="227"/>
                  </a:lnTo>
                  <a:lnTo>
                    <a:pt x="83" y="186"/>
                  </a:lnTo>
                  <a:lnTo>
                    <a:pt x="39" y="186"/>
                  </a:lnTo>
                  <a:lnTo>
                    <a:pt x="33" y="227"/>
                  </a:lnTo>
                  <a:lnTo>
                    <a:pt x="0" y="227"/>
                  </a:lnTo>
                  <a:lnTo>
                    <a:pt x="37" y="0"/>
                  </a:lnTo>
                  <a:lnTo>
                    <a:pt x="88" y="0"/>
                  </a:lnTo>
                  <a:lnTo>
                    <a:pt x="125" y="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2CC0DAA0-EDF1-42D1-9615-60FC98E09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7729" y="2855691"/>
              <a:ext cx="307524" cy="628902"/>
            </a:xfrm>
            <a:custGeom>
              <a:avLst/>
              <a:gdLst>
                <a:gd name="T0" fmla="*/ 41 w 127"/>
                <a:gd name="T1" fmla="*/ 37 h 260"/>
                <a:gd name="T2" fmla="*/ 41 w 127"/>
                <a:gd name="T3" fmla="*/ 117 h 260"/>
                <a:gd name="T4" fmla="*/ 57 w 127"/>
                <a:gd name="T5" fmla="*/ 117 h 260"/>
                <a:gd name="T6" fmla="*/ 81 w 127"/>
                <a:gd name="T7" fmla="*/ 90 h 260"/>
                <a:gd name="T8" fmla="*/ 81 w 127"/>
                <a:gd name="T9" fmla="*/ 64 h 260"/>
                <a:gd name="T10" fmla="*/ 60 w 127"/>
                <a:gd name="T11" fmla="*/ 37 h 260"/>
                <a:gd name="T12" fmla="*/ 41 w 127"/>
                <a:gd name="T13" fmla="*/ 37 h 260"/>
                <a:gd name="T14" fmla="*/ 85 w 127"/>
                <a:gd name="T15" fmla="*/ 260 h 260"/>
                <a:gd name="T16" fmla="*/ 81 w 127"/>
                <a:gd name="T17" fmla="*/ 228 h 260"/>
                <a:gd name="T18" fmla="*/ 81 w 127"/>
                <a:gd name="T19" fmla="*/ 187 h 260"/>
                <a:gd name="T20" fmla="*/ 55 w 127"/>
                <a:gd name="T21" fmla="*/ 154 h 260"/>
                <a:gd name="T22" fmla="*/ 41 w 127"/>
                <a:gd name="T23" fmla="*/ 154 h 260"/>
                <a:gd name="T24" fmla="*/ 41 w 127"/>
                <a:gd name="T25" fmla="*/ 260 h 260"/>
                <a:gd name="T26" fmla="*/ 0 w 127"/>
                <a:gd name="T27" fmla="*/ 260 h 260"/>
                <a:gd name="T28" fmla="*/ 0 w 127"/>
                <a:gd name="T29" fmla="*/ 0 h 260"/>
                <a:gd name="T30" fmla="*/ 61 w 127"/>
                <a:gd name="T31" fmla="*/ 0 h 260"/>
                <a:gd name="T32" fmla="*/ 122 w 127"/>
                <a:gd name="T33" fmla="*/ 60 h 260"/>
                <a:gd name="T34" fmla="*/ 122 w 127"/>
                <a:gd name="T35" fmla="*/ 80 h 260"/>
                <a:gd name="T36" fmla="*/ 95 w 127"/>
                <a:gd name="T37" fmla="*/ 133 h 260"/>
                <a:gd name="T38" fmla="*/ 122 w 127"/>
                <a:gd name="T39" fmla="*/ 188 h 260"/>
                <a:gd name="T40" fmla="*/ 122 w 127"/>
                <a:gd name="T41" fmla="*/ 228 h 260"/>
                <a:gd name="T42" fmla="*/ 127 w 127"/>
                <a:gd name="T43" fmla="*/ 260 h 260"/>
                <a:gd name="T44" fmla="*/ 85 w 127"/>
                <a:gd name="T45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7" h="260">
                  <a:moveTo>
                    <a:pt x="41" y="37"/>
                  </a:moveTo>
                  <a:cubicBezTo>
                    <a:pt x="41" y="117"/>
                    <a:pt x="41" y="117"/>
                    <a:pt x="4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72" y="117"/>
                    <a:pt x="81" y="110"/>
                    <a:pt x="81" y="9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1" y="46"/>
                    <a:pt x="75" y="37"/>
                    <a:pt x="60" y="37"/>
                  </a:cubicBezTo>
                  <a:lnTo>
                    <a:pt x="41" y="37"/>
                  </a:lnTo>
                  <a:close/>
                  <a:moveTo>
                    <a:pt x="85" y="260"/>
                  </a:moveTo>
                  <a:cubicBezTo>
                    <a:pt x="83" y="253"/>
                    <a:pt x="81" y="249"/>
                    <a:pt x="81" y="228"/>
                  </a:cubicBezTo>
                  <a:cubicBezTo>
                    <a:pt x="81" y="187"/>
                    <a:pt x="81" y="187"/>
                    <a:pt x="81" y="187"/>
                  </a:cubicBezTo>
                  <a:cubicBezTo>
                    <a:pt x="81" y="163"/>
                    <a:pt x="73" y="154"/>
                    <a:pt x="55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1" y="260"/>
                    <a:pt x="41" y="260"/>
                    <a:pt x="4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04" y="0"/>
                    <a:pt x="122" y="20"/>
                    <a:pt x="122" y="6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107"/>
                    <a:pt x="113" y="124"/>
                    <a:pt x="95" y="133"/>
                  </a:cubicBezTo>
                  <a:cubicBezTo>
                    <a:pt x="115" y="142"/>
                    <a:pt x="122" y="161"/>
                    <a:pt x="122" y="18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2" y="241"/>
                    <a:pt x="123" y="250"/>
                    <a:pt x="127" y="260"/>
                  </a:cubicBezTo>
                  <a:lnTo>
                    <a:pt x="85" y="2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D529E29C-585E-49A1-B8B4-94425054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43" y="2855691"/>
              <a:ext cx="304754" cy="628902"/>
            </a:xfrm>
            <a:custGeom>
              <a:avLst/>
              <a:gdLst>
                <a:gd name="T0" fmla="*/ 0 w 110"/>
                <a:gd name="T1" fmla="*/ 0 h 227"/>
                <a:gd name="T2" fmla="*/ 110 w 110"/>
                <a:gd name="T3" fmla="*/ 0 h 227"/>
                <a:gd name="T4" fmla="*/ 110 w 110"/>
                <a:gd name="T5" fmla="*/ 32 h 227"/>
                <a:gd name="T6" fmla="*/ 72 w 110"/>
                <a:gd name="T7" fmla="*/ 32 h 227"/>
                <a:gd name="T8" fmla="*/ 72 w 110"/>
                <a:gd name="T9" fmla="*/ 227 h 227"/>
                <a:gd name="T10" fmla="*/ 37 w 110"/>
                <a:gd name="T11" fmla="*/ 227 h 227"/>
                <a:gd name="T12" fmla="*/ 37 w 110"/>
                <a:gd name="T13" fmla="*/ 32 h 227"/>
                <a:gd name="T14" fmla="*/ 0 w 110"/>
                <a:gd name="T15" fmla="*/ 32 h 227"/>
                <a:gd name="T16" fmla="*/ 0 w 110"/>
                <a:gd name="T1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27">
                  <a:moveTo>
                    <a:pt x="0" y="0"/>
                  </a:moveTo>
                  <a:lnTo>
                    <a:pt x="110" y="0"/>
                  </a:lnTo>
                  <a:lnTo>
                    <a:pt x="110" y="32"/>
                  </a:lnTo>
                  <a:lnTo>
                    <a:pt x="72" y="32"/>
                  </a:lnTo>
                  <a:lnTo>
                    <a:pt x="72" y="227"/>
                  </a:lnTo>
                  <a:lnTo>
                    <a:pt x="37" y="227"/>
                  </a:lnTo>
                  <a:lnTo>
                    <a:pt x="37" y="32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05F283D-3632-4966-A597-B02E54BCAB06}"/>
              </a:ext>
            </a:extLst>
          </p:cNvPr>
          <p:cNvGrpSpPr/>
          <p:nvPr/>
        </p:nvGrpSpPr>
        <p:grpSpPr>
          <a:xfrm>
            <a:off x="5148912" y="3397299"/>
            <a:ext cx="1894175" cy="493886"/>
            <a:chOff x="4856105" y="4501363"/>
            <a:chExt cx="2773261" cy="723099"/>
          </a:xfrm>
        </p:grpSpPr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D7B01D51-0C5F-4EE3-B8D5-FD1D16E02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203" y="4501363"/>
              <a:ext cx="191163" cy="182852"/>
            </a:xfrm>
            <a:custGeom>
              <a:avLst/>
              <a:gdLst>
                <a:gd name="T0" fmla="*/ 69 w 69"/>
                <a:gd name="T1" fmla="*/ 65 h 66"/>
                <a:gd name="T2" fmla="*/ 59 w 69"/>
                <a:gd name="T3" fmla="*/ 66 h 66"/>
                <a:gd name="T4" fmla="*/ 54 w 69"/>
                <a:gd name="T5" fmla="*/ 12 h 66"/>
                <a:gd name="T6" fmla="*/ 2 w 69"/>
                <a:gd name="T7" fmla="*/ 20 h 66"/>
                <a:gd name="T8" fmla="*/ 0 w 69"/>
                <a:gd name="T9" fmla="*/ 10 h 66"/>
                <a:gd name="T10" fmla="*/ 64 w 69"/>
                <a:gd name="T11" fmla="*/ 0 h 66"/>
                <a:gd name="T12" fmla="*/ 69 w 69"/>
                <a:gd name="T13" fmla="*/ 6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6">
                  <a:moveTo>
                    <a:pt x="69" y="65"/>
                  </a:moveTo>
                  <a:lnTo>
                    <a:pt x="59" y="66"/>
                  </a:lnTo>
                  <a:lnTo>
                    <a:pt x="54" y="12"/>
                  </a:lnTo>
                  <a:lnTo>
                    <a:pt x="2" y="20"/>
                  </a:lnTo>
                  <a:lnTo>
                    <a:pt x="0" y="10"/>
                  </a:lnTo>
                  <a:lnTo>
                    <a:pt x="64" y="0"/>
                  </a:lnTo>
                  <a:lnTo>
                    <a:pt x="69" y="65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0AB9BED-2496-4B32-95F6-12715DE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9499" y="4501363"/>
              <a:ext cx="41557" cy="3878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AE0E3A28-CCA9-43B9-9F82-773EF50511A3}"/>
                </a:ext>
              </a:extLst>
            </p:cNvPr>
            <p:cNvGrpSpPr/>
            <p:nvPr/>
          </p:nvGrpSpPr>
          <p:grpSpPr>
            <a:xfrm>
              <a:off x="4856105" y="4504132"/>
              <a:ext cx="2698458" cy="720330"/>
              <a:chOff x="4856105" y="4504132"/>
              <a:chExt cx="2698458" cy="720330"/>
            </a:xfrm>
          </p:grpSpPr>
          <p:sp>
            <p:nvSpPr>
              <p:cNvPr id="33" name="Freeform 101">
                <a:extLst>
                  <a:ext uri="{FF2B5EF4-FFF2-40B4-BE49-F238E27FC236}">
                    <a16:creationId xmlns:a16="http://schemas.microsoft.com/office/drawing/2014/main" id="{CED5016C-DECA-4CA4-84B1-DCFD3BEF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1958" y="5188445"/>
                <a:ext cx="36016" cy="36017"/>
              </a:xfrm>
              <a:custGeom>
                <a:avLst/>
                <a:gdLst>
                  <a:gd name="T0" fmla="*/ 0 w 15"/>
                  <a:gd name="T1" fmla="*/ 8 h 15"/>
                  <a:gd name="T2" fmla="*/ 7 w 15"/>
                  <a:gd name="T3" fmla="*/ 0 h 15"/>
                  <a:gd name="T4" fmla="*/ 7 w 15"/>
                  <a:gd name="T5" fmla="*/ 0 h 15"/>
                  <a:gd name="T6" fmla="*/ 15 w 15"/>
                  <a:gd name="T7" fmla="*/ 7 h 15"/>
                  <a:gd name="T8" fmla="*/ 15 w 15"/>
                  <a:gd name="T9" fmla="*/ 7 h 15"/>
                  <a:gd name="T10" fmla="*/ 8 w 15"/>
                  <a:gd name="T11" fmla="*/ 15 h 15"/>
                  <a:gd name="T12" fmla="*/ 8 w 15"/>
                  <a:gd name="T13" fmla="*/ 15 h 15"/>
                  <a:gd name="T14" fmla="*/ 8 w 15"/>
                  <a:gd name="T15" fmla="*/ 15 h 15"/>
                  <a:gd name="T16" fmla="*/ 8 w 15"/>
                  <a:gd name="T17" fmla="*/ 15 h 15"/>
                  <a:gd name="T18" fmla="*/ 7 w 15"/>
                  <a:gd name="T19" fmla="*/ 15 h 15"/>
                  <a:gd name="T20" fmla="*/ 7 w 15"/>
                  <a:gd name="T21" fmla="*/ 15 h 15"/>
                  <a:gd name="T22" fmla="*/ 0 w 15"/>
                  <a:gd name="T23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0" y="8"/>
                    </a:moveTo>
                    <a:cubicBezTo>
                      <a:pt x="0" y="4"/>
                      <a:pt x="3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1" y="0"/>
                      <a:pt x="14" y="3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1"/>
                      <a:pt x="12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6DCB76C-FDFA-4B38-9883-1B0A45F4813D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14789"/>
                <a:chOff x="4856105" y="4504132"/>
                <a:chExt cx="2698458" cy="714789"/>
              </a:xfrm>
            </p:grpSpPr>
            <p:grpSp>
              <p:nvGrpSpPr>
                <p:cNvPr id="72" name="Grupo 71">
                  <a:extLst>
                    <a:ext uri="{FF2B5EF4-FFF2-40B4-BE49-F238E27FC236}">
                      <a16:creationId xmlns:a16="http://schemas.microsoft.com/office/drawing/2014/main" id="{C50589C0-1DE6-41BA-9CEE-4E2076817B4F}"/>
                    </a:ext>
                  </a:extLst>
                </p:cNvPr>
                <p:cNvGrpSpPr/>
                <p:nvPr/>
              </p:nvGrpSpPr>
              <p:grpSpPr>
                <a:xfrm>
                  <a:off x="4919827" y="4587247"/>
                  <a:ext cx="2634736" cy="631674"/>
                  <a:chOff x="4919827" y="4587247"/>
                  <a:chExt cx="2634736" cy="631674"/>
                </a:xfrm>
              </p:grpSpPr>
              <p:sp>
                <p:nvSpPr>
                  <p:cNvPr id="30" name="Freeform 98">
                    <a:extLst>
                      <a:ext uri="{FF2B5EF4-FFF2-40B4-BE49-F238E27FC236}">
                        <a16:creationId xmlns:a16="http://schemas.microsoft.com/office/drawing/2014/main" id="{281CC44C-D8B9-4DB2-8D95-5FAFCA3743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9827" y="4590019"/>
                    <a:ext cx="1230098" cy="628902"/>
                  </a:xfrm>
                  <a:custGeom>
                    <a:avLst/>
                    <a:gdLst>
                      <a:gd name="T0" fmla="*/ 495 w 509"/>
                      <a:gd name="T1" fmla="*/ 254 h 261"/>
                      <a:gd name="T2" fmla="*/ 502 w 509"/>
                      <a:gd name="T3" fmla="*/ 247 h 261"/>
                      <a:gd name="T4" fmla="*/ 509 w 509"/>
                      <a:gd name="T5" fmla="*/ 254 h 261"/>
                      <a:gd name="T6" fmla="*/ 501 w 509"/>
                      <a:gd name="T7" fmla="*/ 261 h 261"/>
                      <a:gd name="T8" fmla="*/ 451 w 509"/>
                      <a:gd name="T9" fmla="*/ 249 h 261"/>
                      <a:gd name="T10" fmla="*/ 459 w 509"/>
                      <a:gd name="T11" fmla="*/ 243 h 261"/>
                      <a:gd name="T12" fmla="*/ 466 w 509"/>
                      <a:gd name="T13" fmla="*/ 251 h 261"/>
                      <a:gd name="T14" fmla="*/ 457 w 509"/>
                      <a:gd name="T15" fmla="*/ 257 h 261"/>
                      <a:gd name="T16" fmla="*/ 408 w 509"/>
                      <a:gd name="T17" fmla="*/ 242 h 261"/>
                      <a:gd name="T18" fmla="*/ 417 w 509"/>
                      <a:gd name="T19" fmla="*/ 236 h 261"/>
                      <a:gd name="T20" fmla="*/ 415 w 509"/>
                      <a:gd name="T21" fmla="*/ 251 h 261"/>
                      <a:gd name="T22" fmla="*/ 371 w 509"/>
                      <a:gd name="T23" fmla="*/ 241 h 261"/>
                      <a:gd name="T24" fmla="*/ 366 w 509"/>
                      <a:gd name="T25" fmla="*/ 232 h 261"/>
                      <a:gd name="T26" fmla="*/ 374 w 509"/>
                      <a:gd name="T27" fmla="*/ 227 h 261"/>
                      <a:gd name="T28" fmla="*/ 380 w 509"/>
                      <a:gd name="T29" fmla="*/ 236 h 261"/>
                      <a:gd name="T30" fmla="*/ 371 w 509"/>
                      <a:gd name="T31" fmla="*/ 241 h 261"/>
                      <a:gd name="T32" fmla="*/ 324 w 509"/>
                      <a:gd name="T33" fmla="*/ 220 h 261"/>
                      <a:gd name="T34" fmla="*/ 338 w 509"/>
                      <a:gd name="T35" fmla="*/ 225 h 261"/>
                      <a:gd name="T36" fmla="*/ 331 w 509"/>
                      <a:gd name="T37" fmla="*/ 230 h 261"/>
                      <a:gd name="T38" fmla="*/ 283 w 509"/>
                      <a:gd name="T39" fmla="*/ 205 h 261"/>
                      <a:gd name="T40" fmla="*/ 292 w 509"/>
                      <a:gd name="T41" fmla="*/ 201 h 261"/>
                      <a:gd name="T42" fmla="*/ 289 w 509"/>
                      <a:gd name="T43" fmla="*/ 215 h 261"/>
                      <a:gd name="T44" fmla="*/ 246 w 509"/>
                      <a:gd name="T45" fmla="*/ 198 h 261"/>
                      <a:gd name="T46" fmla="*/ 252 w 509"/>
                      <a:gd name="T47" fmla="*/ 184 h 261"/>
                      <a:gd name="T48" fmla="*/ 256 w 509"/>
                      <a:gd name="T49" fmla="*/ 194 h 261"/>
                      <a:gd name="T50" fmla="*/ 246 w 509"/>
                      <a:gd name="T51" fmla="*/ 198 h 261"/>
                      <a:gd name="T52" fmla="*/ 204 w 509"/>
                      <a:gd name="T53" fmla="*/ 168 h 261"/>
                      <a:gd name="T54" fmla="*/ 214 w 509"/>
                      <a:gd name="T55" fmla="*/ 165 h 261"/>
                      <a:gd name="T56" fmla="*/ 217 w 509"/>
                      <a:gd name="T57" fmla="*/ 175 h 261"/>
                      <a:gd name="T58" fmla="*/ 207 w 509"/>
                      <a:gd name="T59" fmla="*/ 178 h 261"/>
                      <a:gd name="T60" fmla="*/ 166 w 509"/>
                      <a:gd name="T61" fmla="*/ 146 h 261"/>
                      <a:gd name="T62" fmla="*/ 179 w 509"/>
                      <a:gd name="T63" fmla="*/ 154 h 261"/>
                      <a:gd name="T64" fmla="*/ 172 w 509"/>
                      <a:gd name="T65" fmla="*/ 157 h 261"/>
                      <a:gd name="T66" fmla="*/ 130 w 509"/>
                      <a:gd name="T67" fmla="*/ 121 h 261"/>
                      <a:gd name="T68" fmla="*/ 140 w 509"/>
                      <a:gd name="T69" fmla="*/ 120 h 261"/>
                      <a:gd name="T70" fmla="*/ 136 w 509"/>
                      <a:gd name="T71" fmla="*/ 133 h 261"/>
                      <a:gd name="T72" fmla="*/ 97 w 509"/>
                      <a:gd name="T73" fmla="*/ 105 h 261"/>
                      <a:gd name="T74" fmla="*/ 106 w 509"/>
                      <a:gd name="T75" fmla="*/ 94 h 261"/>
                      <a:gd name="T76" fmla="*/ 106 w 509"/>
                      <a:gd name="T77" fmla="*/ 94 h 261"/>
                      <a:gd name="T78" fmla="*/ 101 w 509"/>
                      <a:gd name="T79" fmla="*/ 107 h 261"/>
                      <a:gd name="T80" fmla="*/ 64 w 509"/>
                      <a:gd name="T81" fmla="*/ 76 h 261"/>
                      <a:gd name="T82" fmla="*/ 73 w 509"/>
                      <a:gd name="T83" fmla="*/ 65 h 261"/>
                      <a:gd name="T84" fmla="*/ 74 w 509"/>
                      <a:gd name="T85" fmla="*/ 76 h 261"/>
                      <a:gd name="T86" fmla="*/ 64 w 509"/>
                      <a:gd name="T87" fmla="*/ 76 h 261"/>
                      <a:gd name="T88" fmla="*/ 32 w 509"/>
                      <a:gd name="T89" fmla="*/ 35 h 261"/>
                      <a:gd name="T90" fmla="*/ 42 w 509"/>
                      <a:gd name="T91" fmla="*/ 35 h 261"/>
                      <a:gd name="T92" fmla="*/ 37 w 509"/>
                      <a:gd name="T93" fmla="*/ 47 h 261"/>
                      <a:gd name="T94" fmla="*/ 3 w 509"/>
                      <a:gd name="T95" fmla="*/ 12 h 261"/>
                      <a:gd name="T96" fmla="*/ 3 w 509"/>
                      <a:gd name="T97" fmla="*/ 2 h 261"/>
                      <a:gd name="T98" fmla="*/ 14 w 509"/>
                      <a:gd name="T99" fmla="*/ 3 h 261"/>
                      <a:gd name="T100" fmla="*/ 13 w 509"/>
                      <a:gd name="T101" fmla="*/ 13 h 261"/>
                      <a:gd name="T102" fmla="*/ 3 w 509"/>
                      <a:gd name="T103" fmla="*/ 12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09" h="261">
                        <a:moveTo>
                          <a:pt x="501" y="261"/>
                        </a:moveTo>
                        <a:cubicBezTo>
                          <a:pt x="497" y="261"/>
                          <a:pt x="494" y="258"/>
                          <a:pt x="495" y="254"/>
                        </a:cubicBezTo>
                        <a:cubicBezTo>
                          <a:pt x="495" y="254"/>
                          <a:pt x="495" y="254"/>
                          <a:pt x="495" y="254"/>
                        </a:cubicBezTo>
                        <a:cubicBezTo>
                          <a:pt x="495" y="250"/>
                          <a:pt x="498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6" y="247"/>
                          <a:pt x="509" y="250"/>
                          <a:pt x="509" y="254"/>
                        </a:cubicBezTo>
                        <a:cubicBezTo>
                          <a:pt x="509" y="254"/>
                          <a:pt x="509" y="254"/>
                          <a:pt x="509" y="254"/>
                        </a:cubicBezTo>
                        <a:cubicBezTo>
                          <a:pt x="509" y="258"/>
                          <a:pt x="506" y="261"/>
                          <a:pt x="502" y="261"/>
                        </a:cubicBezTo>
                        <a:cubicBezTo>
                          <a:pt x="502" y="261"/>
                          <a:pt x="502" y="261"/>
                          <a:pt x="502" y="261"/>
                        </a:cubicBezTo>
                        <a:cubicBezTo>
                          <a:pt x="502" y="261"/>
                          <a:pt x="502" y="261"/>
                          <a:pt x="501" y="261"/>
                        </a:cubicBezTo>
                        <a:close/>
                        <a:moveTo>
                          <a:pt x="457" y="257"/>
                        </a:moveTo>
                        <a:cubicBezTo>
                          <a:pt x="454" y="257"/>
                          <a:pt x="451" y="253"/>
                          <a:pt x="451" y="249"/>
                        </a:cubicBezTo>
                        <a:cubicBezTo>
                          <a:pt x="451" y="249"/>
                          <a:pt x="451" y="249"/>
                          <a:pt x="451" y="249"/>
                        </a:cubicBezTo>
                        <a:cubicBezTo>
                          <a:pt x="452" y="245"/>
                          <a:pt x="455" y="242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63" y="243"/>
                          <a:pt x="466" y="247"/>
                          <a:pt x="466" y="251"/>
                        </a:cubicBezTo>
                        <a:cubicBezTo>
                          <a:pt x="466" y="251"/>
                          <a:pt x="466" y="251"/>
                          <a:pt x="466" y="251"/>
                        </a:cubicBezTo>
                        <a:cubicBezTo>
                          <a:pt x="465" y="255"/>
                          <a:pt x="462" y="257"/>
                          <a:pt x="458" y="257"/>
                        </a:cubicBezTo>
                        <a:cubicBezTo>
                          <a:pt x="458" y="257"/>
                          <a:pt x="458" y="257"/>
                          <a:pt x="458" y="257"/>
                        </a:cubicBezTo>
                        <a:cubicBezTo>
                          <a:pt x="458" y="257"/>
                          <a:pt x="458" y="257"/>
                          <a:pt x="457" y="257"/>
                        </a:cubicBezTo>
                        <a:close/>
                        <a:moveTo>
                          <a:pt x="414" y="251"/>
                        </a:moveTo>
                        <a:cubicBezTo>
                          <a:pt x="414" y="251"/>
                          <a:pt x="414" y="251"/>
                          <a:pt x="414" y="251"/>
                        </a:cubicBezTo>
                        <a:cubicBezTo>
                          <a:pt x="410" y="250"/>
                          <a:pt x="407" y="246"/>
                          <a:pt x="408" y="242"/>
                        </a:cubicBezTo>
                        <a:cubicBezTo>
                          <a:pt x="408" y="242"/>
                          <a:pt x="408" y="242"/>
                          <a:pt x="408" y="242"/>
                        </a:cubicBezTo>
                        <a:cubicBezTo>
                          <a:pt x="409" y="238"/>
                          <a:pt x="413" y="236"/>
                          <a:pt x="417" y="236"/>
                        </a:cubicBezTo>
                        <a:cubicBezTo>
                          <a:pt x="417" y="236"/>
                          <a:pt x="417" y="236"/>
                          <a:pt x="417" y="236"/>
                        </a:cubicBezTo>
                        <a:cubicBezTo>
                          <a:pt x="421" y="237"/>
                          <a:pt x="423" y="241"/>
                          <a:pt x="422" y="245"/>
                        </a:cubicBezTo>
                        <a:cubicBezTo>
                          <a:pt x="422" y="245"/>
                          <a:pt x="422" y="245"/>
                          <a:pt x="422" y="245"/>
                        </a:cubicBezTo>
                        <a:cubicBezTo>
                          <a:pt x="422" y="248"/>
                          <a:pt x="419" y="251"/>
                          <a:pt x="415" y="251"/>
                        </a:cubicBezTo>
                        <a:cubicBezTo>
                          <a:pt x="415" y="251"/>
                          <a:pt x="415" y="251"/>
                          <a:pt x="415" y="251"/>
                        </a:cubicBezTo>
                        <a:cubicBezTo>
                          <a:pt x="415" y="251"/>
                          <a:pt x="414" y="251"/>
                          <a:pt x="414" y="251"/>
                        </a:cubicBezTo>
                        <a:close/>
                        <a:moveTo>
                          <a:pt x="371" y="241"/>
                        </a:moveTo>
                        <a:cubicBezTo>
                          <a:pt x="371" y="241"/>
                          <a:pt x="371" y="241"/>
                          <a:pt x="371" y="241"/>
                        </a:cubicBezTo>
                        <a:cubicBezTo>
                          <a:pt x="367" y="240"/>
                          <a:pt x="365" y="236"/>
                          <a:pt x="366" y="232"/>
                        </a:cubicBezTo>
                        <a:cubicBezTo>
                          <a:pt x="366" y="232"/>
                          <a:pt x="366" y="232"/>
                          <a:pt x="366" y="232"/>
                        </a:cubicBezTo>
                        <a:cubicBezTo>
                          <a:pt x="366" y="229"/>
                          <a:pt x="371" y="226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8" y="228"/>
                          <a:pt x="381" y="232"/>
                          <a:pt x="380" y="236"/>
                        </a:cubicBezTo>
                        <a:cubicBezTo>
                          <a:pt x="380" y="236"/>
                          <a:pt x="380" y="236"/>
                          <a:pt x="380" y="236"/>
                        </a:cubicBezTo>
                        <a:cubicBezTo>
                          <a:pt x="379" y="239"/>
                          <a:pt x="376" y="242"/>
                          <a:pt x="373" y="242"/>
                        </a:cubicBezTo>
                        <a:cubicBezTo>
                          <a:pt x="373" y="242"/>
                          <a:pt x="373" y="242"/>
                          <a:pt x="373" y="242"/>
                        </a:cubicBezTo>
                        <a:cubicBezTo>
                          <a:pt x="372" y="242"/>
                          <a:pt x="371" y="242"/>
                          <a:pt x="371" y="241"/>
                        </a:cubicBezTo>
                        <a:close/>
                        <a:moveTo>
                          <a:pt x="328" y="229"/>
                        </a:moveTo>
                        <a:cubicBezTo>
                          <a:pt x="325" y="228"/>
                          <a:pt x="322" y="224"/>
                          <a:pt x="324" y="220"/>
                        </a:cubicBezTo>
                        <a:cubicBezTo>
                          <a:pt x="324" y="220"/>
                          <a:pt x="324" y="220"/>
                          <a:pt x="324" y="220"/>
                        </a:cubicBezTo>
                        <a:cubicBezTo>
                          <a:pt x="325" y="216"/>
                          <a:pt x="329" y="214"/>
                          <a:pt x="333" y="215"/>
                        </a:cubicBezTo>
                        <a:cubicBezTo>
                          <a:pt x="333" y="215"/>
                          <a:pt x="333" y="215"/>
                          <a:pt x="333" y="215"/>
                        </a:cubicBezTo>
                        <a:cubicBezTo>
                          <a:pt x="337" y="217"/>
                          <a:pt x="339" y="221"/>
                          <a:pt x="338" y="225"/>
                        </a:cubicBezTo>
                        <a:cubicBezTo>
                          <a:pt x="338" y="225"/>
                          <a:pt x="338" y="225"/>
                          <a:pt x="338" y="225"/>
                        </a:cubicBezTo>
                        <a:cubicBezTo>
                          <a:pt x="337" y="228"/>
                          <a:pt x="334" y="230"/>
                          <a:pt x="331" y="230"/>
                        </a:cubicBezTo>
                        <a:cubicBezTo>
                          <a:pt x="331" y="230"/>
                          <a:pt x="331" y="230"/>
                          <a:pt x="331" y="230"/>
                        </a:cubicBezTo>
                        <a:cubicBezTo>
                          <a:pt x="330" y="230"/>
                          <a:pt x="329" y="230"/>
                          <a:pt x="328" y="229"/>
                        </a:cubicBezTo>
                        <a:close/>
                        <a:moveTo>
                          <a:pt x="287" y="215"/>
                        </a:moveTo>
                        <a:cubicBezTo>
                          <a:pt x="283" y="213"/>
                          <a:pt x="281" y="209"/>
                          <a:pt x="283" y="205"/>
                        </a:cubicBezTo>
                        <a:cubicBezTo>
                          <a:pt x="283" y="205"/>
                          <a:pt x="283" y="205"/>
                          <a:pt x="283" y="205"/>
                        </a:cubicBezTo>
                        <a:cubicBezTo>
                          <a:pt x="284" y="202"/>
                          <a:pt x="288" y="200"/>
                          <a:pt x="292" y="201"/>
                        </a:cubicBezTo>
                        <a:cubicBezTo>
                          <a:pt x="292" y="201"/>
                          <a:pt x="292" y="201"/>
                          <a:pt x="292" y="201"/>
                        </a:cubicBezTo>
                        <a:cubicBezTo>
                          <a:pt x="296" y="203"/>
                          <a:pt x="298" y="207"/>
                          <a:pt x="296" y="211"/>
                        </a:cubicBezTo>
                        <a:cubicBezTo>
                          <a:pt x="296" y="211"/>
                          <a:pt x="296" y="211"/>
                          <a:pt x="296" y="211"/>
                        </a:cubicBezTo>
                        <a:cubicBezTo>
                          <a:pt x="295" y="214"/>
                          <a:pt x="292" y="215"/>
                          <a:pt x="289" y="215"/>
                        </a:cubicBezTo>
                        <a:cubicBezTo>
                          <a:pt x="289" y="215"/>
                          <a:pt x="289" y="215"/>
                          <a:pt x="289" y="215"/>
                        </a:cubicBezTo>
                        <a:cubicBezTo>
                          <a:pt x="289" y="215"/>
                          <a:pt x="288" y="215"/>
                          <a:pt x="287" y="215"/>
                        </a:cubicBezTo>
                        <a:close/>
                        <a:moveTo>
                          <a:pt x="246" y="198"/>
                        </a:moveTo>
                        <a:cubicBezTo>
                          <a:pt x="243" y="196"/>
                          <a:pt x="241" y="192"/>
                          <a:pt x="243" y="188"/>
                        </a:cubicBezTo>
                        <a:cubicBezTo>
                          <a:pt x="243" y="188"/>
                          <a:pt x="243" y="188"/>
                          <a:pt x="243" y="188"/>
                        </a:cubicBezTo>
                        <a:cubicBezTo>
                          <a:pt x="244" y="184"/>
                          <a:pt x="249" y="183"/>
                          <a:pt x="252" y="184"/>
                        </a:cubicBezTo>
                        <a:cubicBezTo>
                          <a:pt x="252" y="184"/>
                          <a:pt x="252" y="184"/>
                          <a:pt x="252" y="184"/>
                        </a:cubicBezTo>
                        <a:cubicBezTo>
                          <a:pt x="256" y="186"/>
                          <a:pt x="258" y="190"/>
                          <a:pt x="256" y="194"/>
                        </a:cubicBezTo>
                        <a:cubicBezTo>
                          <a:pt x="256" y="194"/>
                          <a:pt x="256" y="194"/>
                          <a:pt x="256" y="194"/>
                        </a:cubicBezTo>
                        <a:cubicBezTo>
                          <a:pt x="255" y="197"/>
                          <a:pt x="252" y="198"/>
                          <a:pt x="249" y="198"/>
                        </a:cubicBezTo>
                        <a:cubicBezTo>
                          <a:pt x="249" y="198"/>
                          <a:pt x="249" y="198"/>
                          <a:pt x="249" y="198"/>
                        </a:cubicBezTo>
                        <a:cubicBezTo>
                          <a:pt x="248" y="198"/>
                          <a:pt x="247" y="198"/>
                          <a:pt x="246" y="198"/>
                        </a:cubicBezTo>
                        <a:close/>
                        <a:moveTo>
                          <a:pt x="207" y="178"/>
                        </a:moveTo>
                        <a:cubicBezTo>
                          <a:pt x="203" y="176"/>
                          <a:pt x="202" y="172"/>
                          <a:pt x="204" y="168"/>
                        </a:cubicBezTo>
                        <a:cubicBezTo>
                          <a:pt x="204" y="168"/>
                          <a:pt x="204" y="168"/>
                          <a:pt x="204" y="168"/>
                        </a:cubicBezTo>
                        <a:cubicBezTo>
                          <a:pt x="206" y="165"/>
                          <a:pt x="210" y="163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7" y="167"/>
                          <a:pt x="218" y="172"/>
                          <a:pt x="217" y="175"/>
                        </a:cubicBezTo>
                        <a:cubicBezTo>
                          <a:pt x="217" y="175"/>
                          <a:pt x="217" y="175"/>
                          <a:pt x="217" y="175"/>
                        </a:cubicBezTo>
                        <a:cubicBezTo>
                          <a:pt x="215" y="178"/>
                          <a:pt x="213" y="179"/>
                          <a:pt x="210" y="179"/>
                        </a:cubicBezTo>
                        <a:cubicBezTo>
                          <a:pt x="210" y="179"/>
                          <a:pt x="210" y="179"/>
                          <a:pt x="210" y="179"/>
                        </a:cubicBezTo>
                        <a:cubicBezTo>
                          <a:pt x="209" y="179"/>
                          <a:pt x="208" y="179"/>
                          <a:pt x="207" y="178"/>
                        </a:cubicBezTo>
                        <a:close/>
                        <a:moveTo>
                          <a:pt x="169" y="156"/>
                        </a:moveTo>
                        <a:cubicBezTo>
                          <a:pt x="165" y="154"/>
                          <a:pt x="164" y="149"/>
                          <a:pt x="166" y="146"/>
                        </a:cubicBezTo>
                        <a:cubicBezTo>
                          <a:pt x="166" y="146"/>
                          <a:pt x="166" y="146"/>
                          <a:pt x="166" y="146"/>
                        </a:cubicBezTo>
                        <a:cubicBezTo>
                          <a:pt x="168" y="143"/>
                          <a:pt x="173" y="141"/>
                          <a:pt x="176" y="144"/>
                        </a:cubicBezTo>
                        <a:cubicBezTo>
                          <a:pt x="176" y="144"/>
                          <a:pt x="176" y="144"/>
                          <a:pt x="176" y="144"/>
                        </a:cubicBezTo>
                        <a:cubicBezTo>
                          <a:pt x="180" y="146"/>
                          <a:pt x="181" y="150"/>
                          <a:pt x="179" y="154"/>
                        </a:cubicBezTo>
                        <a:cubicBezTo>
                          <a:pt x="179" y="154"/>
                          <a:pt x="179" y="154"/>
                          <a:pt x="179" y="154"/>
                        </a:cubicBezTo>
                        <a:cubicBezTo>
                          <a:pt x="177" y="156"/>
                          <a:pt x="175" y="157"/>
                          <a:pt x="172" y="157"/>
                        </a:cubicBezTo>
                        <a:cubicBezTo>
                          <a:pt x="172" y="157"/>
                          <a:pt x="172" y="157"/>
                          <a:pt x="172" y="157"/>
                        </a:cubicBezTo>
                        <a:cubicBezTo>
                          <a:pt x="171" y="157"/>
                          <a:pt x="170" y="157"/>
                          <a:pt x="169" y="156"/>
                        </a:cubicBezTo>
                        <a:close/>
                        <a:moveTo>
                          <a:pt x="132" y="132"/>
                        </a:moveTo>
                        <a:cubicBezTo>
                          <a:pt x="129" y="129"/>
                          <a:pt x="128" y="125"/>
                          <a:pt x="130" y="121"/>
                        </a:cubicBezTo>
                        <a:cubicBezTo>
                          <a:pt x="130" y="121"/>
                          <a:pt x="130" y="121"/>
                          <a:pt x="130" y="121"/>
                        </a:cubicBezTo>
                        <a:cubicBezTo>
                          <a:pt x="133" y="118"/>
                          <a:pt x="137" y="117"/>
                          <a:pt x="140" y="120"/>
                        </a:cubicBezTo>
                        <a:cubicBezTo>
                          <a:pt x="140" y="120"/>
                          <a:pt x="140" y="120"/>
                          <a:pt x="140" y="120"/>
                        </a:cubicBezTo>
                        <a:cubicBezTo>
                          <a:pt x="144" y="122"/>
                          <a:pt x="144" y="127"/>
                          <a:pt x="142" y="130"/>
                        </a:cubicBezTo>
                        <a:cubicBezTo>
                          <a:pt x="142" y="130"/>
                          <a:pt x="142" y="130"/>
                          <a:pt x="142" y="130"/>
                        </a:cubicBezTo>
                        <a:cubicBezTo>
                          <a:pt x="141" y="132"/>
                          <a:pt x="138" y="133"/>
                          <a:pt x="136" y="133"/>
                        </a:cubicBezTo>
                        <a:cubicBezTo>
                          <a:pt x="136" y="133"/>
                          <a:pt x="136" y="133"/>
                          <a:pt x="136" y="133"/>
                        </a:cubicBezTo>
                        <a:cubicBezTo>
                          <a:pt x="135" y="133"/>
                          <a:pt x="133" y="133"/>
                          <a:pt x="132" y="132"/>
                        </a:cubicBezTo>
                        <a:close/>
                        <a:moveTo>
                          <a:pt x="97" y="105"/>
                        </a:moveTo>
                        <a:cubicBezTo>
                          <a:pt x="94" y="102"/>
                          <a:pt x="93" y="98"/>
                          <a:pt x="96" y="95"/>
                        </a:cubicBezTo>
                        <a:cubicBezTo>
                          <a:pt x="96" y="95"/>
                          <a:pt x="96" y="95"/>
                          <a:pt x="96" y="95"/>
                        </a:cubicBezTo>
                        <a:cubicBezTo>
                          <a:pt x="98" y="92"/>
                          <a:pt x="103" y="91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9" y="96"/>
                          <a:pt x="110" y="101"/>
                          <a:pt x="107" y="104"/>
                        </a:cubicBezTo>
                        <a:cubicBezTo>
                          <a:pt x="107" y="104"/>
                          <a:pt x="107" y="104"/>
                          <a:pt x="107" y="104"/>
                        </a:cubicBezTo>
                        <a:cubicBezTo>
                          <a:pt x="106" y="106"/>
                          <a:pt x="104" y="107"/>
                          <a:pt x="101" y="107"/>
                        </a:cubicBezTo>
                        <a:cubicBezTo>
                          <a:pt x="101" y="107"/>
                          <a:pt x="101" y="107"/>
                          <a:pt x="101" y="107"/>
                        </a:cubicBezTo>
                        <a:cubicBezTo>
                          <a:pt x="100" y="107"/>
                          <a:pt x="98" y="106"/>
                          <a:pt x="97" y="105"/>
                        </a:cubicBezTo>
                        <a:close/>
                        <a:moveTo>
                          <a:pt x="64" y="76"/>
                        </a:moveTo>
                        <a:cubicBezTo>
                          <a:pt x="60" y="73"/>
                          <a:pt x="60" y="69"/>
                          <a:pt x="63" y="66"/>
                        </a:cubicBezTo>
                        <a:cubicBezTo>
                          <a:pt x="63" y="66"/>
                          <a:pt x="63" y="66"/>
                          <a:pt x="63" y="66"/>
                        </a:cubicBezTo>
                        <a:cubicBezTo>
                          <a:pt x="66" y="63"/>
                          <a:pt x="70" y="63"/>
                          <a:pt x="73" y="65"/>
                        </a:cubicBezTo>
                        <a:cubicBezTo>
                          <a:pt x="73" y="65"/>
                          <a:pt x="73" y="65"/>
                          <a:pt x="73" y="65"/>
                        </a:cubicBezTo>
                        <a:cubicBezTo>
                          <a:pt x="76" y="68"/>
                          <a:pt x="77" y="73"/>
                          <a:pt x="74" y="76"/>
                        </a:cubicBezTo>
                        <a:cubicBezTo>
                          <a:pt x="74" y="76"/>
                          <a:pt x="74" y="76"/>
                          <a:pt x="74" y="76"/>
                        </a:cubicBezTo>
                        <a:cubicBezTo>
                          <a:pt x="72" y="77"/>
                          <a:pt x="70" y="78"/>
                          <a:pt x="68" y="78"/>
                        </a:cubicBezTo>
                        <a:cubicBezTo>
                          <a:pt x="68" y="78"/>
                          <a:pt x="68" y="78"/>
                          <a:pt x="68" y="78"/>
                        </a:cubicBezTo>
                        <a:cubicBezTo>
                          <a:pt x="67" y="78"/>
                          <a:pt x="65" y="77"/>
                          <a:pt x="64" y="76"/>
                        </a:cubicBezTo>
                        <a:close/>
                        <a:moveTo>
                          <a:pt x="32" y="45"/>
                        </a:moveTo>
                        <a:cubicBezTo>
                          <a:pt x="32" y="45"/>
                          <a:pt x="32" y="45"/>
                          <a:pt x="32" y="45"/>
                        </a:cubicBezTo>
                        <a:cubicBezTo>
                          <a:pt x="29" y="42"/>
                          <a:pt x="29" y="38"/>
                          <a:pt x="32" y="35"/>
                        </a:cubicBezTo>
                        <a:cubicBezTo>
                          <a:pt x="32" y="35"/>
                          <a:pt x="32" y="35"/>
                          <a:pt x="32" y="35"/>
                        </a:cubicBezTo>
                        <a:cubicBezTo>
                          <a:pt x="35" y="32"/>
                          <a:pt x="40" y="32"/>
                          <a:pt x="42" y="35"/>
                        </a:cubicBezTo>
                        <a:cubicBezTo>
                          <a:pt x="42" y="35"/>
                          <a:pt x="42" y="35"/>
                          <a:pt x="42" y="35"/>
                        </a:cubicBezTo>
                        <a:cubicBezTo>
                          <a:pt x="45" y="38"/>
                          <a:pt x="45" y="43"/>
                          <a:pt x="42" y="45"/>
                        </a:cubicBezTo>
                        <a:cubicBezTo>
                          <a:pt x="42" y="45"/>
                          <a:pt x="42" y="45"/>
                          <a:pt x="42" y="45"/>
                        </a:cubicBezTo>
                        <a:cubicBezTo>
                          <a:pt x="41" y="47"/>
                          <a:pt x="39" y="47"/>
                          <a:pt x="37" y="47"/>
                        </a:cubicBezTo>
                        <a:cubicBezTo>
                          <a:pt x="37" y="47"/>
                          <a:pt x="37" y="47"/>
                          <a:pt x="37" y="47"/>
                        </a:cubicBezTo>
                        <a:cubicBezTo>
                          <a:pt x="35" y="47"/>
                          <a:pt x="33" y="47"/>
                          <a:pt x="32" y="45"/>
                        </a:cubicBezTo>
                        <a:close/>
                        <a:moveTo>
                          <a:pt x="3" y="12"/>
                        </a:moveTo>
                        <a:cubicBezTo>
                          <a:pt x="3" y="12"/>
                          <a:pt x="3" y="12"/>
                          <a:pt x="3" y="12"/>
                        </a:cubicBezTo>
                        <a:cubicBezTo>
                          <a:pt x="0" y="9"/>
                          <a:pt x="0" y="5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7" y="0"/>
                          <a:pt x="11" y="0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6" y="6"/>
                          <a:pt x="16" y="11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2" y="14"/>
                          <a:pt x="10" y="15"/>
                          <a:pt x="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6" y="15"/>
                          <a:pt x="4" y="14"/>
                          <a:pt x="3" y="12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31" name="Freeform 99">
                    <a:extLst>
                      <a:ext uri="{FF2B5EF4-FFF2-40B4-BE49-F238E27FC236}">
                        <a16:creationId xmlns:a16="http://schemas.microsoft.com/office/drawing/2014/main" id="{81EA5ACD-824A-49DF-8932-FA2938E8C92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4587247"/>
                    <a:ext cx="1230098" cy="631672"/>
                  </a:xfrm>
                  <a:custGeom>
                    <a:avLst/>
                    <a:gdLst>
                      <a:gd name="T0" fmla="*/ 7 w 510"/>
                      <a:gd name="T1" fmla="*/ 248 h 262"/>
                      <a:gd name="T2" fmla="*/ 15 w 510"/>
                      <a:gd name="T3" fmla="*/ 255 h 262"/>
                      <a:gd name="T4" fmla="*/ 8 w 510"/>
                      <a:gd name="T5" fmla="*/ 262 h 262"/>
                      <a:gd name="T6" fmla="*/ 0 w 510"/>
                      <a:gd name="T7" fmla="*/ 256 h 262"/>
                      <a:gd name="T8" fmla="*/ 50 w 510"/>
                      <a:gd name="T9" fmla="*/ 244 h 262"/>
                      <a:gd name="T10" fmla="*/ 58 w 510"/>
                      <a:gd name="T11" fmla="*/ 250 h 262"/>
                      <a:gd name="T12" fmla="*/ 52 w 510"/>
                      <a:gd name="T13" fmla="*/ 258 h 262"/>
                      <a:gd name="T14" fmla="*/ 44 w 510"/>
                      <a:gd name="T15" fmla="*/ 252 h 262"/>
                      <a:gd name="T16" fmla="*/ 93 w 510"/>
                      <a:gd name="T17" fmla="*/ 237 h 262"/>
                      <a:gd name="T18" fmla="*/ 101 w 510"/>
                      <a:gd name="T19" fmla="*/ 243 h 262"/>
                      <a:gd name="T20" fmla="*/ 95 w 510"/>
                      <a:gd name="T21" fmla="*/ 252 h 262"/>
                      <a:gd name="T22" fmla="*/ 87 w 510"/>
                      <a:gd name="T23" fmla="*/ 246 h 262"/>
                      <a:gd name="T24" fmla="*/ 135 w 510"/>
                      <a:gd name="T25" fmla="*/ 228 h 262"/>
                      <a:gd name="T26" fmla="*/ 144 w 510"/>
                      <a:gd name="T27" fmla="*/ 233 h 262"/>
                      <a:gd name="T28" fmla="*/ 139 w 510"/>
                      <a:gd name="T29" fmla="*/ 242 h 262"/>
                      <a:gd name="T30" fmla="*/ 130 w 510"/>
                      <a:gd name="T31" fmla="*/ 237 h 262"/>
                      <a:gd name="T32" fmla="*/ 177 w 510"/>
                      <a:gd name="T33" fmla="*/ 216 h 262"/>
                      <a:gd name="T34" fmla="*/ 181 w 510"/>
                      <a:gd name="T35" fmla="*/ 230 h 262"/>
                      <a:gd name="T36" fmla="*/ 179 w 510"/>
                      <a:gd name="T37" fmla="*/ 231 h 262"/>
                      <a:gd name="T38" fmla="*/ 217 w 510"/>
                      <a:gd name="T39" fmla="*/ 202 h 262"/>
                      <a:gd name="T40" fmla="*/ 227 w 510"/>
                      <a:gd name="T41" fmla="*/ 206 h 262"/>
                      <a:gd name="T42" fmla="*/ 220 w 510"/>
                      <a:gd name="T43" fmla="*/ 216 h 262"/>
                      <a:gd name="T44" fmla="*/ 254 w 510"/>
                      <a:gd name="T45" fmla="*/ 195 h 262"/>
                      <a:gd name="T46" fmla="*/ 267 w 510"/>
                      <a:gd name="T47" fmla="*/ 189 h 262"/>
                      <a:gd name="T48" fmla="*/ 263 w 510"/>
                      <a:gd name="T49" fmla="*/ 199 h 262"/>
                      <a:gd name="T50" fmla="*/ 254 w 510"/>
                      <a:gd name="T51" fmla="*/ 195 h 262"/>
                      <a:gd name="T52" fmla="*/ 296 w 510"/>
                      <a:gd name="T53" fmla="*/ 166 h 262"/>
                      <a:gd name="T54" fmla="*/ 303 w 510"/>
                      <a:gd name="T55" fmla="*/ 179 h 262"/>
                      <a:gd name="T56" fmla="*/ 299 w 510"/>
                      <a:gd name="T57" fmla="*/ 180 h 262"/>
                      <a:gd name="T58" fmla="*/ 333 w 510"/>
                      <a:gd name="T59" fmla="*/ 144 h 262"/>
                      <a:gd name="T60" fmla="*/ 333 w 510"/>
                      <a:gd name="T61" fmla="*/ 144 h 262"/>
                      <a:gd name="T62" fmla="*/ 341 w 510"/>
                      <a:gd name="T63" fmla="*/ 157 h 262"/>
                      <a:gd name="T64" fmla="*/ 337 w 510"/>
                      <a:gd name="T65" fmla="*/ 158 h 262"/>
                      <a:gd name="T66" fmla="*/ 369 w 510"/>
                      <a:gd name="T67" fmla="*/ 120 h 262"/>
                      <a:gd name="T68" fmla="*/ 369 w 510"/>
                      <a:gd name="T69" fmla="*/ 120 h 262"/>
                      <a:gd name="T70" fmla="*/ 378 w 510"/>
                      <a:gd name="T71" fmla="*/ 132 h 262"/>
                      <a:gd name="T72" fmla="*/ 374 w 510"/>
                      <a:gd name="T73" fmla="*/ 134 h 262"/>
                      <a:gd name="T74" fmla="*/ 404 w 510"/>
                      <a:gd name="T75" fmla="*/ 94 h 262"/>
                      <a:gd name="T76" fmla="*/ 414 w 510"/>
                      <a:gd name="T77" fmla="*/ 95 h 262"/>
                      <a:gd name="T78" fmla="*/ 408 w 510"/>
                      <a:gd name="T79" fmla="*/ 107 h 262"/>
                      <a:gd name="T80" fmla="*/ 436 w 510"/>
                      <a:gd name="T81" fmla="*/ 76 h 262"/>
                      <a:gd name="T82" fmla="*/ 447 w 510"/>
                      <a:gd name="T83" fmla="*/ 66 h 262"/>
                      <a:gd name="T84" fmla="*/ 446 w 510"/>
                      <a:gd name="T85" fmla="*/ 77 h 262"/>
                      <a:gd name="T86" fmla="*/ 436 w 510"/>
                      <a:gd name="T87" fmla="*/ 76 h 262"/>
                      <a:gd name="T88" fmla="*/ 467 w 510"/>
                      <a:gd name="T89" fmla="*/ 36 h 262"/>
                      <a:gd name="T90" fmla="*/ 478 w 510"/>
                      <a:gd name="T91" fmla="*/ 46 h 262"/>
                      <a:gd name="T92" fmla="*/ 473 w 510"/>
                      <a:gd name="T93" fmla="*/ 48 h 262"/>
                      <a:gd name="T94" fmla="*/ 496 w 510"/>
                      <a:gd name="T95" fmla="*/ 3 h 262"/>
                      <a:gd name="T96" fmla="*/ 506 w 510"/>
                      <a:gd name="T97" fmla="*/ 3 h 262"/>
                      <a:gd name="T98" fmla="*/ 502 w 510"/>
                      <a:gd name="T99" fmla="*/ 15 h 2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10" h="262">
                        <a:moveTo>
                          <a:pt x="0" y="256"/>
                        </a:moveTo>
                        <a:cubicBezTo>
                          <a:pt x="0" y="251"/>
                          <a:pt x="3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11" y="248"/>
                          <a:pt x="14" y="251"/>
                          <a:pt x="15" y="255"/>
                        </a:cubicBezTo>
                        <a:cubicBezTo>
                          <a:pt x="15" y="255"/>
                          <a:pt x="15" y="255"/>
                          <a:pt x="15" y="255"/>
                        </a:cubicBezTo>
                        <a:cubicBezTo>
                          <a:pt x="15" y="259"/>
                          <a:pt x="12" y="262"/>
                          <a:pt x="8" y="262"/>
                        </a:cubicBezTo>
                        <a:cubicBezTo>
                          <a:pt x="8" y="262"/>
                          <a:pt x="8" y="262"/>
                          <a:pt x="8" y="262"/>
                        </a:cubicBezTo>
                        <a:cubicBezTo>
                          <a:pt x="8" y="262"/>
                          <a:pt x="8" y="262"/>
                          <a:pt x="7" y="262"/>
                        </a:cubicBezTo>
                        <a:cubicBezTo>
                          <a:pt x="7" y="262"/>
                          <a:pt x="7" y="262"/>
                          <a:pt x="7" y="262"/>
                        </a:cubicBezTo>
                        <a:cubicBezTo>
                          <a:pt x="4" y="262"/>
                          <a:pt x="0" y="259"/>
                          <a:pt x="0" y="256"/>
                        </a:cubicBezTo>
                        <a:close/>
                        <a:moveTo>
                          <a:pt x="44" y="252"/>
                        </a:moveTo>
                        <a:cubicBezTo>
                          <a:pt x="43" y="248"/>
                          <a:pt x="46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4" y="243"/>
                          <a:pt x="58" y="246"/>
                          <a:pt x="58" y="250"/>
                        </a:cubicBezTo>
                        <a:cubicBezTo>
                          <a:pt x="58" y="250"/>
                          <a:pt x="58" y="250"/>
                          <a:pt x="58" y="250"/>
                        </a:cubicBezTo>
                        <a:cubicBezTo>
                          <a:pt x="59" y="254"/>
                          <a:pt x="56" y="258"/>
                          <a:pt x="52" y="258"/>
                        </a:cubicBezTo>
                        <a:cubicBezTo>
                          <a:pt x="52" y="258"/>
                          <a:pt x="52" y="258"/>
                          <a:pt x="52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47" y="258"/>
                          <a:pt x="44" y="256"/>
                          <a:pt x="44" y="252"/>
                        </a:cubicBezTo>
                        <a:close/>
                        <a:moveTo>
                          <a:pt x="87" y="246"/>
                        </a:moveTo>
                        <a:cubicBezTo>
                          <a:pt x="86" y="242"/>
                          <a:pt x="89" y="238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7" y="237"/>
                          <a:pt x="101" y="239"/>
                          <a:pt x="101" y="243"/>
                        </a:cubicBezTo>
                        <a:cubicBezTo>
                          <a:pt x="101" y="243"/>
                          <a:pt x="101" y="243"/>
                          <a:pt x="101" y="243"/>
                        </a:cubicBezTo>
                        <a:cubicBezTo>
                          <a:pt x="102" y="247"/>
                          <a:pt x="99" y="251"/>
                          <a:pt x="95" y="252"/>
                        </a:cubicBezTo>
                        <a:cubicBezTo>
                          <a:pt x="95" y="252"/>
                          <a:pt x="95" y="252"/>
                          <a:pt x="95" y="252"/>
                        </a:cubicBezTo>
                        <a:cubicBezTo>
                          <a:pt x="95" y="252"/>
                          <a:pt x="95" y="252"/>
                          <a:pt x="94" y="252"/>
                        </a:cubicBezTo>
                        <a:cubicBezTo>
                          <a:pt x="94" y="252"/>
                          <a:pt x="94" y="252"/>
                          <a:pt x="94" y="252"/>
                        </a:cubicBezTo>
                        <a:cubicBezTo>
                          <a:pt x="91" y="252"/>
                          <a:pt x="88" y="249"/>
                          <a:pt x="87" y="246"/>
                        </a:cubicBezTo>
                        <a:close/>
                        <a:moveTo>
                          <a:pt x="130" y="237"/>
                        </a:moveTo>
                        <a:cubicBezTo>
                          <a:pt x="129" y="233"/>
                          <a:pt x="131" y="229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9" y="227"/>
                          <a:pt x="143" y="230"/>
                          <a:pt x="144" y="233"/>
                        </a:cubicBezTo>
                        <a:cubicBezTo>
                          <a:pt x="144" y="233"/>
                          <a:pt x="144" y="233"/>
                          <a:pt x="144" y="233"/>
                        </a:cubicBezTo>
                        <a:cubicBezTo>
                          <a:pt x="145" y="237"/>
                          <a:pt x="142" y="241"/>
                          <a:pt x="139" y="242"/>
                        </a:cubicBezTo>
                        <a:cubicBezTo>
                          <a:pt x="139" y="242"/>
                          <a:pt x="139" y="242"/>
                          <a:pt x="139" y="242"/>
                        </a:cubicBezTo>
                        <a:cubicBezTo>
                          <a:pt x="138" y="243"/>
                          <a:pt x="137" y="243"/>
                          <a:pt x="137" y="243"/>
                        </a:cubicBezTo>
                        <a:cubicBezTo>
                          <a:pt x="137" y="243"/>
                          <a:pt x="137" y="243"/>
                          <a:pt x="137" y="243"/>
                        </a:cubicBezTo>
                        <a:cubicBezTo>
                          <a:pt x="133" y="243"/>
                          <a:pt x="130" y="240"/>
                          <a:pt x="130" y="237"/>
                        </a:cubicBezTo>
                        <a:close/>
                        <a:moveTo>
                          <a:pt x="172" y="226"/>
                        </a:moveTo>
                        <a:cubicBezTo>
                          <a:pt x="171" y="222"/>
                          <a:pt x="173" y="218"/>
                          <a:pt x="177" y="216"/>
                        </a:cubicBezTo>
                        <a:cubicBezTo>
                          <a:pt x="177" y="216"/>
                          <a:pt x="177" y="216"/>
                          <a:pt x="177" y="216"/>
                        </a:cubicBezTo>
                        <a:cubicBezTo>
                          <a:pt x="180" y="215"/>
                          <a:pt x="185" y="217"/>
                          <a:pt x="186" y="221"/>
                        </a:cubicBezTo>
                        <a:cubicBezTo>
                          <a:pt x="186" y="221"/>
                          <a:pt x="186" y="221"/>
                          <a:pt x="186" y="221"/>
                        </a:cubicBezTo>
                        <a:cubicBezTo>
                          <a:pt x="187" y="225"/>
                          <a:pt x="185" y="229"/>
                          <a:pt x="181" y="230"/>
                        </a:cubicBezTo>
                        <a:cubicBezTo>
                          <a:pt x="181" y="230"/>
                          <a:pt x="181" y="230"/>
                          <a:pt x="181" y="230"/>
                        </a:cubicBezTo>
                        <a:cubicBezTo>
                          <a:pt x="180" y="231"/>
                          <a:pt x="180" y="231"/>
                          <a:pt x="179" y="231"/>
                        </a:cubicBezTo>
                        <a:cubicBezTo>
                          <a:pt x="179" y="231"/>
                          <a:pt x="179" y="231"/>
                          <a:pt x="179" y="231"/>
                        </a:cubicBezTo>
                        <a:cubicBezTo>
                          <a:pt x="176" y="231"/>
                          <a:pt x="173" y="229"/>
                          <a:pt x="172" y="226"/>
                        </a:cubicBezTo>
                        <a:close/>
                        <a:moveTo>
                          <a:pt x="213" y="212"/>
                        </a:moveTo>
                        <a:cubicBezTo>
                          <a:pt x="212" y="208"/>
                          <a:pt x="214" y="204"/>
                          <a:pt x="217" y="202"/>
                        </a:cubicBezTo>
                        <a:cubicBezTo>
                          <a:pt x="217" y="202"/>
                          <a:pt x="217" y="202"/>
                          <a:pt x="217" y="202"/>
                        </a:cubicBezTo>
                        <a:cubicBezTo>
                          <a:pt x="221" y="201"/>
                          <a:pt x="225" y="203"/>
                          <a:pt x="227" y="206"/>
                        </a:cubicBezTo>
                        <a:cubicBezTo>
                          <a:pt x="227" y="206"/>
                          <a:pt x="227" y="206"/>
                          <a:pt x="227" y="206"/>
                        </a:cubicBezTo>
                        <a:cubicBezTo>
                          <a:pt x="228" y="210"/>
                          <a:pt x="226" y="214"/>
                          <a:pt x="223" y="216"/>
                        </a:cubicBezTo>
                        <a:cubicBezTo>
                          <a:pt x="223" y="216"/>
                          <a:pt x="223" y="216"/>
                          <a:pt x="223" y="216"/>
                        </a:cubicBezTo>
                        <a:cubicBezTo>
                          <a:pt x="222" y="216"/>
                          <a:pt x="221" y="216"/>
                          <a:pt x="220" y="216"/>
                        </a:cubicBezTo>
                        <a:cubicBezTo>
                          <a:pt x="220" y="216"/>
                          <a:pt x="220" y="216"/>
                          <a:pt x="220" y="216"/>
                        </a:cubicBezTo>
                        <a:cubicBezTo>
                          <a:pt x="217" y="216"/>
                          <a:pt x="214" y="215"/>
                          <a:pt x="213" y="212"/>
                        </a:cubicBezTo>
                        <a:close/>
                        <a:moveTo>
                          <a:pt x="254" y="195"/>
                        </a:moveTo>
                        <a:cubicBezTo>
                          <a:pt x="252" y="191"/>
                          <a:pt x="254" y="187"/>
                          <a:pt x="257" y="185"/>
                        </a:cubicBezTo>
                        <a:cubicBezTo>
                          <a:pt x="257" y="185"/>
                          <a:pt x="257" y="185"/>
                          <a:pt x="257" y="185"/>
                        </a:cubicBezTo>
                        <a:cubicBezTo>
                          <a:pt x="261" y="184"/>
                          <a:pt x="265" y="185"/>
                          <a:pt x="267" y="189"/>
                        </a:cubicBezTo>
                        <a:cubicBezTo>
                          <a:pt x="267" y="189"/>
                          <a:pt x="267" y="189"/>
                          <a:pt x="267" y="189"/>
                        </a:cubicBezTo>
                        <a:cubicBezTo>
                          <a:pt x="269" y="193"/>
                          <a:pt x="267" y="197"/>
                          <a:pt x="263" y="199"/>
                        </a:cubicBezTo>
                        <a:cubicBezTo>
                          <a:pt x="263" y="199"/>
                          <a:pt x="263" y="199"/>
                          <a:pt x="263" y="199"/>
                        </a:cubicBezTo>
                        <a:cubicBezTo>
                          <a:pt x="262" y="199"/>
                          <a:pt x="261" y="199"/>
                          <a:pt x="260" y="199"/>
                        </a:cubicBezTo>
                        <a:cubicBezTo>
                          <a:pt x="260" y="199"/>
                          <a:pt x="260" y="199"/>
                          <a:pt x="260" y="199"/>
                        </a:cubicBezTo>
                        <a:cubicBezTo>
                          <a:pt x="258" y="199"/>
                          <a:pt x="255" y="198"/>
                          <a:pt x="254" y="195"/>
                        </a:cubicBezTo>
                        <a:close/>
                        <a:moveTo>
                          <a:pt x="293" y="176"/>
                        </a:moveTo>
                        <a:cubicBezTo>
                          <a:pt x="291" y="172"/>
                          <a:pt x="292" y="168"/>
                          <a:pt x="296" y="166"/>
                        </a:cubicBezTo>
                        <a:cubicBezTo>
                          <a:pt x="296" y="166"/>
                          <a:pt x="296" y="166"/>
                          <a:pt x="296" y="166"/>
                        </a:cubicBezTo>
                        <a:cubicBezTo>
                          <a:pt x="299" y="164"/>
                          <a:pt x="304" y="165"/>
                          <a:pt x="306" y="169"/>
                        </a:cubicBezTo>
                        <a:cubicBezTo>
                          <a:pt x="306" y="169"/>
                          <a:pt x="306" y="169"/>
                          <a:pt x="306" y="169"/>
                        </a:cubicBezTo>
                        <a:cubicBezTo>
                          <a:pt x="308" y="173"/>
                          <a:pt x="307" y="177"/>
                          <a:pt x="303" y="179"/>
                        </a:cubicBezTo>
                        <a:cubicBezTo>
                          <a:pt x="303" y="179"/>
                          <a:pt x="303" y="179"/>
                          <a:pt x="303" y="179"/>
                        </a:cubicBezTo>
                        <a:cubicBezTo>
                          <a:pt x="302" y="179"/>
                          <a:pt x="301" y="180"/>
                          <a:pt x="299" y="180"/>
                        </a:cubicBezTo>
                        <a:cubicBezTo>
                          <a:pt x="299" y="180"/>
                          <a:pt x="299" y="180"/>
                          <a:pt x="299" y="180"/>
                        </a:cubicBezTo>
                        <a:cubicBezTo>
                          <a:pt x="297" y="180"/>
                          <a:pt x="294" y="178"/>
                          <a:pt x="293" y="176"/>
                        </a:cubicBezTo>
                        <a:close/>
                        <a:moveTo>
                          <a:pt x="331" y="154"/>
                        </a:moveTo>
                        <a:cubicBezTo>
                          <a:pt x="329" y="151"/>
                          <a:pt x="330" y="147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7" y="142"/>
                          <a:pt x="341" y="143"/>
                          <a:pt x="343" y="147"/>
                        </a:cubicBezTo>
                        <a:cubicBezTo>
                          <a:pt x="343" y="147"/>
                          <a:pt x="343" y="147"/>
                          <a:pt x="343" y="147"/>
                        </a:cubicBezTo>
                        <a:cubicBezTo>
                          <a:pt x="346" y="150"/>
                          <a:pt x="344" y="155"/>
                          <a:pt x="341" y="157"/>
                        </a:cubicBezTo>
                        <a:cubicBezTo>
                          <a:pt x="341" y="157"/>
                          <a:pt x="341" y="157"/>
                          <a:pt x="341" y="157"/>
                        </a:cubicBezTo>
                        <a:cubicBezTo>
                          <a:pt x="340" y="158"/>
                          <a:pt x="339" y="158"/>
                          <a:pt x="337" y="158"/>
                        </a:cubicBezTo>
                        <a:cubicBezTo>
                          <a:pt x="337" y="158"/>
                          <a:pt x="337" y="158"/>
                          <a:pt x="337" y="158"/>
                        </a:cubicBezTo>
                        <a:cubicBezTo>
                          <a:pt x="335" y="158"/>
                          <a:pt x="332" y="157"/>
                          <a:pt x="331" y="154"/>
                        </a:cubicBezTo>
                        <a:close/>
                        <a:moveTo>
                          <a:pt x="368" y="131"/>
                        </a:moveTo>
                        <a:cubicBezTo>
                          <a:pt x="365" y="127"/>
                          <a:pt x="366" y="123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73" y="118"/>
                          <a:pt x="377" y="119"/>
                          <a:pt x="380" y="122"/>
                        </a:cubicBezTo>
                        <a:cubicBezTo>
                          <a:pt x="380" y="122"/>
                          <a:pt x="380" y="122"/>
                          <a:pt x="380" y="122"/>
                        </a:cubicBezTo>
                        <a:cubicBezTo>
                          <a:pt x="382" y="125"/>
                          <a:pt x="381" y="130"/>
                          <a:pt x="378" y="132"/>
                        </a:cubicBezTo>
                        <a:cubicBezTo>
                          <a:pt x="378" y="132"/>
                          <a:pt x="378" y="132"/>
                          <a:pt x="378" y="132"/>
                        </a:cubicBezTo>
                        <a:cubicBezTo>
                          <a:pt x="377" y="133"/>
                          <a:pt x="375" y="134"/>
                          <a:pt x="374" y="134"/>
                        </a:cubicBezTo>
                        <a:cubicBezTo>
                          <a:pt x="374" y="134"/>
                          <a:pt x="374" y="134"/>
                          <a:pt x="374" y="134"/>
                        </a:cubicBezTo>
                        <a:cubicBezTo>
                          <a:pt x="371" y="134"/>
                          <a:pt x="369" y="133"/>
                          <a:pt x="368" y="131"/>
                        </a:cubicBezTo>
                        <a:close/>
                        <a:moveTo>
                          <a:pt x="403" y="105"/>
                        </a:moveTo>
                        <a:cubicBezTo>
                          <a:pt x="400" y="101"/>
                          <a:pt x="401" y="97"/>
                          <a:pt x="404" y="94"/>
                        </a:cubicBezTo>
                        <a:cubicBezTo>
                          <a:pt x="404" y="94"/>
                          <a:pt x="404" y="94"/>
                          <a:pt x="404" y="94"/>
                        </a:cubicBezTo>
                        <a:cubicBezTo>
                          <a:pt x="407" y="92"/>
                          <a:pt x="412" y="92"/>
                          <a:pt x="414" y="95"/>
                        </a:cubicBezTo>
                        <a:cubicBezTo>
                          <a:pt x="414" y="95"/>
                          <a:pt x="414" y="95"/>
                          <a:pt x="414" y="95"/>
                        </a:cubicBezTo>
                        <a:cubicBezTo>
                          <a:pt x="417" y="99"/>
                          <a:pt x="416" y="103"/>
                          <a:pt x="413" y="106"/>
                        </a:cubicBezTo>
                        <a:cubicBezTo>
                          <a:pt x="413" y="106"/>
                          <a:pt x="413" y="106"/>
                          <a:pt x="413" y="106"/>
                        </a:cubicBezTo>
                        <a:cubicBezTo>
                          <a:pt x="412" y="107"/>
                          <a:pt x="410" y="107"/>
                          <a:pt x="408" y="107"/>
                        </a:cubicBezTo>
                        <a:cubicBezTo>
                          <a:pt x="408" y="107"/>
                          <a:pt x="408" y="107"/>
                          <a:pt x="408" y="107"/>
                        </a:cubicBezTo>
                        <a:cubicBezTo>
                          <a:pt x="406" y="107"/>
                          <a:pt x="404" y="106"/>
                          <a:pt x="403" y="105"/>
                        </a:cubicBezTo>
                        <a:close/>
                        <a:moveTo>
                          <a:pt x="436" y="76"/>
                        </a:moveTo>
                        <a:cubicBezTo>
                          <a:pt x="433" y="73"/>
                          <a:pt x="433" y="69"/>
                          <a:pt x="437" y="66"/>
                        </a:cubicBezTo>
                        <a:cubicBezTo>
                          <a:pt x="437" y="66"/>
                          <a:pt x="437" y="66"/>
                          <a:pt x="437" y="66"/>
                        </a:cubicBezTo>
                        <a:cubicBezTo>
                          <a:pt x="439" y="63"/>
                          <a:pt x="444" y="63"/>
                          <a:pt x="447" y="66"/>
                        </a:cubicBezTo>
                        <a:cubicBezTo>
                          <a:pt x="447" y="66"/>
                          <a:pt x="447" y="66"/>
                          <a:pt x="447" y="66"/>
                        </a:cubicBezTo>
                        <a:cubicBezTo>
                          <a:pt x="450" y="69"/>
                          <a:pt x="449" y="74"/>
                          <a:pt x="446" y="77"/>
                        </a:cubicBezTo>
                        <a:cubicBezTo>
                          <a:pt x="446" y="77"/>
                          <a:pt x="446" y="77"/>
                          <a:pt x="446" y="77"/>
                        </a:cubicBezTo>
                        <a:cubicBezTo>
                          <a:pt x="445" y="78"/>
                          <a:pt x="443" y="79"/>
                          <a:pt x="441" y="79"/>
                        </a:cubicBezTo>
                        <a:cubicBezTo>
                          <a:pt x="441" y="79"/>
                          <a:pt x="441" y="79"/>
                          <a:pt x="441" y="79"/>
                        </a:cubicBezTo>
                        <a:cubicBezTo>
                          <a:pt x="439" y="79"/>
                          <a:pt x="438" y="78"/>
                          <a:pt x="436" y="76"/>
                        </a:cubicBezTo>
                        <a:close/>
                        <a:moveTo>
                          <a:pt x="467" y="46"/>
                        </a:moveTo>
                        <a:cubicBezTo>
                          <a:pt x="465" y="43"/>
                          <a:pt x="464" y="38"/>
                          <a:pt x="467" y="36"/>
                        </a:cubicBezTo>
                        <a:cubicBezTo>
                          <a:pt x="467" y="36"/>
                          <a:pt x="467" y="36"/>
                          <a:pt x="467" y="36"/>
                        </a:cubicBezTo>
                        <a:cubicBezTo>
                          <a:pt x="470" y="33"/>
                          <a:pt x="475" y="33"/>
                          <a:pt x="478" y="35"/>
                        </a:cubicBezTo>
                        <a:cubicBezTo>
                          <a:pt x="478" y="35"/>
                          <a:pt x="478" y="35"/>
                          <a:pt x="478" y="35"/>
                        </a:cubicBezTo>
                        <a:cubicBezTo>
                          <a:pt x="480" y="38"/>
                          <a:pt x="481" y="43"/>
                          <a:pt x="478" y="46"/>
                        </a:cubicBezTo>
                        <a:cubicBezTo>
                          <a:pt x="478" y="46"/>
                          <a:pt x="478" y="46"/>
                          <a:pt x="478" y="46"/>
                        </a:cubicBezTo>
                        <a:cubicBezTo>
                          <a:pt x="476" y="47"/>
                          <a:pt x="474" y="48"/>
                          <a:pt x="473" y="48"/>
                        </a:cubicBezTo>
                        <a:cubicBezTo>
                          <a:pt x="473" y="48"/>
                          <a:pt x="473" y="48"/>
                          <a:pt x="473" y="48"/>
                        </a:cubicBezTo>
                        <a:cubicBezTo>
                          <a:pt x="471" y="48"/>
                          <a:pt x="469" y="47"/>
                          <a:pt x="467" y="46"/>
                        </a:cubicBezTo>
                        <a:close/>
                        <a:moveTo>
                          <a:pt x="497" y="14"/>
                        </a:moveTo>
                        <a:cubicBezTo>
                          <a:pt x="494" y="11"/>
                          <a:pt x="493" y="7"/>
                          <a:pt x="496" y="3"/>
                        </a:cubicBezTo>
                        <a:cubicBezTo>
                          <a:pt x="496" y="3"/>
                          <a:pt x="496" y="3"/>
                          <a:pt x="496" y="3"/>
                        </a:cubicBezTo>
                        <a:cubicBezTo>
                          <a:pt x="499" y="0"/>
                          <a:pt x="503" y="0"/>
                          <a:pt x="506" y="3"/>
                        </a:cubicBezTo>
                        <a:cubicBezTo>
                          <a:pt x="506" y="3"/>
                          <a:pt x="506" y="3"/>
                          <a:pt x="506" y="3"/>
                        </a:cubicBezTo>
                        <a:cubicBezTo>
                          <a:pt x="509" y="5"/>
                          <a:pt x="510" y="10"/>
                          <a:pt x="507" y="13"/>
                        </a:cubicBezTo>
                        <a:cubicBezTo>
                          <a:pt x="507" y="13"/>
                          <a:pt x="507" y="13"/>
                          <a:pt x="507" y="13"/>
                        </a:cubicBezTo>
                        <a:cubicBezTo>
                          <a:pt x="506" y="15"/>
                          <a:pt x="504" y="15"/>
                          <a:pt x="502" y="15"/>
                        </a:cubicBezTo>
                        <a:cubicBezTo>
                          <a:pt x="502" y="15"/>
                          <a:pt x="502" y="15"/>
                          <a:pt x="502" y="15"/>
                        </a:cubicBezTo>
                        <a:cubicBezTo>
                          <a:pt x="500" y="15"/>
                          <a:pt x="498" y="15"/>
                          <a:pt x="497" y="14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8439197A-3810-4E1C-8DD4-29193B86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6105" y="450413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2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4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4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5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8B46C47-D79D-427B-837A-85FAE788605D}"/>
              </a:ext>
            </a:extLst>
          </p:cNvPr>
          <p:cNvGrpSpPr/>
          <p:nvPr/>
        </p:nvGrpSpPr>
        <p:grpSpPr>
          <a:xfrm>
            <a:off x="5037268" y="1529615"/>
            <a:ext cx="2206401" cy="1124016"/>
            <a:chOff x="4692647" y="1766887"/>
            <a:chExt cx="3230392" cy="1645672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B6E11CCB-33B1-45D5-AD4F-0F4EE6F7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2512150"/>
              <a:ext cx="210557" cy="180083"/>
            </a:xfrm>
            <a:custGeom>
              <a:avLst/>
              <a:gdLst>
                <a:gd name="T0" fmla="*/ 0 w 76"/>
                <a:gd name="T1" fmla="*/ 1 h 65"/>
                <a:gd name="T2" fmla="*/ 11 w 76"/>
                <a:gd name="T3" fmla="*/ 0 h 65"/>
                <a:gd name="T4" fmla="*/ 22 w 76"/>
                <a:gd name="T5" fmla="*/ 51 h 65"/>
                <a:gd name="T6" fmla="*/ 73 w 76"/>
                <a:gd name="T7" fmla="*/ 36 h 65"/>
                <a:gd name="T8" fmla="*/ 76 w 76"/>
                <a:gd name="T9" fmla="*/ 47 h 65"/>
                <a:gd name="T10" fmla="*/ 14 w 76"/>
                <a:gd name="T11" fmla="*/ 65 h 65"/>
                <a:gd name="T12" fmla="*/ 0 w 76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65">
                  <a:moveTo>
                    <a:pt x="0" y="1"/>
                  </a:moveTo>
                  <a:lnTo>
                    <a:pt x="11" y="0"/>
                  </a:lnTo>
                  <a:lnTo>
                    <a:pt x="22" y="51"/>
                  </a:lnTo>
                  <a:lnTo>
                    <a:pt x="73" y="36"/>
                  </a:lnTo>
                  <a:lnTo>
                    <a:pt x="76" y="47"/>
                  </a:lnTo>
                  <a:lnTo>
                    <a:pt x="1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9F2DCACC-34B1-4924-90BD-B34FA32866E4}"/>
                </a:ext>
              </a:extLst>
            </p:cNvPr>
            <p:cNvGrpSpPr/>
            <p:nvPr/>
          </p:nvGrpSpPr>
          <p:grpSpPr>
            <a:xfrm>
              <a:off x="4778531" y="1766887"/>
              <a:ext cx="3144508" cy="1645672"/>
              <a:chOff x="4778531" y="1766887"/>
              <a:chExt cx="3144508" cy="1645672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C92D2C5-3337-4334-A4F3-81370826EC26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36196" cy="1537623"/>
                <a:chOff x="4778531" y="1766887"/>
                <a:chExt cx="3136196" cy="1537623"/>
              </a:xfrm>
            </p:grpSpPr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4CE34E22-B103-4A8E-AD15-C5DCBDD19DDE}"/>
                    </a:ext>
                  </a:extLst>
                </p:cNvPr>
                <p:cNvGrpSpPr/>
                <p:nvPr/>
              </p:nvGrpSpPr>
              <p:grpSpPr>
                <a:xfrm>
                  <a:off x="4778531" y="1769658"/>
                  <a:ext cx="3136196" cy="1534852"/>
                  <a:chOff x="4778531" y="1769658"/>
                  <a:chExt cx="3136196" cy="1534852"/>
                </a:xfrm>
              </p:grpSpPr>
              <p:sp>
                <p:nvSpPr>
                  <p:cNvPr id="88" name="Freeform 96">
                    <a:extLst>
                      <a:ext uri="{FF2B5EF4-FFF2-40B4-BE49-F238E27FC236}">
                        <a16:creationId xmlns:a16="http://schemas.microsoft.com/office/drawing/2014/main" id="{14E3E661-D001-47B3-B59E-52BAE81BCB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1769658"/>
                    <a:ext cx="1590262" cy="1534852"/>
                  </a:xfrm>
                  <a:custGeom>
                    <a:avLst/>
                    <a:gdLst>
                      <a:gd name="T0" fmla="*/ 659 w 659"/>
                      <a:gd name="T1" fmla="*/ 629 h 636"/>
                      <a:gd name="T2" fmla="*/ 652 w 659"/>
                      <a:gd name="T3" fmla="*/ 636 h 636"/>
                      <a:gd name="T4" fmla="*/ 640 w 659"/>
                      <a:gd name="T5" fmla="*/ 586 h 636"/>
                      <a:gd name="T6" fmla="*/ 654 w 659"/>
                      <a:gd name="T7" fmla="*/ 584 h 636"/>
                      <a:gd name="T8" fmla="*/ 647 w 659"/>
                      <a:gd name="T9" fmla="*/ 592 h 636"/>
                      <a:gd name="T10" fmla="*/ 638 w 659"/>
                      <a:gd name="T11" fmla="*/ 534 h 636"/>
                      <a:gd name="T12" fmla="*/ 641 w 659"/>
                      <a:gd name="T13" fmla="*/ 548 h 636"/>
                      <a:gd name="T14" fmla="*/ 633 w 659"/>
                      <a:gd name="T15" fmla="*/ 543 h 636"/>
                      <a:gd name="T16" fmla="*/ 627 w 659"/>
                      <a:gd name="T17" fmla="*/ 491 h 636"/>
                      <a:gd name="T18" fmla="*/ 631 w 659"/>
                      <a:gd name="T19" fmla="*/ 505 h 636"/>
                      <a:gd name="T20" fmla="*/ 622 w 659"/>
                      <a:gd name="T21" fmla="*/ 500 h 636"/>
                      <a:gd name="T22" fmla="*/ 622 w 659"/>
                      <a:gd name="T23" fmla="*/ 453 h 636"/>
                      <a:gd name="T24" fmla="*/ 615 w 659"/>
                      <a:gd name="T25" fmla="*/ 463 h 636"/>
                      <a:gd name="T26" fmla="*/ 596 w 659"/>
                      <a:gd name="T27" fmla="*/ 408 h 636"/>
                      <a:gd name="T28" fmla="*/ 602 w 659"/>
                      <a:gd name="T29" fmla="*/ 421 h 636"/>
                      <a:gd name="T30" fmla="*/ 592 w 659"/>
                      <a:gd name="T31" fmla="*/ 417 h 636"/>
                      <a:gd name="T32" fmla="*/ 576 w 659"/>
                      <a:gd name="T33" fmla="*/ 368 h 636"/>
                      <a:gd name="T34" fmla="*/ 583 w 659"/>
                      <a:gd name="T35" fmla="*/ 381 h 636"/>
                      <a:gd name="T36" fmla="*/ 573 w 659"/>
                      <a:gd name="T37" fmla="*/ 378 h 636"/>
                      <a:gd name="T38" fmla="*/ 564 w 659"/>
                      <a:gd name="T39" fmla="*/ 332 h 636"/>
                      <a:gd name="T40" fmla="*/ 558 w 659"/>
                      <a:gd name="T41" fmla="*/ 343 h 636"/>
                      <a:gd name="T42" fmla="*/ 529 w 659"/>
                      <a:gd name="T43" fmla="*/ 292 h 636"/>
                      <a:gd name="T44" fmla="*/ 538 w 659"/>
                      <a:gd name="T45" fmla="*/ 304 h 636"/>
                      <a:gd name="T46" fmla="*/ 528 w 659"/>
                      <a:gd name="T47" fmla="*/ 303 h 636"/>
                      <a:gd name="T48" fmla="*/ 512 w 659"/>
                      <a:gd name="T49" fmla="*/ 258 h 636"/>
                      <a:gd name="T50" fmla="*/ 507 w 659"/>
                      <a:gd name="T51" fmla="*/ 270 h 636"/>
                      <a:gd name="T52" fmla="*/ 473 w 659"/>
                      <a:gd name="T53" fmla="*/ 224 h 636"/>
                      <a:gd name="T54" fmla="*/ 483 w 659"/>
                      <a:gd name="T55" fmla="*/ 235 h 636"/>
                      <a:gd name="T56" fmla="*/ 472 w 659"/>
                      <a:gd name="T57" fmla="*/ 234 h 636"/>
                      <a:gd name="T58" fmla="*/ 452 w 659"/>
                      <a:gd name="T59" fmla="*/ 193 h 636"/>
                      <a:gd name="T60" fmla="*/ 446 w 659"/>
                      <a:gd name="T61" fmla="*/ 205 h 636"/>
                      <a:gd name="T62" fmla="*/ 408 w 659"/>
                      <a:gd name="T63" fmla="*/ 164 h 636"/>
                      <a:gd name="T64" fmla="*/ 419 w 659"/>
                      <a:gd name="T65" fmla="*/ 173 h 636"/>
                      <a:gd name="T66" fmla="*/ 409 w 659"/>
                      <a:gd name="T67" fmla="*/ 174 h 636"/>
                      <a:gd name="T68" fmla="*/ 383 w 659"/>
                      <a:gd name="T69" fmla="*/ 135 h 636"/>
                      <a:gd name="T70" fmla="*/ 378 w 659"/>
                      <a:gd name="T71" fmla="*/ 148 h 636"/>
                      <a:gd name="T72" fmla="*/ 338 w 659"/>
                      <a:gd name="T73" fmla="*/ 122 h 636"/>
                      <a:gd name="T74" fmla="*/ 346 w 659"/>
                      <a:gd name="T75" fmla="*/ 110 h 636"/>
                      <a:gd name="T76" fmla="*/ 342 w 659"/>
                      <a:gd name="T77" fmla="*/ 123 h 636"/>
                      <a:gd name="T78" fmla="*/ 300 w 659"/>
                      <a:gd name="T79" fmla="*/ 100 h 636"/>
                      <a:gd name="T80" fmla="*/ 307 w 659"/>
                      <a:gd name="T81" fmla="*/ 87 h 636"/>
                      <a:gd name="T82" fmla="*/ 303 w 659"/>
                      <a:gd name="T83" fmla="*/ 101 h 636"/>
                      <a:gd name="T84" fmla="*/ 257 w 659"/>
                      <a:gd name="T85" fmla="*/ 70 h 636"/>
                      <a:gd name="T86" fmla="*/ 270 w 659"/>
                      <a:gd name="T87" fmla="*/ 76 h 636"/>
                      <a:gd name="T88" fmla="*/ 261 w 659"/>
                      <a:gd name="T89" fmla="*/ 80 h 636"/>
                      <a:gd name="T90" fmla="*/ 226 w 659"/>
                      <a:gd name="T91" fmla="*/ 49 h 636"/>
                      <a:gd name="T92" fmla="*/ 223 w 659"/>
                      <a:gd name="T93" fmla="*/ 63 h 636"/>
                      <a:gd name="T94" fmla="*/ 174 w 659"/>
                      <a:gd name="T95" fmla="*/ 39 h 636"/>
                      <a:gd name="T96" fmla="*/ 188 w 659"/>
                      <a:gd name="T97" fmla="*/ 43 h 636"/>
                      <a:gd name="T98" fmla="*/ 179 w 659"/>
                      <a:gd name="T99" fmla="*/ 48 h 636"/>
                      <a:gd name="T100" fmla="*/ 140 w 659"/>
                      <a:gd name="T101" fmla="*/ 21 h 636"/>
                      <a:gd name="T102" fmla="*/ 139 w 659"/>
                      <a:gd name="T103" fmla="*/ 36 h 636"/>
                      <a:gd name="T104" fmla="*/ 88 w 659"/>
                      <a:gd name="T105" fmla="*/ 18 h 636"/>
                      <a:gd name="T106" fmla="*/ 102 w 659"/>
                      <a:gd name="T107" fmla="*/ 20 h 636"/>
                      <a:gd name="T108" fmla="*/ 94 w 659"/>
                      <a:gd name="T109" fmla="*/ 26 h 636"/>
                      <a:gd name="T110" fmla="*/ 44 w 659"/>
                      <a:gd name="T111" fmla="*/ 11 h 636"/>
                      <a:gd name="T112" fmla="*/ 59 w 659"/>
                      <a:gd name="T113" fmla="*/ 13 h 636"/>
                      <a:gd name="T114" fmla="*/ 50 w 659"/>
                      <a:gd name="T115" fmla="*/ 19 h 636"/>
                      <a:gd name="T116" fmla="*/ 0 w 659"/>
                      <a:gd name="T117" fmla="*/ 7 h 636"/>
                      <a:gd name="T118" fmla="*/ 14 w 659"/>
                      <a:gd name="T119" fmla="*/ 8 h 636"/>
                      <a:gd name="T120" fmla="*/ 7 w 659"/>
                      <a:gd name="T121" fmla="*/ 15 h 6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659" h="636">
                        <a:moveTo>
                          <a:pt x="644" y="630"/>
                        </a:moveTo>
                        <a:cubicBezTo>
                          <a:pt x="644" y="626"/>
                          <a:pt x="647" y="622"/>
                          <a:pt x="651" y="622"/>
                        </a:cubicBezTo>
                        <a:cubicBezTo>
                          <a:pt x="651" y="622"/>
                          <a:pt x="651" y="622"/>
                          <a:pt x="651" y="622"/>
                        </a:cubicBezTo>
                        <a:cubicBezTo>
                          <a:pt x="655" y="622"/>
                          <a:pt x="659" y="625"/>
                          <a:pt x="659" y="629"/>
                        </a:cubicBezTo>
                        <a:cubicBezTo>
                          <a:pt x="659" y="629"/>
                          <a:pt x="659" y="629"/>
                          <a:pt x="659" y="629"/>
                        </a:cubicBezTo>
                        <a:cubicBezTo>
                          <a:pt x="659" y="633"/>
                          <a:pt x="656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48" y="636"/>
                          <a:pt x="645" y="634"/>
                          <a:pt x="644" y="630"/>
                        </a:cubicBezTo>
                        <a:close/>
                        <a:moveTo>
                          <a:pt x="640" y="586"/>
                        </a:move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39" y="582"/>
                          <a:pt x="642" y="578"/>
                          <a:pt x="646" y="578"/>
                        </a:cubicBezTo>
                        <a:cubicBezTo>
                          <a:pt x="646" y="578"/>
                          <a:pt x="646" y="578"/>
                          <a:pt x="646" y="578"/>
                        </a:cubicBezTo>
                        <a:cubicBezTo>
                          <a:pt x="650" y="577"/>
                          <a:pt x="654" y="580"/>
                          <a:pt x="654" y="584"/>
                        </a:cubicBezTo>
                        <a:cubicBezTo>
                          <a:pt x="654" y="584"/>
                          <a:pt x="654" y="584"/>
                          <a:pt x="654" y="584"/>
                        </a:cubicBezTo>
                        <a:cubicBezTo>
                          <a:pt x="655" y="588"/>
                          <a:pt x="652" y="592"/>
                          <a:pt x="648" y="592"/>
                        </a:cubicBezTo>
                        <a:cubicBezTo>
                          <a:pt x="648" y="592"/>
                          <a:pt x="648" y="592"/>
                          <a:pt x="648" y="592"/>
                        </a:cubicBezTo>
                        <a:cubicBezTo>
                          <a:pt x="648" y="592"/>
                          <a:pt x="647" y="592"/>
                          <a:pt x="647" y="592"/>
                        </a:cubicBezTo>
                        <a:cubicBezTo>
                          <a:pt x="647" y="592"/>
                          <a:pt x="647" y="592"/>
                          <a:pt x="647" y="592"/>
                        </a:cubicBezTo>
                        <a:cubicBezTo>
                          <a:pt x="643" y="592"/>
                          <a:pt x="640" y="590"/>
                          <a:pt x="640" y="586"/>
                        </a:cubicBezTo>
                        <a:close/>
                        <a:moveTo>
                          <a:pt x="633" y="543"/>
                        </a:moveTo>
                        <a:cubicBezTo>
                          <a:pt x="632" y="539"/>
                          <a:pt x="634" y="535"/>
                          <a:pt x="638" y="534"/>
                        </a:cubicBezTo>
                        <a:cubicBezTo>
                          <a:pt x="638" y="534"/>
                          <a:pt x="638" y="534"/>
                          <a:pt x="638" y="534"/>
                        </a:cubicBezTo>
                        <a:cubicBezTo>
                          <a:pt x="642" y="533"/>
                          <a:pt x="646" y="536"/>
                          <a:pt x="647" y="540"/>
                        </a:cubicBezTo>
                        <a:cubicBezTo>
                          <a:pt x="647" y="540"/>
                          <a:pt x="647" y="540"/>
                          <a:pt x="647" y="540"/>
                        </a:cubicBezTo>
                        <a:cubicBezTo>
                          <a:pt x="648" y="544"/>
                          <a:pt x="645" y="547"/>
                          <a:pt x="641" y="548"/>
                        </a:cubicBezTo>
                        <a:cubicBezTo>
                          <a:pt x="641" y="548"/>
                          <a:pt x="641" y="548"/>
                          <a:pt x="641" y="548"/>
                        </a:cubicBezTo>
                        <a:cubicBezTo>
                          <a:pt x="641" y="548"/>
                          <a:pt x="640" y="548"/>
                          <a:pt x="640" y="548"/>
                        </a:cubicBezTo>
                        <a:cubicBezTo>
                          <a:pt x="640" y="548"/>
                          <a:pt x="640" y="548"/>
                          <a:pt x="640" y="548"/>
                        </a:cubicBezTo>
                        <a:cubicBezTo>
                          <a:pt x="636" y="548"/>
                          <a:pt x="633" y="546"/>
                          <a:pt x="633" y="543"/>
                        </a:cubicBezTo>
                        <a:close/>
                        <a:moveTo>
                          <a:pt x="622" y="500"/>
                        </a:move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1" y="496"/>
                          <a:pt x="623" y="492"/>
                          <a:pt x="627" y="491"/>
                        </a:cubicBezTo>
                        <a:cubicBezTo>
                          <a:pt x="627" y="491"/>
                          <a:pt x="627" y="491"/>
                          <a:pt x="627" y="491"/>
                        </a:cubicBezTo>
                        <a:cubicBezTo>
                          <a:pt x="631" y="490"/>
                          <a:pt x="635" y="492"/>
                          <a:pt x="636" y="496"/>
                        </a:cubicBezTo>
                        <a:cubicBezTo>
                          <a:pt x="636" y="496"/>
                          <a:pt x="636" y="496"/>
                          <a:pt x="636" y="496"/>
                        </a:cubicBezTo>
                        <a:cubicBezTo>
                          <a:pt x="637" y="500"/>
                          <a:pt x="635" y="504"/>
                          <a:pt x="631" y="505"/>
                        </a:cubicBezTo>
                        <a:cubicBezTo>
                          <a:pt x="631" y="505"/>
                          <a:pt x="631" y="505"/>
                          <a:pt x="631" y="505"/>
                        </a:cubicBezTo>
                        <a:cubicBezTo>
                          <a:pt x="630" y="505"/>
                          <a:pt x="630" y="505"/>
                          <a:pt x="629" y="505"/>
                        </a:cubicBezTo>
                        <a:cubicBezTo>
                          <a:pt x="629" y="505"/>
                          <a:pt x="629" y="505"/>
                          <a:pt x="629" y="505"/>
                        </a:cubicBezTo>
                        <a:cubicBezTo>
                          <a:pt x="626" y="505"/>
                          <a:pt x="623" y="503"/>
                          <a:pt x="622" y="500"/>
                        </a:cubicBezTo>
                        <a:close/>
                        <a:moveTo>
                          <a:pt x="609" y="458"/>
                        </a:moveTo>
                        <a:cubicBezTo>
                          <a:pt x="607" y="454"/>
                          <a:pt x="609" y="450"/>
                          <a:pt x="613" y="449"/>
                        </a:cubicBezTo>
                        <a:cubicBezTo>
                          <a:pt x="613" y="449"/>
                          <a:pt x="613" y="449"/>
                          <a:pt x="613" y="449"/>
                        </a:cubicBezTo>
                        <a:cubicBezTo>
                          <a:pt x="617" y="447"/>
                          <a:pt x="621" y="449"/>
                          <a:pt x="622" y="453"/>
                        </a:cubicBezTo>
                        <a:cubicBezTo>
                          <a:pt x="622" y="453"/>
                          <a:pt x="622" y="453"/>
                          <a:pt x="622" y="453"/>
                        </a:cubicBezTo>
                        <a:cubicBezTo>
                          <a:pt x="624" y="457"/>
                          <a:pt x="622" y="461"/>
                          <a:pt x="618" y="463"/>
                        </a:cubicBezTo>
                        <a:cubicBezTo>
                          <a:pt x="618" y="463"/>
                          <a:pt x="618" y="463"/>
                          <a:pt x="618" y="463"/>
                        </a:cubicBezTo>
                        <a:cubicBezTo>
                          <a:pt x="617" y="463"/>
                          <a:pt x="616" y="463"/>
                          <a:pt x="615" y="463"/>
                        </a:cubicBezTo>
                        <a:cubicBezTo>
                          <a:pt x="615" y="463"/>
                          <a:pt x="615" y="463"/>
                          <a:pt x="615" y="463"/>
                        </a:cubicBezTo>
                        <a:cubicBezTo>
                          <a:pt x="613" y="463"/>
                          <a:pt x="610" y="461"/>
                          <a:pt x="609" y="458"/>
                        </a:cubicBezTo>
                        <a:close/>
                        <a:moveTo>
                          <a:pt x="592" y="417"/>
                        </a:moveTo>
                        <a:cubicBezTo>
                          <a:pt x="591" y="414"/>
                          <a:pt x="593" y="409"/>
                          <a:pt x="596" y="408"/>
                        </a:cubicBezTo>
                        <a:cubicBezTo>
                          <a:pt x="596" y="408"/>
                          <a:pt x="596" y="408"/>
                          <a:pt x="596" y="408"/>
                        </a:cubicBezTo>
                        <a:cubicBezTo>
                          <a:pt x="600" y="406"/>
                          <a:pt x="604" y="408"/>
                          <a:pt x="606" y="411"/>
                        </a:cubicBezTo>
                        <a:cubicBezTo>
                          <a:pt x="606" y="411"/>
                          <a:pt x="606" y="411"/>
                          <a:pt x="606" y="411"/>
                        </a:cubicBezTo>
                        <a:cubicBezTo>
                          <a:pt x="607" y="415"/>
                          <a:pt x="606" y="420"/>
                          <a:pt x="602" y="421"/>
                        </a:cubicBezTo>
                        <a:cubicBezTo>
                          <a:pt x="602" y="421"/>
                          <a:pt x="602" y="421"/>
                          <a:pt x="602" y="421"/>
                        </a:cubicBezTo>
                        <a:cubicBezTo>
                          <a:pt x="601" y="421"/>
                          <a:pt x="600" y="422"/>
                          <a:pt x="599" y="422"/>
                        </a:cubicBezTo>
                        <a:cubicBezTo>
                          <a:pt x="599" y="422"/>
                          <a:pt x="599" y="422"/>
                          <a:pt x="599" y="422"/>
                        </a:cubicBezTo>
                        <a:cubicBezTo>
                          <a:pt x="596" y="422"/>
                          <a:pt x="594" y="420"/>
                          <a:pt x="592" y="417"/>
                        </a:cubicBezTo>
                        <a:close/>
                        <a:moveTo>
                          <a:pt x="573" y="378"/>
                        </a:move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2" y="374"/>
                          <a:pt x="573" y="370"/>
                          <a:pt x="576" y="368"/>
                        </a:cubicBezTo>
                        <a:cubicBezTo>
                          <a:pt x="576" y="368"/>
                          <a:pt x="576" y="368"/>
                          <a:pt x="576" y="368"/>
                        </a:cubicBezTo>
                        <a:cubicBezTo>
                          <a:pt x="580" y="366"/>
                          <a:pt x="584" y="367"/>
                          <a:pt x="586" y="371"/>
                        </a:cubicBezTo>
                        <a:cubicBezTo>
                          <a:pt x="586" y="371"/>
                          <a:pt x="586" y="371"/>
                          <a:pt x="586" y="371"/>
                        </a:cubicBezTo>
                        <a:cubicBezTo>
                          <a:pt x="588" y="375"/>
                          <a:pt x="587" y="379"/>
                          <a:pt x="583" y="381"/>
                        </a:cubicBezTo>
                        <a:cubicBezTo>
                          <a:pt x="583" y="381"/>
                          <a:pt x="583" y="381"/>
                          <a:pt x="583" y="381"/>
                        </a:cubicBezTo>
                        <a:cubicBezTo>
                          <a:pt x="582" y="381"/>
                          <a:pt x="581" y="382"/>
                          <a:pt x="580" y="382"/>
                        </a:cubicBezTo>
                        <a:cubicBezTo>
                          <a:pt x="580" y="382"/>
                          <a:pt x="580" y="382"/>
                          <a:pt x="580" y="382"/>
                        </a:cubicBezTo>
                        <a:cubicBezTo>
                          <a:pt x="577" y="382"/>
                          <a:pt x="575" y="380"/>
                          <a:pt x="573" y="378"/>
                        </a:cubicBezTo>
                        <a:close/>
                        <a:moveTo>
                          <a:pt x="552" y="339"/>
                        </a:moveTo>
                        <a:cubicBezTo>
                          <a:pt x="550" y="336"/>
                          <a:pt x="551" y="331"/>
                          <a:pt x="554" y="329"/>
                        </a:cubicBezTo>
                        <a:cubicBezTo>
                          <a:pt x="554" y="329"/>
                          <a:pt x="554" y="329"/>
                          <a:pt x="554" y="329"/>
                        </a:cubicBezTo>
                        <a:cubicBezTo>
                          <a:pt x="558" y="327"/>
                          <a:pt x="562" y="328"/>
                          <a:pt x="564" y="332"/>
                        </a:cubicBezTo>
                        <a:cubicBezTo>
                          <a:pt x="564" y="332"/>
                          <a:pt x="564" y="332"/>
                          <a:pt x="564" y="332"/>
                        </a:cubicBezTo>
                        <a:cubicBezTo>
                          <a:pt x="566" y="335"/>
                          <a:pt x="565" y="340"/>
                          <a:pt x="562" y="342"/>
                        </a:cubicBezTo>
                        <a:cubicBezTo>
                          <a:pt x="562" y="342"/>
                          <a:pt x="562" y="342"/>
                          <a:pt x="562" y="342"/>
                        </a:cubicBezTo>
                        <a:cubicBezTo>
                          <a:pt x="561" y="343"/>
                          <a:pt x="559" y="343"/>
                          <a:pt x="558" y="343"/>
                        </a:cubicBezTo>
                        <a:cubicBezTo>
                          <a:pt x="558" y="343"/>
                          <a:pt x="558" y="343"/>
                          <a:pt x="558" y="343"/>
                        </a:cubicBezTo>
                        <a:cubicBezTo>
                          <a:pt x="556" y="343"/>
                          <a:pt x="553" y="342"/>
                          <a:pt x="552" y="339"/>
                        </a:cubicBezTo>
                        <a:close/>
                        <a:moveTo>
                          <a:pt x="528" y="303"/>
                        </a:moveTo>
                        <a:cubicBezTo>
                          <a:pt x="525" y="299"/>
                          <a:pt x="526" y="295"/>
                          <a:pt x="529" y="292"/>
                        </a:cubicBezTo>
                        <a:cubicBezTo>
                          <a:pt x="529" y="292"/>
                          <a:pt x="529" y="292"/>
                          <a:pt x="529" y="292"/>
                        </a:cubicBezTo>
                        <a:cubicBezTo>
                          <a:pt x="533" y="290"/>
                          <a:pt x="537" y="291"/>
                          <a:pt x="540" y="294"/>
                        </a:cubicBezTo>
                        <a:cubicBezTo>
                          <a:pt x="540" y="294"/>
                          <a:pt x="540" y="294"/>
                          <a:pt x="540" y="294"/>
                        </a:cubicBezTo>
                        <a:cubicBezTo>
                          <a:pt x="542" y="298"/>
                          <a:pt x="541" y="302"/>
                          <a:pt x="538" y="304"/>
                        </a:cubicBezTo>
                        <a:cubicBezTo>
                          <a:pt x="538" y="304"/>
                          <a:pt x="538" y="304"/>
                          <a:pt x="538" y="304"/>
                        </a:cubicBezTo>
                        <a:cubicBezTo>
                          <a:pt x="537" y="305"/>
                          <a:pt x="535" y="306"/>
                          <a:pt x="534" y="306"/>
                        </a:cubicBezTo>
                        <a:cubicBezTo>
                          <a:pt x="534" y="306"/>
                          <a:pt x="534" y="306"/>
                          <a:pt x="534" y="306"/>
                        </a:cubicBezTo>
                        <a:cubicBezTo>
                          <a:pt x="531" y="306"/>
                          <a:pt x="529" y="305"/>
                          <a:pt x="528" y="303"/>
                        </a:cubicBezTo>
                        <a:close/>
                        <a:moveTo>
                          <a:pt x="501" y="268"/>
                        </a:moveTo>
                        <a:cubicBezTo>
                          <a:pt x="499" y="265"/>
                          <a:pt x="499" y="260"/>
                          <a:pt x="502" y="257"/>
                        </a:cubicBezTo>
                        <a:cubicBezTo>
                          <a:pt x="502" y="257"/>
                          <a:pt x="502" y="257"/>
                          <a:pt x="502" y="257"/>
                        </a:cubicBezTo>
                        <a:cubicBezTo>
                          <a:pt x="505" y="255"/>
                          <a:pt x="510" y="255"/>
                          <a:pt x="512" y="258"/>
                        </a:cubicBezTo>
                        <a:cubicBezTo>
                          <a:pt x="512" y="258"/>
                          <a:pt x="512" y="258"/>
                          <a:pt x="512" y="258"/>
                        </a:cubicBezTo>
                        <a:cubicBezTo>
                          <a:pt x="515" y="262"/>
                          <a:pt x="514" y="266"/>
                          <a:pt x="511" y="269"/>
                        </a:cubicBezTo>
                        <a:cubicBezTo>
                          <a:pt x="511" y="269"/>
                          <a:pt x="511" y="269"/>
                          <a:pt x="511" y="269"/>
                        </a:cubicBezTo>
                        <a:cubicBezTo>
                          <a:pt x="510" y="270"/>
                          <a:pt x="508" y="270"/>
                          <a:pt x="507" y="270"/>
                        </a:cubicBezTo>
                        <a:cubicBezTo>
                          <a:pt x="507" y="270"/>
                          <a:pt x="507" y="270"/>
                          <a:pt x="507" y="270"/>
                        </a:cubicBezTo>
                        <a:cubicBezTo>
                          <a:pt x="505" y="270"/>
                          <a:pt x="503" y="269"/>
                          <a:pt x="501" y="268"/>
                        </a:cubicBezTo>
                        <a:close/>
                        <a:moveTo>
                          <a:pt x="472" y="234"/>
                        </a:moveTo>
                        <a:cubicBezTo>
                          <a:pt x="470" y="231"/>
                          <a:pt x="470" y="227"/>
                          <a:pt x="473" y="224"/>
                        </a:cubicBezTo>
                        <a:cubicBezTo>
                          <a:pt x="473" y="224"/>
                          <a:pt x="473" y="224"/>
                          <a:pt x="473" y="224"/>
                        </a:cubicBezTo>
                        <a:cubicBezTo>
                          <a:pt x="476" y="221"/>
                          <a:pt x="480" y="222"/>
                          <a:pt x="483" y="225"/>
                        </a:cubicBezTo>
                        <a:cubicBezTo>
                          <a:pt x="483" y="225"/>
                          <a:pt x="483" y="225"/>
                          <a:pt x="483" y="225"/>
                        </a:cubicBezTo>
                        <a:cubicBezTo>
                          <a:pt x="486" y="227"/>
                          <a:pt x="486" y="232"/>
                          <a:pt x="483" y="235"/>
                        </a:cubicBezTo>
                        <a:cubicBezTo>
                          <a:pt x="483" y="235"/>
                          <a:pt x="483" y="235"/>
                          <a:pt x="483" y="235"/>
                        </a:cubicBezTo>
                        <a:cubicBezTo>
                          <a:pt x="481" y="236"/>
                          <a:pt x="479" y="237"/>
                          <a:pt x="478" y="237"/>
                        </a:cubicBezTo>
                        <a:cubicBezTo>
                          <a:pt x="478" y="237"/>
                          <a:pt x="478" y="237"/>
                          <a:pt x="478" y="237"/>
                        </a:cubicBezTo>
                        <a:cubicBezTo>
                          <a:pt x="476" y="237"/>
                          <a:pt x="474" y="236"/>
                          <a:pt x="472" y="234"/>
                        </a:cubicBezTo>
                        <a:close/>
                        <a:moveTo>
                          <a:pt x="441" y="203"/>
                        </a:moveTo>
                        <a:cubicBezTo>
                          <a:pt x="439" y="200"/>
                          <a:pt x="438" y="196"/>
                          <a:pt x="441" y="193"/>
                        </a:cubicBezTo>
                        <a:cubicBezTo>
                          <a:pt x="441" y="193"/>
                          <a:pt x="441" y="193"/>
                          <a:pt x="441" y="193"/>
                        </a:cubicBezTo>
                        <a:cubicBezTo>
                          <a:pt x="444" y="190"/>
                          <a:pt x="449" y="190"/>
                          <a:pt x="452" y="193"/>
                        </a:cubicBezTo>
                        <a:cubicBezTo>
                          <a:pt x="452" y="193"/>
                          <a:pt x="452" y="193"/>
                          <a:pt x="452" y="193"/>
                        </a:cubicBezTo>
                        <a:cubicBezTo>
                          <a:pt x="454" y="195"/>
                          <a:pt x="455" y="200"/>
                          <a:pt x="452" y="203"/>
                        </a:cubicBezTo>
                        <a:cubicBezTo>
                          <a:pt x="452" y="203"/>
                          <a:pt x="452" y="203"/>
                          <a:pt x="452" y="203"/>
                        </a:cubicBezTo>
                        <a:cubicBezTo>
                          <a:pt x="450" y="204"/>
                          <a:pt x="448" y="205"/>
                          <a:pt x="446" y="205"/>
                        </a:cubicBezTo>
                        <a:cubicBezTo>
                          <a:pt x="446" y="205"/>
                          <a:pt x="446" y="205"/>
                          <a:pt x="446" y="205"/>
                        </a:cubicBezTo>
                        <a:cubicBezTo>
                          <a:pt x="445" y="205"/>
                          <a:pt x="443" y="205"/>
                          <a:pt x="441" y="203"/>
                        </a:cubicBezTo>
                        <a:close/>
                        <a:moveTo>
                          <a:pt x="409" y="174"/>
                        </a:moveTo>
                        <a:cubicBezTo>
                          <a:pt x="406" y="171"/>
                          <a:pt x="405" y="167"/>
                          <a:pt x="408" y="164"/>
                        </a:cubicBezTo>
                        <a:cubicBezTo>
                          <a:pt x="408" y="164"/>
                          <a:pt x="408" y="164"/>
                          <a:pt x="408" y="164"/>
                        </a:cubicBezTo>
                        <a:cubicBezTo>
                          <a:pt x="410" y="161"/>
                          <a:pt x="415" y="160"/>
                          <a:pt x="418" y="163"/>
                        </a:cubicBezTo>
                        <a:cubicBezTo>
                          <a:pt x="418" y="163"/>
                          <a:pt x="418" y="163"/>
                          <a:pt x="418" y="163"/>
                        </a:cubicBezTo>
                        <a:cubicBezTo>
                          <a:pt x="421" y="165"/>
                          <a:pt x="421" y="170"/>
                          <a:pt x="419" y="173"/>
                        </a:cubicBezTo>
                        <a:cubicBezTo>
                          <a:pt x="419" y="173"/>
                          <a:pt x="419" y="173"/>
                          <a:pt x="419" y="173"/>
                        </a:cubicBezTo>
                        <a:cubicBezTo>
                          <a:pt x="418" y="175"/>
                          <a:pt x="415" y="176"/>
                          <a:pt x="413" y="176"/>
                        </a:cubicBezTo>
                        <a:cubicBezTo>
                          <a:pt x="413" y="176"/>
                          <a:pt x="413" y="176"/>
                          <a:pt x="413" y="176"/>
                        </a:cubicBezTo>
                        <a:cubicBezTo>
                          <a:pt x="412" y="176"/>
                          <a:pt x="410" y="175"/>
                          <a:pt x="409" y="174"/>
                        </a:cubicBezTo>
                        <a:close/>
                        <a:moveTo>
                          <a:pt x="374" y="147"/>
                        </a:moveTo>
                        <a:cubicBezTo>
                          <a:pt x="371" y="145"/>
                          <a:pt x="370" y="140"/>
                          <a:pt x="372" y="137"/>
                        </a:cubicBezTo>
                        <a:cubicBezTo>
                          <a:pt x="372" y="137"/>
                          <a:pt x="372" y="137"/>
                          <a:pt x="372" y="137"/>
                        </a:cubicBezTo>
                        <a:cubicBezTo>
                          <a:pt x="375" y="134"/>
                          <a:pt x="379" y="133"/>
                          <a:pt x="383" y="135"/>
                        </a:cubicBezTo>
                        <a:cubicBezTo>
                          <a:pt x="383" y="135"/>
                          <a:pt x="383" y="135"/>
                          <a:pt x="383" y="135"/>
                        </a:cubicBezTo>
                        <a:cubicBezTo>
                          <a:pt x="386" y="137"/>
                          <a:pt x="387" y="142"/>
                          <a:pt x="384" y="145"/>
                        </a:cubicBezTo>
                        <a:cubicBezTo>
                          <a:pt x="384" y="145"/>
                          <a:pt x="384" y="145"/>
                          <a:pt x="384" y="145"/>
                        </a:cubicBezTo>
                        <a:cubicBezTo>
                          <a:pt x="383" y="147"/>
                          <a:pt x="381" y="148"/>
                          <a:pt x="378" y="148"/>
                        </a:cubicBezTo>
                        <a:cubicBezTo>
                          <a:pt x="378" y="148"/>
                          <a:pt x="378" y="148"/>
                          <a:pt x="378" y="148"/>
                        </a:cubicBezTo>
                        <a:cubicBezTo>
                          <a:pt x="377" y="148"/>
                          <a:pt x="375" y="148"/>
                          <a:pt x="374" y="147"/>
                        </a:cubicBezTo>
                        <a:close/>
                        <a:moveTo>
                          <a:pt x="338" y="122"/>
                        </a:move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4" y="120"/>
                          <a:pt x="333" y="116"/>
                          <a:pt x="335" y="112"/>
                        </a:cubicBezTo>
                        <a:cubicBezTo>
                          <a:pt x="335" y="112"/>
                          <a:pt x="335" y="112"/>
                          <a:pt x="335" y="112"/>
                        </a:cubicBezTo>
                        <a:cubicBezTo>
                          <a:pt x="338" y="109"/>
                          <a:pt x="342" y="108"/>
                          <a:pt x="346" y="110"/>
                        </a:cubicBezTo>
                        <a:cubicBezTo>
                          <a:pt x="346" y="110"/>
                          <a:pt x="346" y="110"/>
                          <a:pt x="346" y="110"/>
                        </a:cubicBezTo>
                        <a:cubicBezTo>
                          <a:pt x="349" y="112"/>
                          <a:pt x="350" y="117"/>
                          <a:pt x="348" y="120"/>
                        </a:cubicBezTo>
                        <a:cubicBezTo>
                          <a:pt x="348" y="120"/>
                          <a:pt x="348" y="120"/>
                          <a:pt x="348" y="120"/>
                        </a:cubicBezTo>
                        <a:cubicBezTo>
                          <a:pt x="346" y="122"/>
                          <a:pt x="344" y="123"/>
                          <a:pt x="342" y="123"/>
                        </a:cubicBezTo>
                        <a:cubicBezTo>
                          <a:pt x="342" y="123"/>
                          <a:pt x="342" y="123"/>
                          <a:pt x="342" y="123"/>
                        </a:cubicBezTo>
                        <a:cubicBezTo>
                          <a:pt x="340" y="123"/>
                          <a:pt x="339" y="123"/>
                          <a:pt x="338" y="122"/>
                        </a:cubicBezTo>
                        <a:close/>
                        <a:moveTo>
                          <a:pt x="300" y="100"/>
                        </a:move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296" y="98"/>
                          <a:pt x="295" y="93"/>
                          <a:pt x="297" y="90"/>
                        </a:cubicBezTo>
                        <a:cubicBezTo>
                          <a:pt x="297" y="90"/>
                          <a:pt x="297" y="90"/>
                          <a:pt x="297" y="90"/>
                        </a:cubicBezTo>
                        <a:cubicBezTo>
                          <a:pt x="299" y="86"/>
                          <a:pt x="303" y="85"/>
                          <a:pt x="307" y="87"/>
                        </a:cubicBezTo>
                        <a:cubicBezTo>
                          <a:pt x="307" y="87"/>
                          <a:pt x="307" y="87"/>
                          <a:pt x="307" y="87"/>
                        </a:cubicBezTo>
                        <a:cubicBezTo>
                          <a:pt x="310" y="89"/>
                          <a:pt x="312" y="93"/>
                          <a:pt x="310" y="97"/>
                        </a:cubicBezTo>
                        <a:cubicBezTo>
                          <a:pt x="310" y="97"/>
                          <a:pt x="310" y="97"/>
                          <a:pt x="310" y="97"/>
                        </a:cubicBezTo>
                        <a:cubicBezTo>
                          <a:pt x="309" y="99"/>
                          <a:pt x="306" y="101"/>
                          <a:pt x="303" y="101"/>
                        </a:cubicBezTo>
                        <a:cubicBezTo>
                          <a:pt x="303" y="101"/>
                          <a:pt x="303" y="101"/>
                          <a:pt x="303" y="101"/>
                        </a:cubicBezTo>
                        <a:cubicBezTo>
                          <a:pt x="302" y="101"/>
                          <a:pt x="301" y="101"/>
                          <a:pt x="300" y="100"/>
                        </a:cubicBezTo>
                        <a:close/>
                        <a:moveTo>
                          <a:pt x="261" y="80"/>
                        </a:moveTo>
                        <a:cubicBezTo>
                          <a:pt x="257" y="78"/>
                          <a:pt x="256" y="74"/>
                          <a:pt x="257" y="70"/>
                        </a:cubicBezTo>
                        <a:cubicBezTo>
                          <a:pt x="257" y="70"/>
                          <a:pt x="257" y="70"/>
                          <a:pt x="257" y="70"/>
                        </a:cubicBezTo>
                        <a:cubicBezTo>
                          <a:pt x="259" y="67"/>
                          <a:pt x="263" y="65"/>
                          <a:pt x="267" y="67"/>
                        </a:cubicBezTo>
                        <a:cubicBezTo>
                          <a:pt x="267" y="67"/>
                          <a:pt x="267" y="67"/>
                          <a:pt x="267" y="67"/>
                        </a:cubicBezTo>
                        <a:cubicBezTo>
                          <a:pt x="271" y="68"/>
                          <a:pt x="272" y="73"/>
                          <a:pt x="270" y="76"/>
                        </a:cubicBezTo>
                        <a:cubicBezTo>
                          <a:pt x="270" y="76"/>
                          <a:pt x="270" y="76"/>
                          <a:pt x="270" y="76"/>
                        </a:cubicBezTo>
                        <a:cubicBezTo>
                          <a:pt x="269" y="79"/>
                          <a:pt x="267" y="81"/>
                          <a:pt x="264" y="81"/>
                        </a:cubicBezTo>
                        <a:cubicBezTo>
                          <a:pt x="264" y="81"/>
                          <a:pt x="264" y="81"/>
                          <a:pt x="264" y="81"/>
                        </a:cubicBezTo>
                        <a:cubicBezTo>
                          <a:pt x="263" y="81"/>
                          <a:pt x="262" y="80"/>
                          <a:pt x="261" y="80"/>
                        </a:cubicBezTo>
                        <a:close/>
                        <a:moveTo>
                          <a:pt x="220" y="63"/>
                        </a:moveTo>
                        <a:cubicBezTo>
                          <a:pt x="217" y="61"/>
                          <a:pt x="215" y="57"/>
                          <a:pt x="216" y="53"/>
                        </a:cubicBezTo>
                        <a:cubicBezTo>
                          <a:pt x="216" y="53"/>
                          <a:pt x="216" y="53"/>
                          <a:pt x="216" y="53"/>
                        </a:cubicBezTo>
                        <a:cubicBezTo>
                          <a:pt x="218" y="49"/>
                          <a:pt x="222" y="47"/>
                          <a:pt x="226" y="49"/>
                        </a:cubicBezTo>
                        <a:cubicBezTo>
                          <a:pt x="226" y="49"/>
                          <a:pt x="226" y="49"/>
                          <a:pt x="226" y="49"/>
                        </a:cubicBezTo>
                        <a:cubicBezTo>
                          <a:pt x="230" y="50"/>
                          <a:pt x="231" y="55"/>
                          <a:pt x="230" y="58"/>
                        </a:cubicBezTo>
                        <a:cubicBezTo>
                          <a:pt x="230" y="58"/>
                          <a:pt x="230" y="58"/>
                          <a:pt x="230" y="58"/>
                        </a:cubicBezTo>
                        <a:cubicBezTo>
                          <a:pt x="229" y="61"/>
                          <a:pt x="226" y="63"/>
                          <a:pt x="223" y="63"/>
                        </a:cubicBezTo>
                        <a:cubicBezTo>
                          <a:pt x="223" y="63"/>
                          <a:pt x="223" y="63"/>
                          <a:pt x="223" y="63"/>
                        </a:cubicBezTo>
                        <a:cubicBezTo>
                          <a:pt x="222" y="63"/>
                          <a:pt x="221" y="63"/>
                          <a:pt x="220" y="63"/>
                        </a:cubicBezTo>
                        <a:close/>
                        <a:moveTo>
                          <a:pt x="179" y="48"/>
                        </a:moveTo>
                        <a:cubicBezTo>
                          <a:pt x="175" y="46"/>
                          <a:pt x="173" y="42"/>
                          <a:pt x="174" y="39"/>
                        </a:cubicBezTo>
                        <a:cubicBezTo>
                          <a:pt x="174" y="39"/>
                          <a:pt x="174" y="39"/>
                          <a:pt x="174" y="39"/>
                        </a:cubicBezTo>
                        <a:cubicBezTo>
                          <a:pt x="176" y="35"/>
                          <a:pt x="180" y="33"/>
                          <a:pt x="184" y="34"/>
                        </a:cubicBezTo>
                        <a:cubicBezTo>
                          <a:pt x="184" y="34"/>
                          <a:pt x="184" y="34"/>
                          <a:pt x="184" y="34"/>
                        </a:cubicBezTo>
                        <a:cubicBezTo>
                          <a:pt x="187" y="35"/>
                          <a:pt x="189" y="39"/>
                          <a:pt x="188" y="43"/>
                        </a:cubicBezTo>
                        <a:cubicBezTo>
                          <a:pt x="188" y="43"/>
                          <a:pt x="188" y="43"/>
                          <a:pt x="188" y="43"/>
                        </a:cubicBezTo>
                        <a:cubicBezTo>
                          <a:pt x="187" y="46"/>
                          <a:pt x="184" y="48"/>
                          <a:pt x="181" y="48"/>
                        </a:cubicBezTo>
                        <a:cubicBezTo>
                          <a:pt x="181" y="48"/>
                          <a:pt x="181" y="48"/>
                          <a:pt x="181" y="48"/>
                        </a:cubicBezTo>
                        <a:cubicBezTo>
                          <a:pt x="181" y="48"/>
                          <a:pt x="180" y="48"/>
                          <a:pt x="179" y="48"/>
                        </a:cubicBezTo>
                        <a:close/>
                        <a:moveTo>
                          <a:pt x="137" y="36"/>
                        </a:moveTo>
                        <a:cubicBezTo>
                          <a:pt x="133" y="35"/>
                          <a:pt x="130" y="31"/>
                          <a:pt x="132" y="27"/>
                        </a:cubicBezTo>
                        <a:cubicBezTo>
                          <a:pt x="132" y="27"/>
                          <a:pt x="132" y="27"/>
                          <a:pt x="132" y="27"/>
                        </a:cubicBezTo>
                        <a:cubicBezTo>
                          <a:pt x="133" y="23"/>
                          <a:pt x="136" y="20"/>
                          <a:pt x="140" y="21"/>
                        </a:cubicBezTo>
                        <a:cubicBezTo>
                          <a:pt x="140" y="21"/>
                          <a:pt x="140" y="21"/>
                          <a:pt x="140" y="21"/>
                        </a:cubicBezTo>
                        <a:cubicBezTo>
                          <a:pt x="144" y="22"/>
                          <a:pt x="147" y="26"/>
                          <a:pt x="146" y="30"/>
                        </a:cubicBezTo>
                        <a:cubicBezTo>
                          <a:pt x="146" y="30"/>
                          <a:pt x="146" y="30"/>
                          <a:pt x="146" y="30"/>
                        </a:cubicBezTo>
                        <a:cubicBezTo>
                          <a:pt x="145" y="34"/>
                          <a:pt x="142" y="36"/>
                          <a:pt x="139" y="36"/>
                        </a:cubicBezTo>
                        <a:cubicBezTo>
                          <a:pt x="139" y="36"/>
                          <a:pt x="139" y="36"/>
                          <a:pt x="139" y="36"/>
                        </a:cubicBezTo>
                        <a:cubicBezTo>
                          <a:pt x="138" y="36"/>
                          <a:pt x="137" y="36"/>
                          <a:pt x="137" y="36"/>
                        </a:cubicBezTo>
                        <a:close/>
                        <a:moveTo>
                          <a:pt x="94" y="26"/>
                        </a:moveTo>
                        <a:cubicBezTo>
                          <a:pt x="90" y="25"/>
                          <a:pt x="87" y="21"/>
                          <a:pt x="88" y="18"/>
                        </a:cubicBezTo>
                        <a:cubicBezTo>
                          <a:pt x="88" y="18"/>
                          <a:pt x="88" y="18"/>
                          <a:pt x="88" y="18"/>
                        </a:cubicBezTo>
                        <a:cubicBezTo>
                          <a:pt x="89" y="14"/>
                          <a:pt x="93" y="11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101" y="12"/>
                          <a:pt x="103" y="16"/>
                          <a:pt x="102" y="20"/>
                        </a:cubicBezTo>
                        <a:cubicBezTo>
                          <a:pt x="102" y="20"/>
                          <a:pt x="102" y="20"/>
                          <a:pt x="102" y="20"/>
                        </a:cubicBezTo>
                        <a:cubicBezTo>
                          <a:pt x="102" y="24"/>
                          <a:pt x="99" y="26"/>
                          <a:pt x="95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6"/>
                          <a:pt x="94" y="26"/>
                          <a:pt x="94" y="26"/>
                        </a:cubicBezTo>
                        <a:close/>
                        <a:moveTo>
                          <a:pt x="50" y="19"/>
                        </a:move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46" y="19"/>
                          <a:pt x="44" y="15"/>
                          <a:pt x="44" y="11"/>
                        </a:cubicBezTo>
                        <a:cubicBezTo>
                          <a:pt x="44" y="11"/>
                          <a:pt x="44" y="11"/>
                          <a:pt x="44" y="11"/>
                        </a:cubicBezTo>
                        <a:cubicBezTo>
                          <a:pt x="45" y="7"/>
                          <a:pt x="48" y="4"/>
                          <a:pt x="52" y="5"/>
                        </a:cubicBezTo>
                        <a:cubicBezTo>
                          <a:pt x="52" y="5"/>
                          <a:pt x="52" y="5"/>
                          <a:pt x="52" y="5"/>
                        </a:cubicBezTo>
                        <a:cubicBezTo>
                          <a:pt x="56" y="5"/>
                          <a:pt x="59" y="9"/>
                          <a:pt x="59" y="13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58" y="17"/>
                          <a:pt x="55" y="19"/>
                          <a:pt x="51" y="19"/>
                        </a:cubicBezTo>
                        <a:cubicBezTo>
                          <a:pt x="51" y="19"/>
                          <a:pt x="51" y="19"/>
                          <a:pt x="51" y="19"/>
                        </a:cubicBezTo>
                        <a:cubicBezTo>
                          <a:pt x="51" y="19"/>
                          <a:pt x="51" y="19"/>
                          <a:pt x="50" y="19"/>
                        </a:cubicBezTo>
                        <a:close/>
                        <a:moveTo>
                          <a:pt x="7" y="15"/>
                        </a:move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12" y="1"/>
                          <a:pt x="15" y="4"/>
                          <a:pt x="14" y="8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4" y="12"/>
                          <a:pt x="11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89" name="Freeform 97">
                    <a:extLst>
                      <a:ext uri="{FF2B5EF4-FFF2-40B4-BE49-F238E27FC236}">
                        <a16:creationId xmlns:a16="http://schemas.microsoft.com/office/drawing/2014/main" id="{A993C0FF-90A1-4CEE-B9AF-9DAA3063F7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78531" y="1769658"/>
                    <a:ext cx="1365852" cy="822837"/>
                  </a:xfrm>
                  <a:custGeom>
                    <a:avLst/>
                    <a:gdLst>
                      <a:gd name="T0" fmla="*/ 2 w 566"/>
                      <a:gd name="T1" fmla="*/ 330 h 341"/>
                      <a:gd name="T2" fmla="*/ 15 w 566"/>
                      <a:gd name="T3" fmla="*/ 337 h 341"/>
                      <a:gd name="T4" fmla="*/ 8 w 566"/>
                      <a:gd name="T5" fmla="*/ 341 h 341"/>
                      <a:gd name="T6" fmla="*/ 27 w 566"/>
                      <a:gd name="T7" fmla="*/ 292 h 341"/>
                      <a:gd name="T8" fmla="*/ 37 w 566"/>
                      <a:gd name="T9" fmla="*/ 291 h 341"/>
                      <a:gd name="T10" fmla="*/ 33 w 566"/>
                      <a:gd name="T11" fmla="*/ 304 h 341"/>
                      <a:gd name="T12" fmla="*/ 55 w 566"/>
                      <a:gd name="T13" fmla="*/ 267 h 341"/>
                      <a:gd name="T14" fmla="*/ 64 w 566"/>
                      <a:gd name="T15" fmla="*/ 256 h 341"/>
                      <a:gd name="T16" fmla="*/ 65 w 566"/>
                      <a:gd name="T17" fmla="*/ 266 h 341"/>
                      <a:gd name="T18" fmla="*/ 55 w 566"/>
                      <a:gd name="T19" fmla="*/ 267 h 341"/>
                      <a:gd name="T20" fmla="*/ 83 w 566"/>
                      <a:gd name="T21" fmla="*/ 223 h 341"/>
                      <a:gd name="T22" fmla="*/ 94 w 566"/>
                      <a:gd name="T23" fmla="*/ 233 h 341"/>
                      <a:gd name="T24" fmla="*/ 89 w 566"/>
                      <a:gd name="T25" fmla="*/ 235 h 341"/>
                      <a:gd name="T26" fmla="*/ 115 w 566"/>
                      <a:gd name="T27" fmla="*/ 191 h 341"/>
                      <a:gd name="T28" fmla="*/ 125 w 566"/>
                      <a:gd name="T29" fmla="*/ 192 h 341"/>
                      <a:gd name="T30" fmla="*/ 120 w 566"/>
                      <a:gd name="T31" fmla="*/ 204 h 341"/>
                      <a:gd name="T32" fmla="*/ 148 w 566"/>
                      <a:gd name="T33" fmla="*/ 172 h 341"/>
                      <a:gd name="T34" fmla="*/ 159 w 566"/>
                      <a:gd name="T35" fmla="*/ 163 h 341"/>
                      <a:gd name="T36" fmla="*/ 158 w 566"/>
                      <a:gd name="T37" fmla="*/ 173 h 341"/>
                      <a:gd name="T38" fmla="*/ 148 w 566"/>
                      <a:gd name="T39" fmla="*/ 172 h 341"/>
                      <a:gd name="T40" fmla="*/ 184 w 566"/>
                      <a:gd name="T41" fmla="*/ 134 h 341"/>
                      <a:gd name="T42" fmla="*/ 192 w 566"/>
                      <a:gd name="T43" fmla="*/ 146 h 341"/>
                      <a:gd name="T44" fmla="*/ 192 w 566"/>
                      <a:gd name="T45" fmla="*/ 146 h 341"/>
                      <a:gd name="T46" fmla="*/ 182 w 566"/>
                      <a:gd name="T47" fmla="*/ 144 h 341"/>
                      <a:gd name="T48" fmla="*/ 221 w 566"/>
                      <a:gd name="T49" fmla="*/ 109 h 341"/>
                      <a:gd name="T50" fmla="*/ 229 w 566"/>
                      <a:gd name="T51" fmla="*/ 121 h 341"/>
                      <a:gd name="T52" fmla="*/ 229 w 566"/>
                      <a:gd name="T53" fmla="*/ 121 h 341"/>
                      <a:gd name="T54" fmla="*/ 219 w 566"/>
                      <a:gd name="T55" fmla="*/ 119 h 341"/>
                      <a:gd name="T56" fmla="*/ 260 w 566"/>
                      <a:gd name="T57" fmla="*/ 86 h 341"/>
                      <a:gd name="T58" fmla="*/ 267 w 566"/>
                      <a:gd name="T59" fmla="*/ 99 h 341"/>
                      <a:gd name="T60" fmla="*/ 267 w 566"/>
                      <a:gd name="T61" fmla="*/ 99 h 341"/>
                      <a:gd name="T62" fmla="*/ 257 w 566"/>
                      <a:gd name="T63" fmla="*/ 96 h 341"/>
                      <a:gd name="T64" fmla="*/ 300 w 566"/>
                      <a:gd name="T65" fmla="*/ 66 h 341"/>
                      <a:gd name="T66" fmla="*/ 306 w 566"/>
                      <a:gd name="T67" fmla="*/ 79 h 341"/>
                      <a:gd name="T68" fmla="*/ 303 w 566"/>
                      <a:gd name="T69" fmla="*/ 80 h 341"/>
                      <a:gd name="T70" fmla="*/ 341 w 566"/>
                      <a:gd name="T71" fmla="*/ 48 h 341"/>
                      <a:gd name="T72" fmla="*/ 350 w 566"/>
                      <a:gd name="T73" fmla="*/ 53 h 341"/>
                      <a:gd name="T74" fmla="*/ 346 w 566"/>
                      <a:gd name="T75" fmla="*/ 62 h 341"/>
                      <a:gd name="T76" fmla="*/ 343 w 566"/>
                      <a:gd name="T77" fmla="*/ 63 h 341"/>
                      <a:gd name="T78" fmla="*/ 383 w 566"/>
                      <a:gd name="T79" fmla="*/ 33 h 341"/>
                      <a:gd name="T80" fmla="*/ 392 w 566"/>
                      <a:gd name="T81" fmla="*/ 38 h 341"/>
                      <a:gd name="T82" fmla="*/ 387 w 566"/>
                      <a:gd name="T83" fmla="*/ 47 h 341"/>
                      <a:gd name="T84" fmla="*/ 385 w 566"/>
                      <a:gd name="T85" fmla="*/ 48 h 341"/>
                      <a:gd name="T86" fmla="*/ 426 w 566"/>
                      <a:gd name="T87" fmla="*/ 21 h 341"/>
                      <a:gd name="T88" fmla="*/ 435 w 566"/>
                      <a:gd name="T89" fmla="*/ 26 h 341"/>
                      <a:gd name="T90" fmla="*/ 428 w 566"/>
                      <a:gd name="T91" fmla="*/ 36 h 341"/>
                      <a:gd name="T92" fmla="*/ 464 w 566"/>
                      <a:gd name="T93" fmla="*/ 20 h 341"/>
                      <a:gd name="T94" fmla="*/ 478 w 566"/>
                      <a:gd name="T95" fmla="*/ 17 h 341"/>
                      <a:gd name="T96" fmla="*/ 472 w 566"/>
                      <a:gd name="T97" fmla="*/ 26 h 341"/>
                      <a:gd name="T98" fmla="*/ 471 w 566"/>
                      <a:gd name="T99" fmla="*/ 26 h 341"/>
                      <a:gd name="T100" fmla="*/ 507 w 566"/>
                      <a:gd name="T101" fmla="*/ 13 h 341"/>
                      <a:gd name="T102" fmla="*/ 522 w 566"/>
                      <a:gd name="T103" fmla="*/ 11 h 341"/>
                      <a:gd name="T104" fmla="*/ 516 w 566"/>
                      <a:gd name="T105" fmla="*/ 19 h 341"/>
                      <a:gd name="T106" fmla="*/ 507 w 566"/>
                      <a:gd name="T107" fmla="*/ 13 h 341"/>
                      <a:gd name="T108" fmla="*/ 558 w 566"/>
                      <a:gd name="T109" fmla="*/ 1 h 341"/>
                      <a:gd name="T110" fmla="*/ 559 w 566"/>
                      <a:gd name="T111" fmla="*/ 15 h 341"/>
                      <a:gd name="T112" fmla="*/ 559 w 566"/>
                      <a:gd name="T113" fmla="*/ 15 h 341"/>
                      <a:gd name="T114" fmla="*/ 552 w 566"/>
                      <a:gd name="T115" fmla="*/ 8 h 3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6" h="341">
                        <a:moveTo>
                          <a:pt x="5" y="340"/>
                        </a:moveTo>
                        <a:cubicBezTo>
                          <a:pt x="1" y="338"/>
                          <a:pt x="0" y="333"/>
                          <a:pt x="2" y="330"/>
                        </a:cubicBezTo>
                        <a:cubicBezTo>
                          <a:pt x="2" y="330"/>
                          <a:pt x="2" y="330"/>
                          <a:pt x="2" y="330"/>
                        </a:cubicBezTo>
                        <a:cubicBezTo>
                          <a:pt x="4" y="326"/>
                          <a:pt x="9" y="325"/>
                          <a:pt x="12" y="327"/>
                        </a:cubicBezTo>
                        <a:cubicBezTo>
                          <a:pt x="12" y="327"/>
                          <a:pt x="12" y="327"/>
                          <a:pt x="12" y="327"/>
                        </a:cubicBezTo>
                        <a:cubicBezTo>
                          <a:pt x="16" y="330"/>
                          <a:pt x="17" y="334"/>
                          <a:pt x="15" y="337"/>
                        </a:cubicBezTo>
                        <a:cubicBezTo>
                          <a:pt x="15" y="337"/>
                          <a:pt x="15" y="337"/>
                          <a:pt x="15" y="337"/>
                        </a:cubicBezTo>
                        <a:cubicBezTo>
                          <a:pt x="13" y="340"/>
                          <a:pt x="11" y="341"/>
                          <a:pt x="8" y="341"/>
                        </a:cubicBezTo>
                        <a:cubicBezTo>
                          <a:pt x="8" y="341"/>
                          <a:pt x="8" y="341"/>
                          <a:pt x="8" y="341"/>
                        </a:cubicBezTo>
                        <a:cubicBezTo>
                          <a:pt x="7" y="341"/>
                          <a:pt x="6" y="341"/>
                          <a:pt x="5" y="340"/>
                        </a:cubicBezTo>
                        <a:close/>
                        <a:moveTo>
                          <a:pt x="29" y="303"/>
                        </a:moveTo>
                        <a:cubicBezTo>
                          <a:pt x="25" y="300"/>
                          <a:pt x="25" y="296"/>
                          <a:pt x="27" y="292"/>
                        </a:cubicBezTo>
                        <a:cubicBezTo>
                          <a:pt x="27" y="292"/>
                          <a:pt x="27" y="292"/>
                          <a:pt x="27" y="292"/>
                        </a:cubicBezTo>
                        <a:cubicBezTo>
                          <a:pt x="29" y="289"/>
                          <a:pt x="34" y="288"/>
                          <a:pt x="37" y="291"/>
                        </a:cubicBezTo>
                        <a:cubicBezTo>
                          <a:pt x="37" y="291"/>
                          <a:pt x="37" y="291"/>
                          <a:pt x="37" y="291"/>
                        </a:cubicBezTo>
                        <a:cubicBezTo>
                          <a:pt x="40" y="293"/>
                          <a:pt x="41" y="298"/>
                          <a:pt x="39" y="301"/>
                        </a:cubicBezTo>
                        <a:cubicBezTo>
                          <a:pt x="39" y="301"/>
                          <a:pt x="39" y="301"/>
                          <a:pt x="39" y="301"/>
                        </a:cubicBezTo>
                        <a:cubicBezTo>
                          <a:pt x="37" y="303"/>
                          <a:pt x="35" y="304"/>
                          <a:pt x="33" y="304"/>
                        </a:cubicBezTo>
                        <a:cubicBezTo>
                          <a:pt x="33" y="304"/>
                          <a:pt x="33" y="304"/>
                          <a:pt x="33" y="304"/>
                        </a:cubicBezTo>
                        <a:cubicBezTo>
                          <a:pt x="31" y="304"/>
                          <a:pt x="30" y="304"/>
                          <a:pt x="29" y="303"/>
                        </a:cubicBezTo>
                        <a:close/>
                        <a:moveTo>
                          <a:pt x="55" y="267"/>
                        </a:moveTo>
                        <a:cubicBezTo>
                          <a:pt x="52" y="265"/>
                          <a:pt x="52" y="260"/>
                          <a:pt x="54" y="257"/>
                        </a:cubicBezTo>
                        <a:cubicBezTo>
                          <a:pt x="54" y="257"/>
                          <a:pt x="54" y="257"/>
                          <a:pt x="54" y="257"/>
                        </a:cubicBezTo>
                        <a:cubicBezTo>
                          <a:pt x="57" y="254"/>
                          <a:pt x="61" y="253"/>
                          <a:pt x="64" y="256"/>
                        </a:cubicBezTo>
                        <a:cubicBezTo>
                          <a:pt x="64" y="256"/>
                          <a:pt x="64" y="256"/>
                          <a:pt x="64" y="256"/>
                        </a:cubicBezTo>
                        <a:cubicBezTo>
                          <a:pt x="67" y="258"/>
                          <a:pt x="68" y="263"/>
                          <a:pt x="65" y="266"/>
                        </a:cubicBezTo>
                        <a:cubicBezTo>
                          <a:pt x="65" y="266"/>
                          <a:pt x="65" y="266"/>
                          <a:pt x="65" y="266"/>
                        </a:cubicBezTo>
                        <a:cubicBezTo>
                          <a:pt x="64" y="268"/>
                          <a:pt x="62" y="269"/>
                          <a:pt x="60" y="269"/>
                        </a:cubicBezTo>
                        <a:cubicBezTo>
                          <a:pt x="60" y="269"/>
                          <a:pt x="60" y="269"/>
                          <a:pt x="60" y="269"/>
                        </a:cubicBezTo>
                        <a:cubicBezTo>
                          <a:pt x="58" y="269"/>
                          <a:pt x="56" y="268"/>
                          <a:pt x="55" y="267"/>
                        </a:cubicBezTo>
                        <a:close/>
                        <a:moveTo>
                          <a:pt x="84" y="233"/>
                        </a:moveTo>
                        <a:cubicBezTo>
                          <a:pt x="81" y="231"/>
                          <a:pt x="81" y="226"/>
                          <a:pt x="83" y="223"/>
                        </a:cubicBezTo>
                        <a:cubicBezTo>
                          <a:pt x="83" y="223"/>
                          <a:pt x="83" y="223"/>
                          <a:pt x="83" y="223"/>
                        </a:cubicBezTo>
                        <a:cubicBezTo>
                          <a:pt x="86" y="220"/>
                          <a:pt x="91" y="220"/>
                          <a:pt x="94" y="223"/>
                        </a:cubicBezTo>
                        <a:cubicBezTo>
                          <a:pt x="94" y="223"/>
                          <a:pt x="94" y="223"/>
                          <a:pt x="94" y="223"/>
                        </a:cubicBezTo>
                        <a:cubicBezTo>
                          <a:pt x="97" y="225"/>
                          <a:pt x="97" y="230"/>
                          <a:pt x="94" y="233"/>
                        </a:cubicBezTo>
                        <a:cubicBezTo>
                          <a:pt x="94" y="233"/>
                          <a:pt x="94" y="233"/>
                          <a:pt x="94" y="233"/>
                        </a:cubicBezTo>
                        <a:cubicBezTo>
                          <a:pt x="93" y="235"/>
                          <a:pt x="91" y="235"/>
                          <a:pt x="89" y="235"/>
                        </a:cubicBezTo>
                        <a:cubicBezTo>
                          <a:pt x="89" y="235"/>
                          <a:pt x="89" y="235"/>
                          <a:pt x="89" y="235"/>
                        </a:cubicBezTo>
                        <a:cubicBezTo>
                          <a:pt x="87" y="235"/>
                          <a:pt x="85" y="235"/>
                          <a:pt x="84" y="233"/>
                        </a:cubicBezTo>
                        <a:close/>
                        <a:moveTo>
                          <a:pt x="115" y="202"/>
                        </a:moveTo>
                        <a:cubicBezTo>
                          <a:pt x="112" y="199"/>
                          <a:pt x="112" y="194"/>
                          <a:pt x="115" y="191"/>
                        </a:cubicBezTo>
                        <a:cubicBezTo>
                          <a:pt x="115" y="191"/>
                          <a:pt x="115" y="191"/>
                          <a:pt x="115" y="191"/>
                        </a:cubicBezTo>
                        <a:cubicBezTo>
                          <a:pt x="118" y="189"/>
                          <a:pt x="123" y="189"/>
                          <a:pt x="125" y="192"/>
                        </a:cubicBezTo>
                        <a:cubicBezTo>
                          <a:pt x="125" y="192"/>
                          <a:pt x="125" y="192"/>
                          <a:pt x="125" y="192"/>
                        </a:cubicBezTo>
                        <a:cubicBezTo>
                          <a:pt x="128" y="195"/>
                          <a:pt x="128" y="199"/>
                          <a:pt x="125" y="202"/>
                        </a:cubicBezTo>
                        <a:cubicBezTo>
                          <a:pt x="125" y="202"/>
                          <a:pt x="125" y="202"/>
                          <a:pt x="125" y="202"/>
                        </a:cubicBezTo>
                        <a:cubicBezTo>
                          <a:pt x="124" y="203"/>
                          <a:pt x="122" y="204"/>
                          <a:pt x="120" y="204"/>
                        </a:cubicBezTo>
                        <a:cubicBezTo>
                          <a:pt x="120" y="204"/>
                          <a:pt x="120" y="204"/>
                          <a:pt x="120" y="204"/>
                        </a:cubicBezTo>
                        <a:cubicBezTo>
                          <a:pt x="118" y="204"/>
                          <a:pt x="116" y="203"/>
                          <a:pt x="115" y="202"/>
                        </a:cubicBezTo>
                        <a:close/>
                        <a:moveTo>
                          <a:pt x="148" y="172"/>
                        </a:moveTo>
                        <a:cubicBezTo>
                          <a:pt x="145" y="169"/>
                          <a:pt x="145" y="164"/>
                          <a:pt x="149" y="162"/>
                        </a:cubicBezTo>
                        <a:cubicBezTo>
                          <a:pt x="149" y="162"/>
                          <a:pt x="149" y="162"/>
                          <a:pt x="149" y="162"/>
                        </a:cubicBezTo>
                        <a:cubicBezTo>
                          <a:pt x="152" y="159"/>
                          <a:pt x="156" y="160"/>
                          <a:pt x="159" y="163"/>
                        </a:cubicBezTo>
                        <a:cubicBezTo>
                          <a:pt x="159" y="163"/>
                          <a:pt x="159" y="163"/>
                          <a:pt x="159" y="163"/>
                        </a:cubicBezTo>
                        <a:cubicBezTo>
                          <a:pt x="161" y="166"/>
                          <a:pt x="161" y="170"/>
                          <a:pt x="158" y="173"/>
                        </a:cubicBezTo>
                        <a:cubicBezTo>
                          <a:pt x="158" y="173"/>
                          <a:pt x="158" y="173"/>
                          <a:pt x="158" y="173"/>
                        </a:cubicBezTo>
                        <a:cubicBezTo>
                          <a:pt x="157" y="174"/>
                          <a:pt x="155" y="175"/>
                          <a:pt x="153" y="175"/>
                        </a:cubicBezTo>
                        <a:cubicBezTo>
                          <a:pt x="153" y="175"/>
                          <a:pt x="153" y="175"/>
                          <a:pt x="153" y="175"/>
                        </a:cubicBezTo>
                        <a:cubicBezTo>
                          <a:pt x="151" y="175"/>
                          <a:pt x="149" y="174"/>
                          <a:pt x="148" y="172"/>
                        </a:cubicBezTo>
                        <a:close/>
                        <a:moveTo>
                          <a:pt x="182" y="144"/>
                        </a:moveTo>
                        <a:cubicBezTo>
                          <a:pt x="180" y="141"/>
                          <a:pt x="181" y="137"/>
                          <a:pt x="184" y="134"/>
                        </a:cubicBezTo>
                        <a:cubicBezTo>
                          <a:pt x="184" y="134"/>
                          <a:pt x="184" y="134"/>
                          <a:pt x="184" y="134"/>
                        </a:cubicBezTo>
                        <a:cubicBezTo>
                          <a:pt x="187" y="132"/>
                          <a:pt x="192" y="132"/>
                          <a:pt x="194" y="136"/>
                        </a:cubicBezTo>
                        <a:cubicBezTo>
                          <a:pt x="194" y="136"/>
                          <a:pt x="194" y="136"/>
                          <a:pt x="194" y="136"/>
                        </a:cubicBezTo>
                        <a:cubicBezTo>
                          <a:pt x="196" y="139"/>
                          <a:pt x="196" y="144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1" y="147"/>
                          <a:pt x="190" y="147"/>
                          <a:pt x="188" y="147"/>
                        </a:cubicBezTo>
                        <a:cubicBezTo>
                          <a:pt x="188" y="147"/>
                          <a:pt x="188" y="147"/>
                          <a:pt x="188" y="147"/>
                        </a:cubicBezTo>
                        <a:cubicBezTo>
                          <a:pt x="186" y="147"/>
                          <a:pt x="184" y="146"/>
                          <a:pt x="182" y="144"/>
                        </a:cubicBezTo>
                        <a:close/>
                        <a:moveTo>
                          <a:pt x="219" y="119"/>
                        </a:moveTo>
                        <a:cubicBezTo>
                          <a:pt x="217" y="116"/>
                          <a:pt x="218" y="111"/>
                          <a:pt x="221" y="109"/>
                        </a:cubicBezTo>
                        <a:cubicBezTo>
                          <a:pt x="221" y="109"/>
                          <a:pt x="221" y="109"/>
                          <a:pt x="221" y="109"/>
                        </a:cubicBezTo>
                        <a:cubicBezTo>
                          <a:pt x="224" y="107"/>
                          <a:pt x="229" y="108"/>
                          <a:pt x="231" y="111"/>
                        </a:cubicBezTo>
                        <a:cubicBezTo>
                          <a:pt x="231" y="111"/>
                          <a:pt x="231" y="111"/>
                          <a:pt x="231" y="111"/>
                        </a:cubicBezTo>
                        <a:cubicBezTo>
                          <a:pt x="233" y="115"/>
                          <a:pt x="232" y="119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8" y="122"/>
                          <a:pt x="226" y="123"/>
                          <a:pt x="225" y="123"/>
                        </a:cubicBezTo>
                        <a:cubicBezTo>
                          <a:pt x="225" y="123"/>
                          <a:pt x="225" y="123"/>
                          <a:pt x="225" y="123"/>
                        </a:cubicBezTo>
                        <a:cubicBezTo>
                          <a:pt x="222" y="123"/>
                          <a:pt x="220" y="121"/>
                          <a:pt x="219" y="119"/>
                        </a:cubicBezTo>
                        <a:close/>
                        <a:moveTo>
                          <a:pt x="257" y="96"/>
                        </a:moveTo>
                        <a:cubicBezTo>
                          <a:pt x="255" y="93"/>
                          <a:pt x="256" y="88"/>
                          <a:pt x="260" y="86"/>
                        </a:cubicBezTo>
                        <a:cubicBezTo>
                          <a:pt x="260" y="86"/>
                          <a:pt x="260" y="86"/>
                          <a:pt x="260" y="86"/>
                        </a:cubicBezTo>
                        <a:cubicBezTo>
                          <a:pt x="263" y="84"/>
                          <a:pt x="268" y="86"/>
                          <a:pt x="269" y="89"/>
                        </a:cubicBezTo>
                        <a:cubicBezTo>
                          <a:pt x="269" y="89"/>
                          <a:pt x="269" y="89"/>
                          <a:pt x="269" y="89"/>
                        </a:cubicBezTo>
                        <a:cubicBezTo>
                          <a:pt x="271" y="93"/>
                          <a:pt x="270" y="97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6" y="100"/>
                          <a:pt x="264" y="100"/>
                          <a:pt x="263" y="100"/>
                        </a:cubicBezTo>
                        <a:cubicBezTo>
                          <a:pt x="263" y="100"/>
                          <a:pt x="263" y="100"/>
                          <a:pt x="263" y="100"/>
                        </a:cubicBezTo>
                        <a:cubicBezTo>
                          <a:pt x="261" y="100"/>
                          <a:pt x="258" y="99"/>
                          <a:pt x="257" y="96"/>
                        </a:cubicBezTo>
                        <a:close/>
                        <a:moveTo>
                          <a:pt x="296" y="76"/>
                        </a:moveTo>
                        <a:cubicBezTo>
                          <a:pt x="294" y="72"/>
                          <a:pt x="296" y="68"/>
                          <a:pt x="300" y="66"/>
                        </a:cubicBezTo>
                        <a:cubicBezTo>
                          <a:pt x="300" y="66"/>
                          <a:pt x="300" y="66"/>
                          <a:pt x="300" y="66"/>
                        </a:cubicBezTo>
                        <a:cubicBezTo>
                          <a:pt x="303" y="64"/>
                          <a:pt x="307" y="66"/>
                          <a:pt x="309" y="70"/>
                        </a:cubicBezTo>
                        <a:cubicBezTo>
                          <a:pt x="309" y="70"/>
                          <a:pt x="309" y="70"/>
                          <a:pt x="309" y="70"/>
                        </a:cubicBezTo>
                        <a:cubicBezTo>
                          <a:pt x="311" y="73"/>
                          <a:pt x="309" y="78"/>
                          <a:pt x="306" y="79"/>
                        </a:cubicBezTo>
                        <a:cubicBezTo>
                          <a:pt x="306" y="79"/>
                          <a:pt x="306" y="79"/>
                          <a:pt x="306" y="79"/>
                        </a:cubicBezTo>
                        <a:cubicBezTo>
                          <a:pt x="305" y="80"/>
                          <a:pt x="304" y="80"/>
                          <a:pt x="303" y="80"/>
                        </a:cubicBezTo>
                        <a:cubicBezTo>
                          <a:pt x="303" y="80"/>
                          <a:pt x="303" y="80"/>
                          <a:pt x="303" y="80"/>
                        </a:cubicBezTo>
                        <a:cubicBezTo>
                          <a:pt x="300" y="80"/>
                          <a:pt x="297" y="78"/>
                          <a:pt x="296" y="76"/>
                        </a:cubicBezTo>
                        <a:close/>
                        <a:moveTo>
                          <a:pt x="337" y="58"/>
                        </a:moveTo>
                        <a:cubicBezTo>
                          <a:pt x="335" y="54"/>
                          <a:pt x="337" y="50"/>
                          <a:pt x="341" y="48"/>
                        </a:cubicBezTo>
                        <a:cubicBezTo>
                          <a:pt x="341" y="48"/>
                          <a:pt x="341" y="48"/>
                          <a:pt x="341" y="48"/>
                        </a:cubicBezTo>
                        <a:cubicBezTo>
                          <a:pt x="344" y="47"/>
                          <a:pt x="349" y="49"/>
                          <a:pt x="350" y="53"/>
                        </a:cubicBezTo>
                        <a:cubicBezTo>
                          <a:pt x="350" y="53"/>
                          <a:pt x="350" y="53"/>
                          <a:pt x="350" y="53"/>
                        </a:cubicBezTo>
                        <a:cubicBezTo>
                          <a:pt x="352" y="56"/>
                          <a:pt x="350" y="61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5" y="62"/>
                          <a:pt x="344" y="63"/>
                          <a:pt x="343" y="63"/>
                        </a:cubicBezTo>
                        <a:cubicBezTo>
                          <a:pt x="343" y="63"/>
                          <a:pt x="343" y="63"/>
                          <a:pt x="343" y="63"/>
                        </a:cubicBezTo>
                        <a:cubicBezTo>
                          <a:pt x="340" y="63"/>
                          <a:pt x="338" y="61"/>
                          <a:pt x="337" y="58"/>
                        </a:cubicBezTo>
                        <a:close/>
                        <a:moveTo>
                          <a:pt x="378" y="43"/>
                        </a:moveTo>
                        <a:cubicBezTo>
                          <a:pt x="377" y="39"/>
                          <a:pt x="379" y="35"/>
                          <a:pt x="383" y="33"/>
                        </a:cubicBezTo>
                        <a:cubicBezTo>
                          <a:pt x="383" y="33"/>
                          <a:pt x="383" y="33"/>
                          <a:pt x="383" y="33"/>
                        </a:cubicBezTo>
                        <a:cubicBezTo>
                          <a:pt x="387" y="32"/>
                          <a:pt x="391" y="34"/>
                          <a:pt x="392" y="38"/>
                        </a:cubicBezTo>
                        <a:cubicBezTo>
                          <a:pt x="392" y="38"/>
                          <a:pt x="392" y="38"/>
                          <a:pt x="392" y="38"/>
                        </a:cubicBezTo>
                        <a:cubicBezTo>
                          <a:pt x="393" y="42"/>
                          <a:pt x="391" y="46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8"/>
                          <a:pt x="386" y="48"/>
                          <a:pt x="385" y="48"/>
                        </a:cubicBezTo>
                        <a:cubicBezTo>
                          <a:pt x="385" y="48"/>
                          <a:pt x="385" y="48"/>
                          <a:pt x="385" y="48"/>
                        </a:cubicBezTo>
                        <a:cubicBezTo>
                          <a:pt x="382" y="48"/>
                          <a:pt x="379" y="46"/>
                          <a:pt x="378" y="43"/>
                        </a:cubicBezTo>
                        <a:close/>
                        <a:moveTo>
                          <a:pt x="421" y="30"/>
                        </a:moveTo>
                        <a:cubicBezTo>
                          <a:pt x="420" y="26"/>
                          <a:pt x="422" y="22"/>
                          <a:pt x="426" y="21"/>
                        </a:cubicBezTo>
                        <a:cubicBezTo>
                          <a:pt x="426" y="21"/>
                          <a:pt x="426" y="21"/>
                          <a:pt x="426" y="21"/>
                        </a:cubicBezTo>
                        <a:cubicBezTo>
                          <a:pt x="430" y="20"/>
                          <a:pt x="434" y="23"/>
                          <a:pt x="435" y="26"/>
                        </a:cubicBezTo>
                        <a:cubicBezTo>
                          <a:pt x="435" y="26"/>
                          <a:pt x="435" y="26"/>
                          <a:pt x="435" y="26"/>
                        </a:cubicBezTo>
                        <a:cubicBezTo>
                          <a:pt x="436" y="30"/>
                          <a:pt x="433" y="34"/>
                          <a:pt x="429" y="35"/>
                        </a:cubicBezTo>
                        <a:cubicBezTo>
                          <a:pt x="429" y="35"/>
                          <a:pt x="429" y="35"/>
                          <a:pt x="429" y="35"/>
                        </a:cubicBezTo>
                        <a:cubicBezTo>
                          <a:pt x="429" y="36"/>
                          <a:pt x="428" y="36"/>
                          <a:pt x="428" y="36"/>
                        </a:cubicBezTo>
                        <a:cubicBezTo>
                          <a:pt x="428" y="36"/>
                          <a:pt x="428" y="36"/>
                          <a:pt x="428" y="36"/>
                        </a:cubicBezTo>
                        <a:cubicBezTo>
                          <a:pt x="424" y="36"/>
                          <a:pt x="421" y="33"/>
                          <a:pt x="421" y="30"/>
                        </a:cubicBezTo>
                        <a:close/>
                        <a:moveTo>
                          <a:pt x="464" y="20"/>
                        </a:moveTo>
                        <a:cubicBezTo>
                          <a:pt x="463" y="16"/>
                          <a:pt x="466" y="12"/>
                          <a:pt x="470" y="12"/>
                        </a:cubicBezTo>
                        <a:cubicBezTo>
                          <a:pt x="470" y="12"/>
                          <a:pt x="470" y="12"/>
                          <a:pt x="470" y="12"/>
                        </a:cubicBezTo>
                        <a:cubicBezTo>
                          <a:pt x="474" y="11"/>
                          <a:pt x="477" y="13"/>
                          <a:pt x="478" y="17"/>
                        </a:cubicBezTo>
                        <a:cubicBezTo>
                          <a:pt x="478" y="17"/>
                          <a:pt x="478" y="17"/>
                          <a:pt x="478" y="17"/>
                        </a:cubicBezTo>
                        <a:cubicBezTo>
                          <a:pt x="479" y="21"/>
                          <a:pt x="476" y="25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1" y="26"/>
                          <a:pt x="471" y="26"/>
                        </a:cubicBezTo>
                        <a:cubicBezTo>
                          <a:pt x="471" y="26"/>
                          <a:pt x="471" y="26"/>
                          <a:pt x="471" y="26"/>
                        </a:cubicBezTo>
                        <a:cubicBezTo>
                          <a:pt x="468" y="26"/>
                          <a:pt x="464" y="24"/>
                          <a:pt x="464" y="20"/>
                        </a:cubicBezTo>
                        <a:close/>
                        <a:moveTo>
                          <a:pt x="507" y="13"/>
                        </a:moveTo>
                        <a:cubicBezTo>
                          <a:pt x="507" y="9"/>
                          <a:pt x="510" y="5"/>
                          <a:pt x="514" y="5"/>
                        </a:cubicBezTo>
                        <a:cubicBezTo>
                          <a:pt x="514" y="5"/>
                          <a:pt x="514" y="5"/>
                          <a:pt x="514" y="5"/>
                        </a:cubicBezTo>
                        <a:cubicBezTo>
                          <a:pt x="518" y="4"/>
                          <a:pt x="521" y="7"/>
                          <a:pt x="522" y="11"/>
                        </a:cubicBezTo>
                        <a:cubicBezTo>
                          <a:pt x="522" y="11"/>
                          <a:pt x="522" y="11"/>
                          <a:pt x="522" y="11"/>
                        </a:cubicBezTo>
                        <a:cubicBezTo>
                          <a:pt x="522" y="15"/>
                          <a:pt x="520" y="19"/>
                          <a:pt x="516" y="19"/>
                        </a:cubicBezTo>
                        <a:cubicBezTo>
                          <a:pt x="516" y="19"/>
                          <a:pt x="516" y="19"/>
                          <a:pt x="516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1" y="19"/>
                          <a:pt x="508" y="17"/>
                          <a:pt x="507" y="13"/>
                        </a:cubicBezTo>
                        <a:close/>
                        <a:moveTo>
                          <a:pt x="552" y="8"/>
                        </a:moveTo>
                        <a:cubicBezTo>
                          <a:pt x="551" y="4"/>
                          <a:pt x="554" y="1"/>
                          <a:pt x="558" y="1"/>
                        </a:cubicBezTo>
                        <a:cubicBezTo>
                          <a:pt x="558" y="1"/>
                          <a:pt x="558" y="1"/>
                          <a:pt x="558" y="1"/>
                        </a:cubicBezTo>
                        <a:cubicBezTo>
                          <a:pt x="562" y="0"/>
                          <a:pt x="566" y="3"/>
                          <a:pt x="566" y="7"/>
                        </a:cubicBezTo>
                        <a:cubicBezTo>
                          <a:pt x="566" y="7"/>
                          <a:pt x="566" y="7"/>
                          <a:pt x="566" y="7"/>
                        </a:cubicBezTo>
                        <a:cubicBezTo>
                          <a:pt x="566" y="11"/>
                          <a:pt x="563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5" y="15"/>
                          <a:pt x="552" y="12"/>
                          <a:pt x="552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87" name="Freeform 100">
                  <a:extLst>
                    <a:ext uri="{FF2B5EF4-FFF2-40B4-BE49-F238E27FC236}">
                      <a16:creationId xmlns:a16="http://schemas.microsoft.com/office/drawing/2014/main" id="{D0EE88E0-9EFB-4EDE-A343-5B57C3AFF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1766887"/>
                  <a:ext cx="36016" cy="36017"/>
                </a:xfrm>
                <a:custGeom>
                  <a:avLst/>
                  <a:gdLst>
                    <a:gd name="T0" fmla="*/ 0 w 15"/>
                    <a:gd name="T1" fmla="*/ 8 h 14"/>
                    <a:gd name="T2" fmla="*/ 7 w 15"/>
                    <a:gd name="T3" fmla="*/ 0 h 14"/>
                    <a:gd name="T4" fmla="*/ 7 w 15"/>
                    <a:gd name="T5" fmla="*/ 0 h 14"/>
                    <a:gd name="T6" fmla="*/ 15 w 15"/>
                    <a:gd name="T7" fmla="*/ 7 h 14"/>
                    <a:gd name="T8" fmla="*/ 15 w 15"/>
                    <a:gd name="T9" fmla="*/ 7 h 14"/>
                    <a:gd name="T10" fmla="*/ 8 w 15"/>
                    <a:gd name="T11" fmla="*/ 14 h 14"/>
                    <a:gd name="T12" fmla="*/ 8 w 15"/>
                    <a:gd name="T13" fmla="*/ 14 h 14"/>
                    <a:gd name="T14" fmla="*/ 8 w 15"/>
                    <a:gd name="T15" fmla="*/ 14 h 14"/>
                    <a:gd name="T16" fmla="*/ 8 w 15"/>
                    <a:gd name="T17" fmla="*/ 14 h 14"/>
                    <a:gd name="T18" fmla="*/ 8 w 15"/>
                    <a:gd name="T19" fmla="*/ 14 h 14"/>
                    <a:gd name="T20" fmla="*/ 8 w 15"/>
                    <a:gd name="T21" fmla="*/ 14 h 14"/>
                    <a:gd name="T22" fmla="*/ 0 w 15"/>
                    <a:gd name="T23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4">
                      <a:moveTo>
                        <a:pt x="0" y="8"/>
                      </a:move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5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4" y="14"/>
                        <a:pt x="1" y="11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  <p:sp>
            <p:nvSpPr>
              <p:cNvPr id="85" name="Freeform 103">
                <a:extLst>
                  <a:ext uri="{FF2B5EF4-FFF2-40B4-BE49-F238E27FC236}">
                    <a16:creationId xmlns:a16="http://schemas.microsoft.com/office/drawing/2014/main" id="{99289FFF-180A-45F5-BA85-73B6BD74B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1482" y="3373772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2 h 16"/>
                  <a:gd name="T8" fmla="*/ 12 w 17"/>
                  <a:gd name="T9" fmla="*/ 2 h 16"/>
                  <a:gd name="T10" fmla="*/ 15 w 17"/>
                  <a:gd name="T11" fmla="*/ 12 h 16"/>
                  <a:gd name="T12" fmla="*/ 15 w 17"/>
                  <a:gd name="T13" fmla="*/ 12 h 16"/>
                  <a:gd name="T14" fmla="*/ 8 w 17"/>
                  <a:gd name="T15" fmla="*/ 16 h 16"/>
                  <a:gd name="T16" fmla="*/ 8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1"/>
                      <a:pt x="9" y="0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5"/>
                      <a:pt x="17" y="9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3" y="15"/>
                      <a:pt x="11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85A39D0-6933-4F0F-9A8C-486BB010C249}"/>
              </a:ext>
            </a:extLst>
          </p:cNvPr>
          <p:cNvSpPr txBox="1"/>
          <p:nvPr/>
        </p:nvSpPr>
        <p:spPr>
          <a:xfrm>
            <a:off x="2957936" y="4124618"/>
            <a:ext cx="627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1"/>
                </a:solidFill>
                <a:latin typeface="+mj-lt"/>
              </a:rPr>
              <a:t>Liderar la construcción </a:t>
            </a:r>
            <a:r>
              <a:rPr lang="es-MX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un mundo sostenible</a:t>
            </a:r>
            <a:endParaRPr lang="es-CL" sz="20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2803389" y="4700087"/>
            <a:ext cx="6585223" cy="829768"/>
          </a:xfrm>
        </p:spPr>
        <p:txBody>
          <a:bodyPr/>
          <a:lstStyle/>
          <a:p>
            <a:r>
              <a:rPr lang="es-ES" sz="2800" b="1" dirty="0"/>
              <a:t>Tópicos avanzados en Inteligencia Artificial</a:t>
            </a:r>
            <a:endParaRPr lang="es-CL" sz="2800" b="1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4052888" y="5791385"/>
            <a:ext cx="4086225" cy="834884"/>
          </a:xfrm>
        </p:spPr>
        <p:txBody>
          <a:bodyPr/>
          <a:lstStyle/>
          <a:p>
            <a:r>
              <a:rPr lang="es-CL" sz="1800" dirty="0"/>
              <a:t>Profesor: </a:t>
            </a:r>
            <a:r>
              <a:rPr lang="es-CL" sz="1800" b="0" dirty="0"/>
              <a:t>Anthony D. Cho</a:t>
            </a:r>
          </a:p>
          <a:p>
            <a:r>
              <a:rPr lang="es-CL" sz="1800" dirty="0"/>
              <a:t>Ayudante</a:t>
            </a:r>
            <a:r>
              <a:rPr lang="es-CL" sz="1800" b="0" dirty="0"/>
              <a:t>: Luis Oliveros</a:t>
            </a:r>
          </a:p>
        </p:txBody>
      </p:sp>
    </p:spTree>
    <p:extLst>
      <p:ext uri="{BB962C8B-B14F-4D97-AF65-F5344CB8AC3E}">
        <p14:creationId xmlns:p14="http://schemas.microsoft.com/office/powerpoint/2010/main" val="5136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 err="1"/>
              <a:t>Vision</a:t>
            </a:r>
            <a:r>
              <a:rPr lang="es-ES" dirty="0"/>
              <a:t> </a:t>
            </a:r>
            <a:r>
              <a:rPr lang="es-ES" dirty="0" err="1"/>
              <a:t>Transformer</a:t>
            </a:r>
            <a:endParaRPr lang="es-ES" dirty="0"/>
          </a:p>
          <a:p>
            <a:r>
              <a:rPr lang="es-ES" dirty="0"/>
              <a:t>(</a:t>
            </a:r>
            <a:r>
              <a:rPr lang="es-ES" dirty="0" err="1"/>
              <a:t>ViT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DD138-7CF0-6108-7AC5-1AF0388A2DF8}"/>
              </a:ext>
            </a:extLst>
          </p:cNvPr>
          <p:cNvSpPr txBox="1"/>
          <p:nvPr/>
        </p:nvSpPr>
        <p:spPr>
          <a:xfrm>
            <a:off x="440675" y="1492251"/>
            <a:ext cx="11093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Durante mucho tiempo, los modelos de inteligencia artificial que analizaban imágenes estaban basados en algo llamado </a:t>
            </a:r>
            <a:r>
              <a:rPr lang="es-ES" b="1" dirty="0"/>
              <a:t>redes convolucionales</a:t>
            </a:r>
            <a:r>
              <a:rPr lang="es-ES" dirty="0"/>
              <a:t> (CNN), que funcionaban muy bien para reconocer objetos, rostros o escenas.</a:t>
            </a:r>
            <a:endParaRPr lang="es-C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B5978-C381-D911-CD10-B9DD39ACF879}"/>
              </a:ext>
            </a:extLst>
          </p:cNvPr>
          <p:cNvSpPr txBox="1"/>
          <p:nvPr/>
        </p:nvSpPr>
        <p:spPr>
          <a:xfrm>
            <a:off x="440675" y="2948058"/>
            <a:ext cx="60592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 err="1"/>
              <a:t>ViT</a:t>
            </a:r>
            <a:r>
              <a:rPr lang="es-ES" dirty="0"/>
              <a:t>, o </a:t>
            </a:r>
            <a:r>
              <a:rPr lang="es-ES" b="1" dirty="0" err="1"/>
              <a:t>Vision</a:t>
            </a:r>
            <a:r>
              <a:rPr lang="es-ES" b="1" dirty="0"/>
              <a:t> </a:t>
            </a:r>
            <a:r>
              <a:rPr lang="es-ES" b="1" dirty="0" err="1"/>
              <a:t>Transformer</a:t>
            </a:r>
            <a:r>
              <a:rPr lang="es-ES" dirty="0"/>
              <a:t>, es un nuevo tipo de modelo que revolucionó la forma en que las máquinas procesan imágenes.</a:t>
            </a:r>
            <a:endParaRPr lang="es-CL" dirty="0"/>
          </a:p>
        </p:txBody>
      </p:sp>
      <p:pic>
        <p:nvPicPr>
          <p:cNvPr id="3" name="Picture 2" descr="A screen shot of a robot&#10;&#10;AI-generated content may be incorrect.">
            <a:extLst>
              <a:ext uri="{FF2B5EF4-FFF2-40B4-BE49-F238E27FC236}">
                <a16:creationId xmlns:a16="http://schemas.microsoft.com/office/drawing/2014/main" id="{AEAD82A6-F4C8-F228-FD1E-843D3AE86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899" y="2679988"/>
            <a:ext cx="4809426" cy="26742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7AAECA-D4BC-5F3C-09A9-F722276F12A1}"/>
              </a:ext>
            </a:extLst>
          </p:cNvPr>
          <p:cNvSpPr txBox="1"/>
          <p:nvPr/>
        </p:nvSpPr>
        <p:spPr>
          <a:xfrm>
            <a:off x="396609" y="4315730"/>
            <a:ext cx="6103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La gran novedad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/>
              <a:t>Está basado en la misma tecnología que usan modelos como </a:t>
            </a:r>
            <a:r>
              <a:rPr lang="es-ES" b="1" dirty="0" err="1"/>
              <a:t>ChatGPT</a:t>
            </a:r>
            <a:r>
              <a:rPr lang="es-ES" dirty="0"/>
              <a:t> para procesar texto: los </a:t>
            </a:r>
            <a:r>
              <a:rPr lang="es-ES" b="1" dirty="0"/>
              <a:t>Transformers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7243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581A-0DA5-A92D-7057-4109C6F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760B7E-FC59-6CEB-D00B-CB38C6979742}"/>
              </a:ext>
            </a:extLst>
          </p:cNvPr>
          <p:cNvSpPr txBox="1"/>
          <p:nvPr/>
        </p:nvSpPr>
        <p:spPr>
          <a:xfrm>
            <a:off x="440674" y="985472"/>
            <a:ext cx="11093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 err="1"/>
              <a:t>ViT</a:t>
            </a:r>
            <a:r>
              <a:rPr lang="es-ES" dirty="0"/>
              <a:t> (</a:t>
            </a:r>
            <a:r>
              <a:rPr lang="es-ES" dirty="0" err="1"/>
              <a:t>Vision</a:t>
            </a:r>
            <a:r>
              <a:rPr lang="es-ES" dirty="0"/>
              <a:t> </a:t>
            </a:r>
            <a:r>
              <a:rPr lang="es-ES" dirty="0" err="1"/>
              <a:t>Transformer</a:t>
            </a:r>
            <a:r>
              <a:rPr lang="es-ES" dirty="0"/>
              <a:t>) es un modelo de inteligencia artificial diseñado para analizar imágenes propuesto por </a:t>
            </a:r>
            <a:r>
              <a:rPr lang="es-CL" dirty="0" err="1"/>
              <a:t>Alexey</a:t>
            </a:r>
            <a:r>
              <a:rPr lang="es-CL" dirty="0"/>
              <a:t> </a:t>
            </a:r>
            <a:r>
              <a:rPr lang="es-CL" dirty="0" err="1"/>
              <a:t>Dosovitskiy</a:t>
            </a:r>
            <a:r>
              <a:rPr lang="es-CL" dirty="0"/>
              <a:t> et al., de Google </a:t>
            </a:r>
            <a:r>
              <a:rPr lang="es-CL" dirty="0" err="1"/>
              <a:t>Brain</a:t>
            </a:r>
            <a:r>
              <a:rPr lang="es-CL" dirty="0"/>
              <a:t> en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4CB31-6232-1DC0-DF73-7161F71CADF5}"/>
              </a:ext>
            </a:extLst>
          </p:cNvPr>
          <p:cNvSpPr txBox="1"/>
          <p:nvPr/>
        </p:nvSpPr>
        <p:spPr>
          <a:xfrm>
            <a:off x="440674" y="2479103"/>
            <a:ext cx="80312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/>
              <a:t>Su idea es:</a:t>
            </a:r>
          </a:p>
          <a:p>
            <a:pPr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En lugar de analizar la imagen entera con "filtros" como las CNN, </a:t>
            </a:r>
            <a:r>
              <a:rPr lang="es-ES" dirty="0" err="1"/>
              <a:t>ViT</a:t>
            </a:r>
            <a:r>
              <a:rPr lang="es-ES" dirty="0"/>
              <a:t> la </a:t>
            </a:r>
            <a:r>
              <a:rPr lang="es-ES" b="1" dirty="0"/>
              <a:t>divide en pequeñas partes, llamadas </a:t>
            </a:r>
            <a:r>
              <a:rPr lang="es-ES" b="1" dirty="0" err="1"/>
              <a:t>patches</a:t>
            </a:r>
            <a:r>
              <a:rPr lang="es-ES" dirty="0"/>
              <a:t> (como si cortaras la imagen en cuadraditos).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Luego trata cada parte como si fuera una palabra en una frase.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Usa un </a:t>
            </a:r>
            <a:r>
              <a:rPr lang="es-ES" b="1" dirty="0"/>
              <a:t>modelo </a:t>
            </a:r>
            <a:r>
              <a:rPr lang="es-ES" b="1" dirty="0" err="1"/>
              <a:t>Transformer</a:t>
            </a:r>
            <a:r>
              <a:rPr lang="es-ES" b="1" dirty="0"/>
              <a:t> para entender la imagen como si fuera una oración</a:t>
            </a:r>
            <a:r>
              <a:rPr lang="es-ES" dirty="0"/>
              <a:t>, encontrando relaciones entre las distintas partes.</a:t>
            </a:r>
            <a:endParaRPr lang="es-C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179E3-10A1-9C28-B3DF-5DA37AB34260}"/>
              </a:ext>
            </a:extLst>
          </p:cNvPr>
          <p:cNvSpPr txBox="1"/>
          <p:nvPr/>
        </p:nvSpPr>
        <p:spPr>
          <a:xfrm>
            <a:off x="0" y="6527194"/>
            <a:ext cx="11632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Alexey </a:t>
            </a:r>
            <a:r>
              <a:rPr lang="en-US" sz="1100" dirty="0" err="1"/>
              <a:t>Dosovitskiy</a:t>
            </a:r>
            <a:r>
              <a:rPr lang="en-US" sz="1100" dirty="0"/>
              <a:t> et al., An Image is Worth 16x16 Words: Transformers for Image Recognition at Scale, 2020. </a:t>
            </a:r>
            <a:r>
              <a:rPr lang="en-US" sz="1100" dirty="0">
                <a:hlinkClick r:id="rId3"/>
              </a:rPr>
              <a:t>https://doi.org/10.48550/arXiv.2010.11929</a:t>
            </a:r>
            <a:endParaRPr lang="en-US" sz="1100" dirty="0"/>
          </a:p>
        </p:txBody>
      </p:sp>
      <p:pic>
        <p:nvPicPr>
          <p:cNvPr id="3" name="Picture 2" descr="A person in a sweater&#10;&#10;AI-generated content may be incorrect.">
            <a:extLst>
              <a:ext uri="{FF2B5EF4-FFF2-40B4-BE49-F238E27FC236}">
                <a16:creationId xmlns:a16="http://schemas.microsoft.com/office/drawing/2014/main" id="{F8C72F70-BC83-7E71-BC16-2CC6C63A4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399" y="2347900"/>
            <a:ext cx="2022849" cy="21942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 descr="A logo with colorful circles&#10;&#10;AI-generated content may be incorrect.">
            <a:extLst>
              <a:ext uri="{FF2B5EF4-FFF2-40B4-BE49-F238E27FC236}">
                <a16:creationId xmlns:a16="http://schemas.microsoft.com/office/drawing/2014/main" id="{2DC724F7-7BF7-B4D9-4534-26A0098712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77" b="33627"/>
          <a:stretch>
            <a:fillRect/>
          </a:stretch>
        </p:blipFill>
        <p:spPr>
          <a:xfrm>
            <a:off x="8924126" y="5018260"/>
            <a:ext cx="2693393" cy="646331"/>
          </a:xfrm>
          <a:prstGeom prst="rect">
            <a:avLst/>
          </a:prstGeom>
        </p:spPr>
      </p:pic>
      <p:sp>
        <p:nvSpPr>
          <p:cNvPr id="14" name="Marcador de texto 24">
            <a:extLst>
              <a:ext uri="{FF2B5EF4-FFF2-40B4-BE49-F238E27FC236}">
                <a16:creationId xmlns:a16="http://schemas.microsoft.com/office/drawing/2014/main" id="{6E2A4003-5D0F-A1B8-FB17-7222840638F5}"/>
              </a:ext>
            </a:extLst>
          </p:cNvPr>
          <p:cNvSpPr txBox="1">
            <a:spLocks/>
          </p:cNvSpPr>
          <p:nvPr/>
        </p:nvSpPr>
        <p:spPr>
          <a:xfrm>
            <a:off x="1640377" y="419421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u="none" strike="noStrike" kern="1200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ViT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8200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EDE3-D194-4A77-8A90-772D8C83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0BFF4D4-7DE3-D328-7AA7-8F679B280F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arquitectura</a:t>
            </a:r>
          </a:p>
        </p:txBody>
      </p:sp>
      <p:pic>
        <p:nvPicPr>
          <p:cNvPr id="4" name="Picture 3" descr="A diagram of a transformer&#10;&#10;AI-generated content may be incorrect.">
            <a:extLst>
              <a:ext uri="{FF2B5EF4-FFF2-40B4-BE49-F238E27FC236}">
                <a16:creationId xmlns:a16="http://schemas.microsoft.com/office/drawing/2014/main" id="{7F1A2377-A8B2-09BB-CBD4-B68FEB82B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66" y="1188273"/>
            <a:ext cx="10407267" cy="53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4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657A-27E4-B3F3-6255-FA1418F0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63C00C08-ABFA-120D-F390-EEDBC76261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enfoque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2D342-C507-AB7D-D103-331E9974A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3906" y="1188273"/>
            <a:ext cx="9884186" cy="53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7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D23F-4A69-6C7F-8EE6-8C4E8E14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49DD31E5-5306-196D-BEBE-C4DAA7606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E16A5-7A1C-F7CD-7DC6-C0CC597AB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7" y="1188273"/>
            <a:ext cx="7751654" cy="53292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1B079A-3D5E-5F14-8BE3-9122C42E9968}"/>
              </a:ext>
            </a:extLst>
          </p:cNvPr>
          <p:cNvSpPr/>
          <p:nvPr/>
        </p:nvSpPr>
        <p:spPr>
          <a:xfrm>
            <a:off x="3833870" y="1872868"/>
            <a:ext cx="6995711" cy="10796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just"/>
            <a:r>
              <a:rPr lang="es-ES" b="1" dirty="0"/>
              <a:t>Recordemos</a:t>
            </a:r>
            <a:r>
              <a:rPr lang="es-ES" dirty="0"/>
              <a:t> que el </a:t>
            </a:r>
            <a:r>
              <a:rPr lang="es-ES" dirty="0" err="1"/>
              <a:t>transformer</a:t>
            </a:r>
            <a:r>
              <a:rPr lang="es-ES" dirty="0"/>
              <a:t> estándar recibe como entrada un arreglo 1D que viene de una secuencia de token </a:t>
            </a:r>
            <a:r>
              <a:rPr lang="es-ES" dirty="0" err="1"/>
              <a:t>embeddings</a:t>
            </a:r>
            <a:r>
              <a:rPr lang="es-ES" dirty="0"/>
              <a:t>.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18591-ADF5-CE62-EEF7-7261E086F264}"/>
              </a:ext>
            </a:extLst>
          </p:cNvPr>
          <p:cNvSpPr txBox="1"/>
          <p:nvPr/>
        </p:nvSpPr>
        <p:spPr>
          <a:xfrm>
            <a:off x="5917619" y="3852904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Para poder adaptarla a imágenes, se procede que transformar cada imagen</a:t>
            </a:r>
          </a:p>
        </p:txBody>
      </p:sp>
    </p:spTree>
    <p:extLst>
      <p:ext uri="{BB962C8B-B14F-4D97-AF65-F5344CB8AC3E}">
        <p14:creationId xmlns:p14="http://schemas.microsoft.com/office/powerpoint/2010/main" val="170098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157B-1C4C-DDD0-3D67-C88B68B4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3C7131EE-D04B-4D51-5B1F-8F10548F53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AD387-4EBE-E15D-C2FE-08ABF6A46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7" y="1188273"/>
            <a:ext cx="7751654" cy="5329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EFDA1D-260B-C72E-1E03-2C352F1624A2}"/>
              </a:ext>
            </a:extLst>
          </p:cNvPr>
          <p:cNvSpPr txBox="1"/>
          <p:nvPr/>
        </p:nvSpPr>
        <p:spPr>
          <a:xfrm>
            <a:off x="5642197" y="2938504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Se divide una imagen en varios parches de tamaño P×P×C, donde C es el número de canales.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0437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99EC-713E-AAA5-0341-FF9A5DE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50992275-8227-09C7-6B62-65DBEED96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D40F3-FA99-46E4-C813-00D6F5D6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2" cy="53292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98E505-B85D-2760-F3A6-FB4372127A41}"/>
                  </a:ext>
                </a:extLst>
              </p:cNvPr>
              <p:cNvSpPr txBox="1"/>
              <p:nvPr/>
            </p:nvSpPr>
            <p:spPr>
              <a:xfrm>
                <a:off x="5399826" y="1495294"/>
                <a:ext cx="61033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L" dirty="0"/>
                  <a:t>Para cada parche se redimensiona a un arreglo 1D de tamaño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L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s-CL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CL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98E505-B85D-2760-F3A6-FB4372127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826" y="1495294"/>
                <a:ext cx="6103344" cy="646331"/>
              </a:xfrm>
              <a:prstGeom prst="rect">
                <a:avLst/>
              </a:prstGeom>
              <a:blipFill>
                <a:blip r:embed="rId4"/>
                <a:stretch>
                  <a:fillRect l="-899" t="-4717" b="-1509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F2814D3-2ADD-1F7E-CC0C-F5B050066DBA}"/>
              </a:ext>
            </a:extLst>
          </p:cNvPr>
          <p:cNvGrpSpPr/>
          <p:nvPr/>
        </p:nvGrpSpPr>
        <p:grpSpPr>
          <a:xfrm>
            <a:off x="1640377" y="2448646"/>
            <a:ext cx="5857015" cy="3037754"/>
            <a:chOff x="1640377" y="2448646"/>
            <a:chExt cx="5857015" cy="3037754"/>
          </a:xfrm>
        </p:grpSpPr>
        <p:pic>
          <p:nvPicPr>
            <p:cNvPr id="3" name="Picture 2" descr="A number on a black background&#10;&#10;AI-generated content may be incorrect.">
              <a:extLst>
                <a:ext uri="{FF2B5EF4-FFF2-40B4-BE49-F238E27FC236}">
                  <a16:creationId xmlns:a16="http://schemas.microsoft.com/office/drawing/2014/main" id="{CC938296-EBA0-CF2B-697F-3A690A840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377" y="2448646"/>
              <a:ext cx="5857015" cy="132750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75240C1-FD4D-006D-BFAB-0D69F5B8518A}"/>
                </a:ext>
              </a:extLst>
            </p:cNvPr>
            <p:cNvCxnSpPr/>
            <p:nvPr/>
          </p:nvCxnSpPr>
          <p:spPr>
            <a:xfrm flipV="1">
              <a:off x="3789802" y="5188945"/>
              <a:ext cx="0" cy="297455"/>
            </a:xfrm>
            <a:prstGeom prst="straightConnector1">
              <a:avLst/>
            </a:prstGeom>
            <a:ln w="4445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B445FAB3-32FC-383F-21B3-A92B0D4C5721}"/>
                </a:ext>
              </a:extLst>
            </p:cNvPr>
            <p:cNvCxnSpPr/>
            <p:nvPr/>
          </p:nvCxnSpPr>
          <p:spPr>
            <a:xfrm rot="10800000">
              <a:off x="2335577" y="3776155"/>
              <a:ext cx="1156771" cy="1082285"/>
            </a:xfrm>
            <a:prstGeom prst="bentConnector3">
              <a:avLst>
                <a:gd name="adj1" fmla="val 100476"/>
              </a:avLst>
            </a:prstGeom>
            <a:ln w="4445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359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AA6D-0824-E7BC-C64C-564EE68D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2E29959-862A-672C-8C56-A51A7B6004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319ED-78F2-5027-5050-2A3E4CD4C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2" cy="5329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DCAE90-CC74-123E-F859-DA69B03B3C42}"/>
              </a:ext>
            </a:extLst>
          </p:cNvPr>
          <p:cNvSpPr txBox="1"/>
          <p:nvPr/>
        </p:nvSpPr>
        <p:spPr>
          <a:xfrm>
            <a:off x="2422575" y="957480"/>
            <a:ext cx="968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lugar de aplicar </a:t>
            </a:r>
            <a:r>
              <a:rPr lang="es-ES" dirty="0" err="1"/>
              <a:t>embedding</a:t>
            </a:r>
            <a:r>
              <a:rPr lang="es-ES" dirty="0"/>
              <a:t> al arreglo, se aplica una proyección lineal a dimensión D.</a:t>
            </a:r>
            <a:endParaRPr lang="es-C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DEB726-49B4-1F51-D360-A69EAE5A9AAC}"/>
              </a:ext>
            </a:extLst>
          </p:cNvPr>
          <p:cNvGrpSpPr/>
          <p:nvPr/>
        </p:nvGrpSpPr>
        <p:grpSpPr>
          <a:xfrm>
            <a:off x="1640377" y="2448646"/>
            <a:ext cx="5857015" cy="3037754"/>
            <a:chOff x="1640377" y="2448646"/>
            <a:chExt cx="5857015" cy="3037754"/>
          </a:xfrm>
        </p:grpSpPr>
        <p:pic>
          <p:nvPicPr>
            <p:cNvPr id="3" name="Picture 2" descr="A number on a black background&#10;&#10;AI-generated content may be incorrect.">
              <a:extLst>
                <a:ext uri="{FF2B5EF4-FFF2-40B4-BE49-F238E27FC236}">
                  <a16:creationId xmlns:a16="http://schemas.microsoft.com/office/drawing/2014/main" id="{7C033F61-6803-381A-6561-121F11C6B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377" y="2448646"/>
              <a:ext cx="5857015" cy="132750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B7B7F7-CBF9-E182-3F5A-D2A195A3427E}"/>
                </a:ext>
              </a:extLst>
            </p:cNvPr>
            <p:cNvCxnSpPr/>
            <p:nvPr/>
          </p:nvCxnSpPr>
          <p:spPr>
            <a:xfrm flipV="1">
              <a:off x="3789802" y="5188945"/>
              <a:ext cx="0" cy="297455"/>
            </a:xfrm>
            <a:prstGeom prst="straightConnector1">
              <a:avLst/>
            </a:prstGeom>
            <a:ln w="4445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49281ACB-812F-107A-6CA5-19C6FC7DDBB7}"/>
                </a:ext>
              </a:extLst>
            </p:cNvPr>
            <p:cNvCxnSpPr/>
            <p:nvPr/>
          </p:nvCxnSpPr>
          <p:spPr>
            <a:xfrm rot="10800000">
              <a:off x="2335577" y="3776155"/>
              <a:ext cx="1156771" cy="1082285"/>
            </a:xfrm>
            <a:prstGeom prst="bentConnector3">
              <a:avLst>
                <a:gd name="adj1" fmla="val 100476"/>
              </a:avLst>
            </a:prstGeom>
            <a:ln w="4445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75BE9C-197C-6343-09E3-A32A9BA64ADD}"/>
              </a:ext>
            </a:extLst>
          </p:cNvPr>
          <p:cNvGrpSpPr/>
          <p:nvPr/>
        </p:nvGrpSpPr>
        <p:grpSpPr>
          <a:xfrm>
            <a:off x="3012631" y="1703840"/>
            <a:ext cx="4953000" cy="1237480"/>
            <a:chOff x="3012631" y="1703840"/>
            <a:chExt cx="4953000" cy="12374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0CB26F-1EF3-B4A1-8493-C4A6E8119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603"/>
            <a:stretch>
              <a:fillRect/>
            </a:stretch>
          </p:blipFill>
          <p:spPr>
            <a:xfrm>
              <a:off x="3012631" y="1703840"/>
              <a:ext cx="4953000" cy="114107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14BD5E-893C-85E3-7B22-4A59B7D35A83}"/>
                </a:ext>
              </a:extLst>
            </p:cNvPr>
            <p:cNvSpPr/>
            <p:nvPr/>
          </p:nvSpPr>
          <p:spPr>
            <a:xfrm>
              <a:off x="3012631" y="2346960"/>
              <a:ext cx="263969" cy="59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61546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B23D-EF2A-B167-0B7F-4046A119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FC2CAF7-5C54-706D-BDD2-5DD8366DA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B90FE-2D59-DD09-430A-1176E6410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2" cy="53292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424109-0E27-6B99-72E3-0240181ABDBC}"/>
              </a:ext>
            </a:extLst>
          </p:cNvPr>
          <p:cNvSpPr/>
          <p:nvPr/>
        </p:nvSpPr>
        <p:spPr>
          <a:xfrm>
            <a:off x="4330700" y="2641600"/>
            <a:ext cx="5892800" cy="876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es-ES" dirty="0"/>
              <a:t>Se una codificación posicional mediante </a:t>
            </a:r>
            <a:r>
              <a:rPr lang="es-ES" dirty="0" err="1"/>
              <a:t>embedding</a:t>
            </a:r>
            <a:r>
              <a:rPr lang="es-ES" dirty="0"/>
              <a:t> de tamaño D.</a:t>
            </a:r>
            <a:endParaRPr lang="es-C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78E91-CD88-8D35-82F2-0ACD136A27C9}"/>
              </a:ext>
            </a:extLst>
          </p:cNvPr>
          <p:cNvSpPr/>
          <p:nvPr/>
        </p:nvSpPr>
        <p:spPr>
          <a:xfrm>
            <a:off x="1447800" y="4000500"/>
            <a:ext cx="1625600" cy="609600"/>
          </a:xfrm>
          <a:prstGeom prst="rect">
            <a:avLst/>
          </a:prstGeom>
          <a:noFill/>
          <a:ln w="47625">
            <a:solidFill>
              <a:srgbClr val="00A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5311C08-A036-C613-A7F3-DA082680F519}"/>
              </a:ext>
            </a:extLst>
          </p:cNvPr>
          <p:cNvCxnSpPr>
            <a:cxnSpLocks/>
            <a:stCxn id="3" idx="0"/>
            <a:endCxn id="2" idx="1"/>
          </p:cNvCxnSpPr>
          <p:nvPr/>
        </p:nvCxnSpPr>
        <p:spPr>
          <a:xfrm rot="5400000" flipH="1" flipV="1">
            <a:off x="2835275" y="2505075"/>
            <a:ext cx="920750" cy="2070100"/>
          </a:xfrm>
          <a:prstGeom prst="bentConnector2">
            <a:avLst/>
          </a:prstGeom>
          <a:ln w="444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096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725A-CD09-7262-841E-5A3483AF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E4197C6F-3B43-28D0-CB18-05EFFDAB76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FD380-4FCF-62CC-3871-FA780CAFE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2" cy="53292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1029D2-5663-415A-AFDF-AF7314242027}"/>
              </a:ext>
            </a:extLst>
          </p:cNvPr>
          <p:cNvSpPr/>
          <p:nvPr/>
        </p:nvSpPr>
        <p:spPr>
          <a:xfrm>
            <a:off x="3073400" y="1432667"/>
            <a:ext cx="5892800" cy="1320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es-ES" dirty="0"/>
              <a:t>Se incorpora esta codificación posicional al modelo mediante adición para que pueda reconocer las posiciones de los parches.</a:t>
            </a:r>
            <a:endParaRPr lang="es-C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0F575-06FF-EDF6-053D-3FC108FE8F2F}"/>
              </a:ext>
            </a:extLst>
          </p:cNvPr>
          <p:cNvSpPr/>
          <p:nvPr/>
        </p:nvSpPr>
        <p:spPr>
          <a:xfrm>
            <a:off x="1447800" y="4000500"/>
            <a:ext cx="1625600" cy="609600"/>
          </a:xfrm>
          <a:prstGeom prst="rect">
            <a:avLst/>
          </a:prstGeom>
          <a:noFill/>
          <a:ln w="47625">
            <a:solidFill>
              <a:srgbClr val="00A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D1276A4-B704-F297-F27F-E5C63238FA97}"/>
              </a:ext>
            </a:extLst>
          </p:cNvPr>
          <p:cNvCxnSpPr>
            <a:cxnSpLocks/>
            <a:stCxn id="3" idx="0"/>
            <a:endCxn id="2" idx="1"/>
          </p:cNvCxnSpPr>
          <p:nvPr/>
        </p:nvCxnSpPr>
        <p:spPr>
          <a:xfrm rot="5400000" flipH="1" flipV="1">
            <a:off x="1713284" y="2640384"/>
            <a:ext cx="1907433" cy="812800"/>
          </a:xfrm>
          <a:prstGeom prst="bentConnector2">
            <a:avLst/>
          </a:prstGeom>
          <a:ln w="444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0C9123-5458-ACAE-0117-395128650239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5396284" y="3376983"/>
            <a:ext cx="1247033" cy="12700"/>
          </a:xfrm>
          <a:prstGeom prst="bentConnector3">
            <a:avLst>
              <a:gd name="adj1" fmla="val 50000"/>
            </a:avLst>
          </a:prstGeom>
          <a:ln w="444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179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4B14-4A2C-4E15-7A16-3ED34E1E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DD8E29D8-E48D-431D-D256-9EA9FD1279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87634-9666-B84B-757D-00EF44A5C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1" cy="53292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ABD043-7254-50E1-EDFA-2E59EB1D2A11}"/>
              </a:ext>
            </a:extLst>
          </p:cNvPr>
          <p:cNvSpPr/>
          <p:nvPr/>
        </p:nvSpPr>
        <p:spPr>
          <a:xfrm>
            <a:off x="3149600" y="1494609"/>
            <a:ext cx="5892800" cy="8596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es-ES" dirty="0"/>
              <a:t>Una vez adaptada los datos, se emplea el módulo </a:t>
            </a:r>
            <a:r>
              <a:rPr lang="es-ES" dirty="0" err="1"/>
              <a:t>Encoder</a:t>
            </a:r>
            <a:r>
              <a:rPr lang="es-ES" dirty="0"/>
              <a:t> del </a:t>
            </a:r>
            <a:r>
              <a:rPr lang="es-ES" dirty="0" err="1"/>
              <a:t>transformer</a:t>
            </a:r>
            <a:r>
              <a:rPr lang="es-ES" dirty="0"/>
              <a:t> estándar.</a:t>
            </a:r>
            <a:endParaRPr lang="es-CL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4E25963-AFA8-2327-E7C9-5CF68F05AF20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1640379" y="1924451"/>
            <a:ext cx="1509221" cy="1"/>
          </a:xfrm>
          <a:prstGeom prst="bentConnector3">
            <a:avLst>
              <a:gd name="adj1" fmla="val 50000"/>
            </a:avLst>
          </a:prstGeom>
          <a:ln w="44450">
            <a:solidFill>
              <a:schemeClr val="accent3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54C87E3-542E-6D58-9E90-AF6D98EB1B18}"/>
              </a:ext>
            </a:extLst>
          </p:cNvPr>
          <p:cNvCxnSpPr>
            <a:cxnSpLocks/>
            <a:stCxn id="2" idx="2"/>
          </p:cNvCxnSpPr>
          <p:nvPr/>
        </p:nvCxnSpPr>
        <p:spPr>
          <a:xfrm rot="16200000" flipH="1">
            <a:off x="5946007" y="2504285"/>
            <a:ext cx="306336" cy="6350"/>
          </a:xfrm>
          <a:prstGeom prst="bentConnector3">
            <a:avLst>
              <a:gd name="adj1" fmla="val 50000"/>
            </a:avLst>
          </a:prstGeom>
          <a:ln w="444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diagram of a multi-head attention&#10;&#10;AI-generated content may be incorrect.">
            <a:extLst>
              <a:ext uri="{FF2B5EF4-FFF2-40B4-BE49-F238E27FC236}">
                <a16:creationId xmlns:a16="http://schemas.microsoft.com/office/drawing/2014/main" id="{D4A7978E-41B7-B988-3502-7B1B9730E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96" y="1188273"/>
            <a:ext cx="1227953" cy="270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48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28C8-2D01-D4A9-9867-969521D5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35F3481A-92D5-B5B0-3D41-F1F05868D8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79540-DBBB-E918-1F21-38C7664C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098" y="1188273"/>
            <a:ext cx="7751651" cy="53292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64F9DD-6C93-44C3-7D67-9CB6CE728A7E}"/>
              </a:ext>
            </a:extLst>
          </p:cNvPr>
          <p:cNvSpPr/>
          <p:nvPr/>
        </p:nvSpPr>
        <p:spPr>
          <a:xfrm>
            <a:off x="5829300" y="1171582"/>
            <a:ext cx="5892800" cy="11017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es-ES" dirty="0"/>
              <a:t>Se concatenan las representaciones de los parches del módulo de </a:t>
            </a:r>
            <a:r>
              <a:rPr lang="es-ES" dirty="0" err="1"/>
              <a:t>transformer</a:t>
            </a:r>
            <a:r>
              <a:rPr lang="es-ES" dirty="0"/>
              <a:t> y es sometida a un discriminador MLP.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6152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A553-A21B-FD14-D47B-A7D64F6C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45246FC7-53E8-2739-F713-E413FF007B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4176223" cy="391824"/>
          </a:xfrm>
        </p:spPr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: Proceso resumen</a:t>
            </a:r>
          </a:p>
        </p:txBody>
      </p:sp>
      <p:pic>
        <p:nvPicPr>
          <p:cNvPr id="5" name="Picture 4" descr="A white background with a black and white background&#10;&#10;AI-generated content may be incorrect.">
            <a:extLst>
              <a:ext uri="{FF2B5EF4-FFF2-40B4-BE49-F238E27FC236}">
                <a16:creationId xmlns:a16="http://schemas.microsoft.com/office/drawing/2014/main" id="{73DAF31D-5F4F-0639-4EAB-FDF386E8E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77" y="923130"/>
            <a:ext cx="8429337" cy="579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B81E-89C3-A318-2158-CBC90443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BD97-C6B6-2712-FDD1-C55CE96AA2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</a:t>
            </a:r>
            <a:r>
              <a:rPr lang="en-US" dirty="0" err="1"/>
              <a:t>ViT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269AE-A104-C3A1-2817-72B92ECF6B59}"/>
              </a:ext>
            </a:extLst>
          </p:cNvPr>
          <p:cNvSpPr txBox="1"/>
          <p:nvPr/>
        </p:nvSpPr>
        <p:spPr>
          <a:xfrm>
            <a:off x="2336800" y="1859339"/>
            <a:ext cx="8305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Clasificación de imágenes</a:t>
            </a:r>
            <a:r>
              <a:rPr lang="es-ES" dirty="0"/>
              <a:t> (por ejemplo, reconocer un gato, un coche o una flor).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Segmentación semántica</a:t>
            </a:r>
            <a:r>
              <a:rPr lang="es-ES" dirty="0"/>
              <a:t> (identificar objetos específicos dentro de una imagen).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Reconocimiento facial y biometría.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Análisis de imágenes médicas</a:t>
            </a:r>
            <a:r>
              <a:rPr lang="es-ES" dirty="0"/>
              <a:t> (detectar tumores, lesiones,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Modelos multimodales</a:t>
            </a:r>
            <a:r>
              <a:rPr lang="es-ES" dirty="0"/>
              <a:t> (como </a:t>
            </a:r>
            <a:r>
              <a:rPr lang="es-ES" b="1" dirty="0"/>
              <a:t>CLIP</a:t>
            </a:r>
            <a:r>
              <a:rPr lang="es-ES" dirty="0"/>
              <a:t>, que conecta imágenes con texto).</a:t>
            </a:r>
          </a:p>
        </p:txBody>
      </p:sp>
    </p:spTree>
    <p:extLst>
      <p:ext uri="{BB962C8B-B14F-4D97-AF65-F5344CB8AC3E}">
        <p14:creationId xmlns:p14="http://schemas.microsoft.com/office/powerpoint/2010/main" val="125293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BE12-692F-2517-F257-AC5BF84FD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0564D4-7D31-0A79-350E-981A70139151}"/>
              </a:ext>
            </a:extLst>
          </p:cNvPr>
          <p:cNvGrpSpPr>
            <a:grpSpLocks noChangeAspect="1"/>
          </p:cNvGrpSpPr>
          <p:nvPr/>
        </p:nvGrpSpPr>
        <p:grpSpPr>
          <a:xfrm>
            <a:off x="641294" y="1720243"/>
            <a:ext cx="10547407" cy="4692968"/>
            <a:chOff x="882467" y="2212173"/>
            <a:chExt cx="7051970" cy="313770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43881A-D7C4-CBCF-A5E4-991F6F6AE9FF}"/>
                </a:ext>
              </a:extLst>
            </p:cNvPr>
            <p:cNvGrpSpPr/>
            <p:nvPr/>
          </p:nvGrpSpPr>
          <p:grpSpPr>
            <a:xfrm>
              <a:off x="3284125" y="2681285"/>
              <a:ext cx="2286000" cy="2286000"/>
              <a:chOff x="2409825" y="1714497"/>
              <a:chExt cx="2286000" cy="2286000"/>
            </a:xfrm>
          </p:grpSpPr>
          <p:sp>
            <p:nvSpPr>
              <p:cNvPr id="61" name="Rounded Rectangle 1">
                <a:extLst>
                  <a:ext uri="{FF2B5EF4-FFF2-40B4-BE49-F238E27FC236}">
                    <a16:creationId xmlns:a16="http://schemas.microsoft.com/office/drawing/2014/main" id="{9D9B15DF-C416-BDA3-1B44-D8D32723830F}"/>
                  </a:ext>
                </a:extLst>
              </p:cNvPr>
              <p:cNvSpPr/>
              <p:nvPr/>
            </p:nvSpPr>
            <p:spPr>
              <a:xfrm>
                <a:off x="2409825" y="1714497"/>
                <a:ext cx="2285999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2285999" h="2286000">
                    <a:moveTo>
                      <a:pt x="150064" y="576453"/>
                    </a:moveTo>
                    <a:lnTo>
                      <a:pt x="566931" y="576453"/>
                    </a:lnTo>
                    <a:lnTo>
                      <a:pt x="566927" y="155571"/>
                    </a:lnTo>
                    <a:cubicBezTo>
                      <a:pt x="736076" y="56675"/>
                      <a:pt x="932919" y="0"/>
                      <a:pt x="1142999" y="0"/>
                    </a:cubicBezTo>
                    <a:cubicBezTo>
                      <a:pt x="1345244" y="0"/>
                      <a:pt x="1535210" y="52525"/>
                      <a:pt x="1700022" y="144679"/>
                    </a:cubicBezTo>
                    <a:lnTo>
                      <a:pt x="1700022" y="576453"/>
                    </a:lnTo>
                    <a:lnTo>
                      <a:pt x="2135933" y="576453"/>
                    </a:lnTo>
                    <a:cubicBezTo>
                      <a:pt x="2231421" y="743450"/>
                      <a:pt x="2285999" y="936851"/>
                      <a:pt x="2285999" y="1143000"/>
                    </a:cubicBezTo>
                    <a:cubicBezTo>
                      <a:pt x="2285999" y="1349149"/>
                      <a:pt x="2231421" y="1542554"/>
                      <a:pt x="2135933" y="1709547"/>
                    </a:cubicBezTo>
                    <a:lnTo>
                      <a:pt x="1700031" y="1709547"/>
                    </a:lnTo>
                    <a:lnTo>
                      <a:pt x="1700031" y="2141315"/>
                    </a:lnTo>
                    <a:cubicBezTo>
                      <a:pt x="1535220" y="2233469"/>
                      <a:pt x="1345244" y="2286000"/>
                      <a:pt x="1142999" y="2286000"/>
                    </a:cubicBezTo>
                    <a:cubicBezTo>
                      <a:pt x="932919" y="2286000"/>
                      <a:pt x="736076" y="2229326"/>
                      <a:pt x="566927" y="2130428"/>
                    </a:cubicBezTo>
                    <a:lnTo>
                      <a:pt x="566927" y="1709547"/>
                    </a:lnTo>
                    <a:lnTo>
                      <a:pt x="150067" y="1709547"/>
                    </a:lnTo>
                    <a:cubicBezTo>
                      <a:pt x="54575" y="1542554"/>
                      <a:pt x="0" y="1349149"/>
                      <a:pt x="0" y="1142999"/>
                    </a:cubicBezTo>
                    <a:cubicBezTo>
                      <a:pt x="0" y="936851"/>
                      <a:pt x="54574" y="743449"/>
                      <a:pt x="150064" y="576452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ounded Rectangle 2">
                <a:extLst>
                  <a:ext uri="{FF2B5EF4-FFF2-40B4-BE49-F238E27FC236}">
                    <a16:creationId xmlns:a16="http://schemas.microsoft.com/office/drawing/2014/main" id="{6386855A-6502-D1D5-9196-7D26DCC0B22F}"/>
                  </a:ext>
                </a:extLst>
              </p:cNvPr>
              <p:cNvSpPr/>
              <p:nvPr/>
            </p:nvSpPr>
            <p:spPr>
              <a:xfrm>
                <a:off x="2409825" y="1714497"/>
                <a:ext cx="2286000" cy="2285999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2285999">
                    <a:moveTo>
                      <a:pt x="566928" y="155571"/>
                    </a:moveTo>
                    <a:cubicBezTo>
                      <a:pt x="736076" y="56675"/>
                      <a:pt x="932919" y="0"/>
                      <a:pt x="1143000" y="0"/>
                    </a:cubicBezTo>
                    <a:cubicBezTo>
                      <a:pt x="1345241" y="0"/>
                      <a:pt x="1535214" y="52525"/>
                      <a:pt x="1700022" y="144679"/>
                    </a:cubicBezTo>
                    <a:moveTo>
                      <a:pt x="2135936" y="576453"/>
                    </a:moveTo>
                    <a:cubicBezTo>
                      <a:pt x="2231425" y="743450"/>
                      <a:pt x="2286000" y="936851"/>
                      <a:pt x="2286000" y="1142999"/>
                    </a:cubicBezTo>
                    <a:cubicBezTo>
                      <a:pt x="2286000" y="1349150"/>
                      <a:pt x="2231424" y="1542554"/>
                      <a:pt x="2135932" y="1709551"/>
                    </a:cubicBezTo>
                    <a:moveTo>
                      <a:pt x="1700026" y="2141319"/>
                    </a:moveTo>
                    <a:cubicBezTo>
                      <a:pt x="1535218" y="2233473"/>
                      <a:pt x="1345243" y="2285999"/>
                      <a:pt x="1142999" y="2285999"/>
                    </a:cubicBezTo>
                    <a:cubicBezTo>
                      <a:pt x="932919" y="2285999"/>
                      <a:pt x="736076" y="2229323"/>
                      <a:pt x="566927" y="2130427"/>
                    </a:cubicBezTo>
                    <a:moveTo>
                      <a:pt x="150067" y="1709551"/>
                    </a:moveTo>
                    <a:cubicBezTo>
                      <a:pt x="54575" y="1542554"/>
                      <a:pt x="0" y="1349150"/>
                      <a:pt x="0" y="1142999"/>
                    </a:cubicBezTo>
                    <a:cubicBezTo>
                      <a:pt x="0" y="936851"/>
                      <a:pt x="54574" y="743449"/>
                      <a:pt x="150064" y="576452"/>
                    </a:cubicBez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D630970-ECC9-4D69-4CCC-45028830E66B}"/>
                </a:ext>
              </a:extLst>
            </p:cNvPr>
            <p:cNvGrpSpPr/>
            <p:nvPr/>
          </p:nvGrpSpPr>
          <p:grpSpPr>
            <a:xfrm>
              <a:off x="2892015" y="2298703"/>
              <a:ext cx="959040" cy="959037"/>
              <a:chOff x="2017715" y="1331915"/>
              <a:chExt cx="959040" cy="959037"/>
            </a:xfrm>
          </p:grpSpPr>
          <p:sp>
            <p:nvSpPr>
              <p:cNvPr id="59" name="Rounded Rectangle 4">
                <a:extLst>
                  <a:ext uri="{FF2B5EF4-FFF2-40B4-BE49-F238E27FC236}">
                    <a16:creationId xmlns:a16="http://schemas.microsoft.com/office/drawing/2014/main" id="{58A0AFF4-DCD9-D15C-2339-12AA152F750B}"/>
                  </a:ext>
                </a:extLst>
              </p:cNvPr>
              <p:cNvSpPr/>
              <p:nvPr/>
            </p:nvSpPr>
            <p:spPr>
              <a:xfrm>
                <a:off x="2017715" y="1331915"/>
                <a:ext cx="959040" cy="959037"/>
              </a:xfrm>
              <a:custGeom>
                <a:avLst/>
                <a:gdLst/>
                <a:ahLst/>
                <a:cxnLst/>
                <a:rect l="0" t="0" r="0" b="0"/>
                <a:pathLst>
                  <a:path w="959040" h="959037">
                    <a:moveTo>
                      <a:pt x="501840" y="959037"/>
                    </a:moveTo>
                    <a:cubicBezTo>
                      <a:pt x="384831" y="959037"/>
                      <a:pt x="267822" y="914400"/>
                      <a:pt x="178548" y="825125"/>
                    </a:cubicBezTo>
                    <a:cubicBezTo>
                      <a:pt x="0" y="646578"/>
                      <a:pt x="0" y="357095"/>
                      <a:pt x="178548" y="178548"/>
                    </a:cubicBezTo>
                    <a:cubicBezTo>
                      <a:pt x="357095" y="0"/>
                      <a:pt x="646578" y="0"/>
                      <a:pt x="825125" y="178548"/>
                    </a:cubicBezTo>
                    <a:cubicBezTo>
                      <a:pt x="914399" y="267822"/>
                      <a:pt x="959037" y="384829"/>
                      <a:pt x="959037" y="501837"/>
                    </a:cubicBezTo>
                    <a:lnTo>
                      <a:pt x="959040" y="959037"/>
                    </a:lnTo>
                    <a:lnTo>
                      <a:pt x="501945" y="959037"/>
                    </a:lnTo>
                    <a:cubicBezTo>
                      <a:pt x="501910" y="959037"/>
                      <a:pt x="501876" y="959037"/>
                      <a:pt x="501840" y="959037"/>
                    </a:cubicBez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5">
                <a:extLst>
                  <a:ext uri="{FF2B5EF4-FFF2-40B4-BE49-F238E27FC236}">
                    <a16:creationId xmlns:a16="http://schemas.microsoft.com/office/drawing/2014/main" id="{AB7417C6-0AEA-2A31-2B20-4412910C8503}"/>
                  </a:ext>
                </a:extLst>
              </p:cNvPr>
              <p:cNvSpPr/>
              <p:nvPr/>
            </p:nvSpPr>
            <p:spPr>
              <a:xfrm>
                <a:off x="2017715" y="1331915"/>
                <a:ext cx="959040" cy="959037"/>
              </a:xfrm>
              <a:custGeom>
                <a:avLst/>
                <a:gdLst/>
                <a:ahLst/>
                <a:cxnLst/>
                <a:rect l="0" t="0" r="0" b="0"/>
                <a:pathLst>
                  <a:path w="959040" h="959037">
                    <a:moveTo>
                      <a:pt x="501840" y="959037"/>
                    </a:moveTo>
                    <a:cubicBezTo>
                      <a:pt x="384831" y="959037"/>
                      <a:pt x="267822" y="914400"/>
                      <a:pt x="178548" y="825125"/>
                    </a:cubicBezTo>
                    <a:cubicBezTo>
                      <a:pt x="0" y="646578"/>
                      <a:pt x="0" y="357095"/>
                      <a:pt x="178548" y="178548"/>
                    </a:cubicBezTo>
                    <a:cubicBezTo>
                      <a:pt x="357095" y="0"/>
                      <a:pt x="646578" y="0"/>
                      <a:pt x="825125" y="178548"/>
                    </a:cubicBezTo>
                    <a:cubicBezTo>
                      <a:pt x="914399" y="267822"/>
                      <a:pt x="959037" y="384829"/>
                      <a:pt x="959037" y="501837"/>
                    </a:cubicBezTo>
                    <a:lnTo>
                      <a:pt x="959040" y="959037"/>
                    </a:lnTo>
                    <a:lnTo>
                      <a:pt x="501945" y="959037"/>
                    </a:lnTo>
                    <a:cubicBezTo>
                      <a:pt x="501910" y="959037"/>
                      <a:pt x="501876" y="959037"/>
                      <a:pt x="501840" y="959037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7906787-A0B0-1A11-8502-E1FF2CED5F58}"/>
                </a:ext>
              </a:extLst>
            </p:cNvPr>
            <p:cNvGrpSpPr/>
            <p:nvPr/>
          </p:nvGrpSpPr>
          <p:grpSpPr>
            <a:xfrm>
              <a:off x="2892015" y="4390834"/>
              <a:ext cx="959037" cy="959043"/>
              <a:chOff x="2017715" y="3424046"/>
              <a:chExt cx="959037" cy="959043"/>
            </a:xfrm>
          </p:grpSpPr>
          <p:sp>
            <p:nvSpPr>
              <p:cNvPr id="57" name="Rounded Rectangle 7">
                <a:extLst>
                  <a:ext uri="{FF2B5EF4-FFF2-40B4-BE49-F238E27FC236}">
                    <a16:creationId xmlns:a16="http://schemas.microsoft.com/office/drawing/2014/main" id="{648F915A-E571-6367-D18B-067F3B958A7F}"/>
                  </a:ext>
                </a:extLst>
              </p:cNvPr>
              <p:cNvSpPr/>
              <p:nvPr/>
            </p:nvSpPr>
            <p:spPr>
              <a:xfrm>
                <a:off x="2017715" y="3424046"/>
                <a:ext cx="959037" cy="959043"/>
              </a:xfrm>
              <a:custGeom>
                <a:avLst/>
                <a:gdLst/>
                <a:ahLst/>
                <a:cxnLst/>
                <a:rect l="0" t="0" r="0" b="0"/>
                <a:pathLst>
                  <a:path w="959037" h="959043">
                    <a:moveTo>
                      <a:pt x="959037" y="457200"/>
                    </a:moveTo>
                    <a:cubicBezTo>
                      <a:pt x="959037" y="574208"/>
                      <a:pt x="914400" y="691217"/>
                      <a:pt x="825125" y="780492"/>
                    </a:cubicBezTo>
                    <a:cubicBezTo>
                      <a:pt x="646578" y="959043"/>
                      <a:pt x="357095" y="959043"/>
                      <a:pt x="178548" y="780492"/>
                    </a:cubicBezTo>
                    <a:cubicBezTo>
                      <a:pt x="0" y="601945"/>
                      <a:pt x="0" y="312461"/>
                      <a:pt x="178548" y="133914"/>
                    </a:cubicBezTo>
                    <a:cubicBezTo>
                      <a:pt x="267822" y="44640"/>
                      <a:pt x="384829" y="3"/>
                      <a:pt x="501837" y="3"/>
                    </a:cubicBezTo>
                    <a:lnTo>
                      <a:pt x="959037" y="0"/>
                    </a:lnTo>
                    <a:lnTo>
                      <a:pt x="959037" y="457095"/>
                    </a:lnTo>
                    <a:cubicBezTo>
                      <a:pt x="959037" y="457130"/>
                      <a:pt x="959037" y="457164"/>
                      <a:pt x="959037" y="457200"/>
                    </a:cubicBezTo>
                    <a:close/>
                  </a:path>
                </a:pathLst>
              </a:custGeom>
              <a:solidFill>
                <a:srgbClr val="92BD3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8">
                <a:extLst>
                  <a:ext uri="{FF2B5EF4-FFF2-40B4-BE49-F238E27FC236}">
                    <a16:creationId xmlns:a16="http://schemas.microsoft.com/office/drawing/2014/main" id="{4D611B37-597D-29EC-969E-769FCADD1004}"/>
                  </a:ext>
                </a:extLst>
              </p:cNvPr>
              <p:cNvSpPr/>
              <p:nvPr/>
            </p:nvSpPr>
            <p:spPr>
              <a:xfrm>
                <a:off x="2017715" y="3424046"/>
                <a:ext cx="959037" cy="959040"/>
              </a:xfrm>
              <a:custGeom>
                <a:avLst/>
                <a:gdLst/>
                <a:ahLst/>
                <a:cxnLst/>
                <a:rect l="0" t="0" r="0" b="0"/>
                <a:pathLst>
                  <a:path w="959037" h="959040">
                    <a:moveTo>
                      <a:pt x="959037" y="457200"/>
                    </a:moveTo>
                    <a:cubicBezTo>
                      <a:pt x="959037" y="574208"/>
                      <a:pt x="914400" y="691217"/>
                      <a:pt x="825125" y="780492"/>
                    </a:cubicBezTo>
                    <a:cubicBezTo>
                      <a:pt x="646578" y="959040"/>
                      <a:pt x="357095" y="959040"/>
                      <a:pt x="178548" y="780492"/>
                    </a:cubicBezTo>
                    <a:cubicBezTo>
                      <a:pt x="0" y="601945"/>
                      <a:pt x="0" y="312461"/>
                      <a:pt x="178548" y="133914"/>
                    </a:cubicBezTo>
                    <a:cubicBezTo>
                      <a:pt x="267822" y="44640"/>
                      <a:pt x="384829" y="3"/>
                      <a:pt x="501837" y="3"/>
                    </a:cubicBezTo>
                    <a:lnTo>
                      <a:pt x="959037" y="0"/>
                    </a:lnTo>
                    <a:lnTo>
                      <a:pt x="959037" y="457095"/>
                    </a:lnTo>
                    <a:cubicBezTo>
                      <a:pt x="959037" y="457130"/>
                      <a:pt x="959037" y="457164"/>
                      <a:pt x="959037" y="457200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6711E71-525B-FD3B-EF35-D22F7533B8DB}"/>
                </a:ext>
              </a:extLst>
            </p:cNvPr>
            <p:cNvGrpSpPr/>
            <p:nvPr/>
          </p:nvGrpSpPr>
          <p:grpSpPr>
            <a:xfrm>
              <a:off x="4984151" y="4390836"/>
              <a:ext cx="959037" cy="959043"/>
              <a:chOff x="4109851" y="3424048"/>
              <a:chExt cx="959037" cy="959043"/>
            </a:xfrm>
          </p:grpSpPr>
          <p:sp>
            <p:nvSpPr>
              <p:cNvPr id="55" name="Rounded Rectangle 10">
                <a:extLst>
                  <a:ext uri="{FF2B5EF4-FFF2-40B4-BE49-F238E27FC236}">
                    <a16:creationId xmlns:a16="http://schemas.microsoft.com/office/drawing/2014/main" id="{7A3DC36B-FDDC-4EB7-DD11-6642C8AB5ADE}"/>
                  </a:ext>
                </a:extLst>
              </p:cNvPr>
              <p:cNvSpPr/>
              <p:nvPr/>
            </p:nvSpPr>
            <p:spPr>
              <a:xfrm>
                <a:off x="4109851" y="3424048"/>
                <a:ext cx="959035" cy="959043"/>
              </a:xfrm>
              <a:custGeom>
                <a:avLst/>
                <a:gdLst/>
                <a:ahLst/>
                <a:cxnLst/>
                <a:rect l="0" t="0" r="0" b="0"/>
                <a:pathLst>
                  <a:path w="959035" h="959043">
                    <a:moveTo>
                      <a:pt x="0" y="457095"/>
                    </a:moveTo>
                    <a:lnTo>
                      <a:pt x="0" y="0"/>
                    </a:lnTo>
                    <a:lnTo>
                      <a:pt x="457200" y="3"/>
                    </a:lnTo>
                    <a:cubicBezTo>
                      <a:pt x="574208" y="3"/>
                      <a:pt x="691215" y="44640"/>
                      <a:pt x="780489" y="133914"/>
                    </a:cubicBezTo>
                    <a:cubicBezTo>
                      <a:pt x="959035" y="312461"/>
                      <a:pt x="959035" y="601945"/>
                      <a:pt x="780489" y="780492"/>
                    </a:cubicBezTo>
                    <a:cubicBezTo>
                      <a:pt x="601941" y="959043"/>
                      <a:pt x="312459" y="959043"/>
                      <a:pt x="133911" y="780492"/>
                    </a:cubicBezTo>
                    <a:cubicBezTo>
                      <a:pt x="44637" y="691217"/>
                      <a:pt x="0" y="574208"/>
                      <a:pt x="0" y="457200"/>
                    </a:cubicBezTo>
                    <a:cubicBezTo>
                      <a:pt x="0" y="457164"/>
                      <a:pt x="0" y="457130"/>
                      <a:pt x="0" y="457095"/>
                    </a:cubicBez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ounded Rectangle 11">
                <a:extLst>
                  <a:ext uri="{FF2B5EF4-FFF2-40B4-BE49-F238E27FC236}">
                    <a16:creationId xmlns:a16="http://schemas.microsoft.com/office/drawing/2014/main" id="{748D4D7A-5F9D-7B0E-2058-4A3923BDF9FD}"/>
                  </a:ext>
                </a:extLst>
              </p:cNvPr>
              <p:cNvSpPr/>
              <p:nvPr/>
            </p:nvSpPr>
            <p:spPr>
              <a:xfrm>
                <a:off x="4109851" y="3424048"/>
                <a:ext cx="959037" cy="959040"/>
              </a:xfrm>
              <a:custGeom>
                <a:avLst/>
                <a:gdLst/>
                <a:ahLst/>
                <a:cxnLst/>
                <a:rect l="0" t="0" r="0" b="0"/>
                <a:pathLst>
                  <a:path w="959037" h="959040">
                    <a:moveTo>
                      <a:pt x="0" y="457095"/>
                    </a:moveTo>
                    <a:lnTo>
                      <a:pt x="0" y="0"/>
                    </a:lnTo>
                    <a:lnTo>
                      <a:pt x="457200" y="3"/>
                    </a:lnTo>
                    <a:cubicBezTo>
                      <a:pt x="574208" y="3"/>
                      <a:pt x="691215" y="44640"/>
                      <a:pt x="780489" y="133914"/>
                    </a:cubicBezTo>
                    <a:cubicBezTo>
                      <a:pt x="959037" y="312461"/>
                      <a:pt x="959037" y="601945"/>
                      <a:pt x="780489" y="780492"/>
                    </a:cubicBezTo>
                    <a:cubicBezTo>
                      <a:pt x="601941" y="959040"/>
                      <a:pt x="312459" y="959040"/>
                      <a:pt x="133911" y="780492"/>
                    </a:cubicBezTo>
                    <a:cubicBezTo>
                      <a:pt x="44637" y="691217"/>
                      <a:pt x="0" y="574208"/>
                      <a:pt x="0" y="457200"/>
                    </a:cubicBezTo>
                    <a:cubicBezTo>
                      <a:pt x="0" y="457164"/>
                      <a:pt x="0" y="457130"/>
                      <a:pt x="0" y="457095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1F76A90-B10E-8AEF-6C09-BF4E43920998}"/>
                </a:ext>
              </a:extLst>
            </p:cNvPr>
            <p:cNvGrpSpPr/>
            <p:nvPr/>
          </p:nvGrpSpPr>
          <p:grpSpPr>
            <a:xfrm>
              <a:off x="4984145" y="2298705"/>
              <a:ext cx="959043" cy="959037"/>
              <a:chOff x="4109845" y="1331917"/>
              <a:chExt cx="959043" cy="959037"/>
            </a:xfrm>
          </p:grpSpPr>
          <p:sp>
            <p:nvSpPr>
              <p:cNvPr id="53" name="Rounded Rectangle 13">
                <a:extLst>
                  <a:ext uri="{FF2B5EF4-FFF2-40B4-BE49-F238E27FC236}">
                    <a16:creationId xmlns:a16="http://schemas.microsoft.com/office/drawing/2014/main" id="{3FBD80D7-1811-E51D-C403-D64466F4BB3A}"/>
                  </a:ext>
                </a:extLst>
              </p:cNvPr>
              <p:cNvSpPr/>
              <p:nvPr/>
            </p:nvSpPr>
            <p:spPr>
              <a:xfrm>
                <a:off x="4109845" y="1331917"/>
                <a:ext cx="959043" cy="959037"/>
              </a:xfrm>
              <a:custGeom>
                <a:avLst/>
                <a:gdLst/>
                <a:ahLst/>
                <a:cxnLst/>
                <a:rect l="0" t="0" r="0" b="0"/>
                <a:pathLst>
                  <a:path w="959043" h="959037">
                    <a:moveTo>
                      <a:pt x="457095" y="959037"/>
                    </a:moveTo>
                    <a:lnTo>
                      <a:pt x="0" y="959037"/>
                    </a:lnTo>
                    <a:lnTo>
                      <a:pt x="3" y="501837"/>
                    </a:lnTo>
                    <a:cubicBezTo>
                      <a:pt x="3" y="384829"/>
                      <a:pt x="44640" y="267822"/>
                      <a:pt x="133914" y="178548"/>
                    </a:cubicBezTo>
                    <a:cubicBezTo>
                      <a:pt x="312461" y="0"/>
                      <a:pt x="601945" y="0"/>
                      <a:pt x="780492" y="178548"/>
                    </a:cubicBezTo>
                    <a:cubicBezTo>
                      <a:pt x="959043" y="357095"/>
                      <a:pt x="959043" y="646578"/>
                      <a:pt x="780492" y="825125"/>
                    </a:cubicBezTo>
                    <a:cubicBezTo>
                      <a:pt x="691217" y="914400"/>
                      <a:pt x="574208" y="959037"/>
                      <a:pt x="457199" y="959037"/>
                    </a:cubicBezTo>
                    <a:cubicBezTo>
                      <a:pt x="457164" y="959037"/>
                      <a:pt x="457130" y="959037"/>
                      <a:pt x="457095" y="959037"/>
                    </a:cubicBezTo>
                    <a:close/>
                  </a:path>
                </a:pathLst>
              </a:custGeom>
              <a:solidFill>
                <a:srgbClr val="1EABD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14">
                <a:extLst>
                  <a:ext uri="{FF2B5EF4-FFF2-40B4-BE49-F238E27FC236}">
                    <a16:creationId xmlns:a16="http://schemas.microsoft.com/office/drawing/2014/main" id="{96249870-A247-BC33-704F-BD7CCB8258CE}"/>
                  </a:ext>
                </a:extLst>
              </p:cNvPr>
              <p:cNvSpPr/>
              <p:nvPr/>
            </p:nvSpPr>
            <p:spPr>
              <a:xfrm>
                <a:off x="4109845" y="1331917"/>
                <a:ext cx="959040" cy="959037"/>
              </a:xfrm>
              <a:custGeom>
                <a:avLst/>
                <a:gdLst/>
                <a:ahLst/>
                <a:cxnLst/>
                <a:rect l="0" t="0" r="0" b="0"/>
                <a:pathLst>
                  <a:path w="959040" h="959037">
                    <a:moveTo>
                      <a:pt x="457095" y="959037"/>
                    </a:moveTo>
                    <a:lnTo>
                      <a:pt x="0" y="959037"/>
                    </a:lnTo>
                    <a:lnTo>
                      <a:pt x="3" y="501837"/>
                    </a:lnTo>
                    <a:cubicBezTo>
                      <a:pt x="3" y="384829"/>
                      <a:pt x="44640" y="267822"/>
                      <a:pt x="133914" y="178548"/>
                    </a:cubicBezTo>
                    <a:cubicBezTo>
                      <a:pt x="312461" y="0"/>
                      <a:pt x="601945" y="0"/>
                      <a:pt x="780492" y="178548"/>
                    </a:cubicBezTo>
                    <a:cubicBezTo>
                      <a:pt x="959040" y="357095"/>
                      <a:pt x="959040" y="646578"/>
                      <a:pt x="780492" y="825125"/>
                    </a:cubicBezTo>
                    <a:cubicBezTo>
                      <a:pt x="691217" y="914400"/>
                      <a:pt x="574208" y="959037"/>
                      <a:pt x="457199" y="959037"/>
                    </a:cubicBezTo>
                    <a:cubicBezTo>
                      <a:pt x="457164" y="959037"/>
                      <a:pt x="457130" y="959037"/>
                      <a:pt x="457095" y="959037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557D9A-CDD3-D655-E0AA-ED3A2B5E4D25}"/>
                </a:ext>
              </a:extLst>
            </p:cNvPr>
            <p:cNvSpPr txBox="1"/>
            <p:nvPr/>
          </p:nvSpPr>
          <p:spPr>
            <a:xfrm>
              <a:off x="882468" y="2212173"/>
              <a:ext cx="1961601" cy="411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2000" b="1" dirty="0">
                  <a:solidFill>
                    <a:srgbClr val="DE8431"/>
                  </a:solidFill>
                  <a:latin typeface="+mj-lt"/>
                </a:rPr>
                <a:t>Alto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rendimiento</a:t>
              </a:r>
              <a:r>
                <a:rPr lang="es-ES"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con</a:t>
              </a:r>
              <a:r>
                <a:rPr lang="es-ES"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grandes</a:t>
              </a:r>
              <a:r>
                <a:rPr lang="es-ES"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datasets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66D4D7-BD48-251D-507D-FC8806D826CC}"/>
                </a:ext>
              </a:extLst>
            </p:cNvPr>
            <p:cNvSpPr txBox="1"/>
            <p:nvPr/>
          </p:nvSpPr>
          <p:spPr>
            <a:xfrm>
              <a:off x="6112978" y="2212173"/>
              <a:ext cx="1723848" cy="411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1EABDA"/>
                  </a:solidFill>
                  <a:latin typeface="+mj-lt"/>
                </a:rPr>
                <a:t>Captura</a:t>
              </a:r>
              <a:r>
                <a:rPr sz="2000" b="1" dirty="0">
                  <a:solidFill>
                    <a:srgbClr val="1EABDA"/>
                  </a:solidFill>
                  <a:latin typeface="+mj-lt"/>
                </a:rPr>
                <a:t> de</a:t>
              </a:r>
              <a:r>
                <a:rPr lang="es-ES" sz="2000" b="1" dirty="0">
                  <a:solidFill>
                    <a:srgbClr val="1EABDA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1EABDA"/>
                  </a:solidFill>
                  <a:latin typeface="+mj-lt"/>
                </a:rPr>
                <a:t>relaciones</a:t>
              </a:r>
              <a:r>
                <a:rPr lang="es-ES" sz="2000" b="1" dirty="0">
                  <a:solidFill>
                    <a:srgbClr val="1EABDA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1EABDA"/>
                  </a:solidFill>
                  <a:latin typeface="+mj-lt"/>
                </a:rPr>
                <a:t>globales</a:t>
              </a:r>
              <a:endParaRPr sz="2000" b="1" dirty="0">
                <a:solidFill>
                  <a:srgbClr val="1EABDA"/>
                </a:solidFill>
                <a:latin typeface="+mj-lt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BD706A-69D0-0EA5-F141-BEB6F9461604}"/>
                </a:ext>
              </a:extLst>
            </p:cNvPr>
            <p:cNvSpPr txBox="1"/>
            <p:nvPr/>
          </p:nvSpPr>
          <p:spPr>
            <a:xfrm>
              <a:off x="1164050" y="2724150"/>
              <a:ext cx="1680019" cy="288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supera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a las CNN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con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grandes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cantidades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datos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7EDC996-D5B8-3FD3-7787-F935E468B445}"/>
                </a:ext>
              </a:extLst>
            </p:cNvPr>
            <p:cNvSpPr txBox="1"/>
            <p:nvPr/>
          </p:nvSpPr>
          <p:spPr>
            <a:xfrm>
              <a:off x="6112978" y="2724150"/>
              <a:ext cx="1723848" cy="4321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identifica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conexiones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entre partes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distantes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una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imagen.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C31E202-BFCA-4853-9311-B97730DA7FCF}"/>
                </a:ext>
              </a:extLst>
            </p:cNvPr>
            <p:cNvSpPr txBox="1"/>
            <p:nvPr/>
          </p:nvSpPr>
          <p:spPr>
            <a:xfrm>
              <a:off x="882468" y="4279639"/>
              <a:ext cx="1961602" cy="411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2000" b="1" dirty="0" err="1">
                  <a:solidFill>
                    <a:srgbClr val="92BD39"/>
                  </a:solidFill>
                  <a:latin typeface="+mj-lt"/>
                </a:rPr>
                <a:t>Reutilización</a:t>
              </a:r>
              <a:r>
                <a:rPr sz="2000" b="1" dirty="0">
                  <a:solidFill>
                    <a:srgbClr val="92BD39"/>
                  </a:solidFill>
                  <a:latin typeface="+mj-lt"/>
                </a:rPr>
                <a:t> de</a:t>
              </a:r>
              <a:r>
                <a:rPr lang="es-ES" sz="2000" b="1" dirty="0">
                  <a:solidFill>
                    <a:srgbClr val="92BD39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92BD39"/>
                  </a:solidFill>
                  <a:latin typeface="+mj-lt"/>
                </a:rPr>
                <a:t>avances</a:t>
              </a:r>
              <a:r>
                <a:rPr sz="2000" b="1" dirty="0">
                  <a:solidFill>
                    <a:srgbClr val="92BD39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92BD39"/>
                  </a:solidFill>
                  <a:latin typeface="+mj-lt"/>
                </a:rPr>
                <a:t>en</a:t>
              </a:r>
              <a:r>
                <a:rPr sz="2000" b="1" dirty="0">
                  <a:solidFill>
                    <a:srgbClr val="92BD39"/>
                  </a:solidFill>
                  <a:latin typeface="+mj-lt"/>
                </a:rPr>
                <a:t> NLP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552FCB8-5C7D-AF97-E202-7F7CC0CD5EC8}"/>
                </a:ext>
              </a:extLst>
            </p:cNvPr>
            <p:cNvSpPr txBox="1"/>
            <p:nvPr/>
          </p:nvSpPr>
          <p:spPr>
            <a:xfrm>
              <a:off x="6151150" y="4288129"/>
              <a:ext cx="1685676" cy="4115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3CC583"/>
                  </a:solidFill>
                  <a:latin typeface="+mj-lt"/>
                </a:rPr>
                <a:t>Escalabilidad</a:t>
              </a:r>
              <a:r>
                <a:rPr sz="2000" b="1" dirty="0">
                  <a:solidFill>
                    <a:srgbClr val="3CC583"/>
                  </a:solidFill>
                  <a:latin typeface="+mj-lt"/>
                </a:rPr>
                <a:t> y</a:t>
              </a:r>
              <a:r>
                <a:rPr lang="es-ES" sz="2000" b="1" dirty="0">
                  <a:solidFill>
                    <a:srgbClr val="3CC583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3CC583"/>
                  </a:solidFill>
                  <a:latin typeface="+mj-lt"/>
                </a:rPr>
                <a:t>flexibilidad</a:t>
              </a:r>
              <a:endParaRPr sz="2000" b="1" dirty="0">
                <a:solidFill>
                  <a:srgbClr val="3CC583"/>
                </a:solidFill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282ED5-5BC0-FC00-782F-0DE1A0D832F4}"/>
                </a:ext>
              </a:extLst>
            </p:cNvPr>
            <p:cNvSpPr txBox="1"/>
            <p:nvPr/>
          </p:nvSpPr>
          <p:spPr>
            <a:xfrm>
              <a:off x="882467" y="4781550"/>
              <a:ext cx="1961602" cy="288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aprovecha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técnicas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entrenamiento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probadas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NLP.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14F04B-B6A4-A9CD-30E6-7F3990A20697}"/>
                </a:ext>
              </a:extLst>
            </p:cNvPr>
            <p:cNvSpPr txBox="1"/>
            <p:nvPr/>
          </p:nvSpPr>
          <p:spPr>
            <a:xfrm>
              <a:off x="6151150" y="4787075"/>
              <a:ext cx="1783287" cy="4321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se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adapta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a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diversas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tareas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visión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sin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cambios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estructurales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48" name="Rounded Rectangle 25">
              <a:extLst>
                <a:ext uri="{FF2B5EF4-FFF2-40B4-BE49-F238E27FC236}">
                  <a16:creationId xmlns:a16="http://schemas.microsoft.com/office/drawing/2014/main" id="{785ED5E5-20B2-1666-4BB1-23D5FCF1EC20}"/>
                </a:ext>
              </a:extLst>
            </p:cNvPr>
            <p:cNvSpPr/>
            <p:nvPr/>
          </p:nvSpPr>
          <p:spPr>
            <a:xfrm>
              <a:off x="3174587" y="2581275"/>
              <a:ext cx="428625" cy="428625"/>
            </a:xfrm>
            <a:custGeom>
              <a:avLst/>
              <a:gdLst/>
              <a:ahLst/>
              <a:cxnLst/>
              <a:rect l="0" t="0" r="0" b="0"/>
              <a:pathLst>
                <a:path w="428625" h="428625">
                  <a:moveTo>
                    <a:pt x="287654" y="38100"/>
                  </a:moveTo>
                  <a:cubicBezTo>
                    <a:pt x="287654" y="17057"/>
                    <a:pt x="319211" y="0"/>
                    <a:pt x="358139" y="0"/>
                  </a:cubicBezTo>
                  <a:cubicBezTo>
                    <a:pt x="397066" y="0"/>
                    <a:pt x="428624" y="17057"/>
                    <a:pt x="428624" y="38100"/>
                  </a:cubicBezTo>
                  <a:cubicBezTo>
                    <a:pt x="428624" y="59142"/>
                    <a:pt x="397066" y="76200"/>
                    <a:pt x="358139" y="76200"/>
                  </a:cubicBezTo>
                  <a:cubicBezTo>
                    <a:pt x="319211" y="76200"/>
                    <a:pt x="287654" y="59142"/>
                    <a:pt x="287654" y="38100"/>
                  </a:cubicBezTo>
                  <a:close/>
                  <a:moveTo>
                    <a:pt x="428625" y="41908"/>
                  </a:moveTo>
                  <a:lnTo>
                    <a:pt x="428625" y="150493"/>
                  </a:lnTo>
                  <a:cubicBezTo>
                    <a:pt x="428625" y="171448"/>
                    <a:pt x="398145" y="188593"/>
                    <a:pt x="358140" y="188593"/>
                  </a:cubicBezTo>
                  <a:cubicBezTo>
                    <a:pt x="318135" y="188593"/>
                    <a:pt x="287655" y="171448"/>
                    <a:pt x="287655" y="150493"/>
                  </a:cubicBezTo>
                  <a:lnTo>
                    <a:pt x="287655" y="41908"/>
                  </a:lnTo>
                  <a:moveTo>
                    <a:pt x="287654" y="95250"/>
                  </a:moveTo>
                  <a:cubicBezTo>
                    <a:pt x="287654" y="116204"/>
                    <a:pt x="318134" y="133350"/>
                    <a:pt x="358139" y="133350"/>
                  </a:cubicBezTo>
                  <a:cubicBezTo>
                    <a:pt x="398144" y="133350"/>
                    <a:pt x="428624" y="116204"/>
                    <a:pt x="428624" y="95250"/>
                  </a:cubicBezTo>
                  <a:moveTo>
                    <a:pt x="64657" y="352327"/>
                  </a:moveTo>
                  <a:lnTo>
                    <a:pt x="0" y="352327"/>
                  </a:lnTo>
                  <a:lnTo>
                    <a:pt x="0" y="115250"/>
                  </a:lnTo>
                  <a:lnTo>
                    <a:pt x="64657" y="115250"/>
                  </a:lnTo>
                  <a:close/>
                  <a:moveTo>
                    <a:pt x="193972" y="352327"/>
                  </a:moveTo>
                  <a:lnTo>
                    <a:pt x="129315" y="352327"/>
                  </a:lnTo>
                  <a:lnTo>
                    <a:pt x="129315" y="201461"/>
                  </a:lnTo>
                  <a:lnTo>
                    <a:pt x="193972" y="201461"/>
                  </a:lnTo>
                  <a:close/>
                  <a:moveTo>
                    <a:pt x="323286" y="352327"/>
                  </a:moveTo>
                  <a:lnTo>
                    <a:pt x="258630" y="352327"/>
                  </a:lnTo>
                  <a:lnTo>
                    <a:pt x="258630" y="276893"/>
                  </a:lnTo>
                  <a:lnTo>
                    <a:pt x="323286" y="276893"/>
                  </a:lnTo>
                  <a:close/>
                  <a:moveTo>
                    <a:pt x="0" y="428625"/>
                  </a:moveTo>
                  <a:cubicBezTo>
                    <a:pt x="28448" y="428625"/>
                    <a:pt x="56897" y="428625"/>
                    <a:pt x="85345" y="400050"/>
                  </a:cubicBezTo>
                  <a:cubicBezTo>
                    <a:pt x="113794" y="428625"/>
                    <a:pt x="142242" y="428625"/>
                    <a:pt x="149829" y="428625"/>
                  </a:cubicBezTo>
                  <a:cubicBezTo>
                    <a:pt x="157415" y="428625"/>
                    <a:pt x="185863" y="428625"/>
                    <a:pt x="214312" y="400050"/>
                  </a:cubicBezTo>
                  <a:cubicBezTo>
                    <a:pt x="242761" y="428625"/>
                    <a:pt x="271209" y="428625"/>
                    <a:pt x="278796" y="428625"/>
                  </a:cubicBezTo>
                  <a:cubicBezTo>
                    <a:pt x="286382" y="428625"/>
                    <a:pt x="314829" y="428625"/>
                    <a:pt x="343279" y="400050"/>
                  </a:cubicBezTo>
                  <a:cubicBezTo>
                    <a:pt x="371728" y="428625"/>
                    <a:pt x="400175" y="428625"/>
                    <a:pt x="428624" y="428625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26">
              <a:extLst>
                <a:ext uri="{FF2B5EF4-FFF2-40B4-BE49-F238E27FC236}">
                  <a16:creationId xmlns:a16="http://schemas.microsoft.com/office/drawing/2014/main" id="{13B56409-79B9-F96F-78C2-4702A95EF234}"/>
                </a:ext>
              </a:extLst>
            </p:cNvPr>
            <p:cNvSpPr/>
            <p:nvPr/>
          </p:nvSpPr>
          <p:spPr>
            <a:xfrm>
              <a:off x="5227910" y="2576474"/>
              <a:ext cx="438150" cy="438150"/>
            </a:xfrm>
            <a:custGeom>
              <a:avLst/>
              <a:gdLst/>
              <a:ahLst/>
              <a:cxnLst/>
              <a:rect l="0" t="0" r="0" b="0"/>
              <a:pathLst>
                <a:path w="438150" h="438150">
                  <a:moveTo>
                    <a:pt x="219075" y="0"/>
                  </a:moveTo>
                  <a:cubicBezTo>
                    <a:pt x="340066" y="0"/>
                    <a:pt x="438150" y="98083"/>
                    <a:pt x="438150" y="219075"/>
                  </a:cubicBezTo>
                  <a:cubicBezTo>
                    <a:pt x="438150" y="340066"/>
                    <a:pt x="340066" y="438150"/>
                    <a:pt x="219075" y="438150"/>
                  </a:cubicBezTo>
                  <a:cubicBezTo>
                    <a:pt x="98083" y="438150"/>
                    <a:pt x="0" y="340066"/>
                    <a:pt x="0" y="219075"/>
                  </a:cubicBezTo>
                  <a:cubicBezTo>
                    <a:pt x="0" y="98083"/>
                    <a:pt x="98083" y="0"/>
                    <a:pt x="219075" y="0"/>
                  </a:cubicBezTo>
                  <a:close/>
                  <a:moveTo>
                    <a:pt x="114300" y="138112"/>
                  </a:moveTo>
                  <a:cubicBezTo>
                    <a:pt x="114300" y="161784"/>
                    <a:pt x="133490" y="180975"/>
                    <a:pt x="157162" y="180975"/>
                  </a:cubicBezTo>
                  <a:cubicBezTo>
                    <a:pt x="180834" y="180975"/>
                    <a:pt x="200025" y="161784"/>
                    <a:pt x="200025" y="138112"/>
                  </a:cubicBezTo>
                  <a:cubicBezTo>
                    <a:pt x="200025" y="114440"/>
                    <a:pt x="180834" y="95250"/>
                    <a:pt x="157162" y="95250"/>
                  </a:cubicBezTo>
                  <a:cubicBezTo>
                    <a:pt x="133490" y="95250"/>
                    <a:pt x="114300" y="114440"/>
                    <a:pt x="114300" y="138112"/>
                  </a:cubicBezTo>
                  <a:close/>
                  <a:moveTo>
                    <a:pt x="238125" y="328612"/>
                  </a:moveTo>
                  <a:cubicBezTo>
                    <a:pt x="238125" y="341763"/>
                    <a:pt x="248786" y="352425"/>
                    <a:pt x="261937" y="352425"/>
                  </a:cubicBezTo>
                  <a:cubicBezTo>
                    <a:pt x="275088" y="352425"/>
                    <a:pt x="285750" y="341763"/>
                    <a:pt x="285750" y="328612"/>
                  </a:cubicBezTo>
                  <a:cubicBezTo>
                    <a:pt x="285750" y="315461"/>
                    <a:pt x="275088" y="304800"/>
                    <a:pt x="261937" y="304800"/>
                  </a:cubicBezTo>
                  <a:cubicBezTo>
                    <a:pt x="248786" y="304800"/>
                    <a:pt x="238125" y="315461"/>
                    <a:pt x="238125" y="328612"/>
                  </a:cubicBezTo>
                  <a:close/>
                  <a:moveTo>
                    <a:pt x="314325" y="185737"/>
                  </a:moveTo>
                  <a:cubicBezTo>
                    <a:pt x="314325" y="204149"/>
                    <a:pt x="329250" y="219075"/>
                    <a:pt x="347662" y="219075"/>
                  </a:cubicBezTo>
                  <a:cubicBezTo>
                    <a:pt x="366074" y="219075"/>
                    <a:pt x="381000" y="204149"/>
                    <a:pt x="381000" y="185737"/>
                  </a:cubicBezTo>
                  <a:cubicBezTo>
                    <a:pt x="381000" y="167325"/>
                    <a:pt x="366074" y="152400"/>
                    <a:pt x="347662" y="152400"/>
                  </a:cubicBezTo>
                  <a:cubicBezTo>
                    <a:pt x="329250" y="152400"/>
                    <a:pt x="314325" y="167325"/>
                    <a:pt x="314325" y="185737"/>
                  </a:cubicBezTo>
                  <a:close/>
                  <a:moveTo>
                    <a:pt x="314325" y="181013"/>
                  </a:moveTo>
                  <a:cubicBezTo>
                    <a:pt x="283186" y="151917"/>
                    <a:pt x="242610" y="135010"/>
                    <a:pt x="200025" y="133388"/>
                  </a:cubicBezTo>
                  <a:moveTo>
                    <a:pt x="390505" y="352425"/>
                  </a:moveTo>
                  <a:cubicBezTo>
                    <a:pt x="390505" y="266700"/>
                    <a:pt x="361930" y="228600"/>
                    <a:pt x="361930" y="228600"/>
                  </a:cubicBezTo>
                  <a:lnTo>
                    <a:pt x="354310" y="218427"/>
                  </a:lnTo>
                  <a:moveTo>
                    <a:pt x="333375" y="155524"/>
                  </a:moveTo>
                  <a:cubicBezTo>
                    <a:pt x="334563" y="112427"/>
                    <a:pt x="328114" y="69461"/>
                    <a:pt x="314325" y="28613"/>
                  </a:cubicBezTo>
                  <a:lnTo>
                    <a:pt x="310953" y="20135"/>
                  </a:lnTo>
                  <a:moveTo>
                    <a:pt x="283159" y="317811"/>
                  </a:moveTo>
                  <a:cubicBezTo>
                    <a:pt x="307284" y="286642"/>
                    <a:pt x="321463" y="248930"/>
                    <a:pt x="323850" y="209588"/>
                  </a:cubicBezTo>
                  <a:moveTo>
                    <a:pt x="95250" y="400088"/>
                  </a:moveTo>
                  <a:cubicBezTo>
                    <a:pt x="200025" y="400088"/>
                    <a:pt x="247650" y="352463"/>
                    <a:pt x="247650" y="352463"/>
                  </a:cubicBezTo>
                  <a:lnTo>
                    <a:pt x="250545" y="349529"/>
                  </a:lnTo>
                  <a:moveTo>
                    <a:pt x="219075" y="38"/>
                  </a:moveTo>
                  <a:cubicBezTo>
                    <a:pt x="193013" y="27913"/>
                    <a:pt x="172056" y="60154"/>
                    <a:pt x="157162" y="95288"/>
                  </a:cubicBezTo>
                  <a:moveTo>
                    <a:pt x="134912" y="174764"/>
                  </a:moveTo>
                  <a:lnTo>
                    <a:pt x="133350" y="181013"/>
                  </a:lnTo>
                  <a:cubicBezTo>
                    <a:pt x="122970" y="232533"/>
                    <a:pt x="129657" y="286032"/>
                    <a:pt x="152400" y="333413"/>
                  </a:cubicBezTo>
                  <a:cubicBezTo>
                    <a:pt x="184784" y="398297"/>
                    <a:pt x="266700" y="428663"/>
                    <a:pt x="266700" y="428663"/>
                  </a:cubicBezTo>
                  <a:lnTo>
                    <a:pt x="273805" y="431311"/>
                  </a:lnTo>
                  <a:moveTo>
                    <a:pt x="114300" y="138112"/>
                  </a:moveTo>
                  <a:cubicBezTo>
                    <a:pt x="114300" y="138112"/>
                    <a:pt x="41224" y="143351"/>
                    <a:pt x="4286" y="175698"/>
                  </a:cubicBezTo>
                  <a:moveTo>
                    <a:pt x="247154" y="309943"/>
                  </a:moveTo>
                  <a:cubicBezTo>
                    <a:pt x="140608" y="246545"/>
                    <a:pt x="9525" y="266700"/>
                    <a:pt x="9525" y="266700"/>
                  </a:cubicBezTo>
                  <a:lnTo>
                    <a:pt x="5334" y="267347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27">
              <a:extLst>
                <a:ext uri="{FF2B5EF4-FFF2-40B4-BE49-F238E27FC236}">
                  <a16:creationId xmlns:a16="http://schemas.microsoft.com/office/drawing/2014/main" id="{D81AF06A-AA4F-ABEE-1C31-72ACEC24E23C}"/>
                </a:ext>
              </a:extLst>
            </p:cNvPr>
            <p:cNvSpPr/>
            <p:nvPr/>
          </p:nvSpPr>
          <p:spPr>
            <a:xfrm>
              <a:off x="3977806" y="3460547"/>
              <a:ext cx="879577" cy="727405"/>
            </a:xfrm>
            <a:custGeom>
              <a:avLst/>
              <a:gdLst/>
              <a:ahLst/>
              <a:cxnLst/>
              <a:rect l="0" t="0" r="0" b="0"/>
              <a:pathLst>
                <a:path w="879577" h="727405">
                  <a:moveTo>
                    <a:pt x="243768" y="76009"/>
                  </a:moveTo>
                  <a:lnTo>
                    <a:pt x="117200" y="253250"/>
                  </a:lnTo>
                  <a:lnTo>
                    <a:pt x="10825" y="177279"/>
                  </a:lnTo>
                  <a:lnTo>
                    <a:pt x="36161" y="141846"/>
                  </a:lnTo>
                  <a:cubicBezTo>
                    <a:pt x="6797" y="120867"/>
                    <a:pt x="0" y="80056"/>
                    <a:pt x="20978" y="50692"/>
                  </a:cubicBezTo>
                  <a:cubicBezTo>
                    <a:pt x="41957" y="21327"/>
                    <a:pt x="82769" y="14530"/>
                    <a:pt x="112133" y="35509"/>
                  </a:cubicBezTo>
                  <a:lnTo>
                    <a:pt x="137431" y="76"/>
                  </a:lnTo>
                  <a:close/>
                  <a:moveTo>
                    <a:pt x="762385" y="253250"/>
                  </a:moveTo>
                  <a:lnTo>
                    <a:pt x="645228" y="633336"/>
                  </a:lnTo>
                  <a:cubicBezTo>
                    <a:pt x="639581" y="651595"/>
                    <a:pt x="622697" y="664046"/>
                    <a:pt x="603585" y="664044"/>
                  </a:cubicBezTo>
                  <a:lnTo>
                    <a:pt x="275925" y="664044"/>
                  </a:lnTo>
                  <a:cubicBezTo>
                    <a:pt x="256818" y="664054"/>
                    <a:pt x="239941" y="651597"/>
                    <a:pt x="234319" y="633336"/>
                  </a:cubicBezTo>
                  <a:lnTo>
                    <a:pt x="117200" y="253250"/>
                  </a:lnTo>
                  <a:lnTo>
                    <a:pt x="243768" y="76009"/>
                  </a:lnTo>
                  <a:lnTo>
                    <a:pt x="635817" y="76009"/>
                  </a:lnTo>
                  <a:close/>
                  <a:moveTo>
                    <a:pt x="843386" y="141846"/>
                  </a:moveTo>
                  <a:lnTo>
                    <a:pt x="868722" y="177279"/>
                  </a:lnTo>
                  <a:lnTo>
                    <a:pt x="762385" y="253250"/>
                  </a:lnTo>
                  <a:lnTo>
                    <a:pt x="635817" y="76009"/>
                  </a:lnTo>
                  <a:lnTo>
                    <a:pt x="742154" y="0"/>
                  </a:lnTo>
                  <a:lnTo>
                    <a:pt x="767453" y="35433"/>
                  </a:lnTo>
                  <a:cubicBezTo>
                    <a:pt x="796828" y="14477"/>
                    <a:pt x="837629" y="21300"/>
                    <a:pt x="858588" y="50673"/>
                  </a:cubicBezTo>
                  <a:cubicBezTo>
                    <a:pt x="879577" y="80045"/>
                    <a:pt x="872770" y="120873"/>
                    <a:pt x="843386" y="141846"/>
                  </a:cubicBezTo>
                  <a:close/>
                  <a:moveTo>
                    <a:pt x="212793" y="563498"/>
                  </a:moveTo>
                  <a:lnTo>
                    <a:pt x="119410" y="592340"/>
                  </a:lnTo>
                  <a:cubicBezTo>
                    <a:pt x="107911" y="595883"/>
                    <a:pt x="95716" y="589436"/>
                    <a:pt x="92168" y="577938"/>
                  </a:cubicBezTo>
                  <a:lnTo>
                    <a:pt x="40886" y="411365"/>
                  </a:lnTo>
                  <a:cubicBezTo>
                    <a:pt x="37340" y="399877"/>
                    <a:pt x="43767" y="387688"/>
                    <a:pt x="55249" y="384124"/>
                  </a:cubicBezTo>
                  <a:lnTo>
                    <a:pt x="148671" y="355358"/>
                  </a:lnTo>
                  <a:moveTo>
                    <a:pt x="730915" y="355434"/>
                  </a:moveTo>
                  <a:lnTo>
                    <a:pt x="824298" y="384200"/>
                  </a:lnTo>
                  <a:cubicBezTo>
                    <a:pt x="835796" y="387748"/>
                    <a:pt x="842243" y="399942"/>
                    <a:pt x="838700" y="411441"/>
                  </a:cubicBezTo>
                  <a:lnTo>
                    <a:pt x="787417" y="577939"/>
                  </a:lnTo>
                  <a:cubicBezTo>
                    <a:pt x="783869" y="589436"/>
                    <a:pt x="771675" y="595883"/>
                    <a:pt x="760175" y="592340"/>
                  </a:cubicBezTo>
                  <a:lnTo>
                    <a:pt x="666792" y="563499"/>
                  </a:lnTo>
                  <a:moveTo>
                    <a:pt x="309110" y="76"/>
                  </a:moveTo>
                  <a:lnTo>
                    <a:pt x="309110" y="76009"/>
                  </a:lnTo>
                  <a:moveTo>
                    <a:pt x="439793" y="76"/>
                  </a:moveTo>
                  <a:lnTo>
                    <a:pt x="439793" y="76009"/>
                  </a:lnTo>
                  <a:moveTo>
                    <a:pt x="570476" y="76009"/>
                  </a:moveTo>
                  <a:lnTo>
                    <a:pt x="570476" y="76"/>
                  </a:lnTo>
                  <a:moveTo>
                    <a:pt x="309110" y="727405"/>
                  </a:moveTo>
                  <a:lnTo>
                    <a:pt x="309110" y="664044"/>
                  </a:lnTo>
                  <a:moveTo>
                    <a:pt x="439793" y="664044"/>
                  </a:moveTo>
                  <a:lnTo>
                    <a:pt x="439793" y="727405"/>
                  </a:lnTo>
                  <a:moveTo>
                    <a:pt x="570476" y="727405"/>
                  </a:moveTo>
                  <a:lnTo>
                    <a:pt x="570476" y="664044"/>
                  </a:lnTo>
                  <a:moveTo>
                    <a:pt x="36161" y="141846"/>
                  </a:moveTo>
                  <a:lnTo>
                    <a:pt x="112133" y="35509"/>
                  </a:lnTo>
                  <a:moveTo>
                    <a:pt x="767453" y="35509"/>
                  </a:moveTo>
                  <a:lnTo>
                    <a:pt x="843386" y="141846"/>
                  </a:lnTo>
                  <a:moveTo>
                    <a:pt x="399292" y="370027"/>
                  </a:moveTo>
                  <a:cubicBezTo>
                    <a:pt x="399292" y="347659"/>
                    <a:pt x="417425" y="329526"/>
                    <a:pt x="439793" y="329526"/>
                  </a:cubicBezTo>
                  <a:cubicBezTo>
                    <a:pt x="462160" y="329526"/>
                    <a:pt x="480293" y="347659"/>
                    <a:pt x="480293" y="370027"/>
                  </a:cubicBezTo>
                  <a:cubicBezTo>
                    <a:pt x="480293" y="392394"/>
                    <a:pt x="462160" y="410527"/>
                    <a:pt x="439793" y="410527"/>
                  </a:cubicBezTo>
                  <a:cubicBezTo>
                    <a:pt x="417425" y="410527"/>
                    <a:pt x="399292" y="392394"/>
                    <a:pt x="399292" y="370027"/>
                  </a:cubicBezTo>
                  <a:moveTo>
                    <a:pt x="474083" y="213398"/>
                  </a:moveTo>
                  <a:cubicBezTo>
                    <a:pt x="469392" y="198403"/>
                    <a:pt x="455504" y="188195"/>
                    <a:pt x="439793" y="188195"/>
                  </a:cubicBezTo>
                  <a:cubicBezTo>
                    <a:pt x="424082" y="188195"/>
                    <a:pt x="410193" y="198403"/>
                    <a:pt x="405503" y="213398"/>
                  </a:cubicBezTo>
                  <a:lnTo>
                    <a:pt x="393349" y="252602"/>
                  </a:lnTo>
                  <a:cubicBezTo>
                    <a:pt x="389339" y="266176"/>
                    <a:pt x="375425" y="274253"/>
                    <a:pt x="361650" y="271005"/>
                  </a:cubicBezTo>
                  <a:lnTo>
                    <a:pt x="321911" y="261785"/>
                  </a:lnTo>
                  <a:cubicBezTo>
                    <a:pt x="306471" y="258385"/>
                    <a:pt x="290613" y="265411"/>
                    <a:pt x="282758" y="279131"/>
                  </a:cubicBezTo>
                  <a:cubicBezTo>
                    <a:pt x="274903" y="292851"/>
                    <a:pt x="276873" y="310084"/>
                    <a:pt x="287621" y="321678"/>
                  </a:cubicBezTo>
                  <a:lnTo>
                    <a:pt x="315434" y="351663"/>
                  </a:lnTo>
                  <a:cubicBezTo>
                    <a:pt x="325043" y="362035"/>
                    <a:pt x="325043" y="378057"/>
                    <a:pt x="315434" y="388429"/>
                  </a:cubicBezTo>
                  <a:lnTo>
                    <a:pt x="287621" y="418414"/>
                  </a:lnTo>
                  <a:cubicBezTo>
                    <a:pt x="276849" y="429996"/>
                    <a:pt x="274867" y="447241"/>
                    <a:pt x="282729" y="460966"/>
                  </a:cubicBezTo>
                  <a:cubicBezTo>
                    <a:pt x="290592" y="474691"/>
                    <a:pt x="306471" y="481703"/>
                    <a:pt x="321911" y="478269"/>
                  </a:cubicBezTo>
                  <a:lnTo>
                    <a:pt x="361650" y="469087"/>
                  </a:lnTo>
                  <a:cubicBezTo>
                    <a:pt x="375414" y="465835"/>
                    <a:pt x="389323" y="473893"/>
                    <a:pt x="393349" y="487451"/>
                  </a:cubicBezTo>
                  <a:lnTo>
                    <a:pt x="405274" y="526656"/>
                  </a:lnTo>
                  <a:cubicBezTo>
                    <a:pt x="409843" y="541838"/>
                    <a:pt x="423823" y="552231"/>
                    <a:pt x="439678" y="552231"/>
                  </a:cubicBezTo>
                  <a:cubicBezTo>
                    <a:pt x="455533" y="552231"/>
                    <a:pt x="469514" y="541838"/>
                    <a:pt x="474083" y="526656"/>
                  </a:cubicBezTo>
                  <a:lnTo>
                    <a:pt x="486008" y="487451"/>
                  </a:lnTo>
                  <a:cubicBezTo>
                    <a:pt x="490033" y="473911"/>
                    <a:pt x="503917" y="465858"/>
                    <a:pt x="517669" y="469087"/>
                  </a:cubicBezTo>
                  <a:lnTo>
                    <a:pt x="557445" y="478269"/>
                  </a:lnTo>
                  <a:cubicBezTo>
                    <a:pt x="572886" y="481703"/>
                    <a:pt x="588765" y="474691"/>
                    <a:pt x="596627" y="460966"/>
                  </a:cubicBezTo>
                  <a:cubicBezTo>
                    <a:pt x="604490" y="447241"/>
                    <a:pt x="602508" y="429996"/>
                    <a:pt x="591735" y="418414"/>
                  </a:cubicBezTo>
                  <a:lnTo>
                    <a:pt x="563922" y="388429"/>
                  </a:lnTo>
                  <a:cubicBezTo>
                    <a:pt x="554314" y="378057"/>
                    <a:pt x="554314" y="362035"/>
                    <a:pt x="563922" y="351663"/>
                  </a:cubicBezTo>
                  <a:lnTo>
                    <a:pt x="591735" y="321678"/>
                  </a:lnTo>
                  <a:cubicBezTo>
                    <a:pt x="602543" y="310100"/>
                    <a:pt x="604546" y="292831"/>
                    <a:pt x="596677" y="279086"/>
                  </a:cubicBezTo>
                  <a:cubicBezTo>
                    <a:pt x="588808" y="265341"/>
                    <a:pt x="572902" y="258326"/>
                    <a:pt x="557446" y="261785"/>
                  </a:cubicBezTo>
                  <a:lnTo>
                    <a:pt x="517669" y="271005"/>
                  </a:lnTo>
                  <a:cubicBezTo>
                    <a:pt x="503906" y="274231"/>
                    <a:pt x="490017" y="266158"/>
                    <a:pt x="486008" y="252603"/>
                  </a:cubicBezTo>
                  <a:lnTo>
                    <a:pt x="474083" y="213398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28">
              <a:extLst>
                <a:ext uri="{FF2B5EF4-FFF2-40B4-BE49-F238E27FC236}">
                  <a16:creationId xmlns:a16="http://schemas.microsoft.com/office/drawing/2014/main" id="{549EA554-24D9-AF69-CD7F-9F00003026E1}"/>
                </a:ext>
              </a:extLst>
            </p:cNvPr>
            <p:cNvSpPr/>
            <p:nvPr/>
          </p:nvSpPr>
          <p:spPr>
            <a:xfrm>
              <a:off x="3160300" y="4624388"/>
              <a:ext cx="442914" cy="442912"/>
            </a:xfrm>
            <a:custGeom>
              <a:avLst/>
              <a:gdLst/>
              <a:ahLst/>
              <a:cxnLst/>
              <a:rect l="0" t="0" r="0" b="0"/>
              <a:pathLst>
                <a:path w="442914" h="442912">
                  <a:moveTo>
                    <a:pt x="235269" y="408622"/>
                  </a:moveTo>
                  <a:lnTo>
                    <a:pt x="235269" y="269557"/>
                  </a:lnTo>
                  <a:cubicBezTo>
                    <a:pt x="235269" y="250507"/>
                    <a:pt x="250509" y="235267"/>
                    <a:pt x="269559" y="235267"/>
                  </a:cubicBezTo>
                  <a:lnTo>
                    <a:pt x="408624" y="235267"/>
                  </a:lnTo>
                  <a:cubicBezTo>
                    <a:pt x="427674" y="235267"/>
                    <a:pt x="442914" y="250507"/>
                    <a:pt x="442914" y="269557"/>
                  </a:cubicBezTo>
                  <a:lnTo>
                    <a:pt x="442914" y="408622"/>
                  </a:lnTo>
                  <a:cubicBezTo>
                    <a:pt x="442914" y="427672"/>
                    <a:pt x="427674" y="442912"/>
                    <a:pt x="408624" y="442912"/>
                  </a:cubicBezTo>
                  <a:lnTo>
                    <a:pt x="269559" y="442912"/>
                  </a:lnTo>
                  <a:cubicBezTo>
                    <a:pt x="250509" y="442912"/>
                    <a:pt x="235269" y="427672"/>
                    <a:pt x="235269" y="408622"/>
                  </a:cubicBezTo>
                  <a:close/>
                  <a:moveTo>
                    <a:pt x="0" y="0"/>
                  </a:moveTo>
                  <a:moveTo>
                    <a:pt x="235269" y="372427"/>
                  </a:moveTo>
                  <a:lnTo>
                    <a:pt x="442914" y="372427"/>
                  </a:lnTo>
                  <a:moveTo>
                    <a:pt x="374334" y="442912"/>
                  </a:moveTo>
                  <a:lnTo>
                    <a:pt x="374334" y="372427"/>
                  </a:lnTo>
                  <a:moveTo>
                    <a:pt x="303849" y="442912"/>
                  </a:moveTo>
                  <a:lnTo>
                    <a:pt x="303849" y="372427"/>
                  </a:lnTo>
                  <a:moveTo>
                    <a:pt x="340044" y="197346"/>
                  </a:moveTo>
                  <a:lnTo>
                    <a:pt x="340044" y="235149"/>
                  </a:lnTo>
                  <a:moveTo>
                    <a:pt x="340044" y="197167"/>
                  </a:moveTo>
                  <a:cubicBezTo>
                    <a:pt x="321106" y="197167"/>
                    <a:pt x="305754" y="181815"/>
                    <a:pt x="305754" y="162877"/>
                  </a:cubicBezTo>
                  <a:cubicBezTo>
                    <a:pt x="305754" y="143939"/>
                    <a:pt x="321106" y="128587"/>
                    <a:pt x="340044" y="128587"/>
                  </a:cubicBezTo>
                  <a:cubicBezTo>
                    <a:pt x="358983" y="128587"/>
                    <a:pt x="374334" y="143939"/>
                    <a:pt x="374334" y="162877"/>
                  </a:cubicBezTo>
                  <a:cubicBezTo>
                    <a:pt x="374334" y="181815"/>
                    <a:pt x="358983" y="197167"/>
                    <a:pt x="340044" y="197167"/>
                  </a:cubicBezTo>
                  <a:close/>
                  <a:moveTo>
                    <a:pt x="160973" y="336415"/>
                  </a:moveTo>
                  <a:cubicBezTo>
                    <a:pt x="130493" y="324985"/>
                    <a:pt x="90488" y="315460"/>
                    <a:pt x="39053" y="311650"/>
                  </a:cubicBezTo>
                  <a:cubicBezTo>
                    <a:pt x="23813" y="311650"/>
                    <a:pt x="14288" y="298315"/>
                    <a:pt x="14288" y="284980"/>
                  </a:cubicBezTo>
                  <a:lnTo>
                    <a:pt x="14288" y="41139"/>
                  </a:lnTo>
                  <a:cubicBezTo>
                    <a:pt x="14288" y="25899"/>
                    <a:pt x="27623" y="12564"/>
                    <a:pt x="42863" y="14469"/>
                  </a:cubicBezTo>
                  <a:cubicBezTo>
                    <a:pt x="162878" y="20184"/>
                    <a:pt x="220027" y="69714"/>
                    <a:pt x="220027" y="96384"/>
                  </a:cubicBezTo>
                  <a:moveTo>
                    <a:pt x="220029" y="96384"/>
                  </a:moveTo>
                  <a:cubicBezTo>
                    <a:pt x="220029" y="69714"/>
                    <a:pt x="277179" y="20184"/>
                    <a:pt x="397194" y="14469"/>
                  </a:cubicBezTo>
                  <a:cubicBezTo>
                    <a:pt x="412434" y="12564"/>
                    <a:pt x="425769" y="25899"/>
                    <a:pt x="425769" y="41139"/>
                  </a:cubicBezTo>
                  <a:lnTo>
                    <a:pt x="425769" y="147819"/>
                  </a:lnTo>
                  <a:moveTo>
                    <a:pt x="220027" y="96384"/>
                  </a:moveTo>
                  <a:lnTo>
                    <a:pt x="220027" y="166869"/>
                  </a:lnTo>
                  <a:moveTo>
                    <a:pt x="313622" y="311284"/>
                  </a:moveTo>
                  <a:cubicBezTo>
                    <a:pt x="313622" y="300662"/>
                    <a:pt x="305011" y="292049"/>
                    <a:pt x="294387" y="292049"/>
                  </a:cubicBezTo>
                  <a:cubicBezTo>
                    <a:pt x="283764" y="292049"/>
                    <a:pt x="275152" y="300662"/>
                    <a:pt x="275152" y="311284"/>
                  </a:cubicBezTo>
                  <a:cubicBezTo>
                    <a:pt x="275152" y="321908"/>
                    <a:pt x="283764" y="330519"/>
                    <a:pt x="294387" y="330519"/>
                  </a:cubicBezTo>
                  <a:cubicBezTo>
                    <a:pt x="305011" y="330519"/>
                    <a:pt x="313622" y="321908"/>
                    <a:pt x="313622" y="311284"/>
                  </a:cubicBezTo>
                  <a:close/>
                  <a:moveTo>
                    <a:pt x="404938" y="311284"/>
                  </a:moveTo>
                  <a:cubicBezTo>
                    <a:pt x="404938" y="300662"/>
                    <a:pt x="396325" y="292049"/>
                    <a:pt x="385703" y="292049"/>
                  </a:cubicBezTo>
                  <a:cubicBezTo>
                    <a:pt x="375079" y="292049"/>
                    <a:pt x="366468" y="300662"/>
                    <a:pt x="366468" y="311284"/>
                  </a:cubicBezTo>
                  <a:cubicBezTo>
                    <a:pt x="366468" y="321908"/>
                    <a:pt x="375079" y="330519"/>
                    <a:pt x="385703" y="330519"/>
                  </a:cubicBezTo>
                  <a:cubicBezTo>
                    <a:pt x="396325" y="330519"/>
                    <a:pt x="404938" y="321908"/>
                    <a:pt x="404938" y="311284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29">
              <a:extLst>
                <a:ext uri="{FF2B5EF4-FFF2-40B4-BE49-F238E27FC236}">
                  <a16:creationId xmlns:a16="http://schemas.microsoft.com/office/drawing/2014/main" id="{4B4707F1-6762-22E9-E7F9-D3B0072AA4BC}"/>
                </a:ext>
              </a:extLst>
            </p:cNvPr>
            <p:cNvSpPr/>
            <p:nvPr/>
          </p:nvSpPr>
          <p:spPr>
            <a:xfrm>
              <a:off x="5312950" y="4633913"/>
              <a:ext cx="266700" cy="438150"/>
            </a:xfrm>
            <a:custGeom>
              <a:avLst/>
              <a:gdLst/>
              <a:ahLst/>
              <a:cxnLst/>
              <a:rect l="0" t="0" r="0" b="0"/>
              <a:pathLst>
                <a:path w="266700" h="438150">
                  <a:moveTo>
                    <a:pt x="266700" y="142875"/>
                  </a:moveTo>
                  <a:lnTo>
                    <a:pt x="266700" y="238125"/>
                  </a:lnTo>
                  <a:cubicBezTo>
                    <a:pt x="261365" y="263270"/>
                    <a:pt x="90297" y="295275"/>
                    <a:pt x="0" y="295275"/>
                  </a:cubicBezTo>
                  <a:lnTo>
                    <a:pt x="0" y="200025"/>
                  </a:lnTo>
                  <a:cubicBezTo>
                    <a:pt x="90297" y="200025"/>
                    <a:pt x="266700" y="168783"/>
                    <a:pt x="266700" y="142875"/>
                  </a:cubicBezTo>
                  <a:close/>
                  <a:moveTo>
                    <a:pt x="266700" y="0"/>
                  </a:moveTo>
                  <a:lnTo>
                    <a:pt x="266700" y="95250"/>
                  </a:lnTo>
                  <a:cubicBezTo>
                    <a:pt x="261365" y="120395"/>
                    <a:pt x="90297" y="152400"/>
                    <a:pt x="0" y="152400"/>
                  </a:cubicBezTo>
                  <a:lnTo>
                    <a:pt x="0" y="57150"/>
                  </a:lnTo>
                  <a:cubicBezTo>
                    <a:pt x="90297" y="57150"/>
                    <a:pt x="266700" y="25908"/>
                    <a:pt x="266700" y="0"/>
                  </a:cubicBezTo>
                  <a:close/>
                  <a:moveTo>
                    <a:pt x="217170" y="120586"/>
                  </a:moveTo>
                  <a:cubicBezTo>
                    <a:pt x="217170" y="120586"/>
                    <a:pt x="266700" y="117919"/>
                    <a:pt x="266700" y="142875"/>
                  </a:cubicBezTo>
                  <a:moveTo>
                    <a:pt x="0" y="152400"/>
                  </a:moveTo>
                  <a:lnTo>
                    <a:pt x="144589" y="185356"/>
                  </a:lnTo>
                  <a:moveTo>
                    <a:pt x="266700" y="285750"/>
                  </a:moveTo>
                  <a:lnTo>
                    <a:pt x="266700" y="381000"/>
                  </a:lnTo>
                  <a:cubicBezTo>
                    <a:pt x="261365" y="406145"/>
                    <a:pt x="90297" y="438150"/>
                    <a:pt x="0" y="438150"/>
                  </a:cubicBezTo>
                  <a:lnTo>
                    <a:pt x="0" y="342900"/>
                  </a:lnTo>
                  <a:cubicBezTo>
                    <a:pt x="90297" y="342900"/>
                    <a:pt x="266700" y="311658"/>
                    <a:pt x="266700" y="285750"/>
                  </a:cubicBezTo>
                  <a:close/>
                  <a:moveTo>
                    <a:pt x="217170" y="263461"/>
                  </a:moveTo>
                  <a:cubicBezTo>
                    <a:pt x="217170" y="263461"/>
                    <a:pt x="266700" y="260794"/>
                    <a:pt x="266700" y="285749"/>
                  </a:cubicBezTo>
                  <a:moveTo>
                    <a:pt x="0" y="295275"/>
                  </a:moveTo>
                  <a:lnTo>
                    <a:pt x="144589" y="328231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016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9D7-A279-23C1-7374-32DF463D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5DB-9F2A-5BC8-9512-54A34796E8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C7729C-1BD9-AAAF-3B17-9B38C6D77D95}"/>
              </a:ext>
            </a:extLst>
          </p:cNvPr>
          <p:cNvGrpSpPr>
            <a:grpSpLocks noChangeAspect="1"/>
          </p:cNvGrpSpPr>
          <p:nvPr/>
        </p:nvGrpSpPr>
        <p:grpSpPr>
          <a:xfrm>
            <a:off x="1478169" y="1562189"/>
            <a:ext cx="9019105" cy="4258759"/>
            <a:chOff x="766341" y="1661498"/>
            <a:chExt cx="7367213" cy="347874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1AEAC85-3EA5-67B4-C26F-9B31226C366D}"/>
                </a:ext>
              </a:extLst>
            </p:cNvPr>
            <p:cNvGrpSpPr/>
            <p:nvPr/>
          </p:nvGrpSpPr>
          <p:grpSpPr>
            <a:xfrm>
              <a:off x="2704878" y="1661498"/>
              <a:ext cx="1725561" cy="1725516"/>
              <a:chOff x="1246238" y="1342103"/>
              <a:chExt cx="1725561" cy="1725516"/>
            </a:xfrm>
          </p:grpSpPr>
          <p:sp>
            <p:nvSpPr>
              <p:cNvPr id="57" name="Rounded Rectangle 1">
                <a:extLst>
                  <a:ext uri="{FF2B5EF4-FFF2-40B4-BE49-F238E27FC236}">
                    <a16:creationId xmlns:a16="http://schemas.microsoft.com/office/drawing/2014/main" id="{C20A5281-D206-E16C-B43D-F465CC40BC9D}"/>
                  </a:ext>
                </a:extLst>
              </p:cNvPr>
              <p:cNvSpPr/>
              <p:nvPr/>
            </p:nvSpPr>
            <p:spPr>
              <a:xfrm>
                <a:off x="1246238" y="1342103"/>
                <a:ext cx="1725561" cy="1725513"/>
              </a:xfrm>
              <a:custGeom>
                <a:avLst/>
                <a:gdLst/>
                <a:ahLst/>
                <a:cxnLst/>
                <a:rect l="0" t="0" r="0" b="0"/>
                <a:pathLst>
                  <a:path w="1725561" h="1725513">
                    <a:moveTo>
                      <a:pt x="1725561" y="671051"/>
                    </a:moveTo>
                    <a:cubicBezTo>
                      <a:pt x="1486211" y="671051"/>
                      <a:pt x="1265491" y="750793"/>
                      <a:pt x="1088509" y="885157"/>
                    </a:cubicBezTo>
                    <a:lnTo>
                      <a:pt x="1294514" y="1091161"/>
                    </a:lnTo>
                    <a:cubicBezTo>
                      <a:pt x="1214619" y="1145549"/>
                      <a:pt x="1145541" y="1214635"/>
                      <a:pt x="1091153" y="1294522"/>
                    </a:cubicBezTo>
                    <a:lnTo>
                      <a:pt x="885149" y="1088517"/>
                    </a:lnTo>
                    <a:cubicBezTo>
                      <a:pt x="750822" y="1265459"/>
                      <a:pt x="671089" y="1486115"/>
                      <a:pt x="671051" y="1725385"/>
                    </a:cubicBezTo>
                    <a:lnTo>
                      <a:pt x="0" y="1725513"/>
                    </a:lnTo>
                    <a:cubicBezTo>
                      <a:pt x="23" y="772536"/>
                      <a:pt x="772575" y="0"/>
                      <a:pt x="1725561" y="0"/>
                    </a:cubicBez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2">
                <a:extLst>
                  <a:ext uri="{FF2B5EF4-FFF2-40B4-BE49-F238E27FC236}">
                    <a16:creationId xmlns:a16="http://schemas.microsoft.com/office/drawing/2014/main" id="{776219A9-CA7C-06CC-EBBF-E11208F995CB}"/>
                  </a:ext>
                </a:extLst>
              </p:cNvPr>
              <p:cNvSpPr/>
              <p:nvPr/>
            </p:nvSpPr>
            <p:spPr>
              <a:xfrm>
                <a:off x="1246238" y="1342103"/>
                <a:ext cx="1725561" cy="1725516"/>
              </a:xfrm>
              <a:custGeom>
                <a:avLst/>
                <a:gdLst/>
                <a:ahLst/>
                <a:cxnLst/>
                <a:rect l="0" t="0" r="0" b="0"/>
                <a:pathLst>
                  <a:path w="1725561" h="1725516">
                    <a:moveTo>
                      <a:pt x="1725561" y="671051"/>
                    </a:moveTo>
                    <a:cubicBezTo>
                      <a:pt x="1486212" y="671051"/>
                      <a:pt x="1265489" y="750793"/>
                      <a:pt x="1088507" y="885159"/>
                    </a:cubicBezTo>
                    <a:lnTo>
                      <a:pt x="1294510" y="1091163"/>
                    </a:lnTo>
                    <a:cubicBezTo>
                      <a:pt x="1214620" y="1145549"/>
                      <a:pt x="1145538" y="1214632"/>
                      <a:pt x="1091152" y="1294523"/>
                    </a:cubicBezTo>
                    <a:lnTo>
                      <a:pt x="885149" y="1088520"/>
                    </a:lnTo>
                    <a:cubicBezTo>
                      <a:pt x="750822" y="1265457"/>
                      <a:pt x="671089" y="1486111"/>
                      <a:pt x="671051" y="1725387"/>
                    </a:cubicBezTo>
                    <a:lnTo>
                      <a:pt x="0" y="1725516"/>
                    </a:lnTo>
                    <a:cubicBezTo>
                      <a:pt x="23" y="772536"/>
                      <a:pt x="772575" y="0"/>
                      <a:pt x="1725561" y="0"/>
                    </a:cubicBezTo>
                    <a:close/>
                  </a:path>
                </a:pathLst>
              </a:custGeom>
              <a:noFill/>
              <a:ln w="11982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15D2D23-79DA-40D0-289B-4AA219F87513}"/>
                </a:ext>
              </a:extLst>
            </p:cNvPr>
            <p:cNvGrpSpPr/>
            <p:nvPr/>
          </p:nvGrpSpPr>
          <p:grpSpPr>
            <a:xfrm>
              <a:off x="2704878" y="3386897"/>
              <a:ext cx="1725569" cy="1725729"/>
              <a:chOff x="1246238" y="3067502"/>
              <a:chExt cx="1725569" cy="1725729"/>
            </a:xfrm>
          </p:grpSpPr>
          <p:sp>
            <p:nvSpPr>
              <p:cNvPr id="55" name="Rounded Rectangle 4">
                <a:extLst>
                  <a:ext uri="{FF2B5EF4-FFF2-40B4-BE49-F238E27FC236}">
                    <a16:creationId xmlns:a16="http://schemas.microsoft.com/office/drawing/2014/main" id="{B49A31EB-1F66-B853-2311-55A903795F16}"/>
                  </a:ext>
                </a:extLst>
              </p:cNvPr>
              <p:cNvSpPr/>
              <p:nvPr/>
            </p:nvSpPr>
            <p:spPr>
              <a:xfrm>
                <a:off x="1246238" y="3067502"/>
                <a:ext cx="1725569" cy="1725729"/>
              </a:xfrm>
              <a:custGeom>
                <a:avLst/>
                <a:gdLst/>
                <a:ahLst/>
                <a:cxnLst/>
                <a:rect l="0" t="0" r="0" b="0"/>
                <a:pathLst>
                  <a:path w="1725569" h="1725729">
                    <a:moveTo>
                      <a:pt x="0" y="129"/>
                    </a:moveTo>
                    <a:lnTo>
                      <a:pt x="671051" y="0"/>
                    </a:lnTo>
                    <a:lnTo>
                      <a:pt x="671051" y="165"/>
                    </a:lnTo>
                    <a:cubicBezTo>
                      <a:pt x="671051" y="239512"/>
                      <a:pt x="750792" y="460235"/>
                      <a:pt x="885157" y="637216"/>
                    </a:cubicBezTo>
                    <a:lnTo>
                      <a:pt x="1091153" y="431218"/>
                    </a:lnTo>
                    <a:cubicBezTo>
                      <a:pt x="1145541" y="511108"/>
                      <a:pt x="1214627" y="580191"/>
                      <a:pt x="1294514" y="634577"/>
                    </a:cubicBezTo>
                    <a:lnTo>
                      <a:pt x="1088517" y="840572"/>
                    </a:lnTo>
                    <a:cubicBezTo>
                      <a:pt x="1265499" y="974934"/>
                      <a:pt x="1486219" y="1054677"/>
                      <a:pt x="1725561" y="1054677"/>
                    </a:cubicBezTo>
                    <a:lnTo>
                      <a:pt x="1725569" y="1054677"/>
                    </a:lnTo>
                    <a:lnTo>
                      <a:pt x="1725569" y="1725729"/>
                    </a:lnTo>
                    <a:cubicBezTo>
                      <a:pt x="772568" y="1725729"/>
                      <a:pt x="0" y="953164"/>
                      <a:pt x="0" y="165"/>
                    </a:cubicBez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ounded Rectangle 5">
                <a:extLst>
                  <a:ext uri="{FF2B5EF4-FFF2-40B4-BE49-F238E27FC236}">
                    <a16:creationId xmlns:a16="http://schemas.microsoft.com/office/drawing/2014/main" id="{D33A08CE-8DA6-2C6D-81C8-0164E2DC1B37}"/>
                  </a:ext>
                </a:extLst>
              </p:cNvPr>
              <p:cNvSpPr/>
              <p:nvPr/>
            </p:nvSpPr>
            <p:spPr>
              <a:xfrm>
                <a:off x="1246238" y="3067502"/>
                <a:ext cx="1725569" cy="1725726"/>
              </a:xfrm>
              <a:custGeom>
                <a:avLst/>
                <a:gdLst/>
                <a:ahLst/>
                <a:cxnLst/>
                <a:rect l="0" t="0" r="0" b="0"/>
                <a:pathLst>
                  <a:path w="1725569" h="1725726">
                    <a:moveTo>
                      <a:pt x="0" y="129"/>
                    </a:moveTo>
                    <a:lnTo>
                      <a:pt x="671051" y="0"/>
                    </a:lnTo>
                    <a:lnTo>
                      <a:pt x="671051" y="165"/>
                    </a:lnTo>
                    <a:cubicBezTo>
                      <a:pt x="671051" y="239512"/>
                      <a:pt x="750792" y="460235"/>
                      <a:pt x="885157" y="637216"/>
                    </a:cubicBezTo>
                    <a:lnTo>
                      <a:pt x="1091154" y="431218"/>
                    </a:lnTo>
                    <a:cubicBezTo>
                      <a:pt x="1145541" y="511108"/>
                      <a:pt x="1214624" y="580191"/>
                      <a:pt x="1294515" y="634577"/>
                    </a:cubicBezTo>
                    <a:lnTo>
                      <a:pt x="1088517" y="840575"/>
                    </a:lnTo>
                    <a:cubicBezTo>
                      <a:pt x="1265497" y="974936"/>
                      <a:pt x="1486217" y="1054675"/>
                      <a:pt x="1725561" y="1054675"/>
                    </a:cubicBezTo>
                    <a:lnTo>
                      <a:pt x="1725569" y="1054675"/>
                    </a:lnTo>
                    <a:lnTo>
                      <a:pt x="1725569" y="1725726"/>
                    </a:lnTo>
                    <a:cubicBezTo>
                      <a:pt x="772568" y="1725726"/>
                      <a:pt x="0" y="953167"/>
                      <a:pt x="0" y="165"/>
                    </a:cubicBezTo>
                    <a:close/>
                  </a:path>
                </a:pathLst>
              </a:custGeom>
              <a:noFill/>
              <a:ln w="11982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3AE03B9-3115-B763-F0AF-395B81972775}"/>
                </a:ext>
              </a:extLst>
            </p:cNvPr>
            <p:cNvGrpSpPr/>
            <p:nvPr/>
          </p:nvGrpSpPr>
          <p:grpSpPr>
            <a:xfrm>
              <a:off x="4430444" y="3387091"/>
              <a:ext cx="1725553" cy="1725537"/>
              <a:chOff x="2971804" y="3067696"/>
              <a:chExt cx="1725553" cy="1725537"/>
            </a:xfrm>
          </p:grpSpPr>
          <p:sp>
            <p:nvSpPr>
              <p:cNvPr id="53" name="Rounded Rectangle 7">
                <a:extLst>
                  <a:ext uri="{FF2B5EF4-FFF2-40B4-BE49-F238E27FC236}">
                    <a16:creationId xmlns:a16="http://schemas.microsoft.com/office/drawing/2014/main" id="{EB8C8CF0-8B08-01C8-9445-63DE2C6FB7F2}"/>
                  </a:ext>
                </a:extLst>
              </p:cNvPr>
              <p:cNvSpPr/>
              <p:nvPr/>
            </p:nvSpPr>
            <p:spPr>
              <a:xfrm>
                <a:off x="2971804" y="3067696"/>
                <a:ext cx="1725553" cy="1725537"/>
              </a:xfrm>
              <a:custGeom>
                <a:avLst/>
                <a:gdLst/>
                <a:ahLst/>
                <a:cxnLst/>
                <a:rect l="0" t="0" r="0" b="0"/>
                <a:pathLst>
                  <a:path w="1725553" h="1725537">
                    <a:moveTo>
                      <a:pt x="0" y="1054485"/>
                    </a:moveTo>
                    <a:cubicBezTo>
                      <a:pt x="239341" y="1054477"/>
                      <a:pt x="460059" y="974742"/>
                      <a:pt x="637037" y="840380"/>
                    </a:cubicBezTo>
                    <a:lnTo>
                      <a:pt x="431039" y="634382"/>
                    </a:lnTo>
                    <a:cubicBezTo>
                      <a:pt x="510929" y="579995"/>
                      <a:pt x="580012" y="510913"/>
                      <a:pt x="634399" y="431023"/>
                    </a:cubicBezTo>
                    <a:lnTo>
                      <a:pt x="840396" y="637021"/>
                    </a:lnTo>
                    <a:cubicBezTo>
                      <a:pt x="974734" y="460078"/>
                      <a:pt x="1054469" y="239414"/>
                      <a:pt x="1054501" y="128"/>
                    </a:cubicBezTo>
                    <a:lnTo>
                      <a:pt x="1725553" y="0"/>
                    </a:lnTo>
                    <a:cubicBezTo>
                      <a:pt x="1725537" y="952989"/>
                      <a:pt x="952989" y="1725529"/>
                      <a:pt x="0" y="1725537"/>
                    </a:cubicBez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8">
                <a:extLst>
                  <a:ext uri="{FF2B5EF4-FFF2-40B4-BE49-F238E27FC236}">
                    <a16:creationId xmlns:a16="http://schemas.microsoft.com/office/drawing/2014/main" id="{D1D97250-BC33-136E-B8AD-4866E06BB7BC}"/>
                  </a:ext>
                </a:extLst>
              </p:cNvPr>
              <p:cNvSpPr/>
              <p:nvPr/>
            </p:nvSpPr>
            <p:spPr>
              <a:xfrm>
                <a:off x="2971804" y="3067696"/>
                <a:ext cx="1725552" cy="1725534"/>
              </a:xfrm>
              <a:custGeom>
                <a:avLst/>
                <a:gdLst/>
                <a:ahLst/>
                <a:cxnLst/>
                <a:rect l="0" t="0" r="0" b="0"/>
                <a:pathLst>
                  <a:path w="1725552" h="1725534">
                    <a:moveTo>
                      <a:pt x="0" y="1054482"/>
                    </a:moveTo>
                    <a:cubicBezTo>
                      <a:pt x="239341" y="1054480"/>
                      <a:pt x="460059" y="974741"/>
                      <a:pt x="637037" y="840380"/>
                    </a:cubicBezTo>
                    <a:lnTo>
                      <a:pt x="431039" y="634382"/>
                    </a:lnTo>
                    <a:cubicBezTo>
                      <a:pt x="510929" y="579995"/>
                      <a:pt x="580012" y="510913"/>
                      <a:pt x="634399" y="431023"/>
                    </a:cubicBezTo>
                    <a:lnTo>
                      <a:pt x="840397" y="637021"/>
                    </a:lnTo>
                    <a:cubicBezTo>
                      <a:pt x="974731" y="460078"/>
                      <a:pt x="1054465" y="239414"/>
                      <a:pt x="1054500" y="128"/>
                    </a:cubicBezTo>
                    <a:lnTo>
                      <a:pt x="1725552" y="0"/>
                    </a:lnTo>
                    <a:cubicBezTo>
                      <a:pt x="1725537" y="952985"/>
                      <a:pt x="952988" y="1725529"/>
                      <a:pt x="0" y="1725534"/>
                    </a:cubicBezTo>
                    <a:close/>
                  </a:path>
                </a:pathLst>
              </a:custGeom>
              <a:noFill/>
              <a:ln w="11982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F647EDC-6176-FAF4-5228-4BB96EAAA232}"/>
                </a:ext>
              </a:extLst>
            </p:cNvPr>
            <p:cNvGrpSpPr/>
            <p:nvPr/>
          </p:nvGrpSpPr>
          <p:grpSpPr>
            <a:xfrm>
              <a:off x="4430436" y="1661507"/>
              <a:ext cx="1725561" cy="1725707"/>
              <a:chOff x="2971796" y="1342112"/>
              <a:chExt cx="1725561" cy="1725707"/>
            </a:xfrm>
          </p:grpSpPr>
          <p:sp>
            <p:nvSpPr>
              <p:cNvPr id="51" name="Rounded Rectangle 10">
                <a:extLst>
                  <a:ext uri="{FF2B5EF4-FFF2-40B4-BE49-F238E27FC236}">
                    <a16:creationId xmlns:a16="http://schemas.microsoft.com/office/drawing/2014/main" id="{82AA40AD-BDCF-4BE1-FEAE-14EA861B4C5A}"/>
                  </a:ext>
                </a:extLst>
              </p:cNvPr>
              <p:cNvSpPr/>
              <p:nvPr/>
            </p:nvSpPr>
            <p:spPr>
              <a:xfrm>
                <a:off x="2971796" y="1342112"/>
                <a:ext cx="1725561" cy="1725705"/>
              </a:xfrm>
              <a:custGeom>
                <a:avLst/>
                <a:gdLst/>
                <a:ahLst/>
                <a:cxnLst/>
                <a:rect l="0" t="0" r="0" b="0"/>
                <a:pathLst>
                  <a:path w="1725561" h="1725705">
                    <a:moveTo>
                      <a:pt x="1725561" y="1725561"/>
                    </a:moveTo>
                    <a:lnTo>
                      <a:pt x="1725561" y="1725577"/>
                    </a:lnTo>
                    <a:lnTo>
                      <a:pt x="1054509" y="1725705"/>
                    </a:lnTo>
                    <a:lnTo>
                      <a:pt x="1054509" y="1725561"/>
                    </a:lnTo>
                    <a:cubicBezTo>
                      <a:pt x="1054509" y="1486219"/>
                      <a:pt x="974774" y="1265499"/>
                      <a:pt x="840412" y="1088517"/>
                    </a:cubicBezTo>
                    <a:lnTo>
                      <a:pt x="634413" y="1294514"/>
                    </a:lnTo>
                    <a:cubicBezTo>
                      <a:pt x="580027" y="1214627"/>
                      <a:pt x="510944" y="1145541"/>
                      <a:pt x="431054" y="1091153"/>
                    </a:cubicBezTo>
                    <a:lnTo>
                      <a:pt x="637051" y="885157"/>
                    </a:lnTo>
                    <a:cubicBezTo>
                      <a:pt x="460071" y="750793"/>
                      <a:pt x="239349" y="671052"/>
                      <a:pt x="3" y="671051"/>
                    </a:cubicBezTo>
                    <a:lnTo>
                      <a:pt x="0" y="0"/>
                    </a:lnTo>
                    <a:cubicBezTo>
                      <a:pt x="953005" y="0"/>
                      <a:pt x="1725561" y="772560"/>
                      <a:pt x="1725561" y="1725561"/>
                    </a:cubicBezTo>
                    <a:close/>
                  </a:path>
                </a:pathLst>
              </a:custGeom>
              <a:solidFill>
                <a:srgbClr val="4E88E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Rounded Rectangle 11">
                <a:extLst>
                  <a:ext uri="{FF2B5EF4-FFF2-40B4-BE49-F238E27FC236}">
                    <a16:creationId xmlns:a16="http://schemas.microsoft.com/office/drawing/2014/main" id="{247B41AB-0175-E8AC-2350-81ABB0FF02B9}"/>
                  </a:ext>
                </a:extLst>
              </p:cNvPr>
              <p:cNvSpPr/>
              <p:nvPr/>
            </p:nvSpPr>
            <p:spPr>
              <a:xfrm>
                <a:off x="2971796" y="1342112"/>
                <a:ext cx="1725561" cy="1725707"/>
              </a:xfrm>
              <a:custGeom>
                <a:avLst/>
                <a:gdLst/>
                <a:ahLst/>
                <a:cxnLst/>
                <a:rect l="0" t="0" r="0" b="0"/>
                <a:pathLst>
                  <a:path w="1725561" h="1725707">
                    <a:moveTo>
                      <a:pt x="1725561" y="1725561"/>
                    </a:moveTo>
                    <a:lnTo>
                      <a:pt x="1725561" y="1725578"/>
                    </a:lnTo>
                    <a:lnTo>
                      <a:pt x="1054509" y="1725707"/>
                    </a:lnTo>
                    <a:lnTo>
                      <a:pt x="1054509" y="1725561"/>
                    </a:lnTo>
                    <a:cubicBezTo>
                      <a:pt x="1054509" y="1486217"/>
                      <a:pt x="974771" y="1265497"/>
                      <a:pt x="840409" y="1088518"/>
                    </a:cubicBezTo>
                    <a:lnTo>
                      <a:pt x="634413" y="1294515"/>
                    </a:lnTo>
                    <a:cubicBezTo>
                      <a:pt x="580027" y="1214624"/>
                      <a:pt x="510944" y="1145541"/>
                      <a:pt x="431054" y="1091154"/>
                    </a:cubicBezTo>
                    <a:lnTo>
                      <a:pt x="637051" y="885157"/>
                    </a:lnTo>
                    <a:cubicBezTo>
                      <a:pt x="460071" y="750793"/>
                      <a:pt x="239349" y="671052"/>
                      <a:pt x="3" y="671051"/>
                    </a:cubicBezTo>
                    <a:lnTo>
                      <a:pt x="0" y="0"/>
                    </a:lnTo>
                    <a:cubicBezTo>
                      <a:pt x="953001" y="0"/>
                      <a:pt x="1725561" y="772560"/>
                      <a:pt x="1725561" y="1725561"/>
                    </a:cubicBezTo>
                    <a:close/>
                  </a:path>
                </a:pathLst>
              </a:custGeom>
              <a:noFill/>
              <a:ln w="11982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5715D6C-2C3D-2AAF-AEDB-60A99E55278E}"/>
                </a:ext>
              </a:extLst>
            </p:cNvPr>
            <p:cNvGrpSpPr/>
            <p:nvPr/>
          </p:nvGrpSpPr>
          <p:grpSpPr>
            <a:xfrm>
              <a:off x="3663523" y="2620143"/>
              <a:ext cx="1533832" cy="1533832"/>
              <a:chOff x="2204883" y="2300748"/>
              <a:chExt cx="1533832" cy="1533832"/>
            </a:xfrm>
          </p:grpSpPr>
          <p:sp>
            <p:nvSpPr>
              <p:cNvPr id="49" name="Rounded Rectangle 13">
                <a:extLst>
                  <a:ext uri="{FF2B5EF4-FFF2-40B4-BE49-F238E27FC236}">
                    <a16:creationId xmlns:a16="http://schemas.microsoft.com/office/drawing/2014/main" id="{EB8B61AC-E53D-A6AA-CAA4-B61BDF4AC419}"/>
                  </a:ext>
                </a:extLst>
              </p:cNvPr>
              <p:cNvSpPr/>
              <p:nvPr/>
            </p:nvSpPr>
            <p:spPr>
              <a:xfrm>
                <a:off x="2204883" y="2300748"/>
                <a:ext cx="1533832" cy="1533832"/>
              </a:xfrm>
              <a:custGeom>
                <a:avLst/>
                <a:gdLst/>
                <a:ahLst/>
                <a:cxnLst/>
                <a:rect l="0" t="0" r="0" b="0"/>
                <a:pathLst>
                  <a:path w="1533832" h="1533832">
                    <a:moveTo>
                      <a:pt x="1533832" y="766916"/>
                    </a:moveTo>
                    <a:cubicBezTo>
                      <a:pt x="1533832" y="1190469"/>
                      <a:pt x="1190469" y="1533832"/>
                      <a:pt x="766916" y="1533832"/>
                    </a:cubicBezTo>
                    <a:cubicBezTo>
                      <a:pt x="343360" y="1533832"/>
                      <a:pt x="0" y="1190469"/>
                      <a:pt x="0" y="766916"/>
                    </a:cubicBezTo>
                    <a:cubicBezTo>
                      <a:pt x="0" y="343360"/>
                      <a:pt x="343360" y="0"/>
                      <a:pt x="766916" y="0"/>
                    </a:cubicBezTo>
                    <a:cubicBezTo>
                      <a:pt x="1190469" y="0"/>
                      <a:pt x="1533832" y="343360"/>
                      <a:pt x="1533832" y="766916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ounded Rectangle 14">
                <a:extLst>
                  <a:ext uri="{FF2B5EF4-FFF2-40B4-BE49-F238E27FC236}">
                    <a16:creationId xmlns:a16="http://schemas.microsoft.com/office/drawing/2014/main" id="{7699DBE3-E65C-C181-0435-9623BA1B011F}"/>
                  </a:ext>
                </a:extLst>
              </p:cNvPr>
              <p:cNvSpPr/>
              <p:nvPr/>
            </p:nvSpPr>
            <p:spPr>
              <a:xfrm>
                <a:off x="2204883" y="2300748"/>
                <a:ext cx="1533832" cy="1533832"/>
              </a:xfrm>
              <a:custGeom>
                <a:avLst/>
                <a:gdLst/>
                <a:ahLst/>
                <a:cxnLst/>
                <a:rect l="0" t="0" r="0" b="0"/>
                <a:pathLst>
                  <a:path w="1533832" h="1533832">
                    <a:moveTo>
                      <a:pt x="1533832" y="766916"/>
                    </a:moveTo>
                    <a:cubicBezTo>
                      <a:pt x="1533832" y="1190471"/>
                      <a:pt x="1190471" y="1533832"/>
                      <a:pt x="766916" y="1533832"/>
                    </a:cubicBezTo>
                    <a:cubicBezTo>
                      <a:pt x="343360" y="1533832"/>
                      <a:pt x="0" y="1190471"/>
                      <a:pt x="0" y="766916"/>
                    </a:cubicBezTo>
                    <a:cubicBezTo>
                      <a:pt x="0" y="343360"/>
                      <a:pt x="343360" y="0"/>
                      <a:pt x="766916" y="0"/>
                    </a:cubicBezTo>
                    <a:cubicBezTo>
                      <a:pt x="1190471" y="0"/>
                      <a:pt x="1533832" y="343360"/>
                      <a:pt x="1533832" y="766916"/>
                    </a:cubicBezTo>
                    <a:close/>
                  </a:path>
                </a:pathLst>
              </a:custGeom>
              <a:noFill/>
              <a:ln w="11982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6" name="Rounded Rectangle 16">
              <a:extLst>
                <a:ext uri="{FF2B5EF4-FFF2-40B4-BE49-F238E27FC236}">
                  <a16:creationId xmlns:a16="http://schemas.microsoft.com/office/drawing/2014/main" id="{5CDF1316-D1F2-5654-DEDC-DD7770C27736}"/>
                </a:ext>
              </a:extLst>
            </p:cNvPr>
            <p:cNvSpPr/>
            <p:nvPr/>
          </p:nvSpPr>
          <p:spPr>
            <a:xfrm>
              <a:off x="4061042" y="3029325"/>
              <a:ext cx="739521" cy="715532"/>
            </a:xfrm>
            <a:custGeom>
              <a:avLst/>
              <a:gdLst/>
              <a:ahLst/>
              <a:cxnLst/>
              <a:rect l="0" t="0" r="0" b="0"/>
              <a:pathLst>
                <a:path w="739521" h="715532">
                  <a:moveTo>
                    <a:pt x="437365" y="182941"/>
                  </a:moveTo>
                  <a:lnTo>
                    <a:pt x="286315" y="182941"/>
                  </a:lnTo>
                  <a:cubicBezTo>
                    <a:pt x="277491" y="182941"/>
                    <a:pt x="270337" y="175788"/>
                    <a:pt x="270337" y="166964"/>
                  </a:cubicBezTo>
                  <a:lnTo>
                    <a:pt x="270337" y="15977"/>
                  </a:lnTo>
                  <a:cubicBezTo>
                    <a:pt x="270337" y="7153"/>
                    <a:pt x="277491" y="0"/>
                    <a:pt x="286315" y="0"/>
                  </a:cubicBezTo>
                  <a:lnTo>
                    <a:pt x="437397" y="0"/>
                  </a:lnTo>
                  <a:cubicBezTo>
                    <a:pt x="446221" y="0"/>
                    <a:pt x="453375" y="7153"/>
                    <a:pt x="453375" y="15977"/>
                  </a:cubicBezTo>
                  <a:lnTo>
                    <a:pt x="453375" y="166995"/>
                  </a:lnTo>
                  <a:cubicBezTo>
                    <a:pt x="453375" y="175820"/>
                    <a:pt x="446221" y="182973"/>
                    <a:pt x="437397" y="182973"/>
                  </a:cubicBezTo>
                  <a:close/>
                  <a:moveTo>
                    <a:pt x="217228" y="119063"/>
                  </a:moveTo>
                  <a:cubicBezTo>
                    <a:pt x="227306" y="133552"/>
                    <a:pt x="223730" y="153468"/>
                    <a:pt x="209240" y="163544"/>
                  </a:cubicBezTo>
                  <a:cubicBezTo>
                    <a:pt x="129327" y="218836"/>
                    <a:pt x="85680" y="313114"/>
                    <a:pt x="95225" y="409820"/>
                  </a:cubicBezTo>
                  <a:cubicBezTo>
                    <a:pt x="96660" y="421358"/>
                    <a:pt x="91715" y="432764"/>
                    <a:pt x="82314" y="439604"/>
                  </a:cubicBezTo>
                  <a:cubicBezTo>
                    <a:pt x="72912" y="446444"/>
                    <a:pt x="60538" y="447638"/>
                    <a:pt x="50002" y="442722"/>
                  </a:cubicBezTo>
                  <a:cubicBezTo>
                    <a:pt x="39466" y="437805"/>
                    <a:pt x="32432" y="427555"/>
                    <a:pt x="31635" y="415956"/>
                  </a:cubicBezTo>
                  <a:cubicBezTo>
                    <a:pt x="19859" y="296258"/>
                    <a:pt x="73853" y="179575"/>
                    <a:pt x="172715" y="111075"/>
                  </a:cubicBezTo>
                  <a:cubicBezTo>
                    <a:pt x="187204" y="100997"/>
                    <a:pt x="207120" y="104573"/>
                    <a:pt x="217197" y="119063"/>
                  </a:cubicBezTo>
                  <a:close/>
                  <a:moveTo>
                    <a:pt x="506548" y="119063"/>
                  </a:moveTo>
                  <a:cubicBezTo>
                    <a:pt x="516624" y="104573"/>
                    <a:pt x="536540" y="100997"/>
                    <a:pt x="551029" y="111075"/>
                  </a:cubicBezTo>
                  <a:cubicBezTo>
                    <a:pt x="640429" y="173031"/>
                    <a:pt x="693739" y="274910"/>
                    <a:pt x="693675" y="383681"/>
                  </a:cubicBezTo>
                  <a:cubicBezTo>
                    <a:pt x="693675" y="401329"/>
                    <a:pt x="679368" y="415636"/>
                    <a:pt x="661720" y="415636"/>
                  </a:cubicBezTo>
                  <a:cubicBezTo>
                    <a:pt x="644072" y="415636"/>
                    <a:pt x="629765" y="401329"/>
                    <a:pt x="629765" y="383681"/>
                  </a:cubicBezTo>
                  <a:cubicBezTo>
                    <a:pt x="629836" y="295840"/>
                    <a:pt x="586779" y="213561"/>
                    <a:pt x="514568" y="163544"/>
                  </a:cubicBezTo>
                  <a:cubicBezTo>
                    <a:pt x="500078" y="153468"/>
                    <a:pt x="496502" y="133552"/>
                    <a:pt x="506579" y="119063"/>
                  </a:cubicBezTo>
                  <a:close/>
                  <a:moveTo>
                    <a:pt x="201698" y="639256"/>
                  </a:moveTo>
                  <a:cubicBezTo>
                    <a:pt x="209440" y="623384"/>
                    <a:pt x="228589" y="616801"/>
                    <a:pt x="244454" y="624557"/>
                  </a:cubicBezTo>
                  <a:cubicBezTo>
                    <a:pt x="281023" y="642410"/>
                    <a:pt x="321193" y="651657"/>
                    <a:pt x="361888" y="651591"/>
                  </a:cubicBezTo>
                  <a:cubicBezTo>
                    <a:pt x="382339" y="651591"/>
                    <a:pt x="402247" y="649322"/>
                    <a:pt x="421356" y="644976"/>
                  </a:cubicBezTo>
                  <a:cubicBezTo>
                    <a:pt x="432599" y="642153"/>
                    <a:pt x="444490" y="645640"/>
                    <a:pt x="452427" y="654089"/>
                  </a:cubicBezTo>
                  <a:cubicBezTo>
                    <a:pt x="460365" y="662538"/>
                    <a:pt x="463104" y="674623"/>
                    <a:pt x="459585" y="685668"/>
                  </a:cubicBezTo>
                  <a:cubicBezTo>
                    <a:pt x="456067" y="696714"/>
                    <a:pt x="446842" y="704987"/>
                    <a:pt x="435480" y="707288"/>
                  </a:cubicBezTo>
                  <a:cubicBezTo>
                    <a:pt x="411770" y="712688"/>
                    <a:pt x="387132" y="715532"/>
                    <a:pt x="361888" y="715532"/>
                  </a:cubicBezTo>
                  <a:cubicBezTo>
                    <a:pt x="309770" y="715532"/>
                    <a:pt x="260368" y="703485"/>
                    <a:pt x="216398" y="681980"/>
                  </a:cubicBezTo>
                  <a:cubicBezTo>
                    <a:pt x="200544" y="674238"/>
                    <a:pt x="193964" y="655113"/>
                    <a:pt x="201698" y="639256"/>
                  </a:cubicBezTo>
                  <a:close/>
                  <a:moveTo>
                    <a:pt x="96120" y="473762"/>
                  </a:moveTo>
                  <a:cubicBezTo>
                    <a:pt x="148514" y="474717"/>
                    <a:pt x="190487" y="517463"/>
                    <a:pt x="190487" y="569866"/>
                  </a:cubicBezTo>
                  <a:cubicBezTo>
                    <a:pt x="190487" y="622269"/>
                    <a:pt x="148514" y="665015"/>
                    <a:pt x="96120" y="665970"/>
                  </a:cubicBezTo>
                  <a:cubicBezTo>
                    <a:pt x="43034" y="665970"/>
                    <a:pt x="0" y="622936"/>
                    <a:pt x="0" y="569850"/>
                  </a:cubicBezTo>
                  <a:cubicBezTo>
                    <a:pt x="0" y="516764"/>
                    <a:pt x="43034" y="473730"/>
                    <a:pt x="96120" y="473730"/>
                  </a:cubicBezTo>
                  <a:close/>
                  <a:moveTo>
                    <a:pt x="639640" y="474689"/>
                  </a:moveTo>
                  <a:lnTo>
                    <a:pt x="736590" y="640311"/>
                  </a:lnTo>
                  <a:cubicBezTo>
                    <a:pt x="739485" y="645245"/>
                    <a:pt x="739521" y="651350"/>
                    <a:pt x="736684" y="656318"/>
                  </a:cubicBezTo>
                  <a:cubicBezTo>
                    <a:pt x="733847" y="661286"/>
                    <a:pt x="728571" y="664358"/>
                    <a:pt x="722850" y="664373"/>
                  </a:cubicBezTo>
                  <a:lnTo>
                    <a:pt x="528884" y="664373"/>
                  </a:lnTo>
                  <a:cubicBezTo>
                    <a:pt x="523157" y="664370"/>
                    <a:pt x="517871" y="661302"/>
                    <a:pt x="515026" y="656332"/>
                  </a:cubicBezTo>
                  <a:cubicBezTo>
                    <a:pt x="512181" y="651362"/>
                    <a:pt x="512214" y="645250"/>
                    <a:pt x="515111" y="640310"/>
                  </a:cubicBezTo>
                  <a:lnTo>
                    <a:pt x="612062" y="474689"/>
                  </a:lnTo>
                  <a:cubicBezTo>
                    <a:pt x="614925" y="469777"/>
                    <a:pt x="620182" y="466756"/>
                    <a:pt x="625867" y="466756"/>
                  </a:cubicBezTo>
                  <a:cubicBezTo>
                    <a:pt x="631552" y="466756"/>
                    <a:pt x="636809" y="469777"/>
                    <a:pt x="639671" y="474689"/>
                  </a:cubicBezTo>
                  <a:close/>
                  <a:moveTo>
                    <a:pt x="363326" y="365211"/>
                  </a:moveTo>
                  <a:cubicBezTo>
                    <a:pt x="328159" y="365203"/>
                    <a:pt x="299656" y="336692"/>
                    <a:pt x="299656" y="301525"/>
                  </a:cubicBezTo>
                  <a:cubicBezTo>
                    <a:pt x="299656" y="266359"/>
                    <a:pt x="328159" y="237848"/>
                    <a:pt x="363326" y="237839"/>
                  </a:cubicBezTo>
                  <a:cubicBezTo>
                    <a:pt x="398505" y="237831"/>
                    <a:pt x="427028" y="266347"/>
                    <a:pt x="427028" y="301525"/>
                  </a:cubicBezTo>
                  <a:cubicBezTo>
                    <a:pt x="427028" y="336704"/>
                    <a:pt x="398505" y="365220"/>
                    <a:pt x="363326" y="365211"/>
                  </a:cubicBezTo>
                  <a:close/>
                  <a:moveTo>
                    <a:pt x="363326" y="393779"/>
                  </a:moveTo>
                  <a:cubicBezTo>
                    <a:pt x="414230" y="393779"/>
                    <a:pt x="460085" y="420941"/>
                    <a:pt x="486863" y="461236"/>
                  </a:cubicBezTo>
                  <a:cubicBezTo>
                    <a:pt x="498751" y="479130"/>
                    <a:pt x="483604" y="500125"/>
                    <a:pt x="462130" y="500125"/>
                  </a:cubicBezTo>
                  <a:lnTo>
                    <a:pt x="264490" y="500125"/>
                  </a:lnTo>
                  <a:cubicBezTo>
                    <a:pt x="243016" y="500125"/>
                    <a:pt x="227869" y="479130"/>
                    <a:pt x="239757" y="461268"/>
                  </a:cubicBezTo>
                  <a:cubicBezTo>
                    <a:pt x="266535" y="420941"/>
                    <a:pt x="312390" y="393779"/>
                    <a:pt x="363294" y="3937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17">
              <a:extLst>
                <a:ext uri="{FF2B5EF4-FFF2-40B4-BE49-F238E27FC236}">
                  <a16:creationId xmlns:a16="http://schemas.microsoft.com/office/drawing/2014/main" id="{5EC9336E-2F76-6E0C-9745-BD7CAB94D1FC}"/>
                </a:ext>
              </a:extLst>
            </p:cNvPr>
            <p:cNvSpPr/>
            <p:nvPr/>
          </p:nvSpPr>
          <p:spPr>
            <a:xfrm>
              <a:off x="3300994" y="2232624"/>
              <a:ext cx="340799" cy="387518"/>
            </a:xfrm>
            <a:custGeom>
              <a:avLst/>
              <a:gdLst/>
              <a:ahLst/>
              <a:cxnLst/>
              <a:rect l="0" t="0" r="0" b="0"/>
              <a:pathLst>
                <a:path w="340799" h="387518">
                  <a:moveTo>
                    <a:pt x="269158" y="9598"/>
                  </a:moveTo>
                  <a:cubicBezTo>
                    <a:pt x="298315" y="19197"/>
                    <a:pt x="322435" y="40036"/>
                    <a:pt x="336166" y="67490"/>
                  </a:cubicBezTo>
                  <a:cubicBezTo>
                    <a:pt x="337923" y="70686"/>
                    <a:pt x="339361" y="73881"/>
                    <a:pt x="340799" y="77237"/>
                  </a:cubicBezTo>
                  <a:lnTo>
                    <a:pt x="317951" y="88581"/>
                  </a:lnTo>
                  <a:cubicBezTo>
                    <a:pt x="315230" y="89923"/>
                    <a:pt x="313828" y="92994"/>
                    <a:pt x="314596" y="95930"/>
                  </a:cubicBezTo>
                  <a:cubicBezTo>
                    <a:pt x="318835" y="108259"/>
                    <a:pt x="313365" y="121829"/>
                    <a:pt x="301761" y="127772"/>
                  </a:cubicBezTo>
                  <a:cubicBezTo>
                    <a:pt x="290156" y="133715"/>
                    <a:pt x="275948" y="130222"/>
                    <a:pt x="268421" y="119577"/>
                  </a:cubicBezTo>
                  <a:cubicBezTo>
                    <a:pt x="266487" y="117196"/>
                    <a:pt x="263134" y="116525"/>
                    <a:pt x="260433" y="117979"/>
                  </a:cubicBezTo>
                  <a:lnTo>
                    <a:pt x="236307" y="130122"/>
                  </a:lnTo>
                  <a:lnTo>
                    <a:pt x="224324" y="105996"/>
                  </a:lnTo>
                  <a:cubicBezTo>
                    <a:pt x="222870" y="103295"/>
                    <a:pt x="223541" y="99942"/>
                    <a:pt x="225921" y="98007"/>
                  </a:cubicBezTo>
                  <a:cubicBezTo>
                    <a:pt x="235961" y="90363"/>
                    <a:pt x="239127" y="76648"/>
                    <a:pt x="233452" y="65376"/>
                  </a:cubicBezTo>
                  <a:cubicBezTo>
                    <a:pt x="227777" y="54105"/>
                    <a:pt x="214875" y="48480"/>
                    <a:pt x="202754" y="51992"/>
                  </a:cubicBezTo>
                  <a:cubicBezTo>
                    <a:pt x="201144" y="52376"/>
                    <a:pt x="199447" y="52103"/>
                    <a:pt x="198038" y="51234"/>
                  </a:cubicBezTo>
                  <a:cubicBezTo>
                    <a:pt x="196629" y="50364"/>
                    <a:pt x="195624" y="48970"/>
                    <a:pt x="195245" y="47359"/>
                  </a:cubicBezTo>
                  <a:lnTo>
                    <a:pt x="179267" y="16363"/>
                  </a:lnTo>
                  <a:cubicBezTo>
                    <a:pt x="179798" y="16419"/>
                    <a:pt x="180334" y="16419"/>
                    <a:pt x="180865" y="16363"/>
                  </a:cubicBezTo>
                  <a:cubicBezTo>
                    <a:pt x="208219" y="2434"/>
                    <a:pt x="240002" y="0"/>
                    <a:pt x="269158" y="9598"/>
                  </a:cubicBezTo>
                  <a:close/>
                  <a:moveTo>
                    <a:pt x="173995" y="337669"/>
                  </a:moveTo>
                  <a:cubicBezTo>
                    <a:pt x="180613" y="337669"/>
                    <a:pt x="185978" y="343033"/>
                    <a:pt x="185978" y="349652"/>
                  </a:cubicBezTo>
                  <a:cubicBezTo>
                    <a:pt x="185978" y="356270"/>
                    <a:pt x="180613" y="361635"/>
                    <a:pt x="173995" y="361635"/>
                  </a:cubicBezTo>
                  <a:lnTo>
                    <a:pt x="143638" y="361635"/>
                  </a:lnTo>
                  <a:lnTo>
                    <a:pt x="143638" y="375535"/>
                  </a:lnTo>
                  <a:cubicBezTo>
                    <a:pt x="143638" y="382153"/>
                    <a:pt x="138273" y="387518"/>
                    <a:pt x="131655" y="387518"/>
                  </a:cubicBezTo>
                  <a:cubicBezTo>
                    <a:pt x="125037" y="387518"/>
                    <a:pt x="119672" y="382153"/>
                    <a:pt x="119672" y="375535"/>
                  </a:cubicBezTo>
                  <a:lnTo>
                    <a:pt x="119672" y="361635"/>
                  </a:lnTo>
                  <a:lnTo>
                    <a:pt x="89155" y="361635"/>
                  </a:lnTo>
                  <a:cubicBezTo>
                    <a:pt x="82537" y="361635"/>
                    <a:pt x="77172" y="356270"/>
                    <a:pt x="77172" y="349652"/>
                  </a:cubicBezTo>
                  <a:cubicBezTo>
                    <a:pt x="77172" y="343033"/>
                    <a:pt x="82537" y="337669"/>
                    <a:pt x="89155" y="337669"/>
                  </a:cubicBezTo>
                  <a:lnTo>
                    <a:pt x="173995" y="337669"/>
                  </a:lnTo>
                  <a:close/>
                  <a:moveTo>
                    <a:pt x="1119" y="159361"/>
                  </a:moveTo>
                  <a:cubicBezTo>
                    <a:pt x="0" y="124628"/>
                    <a:pt x="12929" y="90912"/>
                    <a:pt x="36985" y="65834"/>
                  </a:cubicBezTo>
                  <a:cubicBezTo>
                    <a:pt x="61040" y="40756"/>
                    <a:pt x="94190" y="26435"/>
                    <a:pt x="128939" y="26109"/>
                  </a:cubicBezTo>
                  <a:lnTo>
                    <a:pt x="128939" y="64934"/>
                  </a:lnTo>
                  <a:cubicBezTo>
                    <a:pt x="128788" y="68377"/>
                    <a:pt x="131156" y="71422"/>
                    <a:pt x="134531" y="72124"/>
                  </a:cubicBezTo>
                  <a:cubicBezTo>
                    <a:pt x="148496" y="74677"/>
                    <a:pt x="158642" y="86846"/>
                    <a:pt x="158642" y="101043"/>
                  </a:cubicBezTo>
                  <a:cubicBezTo>
                    <a:pt x="158642" y="115240"/>
                    <a:pt x="148496" y="127409"/>
                    <a:pt x="134531" y="129962"/>
                  </a:cubicBezTo>
                  <a:cubicBezTo>
                    <a:pt x="131181" y="130593"/>
                    <a:pt x="128800" y="133586"/>
                    <a:pt x="128939" y="136992"/>
                  </a:cubicBezTo>
                  <a:lnTo>
                    <a:pt x="128939" y="160000"/>
                  </a:lnTo>
                  <a:lnTo>
                    <a:pt x="102096" y="160000"/>
                  </a:lnTo>
                  <a:cubicBezTo>
                    <a:pt x="99187" y="145045"/>
                    <a:pt x="87493" y="133351"/>
                    <a:pt x="72538" y="130441"/>
                  </a:cubicBezTo>
                  <a:cubicBezTo>
                    <a:pt x="62955" y="128470"/>
                    <a:pt x="52982" y="130420"/>
                    <a:pt x="44846" y="135854"/>
                  </a:cubicBezTo>
                  <a:cubicBezTo>
                    <a:pt x="36710" y="141287"/>
                    <a:pt x="31090" y="149753"/>
                    <a:pt x="29239" y="159361"/>
                  </a:cubicBezTo>
                  <a:close/>
                  <a:moveTo>
                    <a:pt x="259634" y="167030"/>
                  </a:moveTo>
                  <a:cubicBezTo>
                    <a:pt x="257815" y="205730"/>
                    <a:pt x="238540" y="241516"/>
                    <a:pt x="207228" y="264332"/>
                  </a:cubicBezTo>
                  <a:cubicBezTo>
                    <a:pt x="188715" y="277216"/>
                    <a:pt x="177489" y="298183"/>
                    <a:pt x="177031" y="320732"/>
                  </a:cubicBezTo>
                  <a:lnTo>
                    <a:pt x="139643" y="320732"/>
                  </a:lnTo>
                  <a:lnTo>
                    <a:pt x="139643" y="269125"/>
                  </a:lnTo>
                  <a:cubicBezTo>
                    <a:pt x="139493" y="261902"/>
                    <a:pt x="134514" y="255679"/>
                    <a:pt x="127501" y="253947"/>
                  </a:cubicBezTo>
                  <a:cubicBezTo>
                    <a:pt x="118886" y="252366"/>
                    <a:pt x="112146" y="245625"/>
                    <a:pt x="110565" y="237011"/>
                  </a:cubicBezTo>
                  <a:cubicBezTo>
                    <a:pt x="109442" y="231392"/>
                    <a:pt x="110620" y="225557"/>
                    <a:pt x="113833" y="220813"/>
                  </a:cubicBezTo>
                  <a:cubicBezTo>
                    <a:pt x="117046" y="216069"/>
                    <a:pt x="122026" y="212810"/>
                    <a:pt x="127660" y="211766"/>
                  </a:cubicBezTo>
                  <a:cubicBezTo>
                    <a:pt x="134286" y="210079"/>
                    <a:pt x="139103" y="204362"/>
                    <a:pt x="139643" y="197547"/>
                  </a:cubicBezTo>
                  <a:lnTo>
                    <a:pt x="139643" y="167349"/>
                  </a:lnTo>
                  <a:lnTo>
                    <a:pt x="159136" y="167349"/>
                  </a:lnTo>
                  <a:cubicBezTo>
                    <a:pt x="162542" y="167211"/>
                    <a:pt x="165535" y="169591"/>
                    <a:pt x="166166" y="172941"/>
                  </a:cubicBezTo>
                  <a:cubicBezTo>
                    <a:pt x="168719" y="186907"/>
                    <a:pt x="180888" y="197053"/>
                    <a:pt x="195085" y="197053"/>
                  </a:cubicBezTo>
                  <a:cubicBezTo>
                    <a:pt x="209282" y="197053"/>
                    <a:pt x="221451" y="186907"/>
                    <a:pt x="224004" y="172941"/>
                  </a:cubicBezTo>
                  <a:cubicBezTo>
                    <a:pt x="224764" y="169603"/>
                    <a:pt x="227772" y="167264"/>
                    <a:pt x="231194" y="167349"/>
                  </a:cubicBezTo>
                  <a:close/>
                  <a:moveTo>
                    <a:pt x="123666" y="322170"/>
                  </a:moveTo>
                  <a:lnTo>
                    <a:pt x="84841" y="322170"/>
                  </a:lnTo>
                  <a:cubicBezTo>
                    <a:pt x="84370" y="299542"/>
                    <a:pt x="73082" y="278510"/>
                    <a:pt x="54484" y="265610"/>
                  </a:cubicBezTo>
                  <a:cubicBezTo>
                    <a:pt x="25280" y="244467"/>
                    <a:pt x="6363" y="211973"/>
                    <a:pt x="2397" y="176137"/>
                  </a:cubicBezTo>
                  <a:lnTo>
                    <a:pt x="29239" y="176137"/>
                  </a:lnTo>
                  <a:cubicBezTo>
                    <a:pt x="36449" y="175896"/>
                    <a:pt x="42603" y="170855"/>
                    <a:pt x="44258" y="163834"/>
                  </a:cubicBezTo>
                  <a:cubicBezTo>
                    <a:pt x="46049" y="153587"/>
                    <a:pt x="54946" y="146110"/>
                    <a:pt x="65348" y="146110"/>
                  </a:cubicBezTo>
                  <a:cubicBezTo>
                    <a:pt x="75751" y="146110"/>
                    <a:pt x="84648" y="153587"/>
                    <a:pt x="86439" y="163834"/>
                  </a:cubicBezTo>
                  <a:cubicBezTo>
                    <a:pt x="88393" y="170539"/>
                    <a:pt x="94475" y="175198"/>
                    <a:pt x="101457" y="175338"/>
                  </a:cubicBezTo>
                  <a:lnTo>
                    <a:pt x="124465" y="175338"/>
                  </a:lnTo>
                  <a:lnTo>
                    <a:pt x="124465" y="196748"/>
                  </a:lnTo>
                  <a:cubicBezTo>
                    <a:pt x="104190" y="200773"/>
                    <a:pt x="90935" y="220370"/>
                    <a:pt x="94747" y="240686"/>
                  </a:cubicBezTo>
                  <a:cubicBezTo>
                    <a:pt x="97430" y="255404"/>
                    <a:pt x="108948" y="266922"/>
                    <a:pt x="123666" y="2696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18">
              <a:extLst>
                <a:ext uri="{FF2B5EF4-FFF2-40B4-BE49-F238E27FC236}">
                  <a16:creationId xmlns:a16="http://schemas.microsoft.com/office/drawing/2014/main" id="{E8BBC052-9BB0-5FE7-56EC-5987F79AA4C8}"/>
                </a:ext>
              </a:extLst>
            </p:cNvPr>
            <p:cNvSpPr/>
            <p:nvPr/>
          </p:nvSpPr>
          <p:spPr>
            <a:xfrm>
              <a:off x="5219239" y="2238762"/>
              <a:ext cx="342205" cy="379746"/>
            </a:xfrm>
            <a:custGeom>
              <a:avLst/>
              <a:gdLst/>
              <a:ahLst/>
              <a:cxnLst/>
              <a:rect l="0" t="0" r="0" b="0"/>
              <a:pathLst>
                <a:path w="342205" h="379746">
                  <a:moveTo>
                    <a:pt x="5" y="280883"/>
                  </a:moveTo>
                  <a:lnTo>
                    <a:pt x="5" y="253401"/>
                  </a:lnTo>
                  <a:cubicBezTo>
                    <a:pt x="0" y="251808"/>
                    <a:pt x="941" y="250364"/>
                    <a:pt x="2402" y="249727"/>
                  </a:cubicBezTo>
                  <a:cubicBezTo>
                    <a:pt x="3678" y="248950"/>
                    <a:pt x="5280" y="248950"/>
                    <a:pt x="6556" y="249727"/>
                  </a:cubicBezTo>
                  <a:cubicBezTo>
                    <a:pt x="36656" y="270455"/>
                    <a:pt x="71726" y="282806"/>
                    <a:pt x="108172" y="285516"/>
                  </a:cubicBezTo>
                  <a:cubicBezTo>
                    <a:pt x="109974" y="285547"/>
                    <a:pt x="111566" y="286693"/>
                    <a:pt x="112167" y="288392"/>
                  </a:cubicBezTo>
                  <a:cubicBezTo>
                    <a:pt x="116897" y="306321"/>
                    <a:pt x="126011" y="322792"/>
                    <a:pt x="138689" y="336324"/>
                  </a:cubicBezTo>
                  <a:cubicBezTo>
                    <a:pt x="139575" y="337626"/>
                    <a:pt x="139575" y="339336"/>
                    <a:pt x="138689" y="340638"/>
                  </a:cubicBezTo>
                  <a:cubicBezTo>
                    <a:pt x="137966" y="342097"/>
                    <a:pt x="136483" y="343024"/>
                    <a:pt x="134855" y="343035"/>
                  </a:cubicBezTo>
                  <a:cubicBezTo>
                    <a:pt x="59122" y="339360"/>
                    <a:pt x="5" y="312358"/>
                    <a:pt x="5" y="280883"/>
                  </a:cubicBezTo>
                  <a:close/>
                  <a:moveTo>
                    <a:pt x="115841" y="218890"/>
                  </a:moveTo>
                  <a:cubicBezTo>
                    <a:pt x="110178" y="233431"/>
                    <a:pt x="107620" y="248997"/>
                    <a:pt x="108332" y="264585"/>
                  </a:cubicBezTo>
                  <a:cubicBezTo>
                    <a:pt x="108466" y="265751"/>
                    <a:pt x="107981" y="266902"/>
                    <a:pt x="107054" y="267621"/>
                  </a:cubicBezTo>
                  <a:cubicBezTo>
                    <a:pt x="106196" y="268431"/>
                    <a:pt x="105034" y="268837"/>
                    <a:pt x="103858" y="268740"/>
                  </a:cubicBezTo>
                  <a:cubicBezTo>
                    <a:pt x="43783" y="260112"/>
                    <a:pt x="325" y="236305"/>
                    <a:pt x="325" y="208185"/>
                  </a:cubicBezTo>
                  <a:lnTo>
                    <a:pt x="325" y="180704"/>
                  </a:lnTo>
                  <a:cubicBezTo>
                    <a:pt x="319" y="179111"/>
                    <a:pt x="1261" y="177667"/>
                    <a:pt x="2721" y="177029"/>
                  </a:cubicBezTo>
                  <a:cubicBezTo>
                    <a:pt x="3997" y="176253"/>
                    <a:pt x="5600" y="176253"/>
                    <a:pt x="6875" y="177029"/>
                  </a:cubicBezTo>
                  <a:cubicBezTo>
                    <a:pt x="38366" y="198399"/>
                    <a:pt x="74990" y="210974"/>
                    <a:pt x="112965" y="213458"/>
                  </a:cubicBezTo>
                  <a:cubicBezTo>
                    <a:pt x="114194" y="213549"/>
                    <a:pt x="115285" y="214276"/>
                    <a:pt x="115841" y="215375"/>
                  </a:cubicBezTo>
                  <a:cubicBezTo>
                    <a:pt x="116410" y="216478"/>
                    <a:pt x="116410" y="217787"/>
                    <a:pt x="115841" y="218890"/>
                  </a:cubicBezTo>
                  <a:close/>
                  <a:moveTo>
                    <a:pt x="297505" y="104811"/>
                  </a:moveTo>
                  <a:cubicBezTo>
                    <a:pt x="298780" y="104035"/>
                    <a:pt x="300383" y="104035"/>
                    <a:pt x="301659" y="104811"/>
                  </a:cubicBezTo>
                  <a:cubicBezTo>
                    <a:pt x="303067" y="105425"/>
                    <a:pt x="303999" y="106791"/>
                    <a:pt x="304055" y="108326"/>
                  </a:cubicBezTo>
                  <a:cubicBezTo>
                    <a:pt x="304375" y="139642"/>
                    <a:pt x="306132" y="149868"/>
                    <a:pt x="286320" y="165845"/>
                  </a:cubicBezTo>
                  <a:cubicBezTo>
                    <a:pt x="284919" y="166786"/>
                    <a:pt x="283088" y="166786"/>
                    <a:pt x="281687" y="165845"/>
                  </a:cubicBezTo>
                  <a:cubicBezTo>
                    <a:pt x="230479" y="132198"/>
                    <a:pt x="161731" y="146019"/>
                    <a:pt x="127505" y="196841"/>
                  </a:cubicBezTo>
                  <a:cubicBezTo>
                    <a:pt x="126730" y="197996"/>
                    <a:pt x="125369" y="198614"/>
                    <a:pt x="123990" y="198439"/>
                  </a:cubicBezTo>
                  <a:cubicBezTo>
                    <a:pt x="53529" y="193007"/>
                    <a:pt x="5" y="166964"/>
                    <a:pt x="5" y="135808"/>
                  </a:cubicBezTo>
                  <a:lnTo>
                    <a:pt x="5" y="108806"/>
                  </a:lnTo>
                  <a:cubicBezTo>
                    <a:pt x="0" y="107212"/>
                    <a:pt x="941" y="105768"/>
                    <a:pt x="2402" y="105131"/>
                  </a:cubicBezTo>
                  <a:cubicBezTo>
                    <a:pt x="3678" y="104354"/>
                    <a:pt x="5280" y="104354"/>
                    <a:pt x="6556" y="105131"/>
                  </a:cubicBezTo>
                  <a:cubicBezTo>
                    <a:pt x="37552" y="130375"/>
                    <a:pt x="95870" y="143796"/>
                    <a:pt x="151950" y="143796"/>
                  </a:cubicBezTo>
                  <a:cubicBezTo>
                    <a:pt x="207871" y="143796"/>
                    <a:pt x="265710" y="130375"/>
                    <a:pt x="297505" y="104811"/>
                  </a:cubicBezTo>
                  <a:close/>
                  <a:moveTo>
                    <a:pt x="165" y="63909"/>
                  </a:moveTo>
                  <a:cubicBezTo>
                    <a:pt x="165" y="28613"/>
                    <a:pt x="68122" y="0"/>
                    <a:pt x="151950" y="0"/>
                  </a:cubicBezTo>
                  <a:cubicBezTo>
                    <a:pt x="235779" y="0"/>
                    <a:pt x="303736" y="28613"/>
                    <a:pt x="303736" y="63909"/>
                  </a:cubicBezTo>
                  <a:cubicBezTo>
                    <a:pt x="303736" y="99206"/>
                    <a:pt x="235779" y="127819"/>
                    <a:pt x="151950" y="127819"/>
                  </a:cubicBezTo>
                  <a:cubicBezTo>
                    <a:pt x="68122" y="127819"/>
                    <a:pt x="165" y="99206"/>
                    <a:pt x="165" y="63909"/>
                  </a:cubicBezTo>
                  <a:moveTo>
                    <a:pt x="336010" y="351023"/>
                  </a:moveTo>
                  <a:cubicBezTo>
                    <a:pt x="342205" y="357255"/>
                    <a:pt x="342205" y="367320"/>
                    <a:pt x="336010" y="373552"/>
                  </a:cubicBezTo>
                  <a:cubicBezTo>
                    <a:pt x="329778" y="379746"/>
                    <a:pt x="319714" y="379746"/>
                    <a:pt x="313482" y="373552"/>
                  </a:cubicBezTo>
                  <a:lnTo>
                    <a:pt x="273698" y="333928"/>
                  </a:lnTo>
                  <a:cubicBezTo>
                    <a:pt x="272228" y="332836"/>
                    <a:pt x="270216" y="332836"/>
                    <a:pt x="268745" y="333928"/>
                  </a:cubicBezTo>
                  <a:cubicBezTo>
                    <a:pt x="254459" y="343121"/>
                    <a:pt x="237802" y="347952"/>
                    <a:pt x="220813" y="347828"/>
                  </a:cubicBezTo>
                  <a:cubicBezTo>
                    <a:pt x="172016" y="347828"/>
                    <a:pt x="132458" y="308270"/>
                    <a:pt x="132458" y="259473"/>
                  </a:cubicBezTo>
                  <a:cubicBezTo>
                    <a:pt x="132458" y="210676"/>
                    <a:pt x="172016" y="171118"/>
                    <a:pt x="220813" y="171118"/>
                  </a:cubicBezTo>
                  <a:cubicBezTo>
                    <a:pt x="269610" y="171118"/>
                    <a:pt x="309168" y="210676"/>
                    <a:pt x="309168" y="259473"/>
                  </a:cubicBezTo>
                  <a:cubicBezTo>
                    <a:pt x="309292" y="276462"/>
                    <a:pt x="304462" y="293118"/>
                    <a:pt x="295268" y="307405"/>
                  </a:cubicBezTo>
                  <a:cubicBezTo>
                    <a:pt x="294176" y="308876"/>
                    <a:pt x="294176" y="310888"/>
                    <a:pt x="295268" y="312358"/>
                  </a:cubicBezTo>
                  <a:close/>
                  <a:moveTo>
                    <a:pt x="220174" y="316352"/>
                  </a:moveTo>
                  <a:cubicBezTo>
                    <a:pt x="251344" y="316441"/>
                    <a:pt x="276675" y="291229"/>
                    <a:pt x="276734" y="260059"/>
                  </a:cubicBezTo>
                  <a:cubicBezTo>
                    <a:pt x="276793" y="228889"/>
                    <a:pt x="251557" y="203582"/>
                    <a:pt x="220387" y="203552"/>
                  </a:cubicBezTo>
                  <a:cubicBezTo>
                    <a:pt x="189217" y="203523"/>
                    <a:pt x="163933" y="228782"/>
                    <a:pt x="163933" y="259952"/>
                  </a:cubicBezTo>
                  <a:cubicBezTo>
                    <a:pt x="163933" y="291039"/>
                    <a:pt x="189087" y="316264"/>
                    <a:pt x="220174" y="316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01EE73DE-6AC4-F9B7-98D6-8B9ADF38AD4A}"/>
                </a:ext>
              </a:extLst>
            </p:cNvPr>
            <p:cNvSpPr/>
            <p:nvPr/>
          </p:nvSpPr>
          <p:spPr>
            <a:xfrm>
              <a:off x="3283788" y="4147219"/>
              <a:ext cx="376966" cy="387370"/>
            </a:xfrm>
            <a:custGeom>
              <a:avLst/>
              <a:gdLst/>
              <a:ahLst/>
              <a:cxnLst/>
              <a:rect l="0" t="0" r="0" b="0"/>
              <a:pathLst>
                <a:path w="376966" h="387370">
                  <a:moveTo>
                    <a:pt x="113231" y="41554"/>
                  </a:moveTo>
                  <a:cubicBezTo>
                    <a:pt x="68341" y="41551"/>
                    <a:pt x="31949" y="77941"/>
                    <a:pt x="31949" y="122832"/>
                  </a:cubicBezTo>
                  <a:cubicBezTo>
                    <a:pt x="31949" y="167722"/>
                    <a:pt x="68341" y="204112"/>
                    <a:pt x="113231" y="204109"/>
                  </a:cubicBezTo>
                  <a:cubicBezTo>
                    <a:pt x="158117" y="204106"/>
                    <a:pt x="194503" y="167718"/>
                    <a:pt x="194503" y="122832"/>
                  </a:cubicBezTo>
                  <a:cubicBezTo>
                    <a:pt x="194503" y="77946"/>
                    <a:pt x="158117" y="41558"/>
                    <a:pt x="113231" y="41554"/>
                  </a:cubicBezTo>
                  <a:close/>
                  <a:moveTo>
                    <a:pt x="0" y="122832"/>
                  </a:moveTo>
                  <a:cubicBezTo>
                    <a:pt x="2" y="74032"/>
                    <a:pt x="31268" y="30724"/>
                    <a:pt x="77586" y="15362"/>
                  </a:cubicBezTo>
                  <a:cubicBezTo>
                    <a:pt x="123904" y="0"/>
                    <a:pt x="174854" y="16040"/>
                    <a:pt x="204018" y="55166"/>
                  </a:cubicBezTo>
                  <a:cubicBezTo>
                    <a:pt x="233182" y="94292"/>
                    <a:pt x="233998" y="147701"/>
                    <a:pt x="206044" y="187700"/>
                  </a:cubicBezTo>
                  <a:lnTo>
                    <a:pt x="247106" y="228778"/>
                  </a:lnTo>
                  <a:cubicBezTo>
                    <a:pt x="253161" y="235047"/>
                    <a:pt x="253075" y="245012"/>
                    <a:pt x="246912" y="251175"/>
                  </a:cubicBezTo>
                  <a:cubicBezTo>
                    <a:pt x="240749" y="257338"/>
                    <a:pt x="230783" y="257425"/>
                    <a:pt x="224514" y="251370"/>
                  </a:cubicBezTo>
                  <a:lnTo>
                    <a:pt x="184203" y="211059"/>
                  </a:lnTo>
                  <a:cubicBezTo>
                    <a:pt x="150245" y="238375"/>
                    <a:pt x="103624" y="243777"/>
                    <a:pt x="64318" y="224951"/>
                  </a:cubicBezTo>
                  <a:cubicBezTo>
                    <a:pt x="25013" y="206126"/>
                    <a:pt x="0" y="166413"/>
                    <a:pt x="0" y="122832"/>
                  </a:cubicBezTo>
                  <a:close/>
                  <a:moveTo>
                    <a:pt x="82635" y="256611"/>
                  </a:moveTo>
                  <a:cubicBezTo>
                    <a:pt x="116176" y="264233"/>
                    <a:pt x="151355" y="259024"/>
                    <a:pt x="181247" y="242007"/>
                  </a:cubicBezTo>
                  <a:lnTo>
                    <a:pt x="207562" y="268322"/>
                  </a:lnTo>
                  <a:cubicBezTo>
                    <a:pt x="223163" y="283923"/>
                    <a:pt x="248457" y="283923"/>
                    <a:pt x="264058" y="268322"/>
                  </a:cubicBezTo>
                  <a:cubicBezTo>
                    <a:pt x="279659" y="252721"/>
                    <a:pt x="279659" y="227427"/>
                    <a:pt x="264058" y="211826"/>
                  </a:cubicBezTo>
                  <a:lnTo>
                    <a:pt x="236114" y="183897"/>
                  </a:lnTo>
                  <a:cubicBezTo>
                    <a:pt x="245557" y="164928"/>
                    <a:pt x="250458" y="144022"/>
                    <a:pt x="250430" y="122832"/>
                  </a:cubicBezTo>
                  <a:cubicBezTo>
                    <a:pt x="250466" y="98824"/>
                    <a:pt x="244172" y="75232"/>
                    <a:pt x="232183" y="54432"/>
                  </a:cubicBezTo>
                  <a:cubicBezTo>
                    <a:pt x="247057" y="56417"/>
                    <a:pt x="261444" y="61101"/>
                    <a:pt x="274635" y="68253"/>
                  </a:cubicBezTo>
                  <a:cubicBezTo>
                    <a:pt x="292786" y="78255"/>
                    <a:pt x="306958" y="92538"/>
                    <a:pt x="318781" y="109522"/>
                  </a:cubicBezTo>
                  <a:cubicBezTo>
                    <a:pt x="338130" y="137355"/>
                    <a:pt x="351694" y="173464"/>
                    <a:pt x="365914" y="211251"/>
                  </a:cubicBezTo>
                  <a:lnTo>
                    <a:pt x="365914" y="211283"/>
                  </a:lnTo>
                  <a:cubicBezTo>
                    <a:pt x="368822" y="219016"/>
                    <a:pt x="371746" y="226813"/>
                    <a:pt x="374766" y="234626"/>
                  </a:cubicBezTo>
                  <a:lnTo>
                    <a:pt x="374766" y="234642"/>
                  </a:lnTo>
                  <a:cubicBezTo>
                    <a:pt x="376966" y="240364"/>
                    <a:pt x="376206" y="246803"/>
                    <a:pt x="372736" y="251857"/>
                  </a:cubicBezTo>
                  <a:cubicBezTo>
                    <a:pt x="369266" y="256911"/>
                    <a:pt x="363529" y="259932"/>
                    <a:pt x="357398" y="259934"/>
                  </a:cubicBezTo>
                  <a:lnTo>
                    <a:pt x="338481" y="259934"/>
                  </a:lnTo>
                  <a:lnTo>
                    <a:pt x="338481" y="294413"/>
                  </a:lnTo>
                  <a:cubicBezTo>
                    <a:pt x="338481" y="322282"/>
                    <a:pt x="315893" y="344877"/>
                    <a:pt x="288024" y="344886"/>
                  </a:cubicBezTo>
                  <a:lnTo>
                    <a:pt x="274763" y="344886"/>
                  </a:lnTo>
                  <a:lnTo>
                    <a:pt x="274763" y="379381"/>
                  </a:lnTo>
                  <a:cubicBezTo>
                    <a:pt x="274763" y="383793"/>
                    <a:pt x="271186" y="387370"/>
                    <a:pt x="266774" y="387370"/>
                  </a:cubicBezTo>
                  <a:lnTo>
                    <a:pt x="118105" y="387370"/>
                  </a:lnTo>
                  <a:cubicBezTo>
                    <a:pt x="113693" y="387370"/>
                    <a:pt x="110116" y="383793"/>
                    <a:pt x="110116" y="379381"/>
                  </a:cubicBezTo>
                  <a:lnTo>
                    <a:pt x="110116" y="294094"/>
                  </a:lnTo>
                  <a:cubicBezTo>
                    <a:pt x="98938" y="283205"/>
                    <a:pt x="89651" y="270533"/>
                    <a:pt x="82635" y="256595"/>
                  </a:cubicBezTo>
                  <a:close/>
                  <a:moveTo>
                    <a:pt x="98408" y="174039"/>
                  </a:moveTo>
                  <a:cubicBezTo>
                    <a:pt x="98408" y="165852"/>
                    <a:pt x="105044" y="159214"/>
                    <a:pt x="113231" y="159212"/>
                  </a:cubicBezTo>
                  <a:cubicBezTo>
                    <a:pt x="121422" y="159210"/>
                    <a:pt x="128062" y="165849"/>
                    <a:pt x="128062" y="174039"/>
                  </a:cubicBezTo>
                  <a:cubicBezTo>
                    <a:pt x="128062" y="182229"/>
                    <a:pt x="121422" y="188868"/>
                    <a:pt x="113231" y="188866"/>
                  </a:cubicBezTo>
                  <a:cubicBezTo>
                    <a:pt x="105044" y="188864"/>
                    <a:pt x="98408" y="182227"/>
                    <a:pt x="98408" y="174039"/>
                  </a:cubicBezTo>
                  <a:close/>
                  <a:moveTo>
                    <a:pt x="83697" y="100807"/>
                  </a:moveTo>
                  <a:cubicBezTo>
                    <a:pt x="76122" y="96280"/>
                    <a:pt x="73650" y="86469"/>
                    <a:pt x="78177" y="78894"/>
                  </a:cubicBezTo>
                  <a:cubicBezTo>
                    <a:pt x="85111" y="67310"/>
                    <a:pt x="97845" y="59018"/>
                    <a:pt x="113231" y="59018"/>
                  </a:cubicBezTo>
                  <a:cubicBezTo>
                    <a:pt x="134593" y="59018"/>
                    <a:pt x="154086" y="76098"/>
                    <a:pt x="154086" y="99872"/>
                  </a:cubicBezTo>
                  <a:cubicBezTo>
                    <a:pt x="154038" y="116787"/>
                    <a:pt x="143634" y="131947"/>
                    <a:pt x="127867" y="138074"/>
                  </a:cubicBezTo>
                  <a:cubicBezTo>
                    <a:pt x="124832" y="145003"/>
                    <a:pt x="117354" y="148854"/>
                    <a:pt x="109951" y="147301"/>
                  </a:cubicBezTo>
                  <a:cubicBezTo>
                    <a:pt x="102547" y="145748"/>
                    <a:pt x="97248" y="139216"/>
                    <a:pt x="97254" y="131651"/>
                  </a:cubicBezTo>
                  <a:lnTo>
                    <a:pt x="97254" y="124749"/>
                  </a:lnTo>
                  <a:cubicBezTo>
                    <a:pt x="97254" y="115925"/>
                    <a:pt x="104407" y="108771"/>
                    <a:pt x="113231" y="108771"/>
                  </a:cubicBezTo>
                  <a:cubicBezTo>
                    <a:pt x="118147" y="108771"/>
                    <a:pt x="122131" y="104787"/>
                    <a:pt x="122131" y="99872"/>
                  </a:cubicBezTo>
                  <a:cubicBezTo>
                    <a:pt x="122131" y="94957"/>
                    <a:pt x="118146" y="90973"/>
                    <a:pt x="113231" y="90973"/>
                  </a:cubicBezTo>
                  <a:cubicBezTo>
                    <a:pt x="110098" y="90925"/>
                    <a:pt x="107183" y="92575"/>
                    <a:pt x="105610" y="95287"/>
                  </a:cubicBezTo>
                  <a:cubicBezTo>
                    <a:pt x="101083" y="102862"/>
                    <a:pt x="91273" y="105333"/>
                    <a:pt x="83697" y="1008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20">
              <a:extLst>
                <a:ext uri="{FF2B5EF4-FFF2-40B4-BE49-F238E27FC236}">
                  <a16:creationId xmlns:a16="http://schemas.microsoft.com/office/drawing/2014/main" id="{A6977EE0-33E5-4757-C331-EAE8D22C990B}"/>
                </a:ext>
              </a:extLst>
            </p:cNvPr>
            <p:cNvSpPr/>
            <p:nvPr/>
          </p:nvSpPr>
          <p:spPr>
            <a:xfrm>
              <a:off x="5197356" y="4153975"/>
              <a:ext cx="383458" cy="383458"/>
            </a:xfrm>
            <a:custGeom>
              <a:avLst/>
              <a:gdLst/>
              <a:ahLst/>
              <a:cxnLst/>
              <a:rect l="0" t="0" r="0" b="0"/>
              <a:pathLst>
                <a:path w="383458" h="383458">
                  <a:moveTo>
                    <a:pt x="143796" y="279604"/>
                  </a:moveTo>
                  <a:cubicBezTo>
                    <a:pt x="143717" y="280881"/>
                    <a:pt x="143717" y="282162"/>
                    <a:pt x="143796" y="283439"/>
                  </a:cubicBezTo>
                  <a:cubicBezTo>
                    <a:pt x="143850" y="284484"/>
                    <a:pt x="143508" y="285511"/>
                    <a:pt x="142838" y="286315"/>
                  </a:cubicBezTo>
                  <a:cubicBezTo>
                    <a:pt x="142094" y="287117"/>
                    <a:pt x="141055" y="287579"/>
                    <a:pt x="139962" y="287593"/>
                  </a:cubicBezTo>
                  <a:lnTo>
                    <a:pt x="79887" y="287593"/>
                  </a:lnTo>
                  <a:cubicBezTo>
                    <a:pt x="71063" y="287593"/>
                    <a:pt x="63909" y="280440"/>
                    <a:pt x="63909" y="271616"/>
                  </a:cubicBezTo>
                  <a:cubicBezTo>
                    <a:pt x="63909" y="262792"/>
                    <a:pt x="71063" y="255638"/>
                    <a:pt x="79887" y="255638"/>
                  </a:cubicBezTo>
                  <a:lnTo>
                    <a:pt x="119830" y="255638"/>
                  </a:lnTo>
                  <a:cubicBezTo>
                    <a:pt x="124242" y="255638"/>
                    <a:pt x="127819" y="252062"/>
                    <a:pt x="127819" y="247650"/>
                  </a:cubicBezTo>
                  <a:lnTo>
                    <a:pt x="127819" y="239661"/>
                  </a:lnTo>
                  <a:cubicBezTo>
                    <a:pt x="127819" y="235249"/>
                    <a:pt x="124242" y="231672"/>
                    <a:pt x="119830" y="231672"/>
                  </a:cubicBezTo>
                  <a:lnTo>
                    <a:pt x="31954" y="231672"/>
                  </a:lnTo>
                  <a:cubicBezTo>
                    <a:pt x="14306" y="231672"/>
                    <a:pt x="0" y="217365"/>
                    <a:pt x="0" y="199717"/>
                  </a:cubicBezTo>
                  <a:lnTo>
                    <a:pt x="0" y="31954"/>
                  </a:lnTo>
                  <a:cubicBezTo>
                    <a:pt x="0" y="14306"/>
                    <a:pt x="14306" y="0"/>
                    <a:pt x="31954" y="0"/>
                  </a:cubicBezTo>
                  <a:lnTo>
                    <a:pt x="255638" y="0"/>
                  </a:lnTo>
                  <a:cubicBezTo>
                    <a:pt x="273286" y="0"/>
                    <a:pt x="287593" y="14306"/>
                    <a:pt x="287593" y="31954"/>
                  </a:cubicBezTo>
                  <a:lnTo>
                    <a:pt x="287593" y="139962"/>
                  </a:lnTo>
                  <a:cubicBezTo>
                    <a:pt x="287536" y="140999"/>
                    <a:pt x="287078" y="141973"/>
                    <a:pt x="286315" y="142678"/>
                  </a:cubicBezTo>
                  <a:cubicBezTo>
                    <a:pt x="285535" y="143406"/>
                    <a:pt x="284506" y="143807"/>
                    <a:pt x="283439" y="143796"/>
                  </a:cubicBezTo>
                  <a:lnTo>
                    <a:pt x="279604" y="143796"/>
                  </a:lnTo>
                  <a:cubicBezTo>
                    <a:pt x="273136" y="143866"/>
                    <a:pt x="266679" y="144346"/>
                    <a:pt x="260272" y="145234"/>
                  </a:cubicBezTo>
                  <a:cubicBezTo>
                    <a:pt x="259144" y="145384"/>
                    <a:pt x="258001" y="145098"/>
                    <a:pt x="257076" y="144435"/>
                  </a:cubicBezTo>
                  <a:cubicBezTo>
                    <a:pt x="256174" y="143684"/>
                    <a:pt x="255648" y="142574"/>
                    <a:pt x="255638" y="141400"/>
                  </a:cubicBezTo>
                  <a:lnTo>
                    <a:pt x="255638" y="39943"/>
                  </a:lnTo>
                  <a:cubicBezTo>
                    <a:pt x="255638" y="35531"/>
                    <a:pt x="252062" y="31954"/>
                    <a:pt x="247649" y="31954"/>
                  </a:cubicBezTo>
                  <a:lnTo>
                    <a:pt x="39943" y="31954"/>
                  </a:lnTo>
                  <a:cubicBezTo>
                    <a:pt x="35531" y="31954"/>
                    <a:pt x="31954" y="35531"/>
                    <a:pt x="31954" y="39943"/>
                  </a:cubicBezTo>
                  <a:lnTo>
                    <a:pt x="31954" y="175751"/>
                  </a:lnTo>
                  <a:cubicBezTo>
                    <a:pt x="31954" y="180163"/>
                    <a:pt x="35531" y="183740"/>
                    <a:pt x="39943" y="183740"/>
                  </a:cubicBezTo>
                  <a:lnTo>
                    <a:pt x="173674" y="183740"/>
                  </a:lnTo>
                  <a:cubicBezTo>
                    <a:pt x="175267" y="183734"/>
                    <a:pt x="176712" y="184676"/>
                    <a:pt x="177349" y="186136"/>
                  </a:cubicBezTo>
                  <a:cubicBezTo>
                    <a:pt x="178119" y="187471"/>
                    <a:pt x="178119" y="189116"/>
                    <a:pt x="177349" y="190450"/>
                  </a:cubicBezTo>
                  <a:cubicBezTo>
                    <a:pt x="155652" y="215074"/>
                    <a:pt x="143718" y="246786"/>
                    <a:pt x="143796" y="279604"/>
                  </a:cubicBezTo>
                  <a:close/>
                  <a:moveTo>
                    <a:pt x="383458" y="279604"/>
                  </a:moveTo>
                  <a:cubicBezTo>
                    <a:pt x="383458" y="336961"/>
                    <a:pt x="336961" y="383458"/>
                    <a:pt x="279604" y="383458"/>
                  </a:cubicBezTo>
                  <a:cubicBezTo>
                    <a:pt x="222248" y="383458"/>
                    <a:pt x="175751" y="336961"/>
                    <a:pt x="175751" y="279604"/>
                  </a:cubicBezTo>
                  <a:cubicBezTo>
                    <a:pt x="175751" y="222248"/>
                    <a:pt x="222248" y="175751"/>
                    <a:pt x="279604" y="175751"/>
                  </a:cubicBezTo>
                  <a:cubicBezTo>
                    <a:pt x="336924" y="175839"/>
                    <a:pt x="383370" y="222284"/>
                    <a:pt x="383458" y="279604"/>
                  </a:cubicBezTo>
                  <a:close/>
                  <a:moveTo>
                    <a:pt x="295262" y="339679"/>
                  </a:moveTo>
                  <a:cubicBezTo>
                    <a:pt x="309868" y="336853"/>
                    <a:pt x="320843" y="324705"/>
                    <a:pt x="322177" y="309888"/>
                  </a:cubicBezTo>
                  <a:cubicBezTo>
                    <a:pt x="323510" y="295071"/>
                    <a:pt x="314881" y="281159"/>
                    <a:pt x="301014" y="275770"/>
                  </a:cubicBezTo>
                  <a:lnTo>
                    <a:pt x="268101" y="262509"/>
                  </a:lnTo>
                  <a:cubicBezTo>
                    <a:pt x="264485" y="261105"/>
                    <a:pt x="262127" y="257599"/>
                    <a:pt x="262189" y="253721"/>
                  </a:cubicBezTo>
                  <a:cubicBezTo>
                    <a:pt x="262189" y="248515"/>
                    <a:pt x="266410" y="244294"/>
                    <a:pt x="271616" y="244294"/>
                  </a:cubicBezTo>
                  <a:lnTo>
                    <a:pt x="303571" y="244294"/>
                  </a:lnTo>
                  <a:cubicBezTo>
                    <a:pt x="310189" y="244294"/>
                    <a:pt x="315554" y="238929"/>
                    <a:pt x="315554" y="232311"/>
                  </a:cubicBezTo>
                  <a:cubicBezTo>
                    <a:pt x="315554" y="225693"/>
                    <a:pt x="310189" y="220328"/>
                    <a:pt x="303571" y="220328"/>
                  </a:cubicBezTo>
                  <a:lnTo>
                    <a:pt x="295103" y="220328"/>
                  </a:lnTo>
                  <a:cubicBezTo>
                    <a:pt x="292897" y="220328"/>
                    <a:pt x="291108" y="218540"/>
                    <a:pt x="291108" y="216334"/>
                  </a:cubicBezTo>
                  <a:lnTo>
                    <a:pt x="291108" y="212340"/>
                  </a:lnTo>
                  <a:cubicBezTo>
                    <a:pt x="291108" y="205721"/>
                    <a:pt x="285743" y="200356"/>
                    <a:pt x="279125" y="200356"/>
                  </a:cubicBezTo>
                  <a:cubicBezTo>
                    <a:pt x="272507" y="200356"/>
                    <a:pt x="267142" y="205721"/>
                    <a:pt x="267142" y="212340"/>
                  </a:cubicBezTo>
                  <a:lnTo>
                    <a:pt x="267142" y="217293"/>
                  </a:lnTo>
                  <a:cubicBezTo>
                    <a:pt x="267168" y="219184"/>
                    <a:pt x="265812" y="220812"/>
                    <a:pt x="263947" y="221127"/>
                  </a:cubicBezTo>
                  <a:cubicBezTo>
                    <a:pt x="248689" y="224253"/>
                    <a:pt x="237618" y="237511"/>
                    <a:pt x="237264" y="253082"/>
                  </a:cubicBezTo>
                  <a:cubicBezTo>
                    <a:pt x="237123" y="266759"/>
                    <a:pt x="245455" y="279099"/>
                    <a:pt x="258195" y="284078"/>
                  </a:cubicBezTo>
                  <a:lnTo>
                    <a:pt x="291108" y="297339"/>
                  </a:lnTo>
                  <a:cubicBezTo>
                    <a:pt x="295356" y="298988"/>
                    <a:pt x="297817" y="303439"/>
                    <a:pt x="296954" y="307914"/>
                  </a:cubicBezTo>
                  <a:cubicBezTo>
                    <a:pt x="296090" y="312388"/>
                    <a:pt x="292150" y="315604"/>
                    <a:pt x="287593" y="315554"/>
                  </a:cubicBezTo>
                  <a:lnTo>
                    <a:pt x="255638" y="315554"/>
                  </a:lnTo>
                  <a:cubicBezTo>
                    <a:pt x="249020" y="315554"/>
                    <a:pt x="243655" y="320919"/>
                    <a:pt x="243655" y="327537"/>
                  </a:cubicBezTo>
                  <a:cubicBezTo>
                    <a:pt x="243655" y="334155"/>
                    <a:pt x="249020" y="339520"/>
                    <a:pt x="255638" y="339520"/>
                  </a:cubicBezTo>
                  <a:lnTo>
                    <a:pt x="263627" y="339520"/>
                  </a:lnTo>
                  <a:cubicBezTo>
                    <a:pt x="265833" y="339520"/>
                    <a:pt x="267621" y="341308"/>
                    <a:pt x="267621" y="343514"/>
                  </a:cubicBezTo>
                  <a:lnTo>
                    <a:pt x="267621" y="347509"/>
                  </a:lnTo>
                  <a:cubicBezTo>
                    <a:pt x="267621" y="354127"/>
                    <a:pt x="272986" y="359492"/>
                    <a:pt x="279604" y="359492"/>
                  </a:cubicBezTo>
                  <a:cubicBezTo>
                    <a:pt x="286223" y="359492"/>
                    <a:pt x="291587" y="354127"/>
                    <a:pt x="291587" y="347509"/>
                  </a:cubicBezTo>
                  <a:lnTo>
                    <a:pt x="291587" y="342556"/>
                  </a:lnTo>
                  <a:cubicBezTo>
                    <a:pt x="291561" y="340664"/>
                    <a:pt x="292918" y="339036"/>
                    <a:pt x="294783" y="338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938BDC-3144-08D7-2DD7-F5F0AEC1A9A5}"/>
                </a:ext>
              </a:extLst>
            </p:cNvPr>
            <p:cNvSpPr txBox="1"/>
            <p:nvPr/>
          </p:nvSpPr>
          <p:spPr>
            <a:xfrm>
              <a:off x="1014717" y="1894905"/>
              <a:ext cx="1521267" cy="251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Interpretación</a:t>
              </a:r>
              <a:endParaRPr sz="2000" b="1" dirty="0">
                <a:solidFill>
                  <a:srgbClr val="DE8431"/>
                </a:solidFill>
                <a:latin typeface="+mj-lt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4644F64-06F7-A389-DC8E-0CDCC35956E4}"/>
                </a:ext>
              </a:extLst>
            </p:cNvPr>
            <p:cNvSpPr txBox="1"/>
            <p:nvPr/>
          </p:nvSpPr>
          <p:spPr>
            <a:xfrm>
              <a:off x="6420179" y="1735950"/>
              <a:ext cx="1398445" cy="5028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sz="2000" b="1" dirty="0" err="1">
                  <a:solidFill>
                    <a:srgbClr val="4E88E7"/>
                  </a:solidFill>
                  <a:latin typeface="+mj-lt"/>
                </a:rPr>
                <a:t>Necesidad</a:t>
              </a:r>
              <a:r>
                <a:rPr sz="2000" b="1" dirty="0">
                  <a:solidFill>
                    <a:srgbClr val="4E88E7"/>
                  </a:solidFill>
                  <a:latin typeface="+mj-lt"/>
                </a:rPr>
                <a:t> de
Datos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C746C65-A607-6833-2B3B-D54681A7622B}"/>
                </a:ext>
              </a:extLst>
            </p:cNvPr>
            <p:cNvSpPr txBox="1"/>
            <p:nvPr/>
          </p:nvSpPr>
          <p:spPr>
            <a:xfrm>
              <a:off x="1008151" y="2260277"/>
              <a:ext cx="1521267" cy="5279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>
                  <a:solidFill>
                    <a:srgbClr val="484848"/>
                  </a:solidFill>
                  <a:latin typeface="+mj-lt"/>
                </a:rPr>
                <a:t>Los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mecanismos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de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atención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son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difíciles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entender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0D01C5-D836-1F61-0342-0A1AF2B770EF}"/>
                </a:ext>
              </a:extLst>
            </p:cNvPr>
            <p:cNvSpPr txBox="1"/>
            <p:nvPr/>
          </p:nvSpPr>
          <p:spPr>
            <a:xfrm>
              <a:off x="6420179" y="2354531"/>
              <a:ext cx="1713375" cy="5279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requiere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grandes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cantidades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datos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para un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buen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rendimiento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3AF3FF5-90B5-1718-3295-69634512466C}"/>
                </a:ext>
              </a:extLst>
            </p:cNvPr>
            <p:cNvSpPr txBox="1"/>
            <p:nvPr/>
          </p:nvSpPr>
          <p:spPr>
            <a:xfrm>
              <a:off x="1043168" y="4070938"/>
              <a:ext cx="1477009" cy="251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E0CB15"/>
                  </a:solidFill>
                  <a:latin typeface="+mj-lt"/>
                </a:rPr>
                <a:t>Bias </a:t>
              </a:r>
              <a:r>
                <a:rPr sz="2000" b="1" dirty="0" err="1">
                  <a:solidFill>
                    <a:srgbClr val="E0CB15"/>
                  </a:solidFill>
                  <a:latin typeface="+mj-lt"/>
                </a:rPr>
                <a:t>Inductiva</a:t>
              </a:r>
              <a:endParaRPr sz="2000" b="1" dirty="0">
                <a:solidFill>
                  <a:srgbClr val="E0CB15"/>
                </a:solidFill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202D73-59B7-7ED2-0D42-122525617F57}"/>
                </a:ext>
              </a:extLst>
            </p:cNvPr>
            <p:cNvSpPr txBox="1"/>
            <p:nvPr/>
          </p:nvSpPr>
          <p:spPr>
            <a:xfrm>
              <a:off x="6155996" y="3920532"/>
              <a:ext cx="1577572" cy="5028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sz="2000" b="1" dirty="0">
                  <a:solidFill>
                    <a:srgbClr val="3CC583"/>
                  </a:solidFill>
                  <a:latin typeface="+mj-lt"/>
                </a:rPr>
                <a:t>Costo de
</a:t>
              </a:r>
              <a:r>
                <a:rPr sz="2000" b="1" dirty="0" err="1">
                  <a:solidFill>
                    <a:srgbClr val="3CC583"/>
                  </a:solidFill>
                  <a:latin typeface="+mj-lt"/>
                </a:rPr>
                <a:t>Entrenamiento</a:t>
              </a:r>
              <a:endParaRPr sz="2000" b="1" dirty="0">
                <a:solidFill>
                  <a:srgbClr val="3CC583"/>
                </a:solidFill>
                <a:latin typeface="+mj-lt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A6A19E-DE15-9834-51AD-40EA7FBB8074}"/>
                </a:ext>
              </a:extLst>
            </p:cNvPr>
            <p:cNvSpPr txBox="1"/>
            <p:nvPr/>
          </p:nvSpPr>
          <p:spPr>
            <a:xfrm>
              <a:off x="766341" y="4436310"/>
              <a:ext cx="1725570" cy="7039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carece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 las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propiedades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
imagen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inherentes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que las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CNN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capturan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BE29229-323A-E7AD-458B-A22FE7DC9A95}"/>
                </a:ext>
              </a:extLst>
            </p:cNvPr>
            <p:cNvSpPr txBox="1"/>
            <p:nvPr/>
          </p:nvSpPr>
          <p:spPr>
            <a:xfrm>
              <a:off x="6155996" y="4524301"/>
              <a:ext cx="1876343" cy="5279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sz="1400" b="0" dirty="0">
                  <a:solidFill>
                    <a:srgbClr val="484848"/>
                  </a:solidFill>
                  <a:latin typeface="+mj-lt"/>
                </a:rPr>
                <a:t>El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entrenamiento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ViT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es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computacionalmente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intensivo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y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costoso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588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1D8-0B2B-6CB4-3ECB-CF7F4EA8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82A2-80FF-74D6-9CE0-DF0EA54864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ViT</a:t>
            </a:r>
            <a:r>
              <a:rPr lang="es-CL" dirty="0"/>
              <a:t> vs CNN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8F0F61-64B4-9B9B-D121-61CF480C2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341872"/>
              </p:ext>
            </p:extLst>
          </p:nvPr>
        </p:nvGraphicFramePr>
        <p:xfrm>
          <a:off x="368300" y="1765300"/>
          <a:ext cx="10985499" cy="4293393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661833">
                  <a:extLst>
                    <a:ext uri="{9D8B030D-6E8A-4147-A177-3AD203B41FA5}">
                      <a16:colId xmlns:a16="http://schemas.microsoft.com/office/drawing/2014/main" val="3568235041"/>
                    </a:ext>
                  </a:extLst>
                </a:gridCol>
                <a:gridCol w="3661833">
                  <a:extLst>
                    <a:ext uri="{9D8B030D-6E8A-4147-A177-3AD203B41FA5}">
                      <a16:colId xmlns:a16="http://schemas.microsoft.com/office/drawing/2014/main" val="2290625149"/>
                    </a:ext>
                  </a:extLst>
                </a:gridCol>
                <a:gridCol w="3661833">
                  <a:extLst>
                    <a:ext uri="{9D8B030D-6E8A-4147-A177-3AD203B41FA5}">
                      <a16:colId xmlns:a16="http://schemas.microsoft.com/office/drawing/2014/main" val="2825113780"/>
                    </a:ext>
                  </a:extLst>
                </a:gridCol>
              </a:tblGrid>
              <a:tr h="66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Característica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CNN (</a:t>
                      </a:r>
                      <a:r>
                        <a:rPr lang="es-CL" b="1" dirty="0" err="1"/>
                        <a:t>Convolutional</a:t>
                      </a:r>
                      <a:r>
                        <a:rPr lang="es-CL" b="1" dirty="0"/>
                        <a:t> Neural Network)</a:t>
                      </a:r>
                      <a:endParaRPr lang="es-CL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 err="1"/>
                        <a:t>ViT</a:t>
                      </a:r>
                      <a:r>
                        <a:rPr lang="es-CL" b="1" dirty="0"/>
                        <a:t> (</a:t>
                      </a:r>
                      <a:r>
                        <a:rPr lang="es-CL" b="1" dirty="0" err="1"/>
                        <a:t>Vision</a:t>
                      </a:r>
                      <a:r>
                        <a:rPr lang="es-CL" b="1" dirty="0"/>
                        <a:t> </a:t>
                      </a:r>
                      <a:r>
                        <a:rPr lang="es-CL" b="1" dirty="0" err="1"/>
                        <a:t>Transformer</a:t>
                      </a:r>
                      <a:r>
                        <a:rPr lang="es-CL" b="1" dirty="0"/>
                        <a:t>)</a:t>
                      </a:r>
                      <a:endParaRPr lang="es-CL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470268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Arquitectura base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Basada en convoluciones locales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Basada en atención (</a:t>
                      </a:r>
                      <a:r>
                        <a:rPr lang="es-CL" dirty="0" err="1"/>
                        <a:t>Transformer</a:t>
                      </a:r>
                      <a:r>
                        <a:rPr lang="es-CL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250994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/>
                        <a:t>Procesamiento de la imagen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Analiza por regiones pequeñas (filtros)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Divide en parches y trata cada uno como un token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85367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Uso de inductive </a:t>
                      </a:r>
                      <a:r>
                        <a:rPr lang="es-CL" b="1" dirty="0" err="1"/>
                        <a:t>bias</a:t>
                      </a:r>
                      <a:r>
                        <a:rPr lang="es-CL" b="1" dirty="0"/>
                        <a:t> visual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Alto (explota estructuras espaciales)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Bajo (aprende estructuras desde cero)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094547"/>
                  </a:ext>
                </a:extLst>
              </a:tr>
              <a:tr h="95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Necesidad de datos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Rinde bien con datasets pequeños o medianos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Necesita grandes cantidades de datos para buen rendimiento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128293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Escalabilidad y flexibilidad</a:t>
                      </a:r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Menos escalable a tareas muy grandes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Muy escalable y fácil de adaptar a nuevas tareas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738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098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C7CEF28-6506-3127-8AB2-F0237748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6096E-6F18-9FDF-6A7E-591FC5C6BA28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403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8157</TotalTime>
  <Words>1006</Words>
  <Application>Microsoft Office PowerPoint</Application>
  <PresentationFormat>Panorámica</PresentationFormat>
  <Paragraphs>129</Paragraphs>
  <Slides>20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Bitter</vt:lpstr>
      <vt:lpstr>Arial</vt:lpstr>
      <vt:lpstr>Calibri</vt:lpstr>
      <vt:lpstr>Cambria</vt:lpstr>
      <vt:lpstr>Cambria Math</vt:lpstr>
      <vt:lpstr>Open Sans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Anthony Douglas Cho Lo</cp:lastModifiedBy>
  <cp:revision>663</cp:revision>
  <dcterms:created xsi:type="dcterms:W3CDTF">2020-06-07T00:37:01Z</dcterms:created>
  <dcterms:modified xsi:type="dcterms:W3CDTF">2026-05-29T04:47:31Z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