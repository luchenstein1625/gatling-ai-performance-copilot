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ppt/ink/ink2.xml" ContentType="application/inkml+xml"/>
  <Override PartName="/ppt/ink/ink3.xml" ContentType="application/inkml+xml"/>
  <Override PartName="/ppt/notesSlides/notesSlide14.xml" ContentType="application/vnd.openxmlformats-officedocument.presentationml.notesSlide+xml"/>
  <Override PartName="/ppt/ink/ink4.xml" ContentType="application/inkml+xml"/>
  <Override PartName="/ppt/ink/ink5.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726" r:id="rId2"/>
  </p:sldMasterIdLst>
  <p:notesMasterIdLst>
    <p:notesMasterId r:id="rId45"/>
  </p:notesMasterIdLst>
  <p:sldIdLst>
    <p:sldId id="256" r:id="rId3"/>
    <p:sldId id="419" r:id="rId4"/>
    <p:sldId id="440" r:id="rId5"/>
    <p:sldId id="432" r:id="rId6"/>
    <p:sldId id="317" r:id="rId7"/>
    <p:sldId id="312" r:id="rId8"/>
    <p:sldId id="313" r:id="rId9"/>
    <p:sldId id="314" r:id="rId10"/>
    <p:sldId id="439" r:id="rId11"/>
    <p:sldId id="433" r:id="rId12"/>
    <p:sldId id="434" r:id="rId13"/>
    <p:sldId id="315" r:id="rId14"/>
    <p:sldId id="291" r:id="rId15"/>
    <p:sldId id="292" r:id="rId16"/>
    <p:sldId id="293" r:id="rId17"/>
    <p:sldId id="441" r:id="rId18"/>
    <p:sldId id="437" r:id="rId19"/>
    <p:sldId id="438" r:id="rId20"/>
    <p:sldId id="420" r:id="rId21"/>
    <p:sldId id="294" r:id="rId22"/>
    <p:sldId id="296" r:id="rId23"/>
    <p:sldId id="297" r:id="rId24"/>
    <p:sldId id="299" r:id="rId25"/>
    <p:sldId id="298" r:id="rId26"/>
    <p:sldId id="300" r:id="rId27"/>
    <p:sldId id="301" r:id="rId28"/>
    <p:sldId id="303" r:id="rId29"/>
    <p:sldId id="304" r:id="rId30"/>
    <p:sldId id="435" r:id="rId31"/>
    <p:sldId id="310" r:id="rId32"/>
    <p:sldId id="320" r:id="rId33"/>
    <p:sldId id="321" r:id="rId34"/>
    <p:sldId id="311" r:id="rId35"/>
    <p:sldId id="323" r:id="rId36"/>
    <p:sldId id="442" r:id="rId37"/>
    <p:sldId id="443" r:id="rId38"/>
    <p:sldId id="324" r:id="rId39"/>
    <p:sldId id="327" r:id="rId40"/>
    <p:sldId id="328" r:id="rId41"/>
    <p:sldId id="330" r:id="rId42"/>
    <p:sldId id="444" r:id="rId43"/>
    <p:sldId id="329" r:id="rId44"/>
  </p:sldIdLst>
  <p:sldSz cx="10080625" cy="7559675"/>
  <p:notesSz cx="7772400" cy="100584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6069E6-67BB-4714-B0F0-916332E51A39}" v="1150" dt="2025-05-05T18:36:07.5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76" autoAdjust="0"/>
    <p:restoredTop sz="91023" autoAdjust="0"/>
  </p:normalViewPr>
  <p:slideViewPr>
    <p:cSldViewPr snapToGrid="0">
      <p:cViewPr varScale="1">
        <p:scale>
          <a:sx n="72" d="100"/>
          <a:sy n="72" d="100"/>
        </p:scale>
        <p:origin x="1762" y="262"/>
      </p:cViewPr>
      <p:guideLst>
        <p:guide orient="horz" pos="2381"/>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51"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Chaigneau" userId="f68fbc50c7642311" providerId="LiveId" clId="{C96069E6-67BB-4714-B0F0-916332E51A39}"/>
    <pc:docChg chg="undo custSel addSld modSld">
      <pc:chgData name="Sergio Chaigneau" userId="f68fbc50c7642311" providerId="LiveId" clId="{C96069E6-67BB-4714-B0F0-916332E51A39}" dt="2025-05-12T16:48:02.413" v="609" actId="1076"/>
      <pc:docMkLst>
        <pc:docMk/>
      </pc:docMkLst>
      <pc:sldChg chg="delSp modSp new mod">
        <pc:chgData name="Sergio Chaigneau" userId="f68fbc50c7642311" providerId="LiveId" clId="{C96069E6-67BB-4714-B0F0-916332E51A39}" dt="2025-05-12T16:48:02.413" v="609" actId="1076"/>
        <pc:sldMkLst>
          <pc:docMk/>
          <pc:sldMk cId="3239631730" sldId="444"/>
        </pc:sldMkLst>
        <pc:spChg chg="mod">
          <ac:chgData name="Sergio Chaigneau" userId="f68fbc50c7642311" providerId="LiveId" clId="{C96069E6-67BB-4714-B0F0-916332E51A39}" dt="2025-05-12T16:45:44.248" v="306" actId="20577"/>
          <ac:spMkLst>
            <pc:docMk/>
            <pc:sldMk cId="3239631730" sldId="444"/>
            <ac:spMk id="2" creationId="{CABC0259-A598-BB68-FF85-A3AB62D6B3FB}"/>
          </ac:spMkLst>
        </pc:spChg>
        <pc:spChg chg="del">
          <ac:chgData name="Sergio Chaigneau" userId="f68fbc50c7642311" providerId="LiveId" clId="{C96069E6-67BB-4714-B0F0-916332E51A39}" dt="2025-05-12T16:37:10.855" v="37" actId="478"/>
          <ac:spMkLst>
            <pc:docMk/>
            <pc:sldMk cId="3239631730" sldId="444"/>
            <ac:spMk id="3" creationId="{DC41DF19-C20E-1F0E-8A5E-F34E9BA875E5}"/>
          </ac:spMkLst>
        </pc:spChg>
        <pc:spChg chg="mod">
          <ac:chgData name="Sergio Chaigneau" userId="f68fbc50c7642311" providerId="LiveId" clId="{C96069E6-67BB-4714-B0F0-916332E51A39}" dt="2025-05-12T16:48:02.413" v="609" actId="1076"/>
          <ac:spMkLst>
            <pc:docMk/>
            <pc:sldMk cId="3239631730" sldId="444"/>
            <ac:spMk id="4" creationId="{181B3776-CE41-BC74-9D51-564C0C589ED2}"/>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6T19:33:42.689"/>
    </inkml:context>
    <inkml:brush xml:id="br0">
      <inkml:brushProperty name="width" value="0.1" units="cm"/>
      <inkml:brushProperty name="height" value="0.1" units="cm"/>
      <inkml:brushProperty name="color" value="#E71224"/>
    </inkml:brush>
  </inkml:definitions>
  <inkml:trace contextRef="#ctx0" brushRef="#br0">1026 0 24575,'-112'102'0,"-413"454"0,453-473 0,-71 108 0,116-151 0,2 2 0,2 0 0,2 2 0,2 0 0,-15 54 0,25-53 0,2 1 0,2-1 0,2 1 0,2 0 0,6 58 0,-1-11 0,-3-79 0,0-1 0,0 0 0,2 1 0,0-1 0,0 0 0,1 0 0,1-1 0,0 1 0,0-1 0,10 14 0,-4-9 0,1 0 0,1-1 0,0-1 0,1 0 0,1-1 0,19 14 0,26 21 0,-5-3 0,3-2 0,96 56 0,-127-88 0,2 0 0,40 10 0,17 6 0,-43-13 0,0-3 0,83 13 0,-88-20 0,-1 2 0,0 2 0,-1 1 0,67 28 0,43 36 0,262 92 0,-364-152 0,1-1 0,1-2 0,0-2 0,0-2 0,50 1 0,-45-7 0,8 1 0,1-2 0,-1-3 0,99-18 0,-120 13 0,-1-2 0,0-1 0,0-3 0,-2 0 0,1-2 0,-2-2 0,-1-1 0,0-2 0,33-27 0,-57 38 0,0-2 0,-1 1 0,0-1 0,-1 0 0,-1-1 0,1 0 0,-2 0 0,0 0 0,-1 0 0,4-18 0,13-32 0,-9 28 0,-1 0 0,-2-1 0,-1-1 0,-2 1 0,1-40 0,-6-189 0,-4 132 0,0 93 0,-2 1 0,-1 0 0,-2 1 0,-16-47 0,10 40 0,3-1 0,-8-65 0,18 95 0,0 1 0,-1 0 0,-1 0 0,0 0 0,-1 0 0,-1 0 0,0 1 0,-1 0 0,0 0 0,-1 0 0,-1 1 0,0 0 0,-1 0 0,0 1 0,-1 0 0,-1 1 0,1 0 0,-2 1 0,1 0 0,-17-10 0,2 3 0,-94-67 0,105 72 0,1-1 0,1 0 0,0-1 0,0 0 0,-17-27 0,16 22 0,-1 1 0,-1 1 0,0 0 0,-1 2 0,-1 0 0,0 0 0,-2 2 0,-27-15 0,16 8 0,1-1 0,-34-29 0,3-5 0,-40-40 0,89 83 0,-1 0 0,1 1 0,-2 1 0,0 0 0,0 0 0,-1 2 0,0 0 0,-23-10 0,6 8 0,-1 0 0,0 2 0,-40-5 0,-25-6 0,60 10 0,-75-6 0,18 14 0,63 2 0,0-1 0,1-2 0,-1-1 0,-50-11 0,10-3 41,37 9-744,-40-14 0,46 11-6123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6T19:34:47.974"/>
    </inkml:context>
    <inkml:brush xml:id="br0">
      <inkml:brushProperty name="width" value="0.1" units="cm"/>
      <inkml:brushProperty name="height" value="0.1" units="cm"/>
      <inkml:brushProperty name="color" value="#E71224"/>
    </inkml:brush>
  </inkml:definitions>
  <inkml:trace contextRef="#ctx0" brushRef="#br0">145 512 24575,'-1'5'0,"-1"1"0,1 0 0,-1-1 0,0 1 0,0-1 0,-1 0 0,1 1 0,-7 7 0,-4 11 0,-7 21 0,2 0 0,2 1 0,3 1 0,1 0 0,2 1 0,3 0 0,1 0 0,1 54 0,5-78 0,0 0 0,2 1 0,1-1 0,1 0 0,7 27 0,-9-45 0,0 0 0,1 0 0,-1 0 0,1-1 0,0 1 0,1-1 0,0 1 0,-1-1 0,2 0 0,-1-1 0,0 1 0,1-1 0,0 0 0,0 0 0,0 0 0,1 0 0,-1-1 0,1 0 0,0 0 0,-1-1 0,1 0 0,1 0 0,-1 0 0,10 1 0,32 2 0,1-2 0,0-3 0,59-5 0,11-1 0,343 6 0,-434-2 0,0-1 0,1-1 0,35-11 0,-31 7 0,63-7 0,15 12 0,-64 3 0,-1-2 0,72-12 0,-48 2 0,139-7 0,74 20 0,-106 2 0,608-3 0,-776 0 0,0 0 0,0 0 0,0-1 0,-1-1 0,1 1 0,0-1 0,-1-1 0,1 0 0,-1 0 0,0 0 0,14-9 0,-16 8 0,-1-1 0,0 0 0,0 1 0,0-2 0,-1 1 0,1 0 0,-2-1 0,1 0 0,0 0 0,-1 0 0,0 0 0,-1-1 0,1 1 0,-1-1 0,2-12 0,3-30 0,-2 0 0,-3 0 0,-2 0 0,-6-52 0,1-26 0,7 53 0,0 30 0,-5-48 0,2 80 0,0 0 0,-1 0 0,-1 1 0,0-1 0,0 1 0,-1 0 0,-1 0 0,-11-20 0,-9-9 0,4 6 0,-51-63 0,63 87 0,0 1 0,-1 0 0,0 0 0,-1 1 0,1 0 0,-2 1 0,1 0 0,-1 1 0,0 0 0,-14-4 0,-32-7 0,-1 4 0,-91-11 0,52 6 0,61 10 0,-50-5 0,-462 7 0,299 9 0,206-4 0,12 0 0,-1 1 0,1 2 0,0 1 0,-52 12 0,47-7 0,-1-1 0,-64 3 0,33-5 0,31 1 0,-45 13 0,11-3 0,56-11 0,0 1 0,0 0 0,1 1 0,0 0 0,0 1 0,0 1 0,-17 14 0,-46 26 0,-52 5 0,73-33 0,-4 5 0,38-15 0,0-1 0,-1-1 0,-1-1 0,1-1 0,-31 4 0,-6-8 0,47-4 0,-1 2 0,1-1 0,-1 2 0,1 0 0,-22 6 0,32-6 0,1-1 0,-1 1 0,0 0 0,0 0 0,1 1 0,-1-1 0,1 1 0,0-1 0,0 1 0,0 0 0,0 0 0,0 0 0,1 1 0,-1-1 0,1 1 0,0-1 0,0 1 0,1 0 0,-1 0 0,1 0 0,-1 0 0,1 0 0,-1 7 0,-2 29-1365,2-2-5461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15:19:26.277"/>
    </inkml:context>
    <inkml:brush xml:id="br0">
      <inkml:brushProperty name="width" value="0.05" units="cm"/>
      <inkml:brushProperty name="height" value="0.05" units="cm"/>
      <inkml:brushProperty name="color" value="#E71224"/>
    </inkml:brush>
  </inkml:definitions>
  <inkml:trace contextRef="#ctx0" brushRef="#br0">235 108 24575,'0'1'0,"-1"1"0,1 0 0,-1 0 0,0-1 0,1 1 0,-1 0 0,0-1 0,0 1 0,0-1 0,0 1 0,-1-1 0,1 0 0,-2 3 0,-2 0 0,-25 30 0,-25 30 0,47-53 0,0 0 0,0 1 0,2 0 0,-7 13 0,10-15 0,-1 0 0,-1 13 0,3-12 0,-1 0 0,-4 11 0,-11 32 0,13-38 0,-12 32 0,13-40 0,0 1 0,0 0 0,1-1 0,1 1 0,0 0 0,0 0 0,-1 16 0,3-19 0,0 0 0,1 0 0,0 0 0,0 0 0,0 0 0,1 0 0,-1 0 0,1-1 0,1 1 0,-1-1 0,1 1 0,0-1 0,4 5 0,9 11 0,35 36 0,-21-23 0,-22-25 0,0 1 0,1-1 0,12 11 0,-6-10 0,-7-4 0,-1 0 0,1 0 0,-1 0 0,0 1 0,7 9 0,-5-6 0,1 1 0,0-1 0,0-1 0,1 0 0,1 0 0,-1-1 0,1 0 0,14 6 0,-19-10 0,0 1 0,0 0 0,-1 1 0,0 0 0,7 7 0,-5-4 0,14 11 0,-19-18 0,0 1 0,1-1 0,-1 0 0,1 0 0,-1 0 0,1-1 0,0 1 0,5 0 0,2 0 0,0 0 0,12-1 0,-15-1 0,1 1 0,-1 0 0,0 0 0,15 4 0,-12-1 0,-1-1 0,1-1 0,0 0 0,1 0 0,-1-1 0,17-1 0,-12-1 0,0-1 0,0 0 0,29-9 0,-32 7 0,11-3 0,24-10 0,-34 11 0,27-6 0,-26 9 0,21-9 0,-2-1 0,-16 6 0,21-10 0,-34 14 0,1 0 0,-1-1 0,1 0 0,-1 0 0,0 0 0,-1-1 0,7-6 0,-5 2 0,0 0 0,-1 0 0,6-11 0,-7 11 0,0 1 0,1-1 0,0 1 0,8-10 0,-8 13 0,1-1 0,-1 0 0,-1 0 0,1 0 0,-1-1 0,0 0 0,-1 0 0,1 0 0,3-15 0,-3 2 0,-2-1 0,0 0 0,-2-1 0,-2-21 0,1-1 0,1 40 0,-1-1 0,1 0 0,-1 1 0,0-1 0,0 0 0,0 1 0,-1-1 0,-3-5 0,-1-1 0,-13-19 0,6 12 0,10 12 0,-1 0 0,1-1 0,-3-8 0,5 10 0,-1 0 0,0 0 0,0 0 0,-1 1 0,0-1 0,0 1 0,-4-6 0,-39-50 0,1 1 0,8 16 0,-21-23 0,48 56 0,0 1 0,-22-16 0,31 24 0,-5-4 0,0 1 0,-1 0 0,1 1 0,-1-1 0,0 1 0,0 0 0,0 1 0,-13-4 0,12 6 0,1-2 0,0 1 0,0-1 0,0 0 0,0-1 0,0 1 0,-13-8 0,4 1 0,-1 1 0,-24-8 0,17 7 0,3 1 0,0 0 0,-1 1 0,0 2 0,0 0 0,0 1 0,-38-2 0,25 6 0,-98 2 0,129-2 0,1 0 0,0 1 0,0-1 0,0 1 0,-1 0 0,1 0 0,0 0 0,0 0 0,-3 2 0,5-2 0,-1 0 0,1 0 0,0 0 0,-1 0 0,1 0 0,0 1 0,0-1 0,0 1 0,0-1 0,0 1 0,0-1 0,0 1 0,1-1 0,-1 1 0,0 0 0,1-1 0,-1 4 0,-1 11-1365,1 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6T19:35:43.714"/>
    </inkml:context>
    <inkml:brush xml:id="br0">
      <inkml:brushProperty name="width" value="0.1" units="cm"/>
      <inkml:brushProperty name="height" value="0.1" units="cm"/>
      <inkml:brushProperty name="color" value="#E71224"/>
    </inkml:brush>
  </inkml:definitions>
  <inkml:trace contextRef="#ctx0" brushRef="#br0">833 134 24575,'-30'-1'0,"-1"2"0,0 0 0,1 3 0,-1 0 0,1 2 0,0 1 0,1 1 0,-1 2 0,2 0 0,-34 19 0,18-5 0,1 2 0,0 1 0,-55 50 0,84-65 0,0 1 0,1 0 0,1 1 0,1 0 0,0 1 0,0 0 0,2 1 0,0 0 0,0 0 0,2 1 0,0 1 0,-8 33 0,-27 115 0,26-112 0,3 1 0,-12 96 0,21 213 0,5-223 0,0-119 0,0-1 0,2 1 0,0-1 0,1 1 0,1-1 0,1 0 0,1-1 0,1 0 0,1 0 0,0 0 0,2-1 0,0-1 0,1 0 0,1 0 0,0-1 0,2-1 0,29 27 0,7 1 0,-20-17 0,1 0 0,52 32 0,-33-26 0,69 58 0,-81-59 0,1-1 0,1-3 0,53 28 0,2-1 0,-70-38 0,1-1 0,1-2 0,48 19 0,78 20 0,69 21 0,-183-64 0,0-2 0,0-1 0,71 3 0,486-11 0,-224-1 0,-361 2 0,-1 0 0,0-1 0,1 0 0,-1-1 0,0 0 0,0 0 0,0-1 0,0-1 0,-1 0 0,1 0 0,-1-1 0,0-1 0,-1 1 0,1-2 0,-1 1 0,0-1 0,0-1 0,-1 1 0,0-1 0,-1-1 0,0 0 0,0 0 0,0 0 0,-2-1 0,1 1 0,-1-2 0,8-20 0,-7 9 0,0 0 0,-2 0 0,0-1 0,1-43 0,-10-97 0,0 56 0,6 29 0,-4-67 0,2 127 0,-2 1 0,0 1 0,0-1 0,-2 0 0,0 1 0,-10-21 0,-84-191 0,77 173 0,12 33 0,-1 1 0,-1 1 0,0 0 0,-2 0 0,-20-22 0,-88-84 0,103 108 0,-160-130 0,-8-8 0,154 127 0,-1 2 0,-1 2 0,-43-24 0,33 21 0,-68-53 0,44 26 0,-134-82 0,190 130 0,0 1 0,-1 0 0,1 0 0,-1 1 0,0 1 0,-1 1 0,1 0 0,-20-1 0,-11 1 0,-62 6 0,65-1 0,-76-5 0,104 2 0,0-2 0,0 0 0,0 0 0,0-1 0,1-1 0,0 0 0,0-1 0,0 0 0,-16-11 0,14 2 0,0 0 0,1 0 0,0-2 0,2 0 0,0 0 0,-19-38 0,26 47 0,-1-2-273,2 0 0,-1-1 0,1 1 0,-3-16 0,0-6-6553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5-16T19:35:48.349"/>
    </inkml:context>
    <inkml:brush xml:id="br0">
      <inkml:brushProperty name="width" value="0.1" units="cm"/>
      <inkml:brushProperty name="height" value="0.1" units="cm"/>
      <inkml:brushProperty name="color" value="#E71224"/>
    </inkml:brush>
  </inkml:definitions>
  <inkml:trace contextRef="#ctx0" brushRef="#br0">237 421 24575,'-6'1'0,"1"-1"0,-1 1 0,1 0 0,-1 1 0,1-1 0,-1 1 0,1 0 0,0 1 0,0-1 0,0 1 0,0 0 0,0 0 0,1 1 0,-1-1 0,1 1 0,-7 8 0,-4 6 0,0 0 0,-20 35 0,22-32 0,4-6 0,0 1 0,2 0 0,-1 0 0,2 1 0,0 0 0,1 0 0,1 0 0,-3 28 0,3 8 0,4 82 0,1-99 0,-1-27 0,1 0 0,0-1 0,0 1 0,0 0 0,1 0 0,1-1 0,-1 1 0,8 15 0,-6-18 0,-1-1 0,1 0 0,0 0 0,0 0 0,1-1 0,-1 1 0,1-1 0,0 0 0,0 0 0,0-1 0,1 1 0,-1-1 0,10 3 0,4 1 0,0 0 0,0-2 0,0-1 0,0 0 0,1-1 0,23 0 0,125-7 0,-75 0 0,369 3 0,-453 2 0,0-1 0,0-1 0,-1 0 0,1 0 0,0 0 0,-1-1 0,1-1 0,-1 1 0,0-1 0,0-1 0,0 1 0,0-2 0,0 1 0,-1-1 0,0 0 0,0 0 0,0-1 0,-1 0 0,1 0 0,-2-1 0,1 1 0,-1-1 0,0-1 0,0 1 0,-1-1 0,1 1 0,-2-1 0,1-1 0,2-12 0,2-6 0,-1-1 0,-1 1 0,-2-1 0,2-46 0,-11-117 0,0 67 0,5 98 0,0-4 0,0 0 0,-2 0 0,-2 0 0,-8-36 0,5 41 0,-18-52 0,22 71 0,0 0 0,0 1 0,-1-1 0,0 1 0,0 0 0,0 0 0,-1 0 0,1 0 0,-1 1 0,-9-6 0,-6-3 0,0 1 0,-2 1 0,1 2 0,-1 0 0,-1 1 0,1 0 0,-1 2 0,-27-3 0,-38-8 0,-73-11 0,141 26 0,0 1 0,0 0 0,0 2 0,-1 1 0,-36 7 0,47-6 6,1 0 0,0 1-1,0 0 1,0 1 0,1 0-1,0 0 1,0 1 0,0 0 0,1 0-1,-1 1 1,1 0 0,1 0-1,0 1 1,0 0 0,0 0-1,1 0 1,0 1 0,0-1 0,1 1-1,-3 11 1,-3 8-254,2 0 1,1 0-1,1 0 1,1 1-1,-1 47 1,5-37-6579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15:13:27.070"/>
    </inkml:context>
    <inkml:brush xml:id="br0">
      <inkml:brushProperty name="width" value="0.05" units="cm"/>
      <inkml:brushProperty name="height" value="0.05" units="cm"/>
      <inkml:brushProperty name="color" value="#E71224"/>
    </inkml:brush>
  </inkml:definitions>
  <inkml:trace contextRef="#ctx0" brushRef="#br0">32 1 24575,'5'0'0,"-1"0"0,1 1 0,0 0 0,-1 0 0,1 0 0,0 1 0,6 2 0,30 19 0,-32-18 0,52 33 0,-51-31 0,1 1 0,-2 0 0,1 1 0,-1 0 0,11 13 0,-16-15 0,1 0 0,-1-1 0,-1 1 0,1 1 0,-1-1 0,0 0 0,-1 1 0,3 13 0,-1-1 0,-2 0 0,1 25 0,-3-20 0,1 6 0,-4 44 0,2-68 0,-1 1 0,0-1 0,-5 11 0,4-11 0,1 1 0,-4 14 0,3-4 0,0-2 0,-2 1 0,-10 27 0,12-36 0,0-2 0,0 1 0,0-1 0,1 1 0,0 0 0,-1 12 0,3-18 0,0 1 0,0-1 0,0 1 0,0-1 0,0 1 0,0-1 0,1 0 0,-1 1 0,0-1 0,1 0 0,-1 1 0,1-1 0,0 0 0,-1 1 0,1-1 0,0 0 0,0 0 0,0 0 0,0 0 0,0 0 0,0 0 0,0 0 0,0 0 0,0 0 0,1 0 0,-1-1 0,0 1 0,0-1 0,1 1 0,-1-1 0,1 1 0,-1-1 0,0 1 0,3-1 0,13 2 0,0 0 0,1-1 0,-1-1 0,23-3 0,6 1 0,-17 2 0,-1 1 0,35 5 0,-44-4 0,-12-2 0,0 1 0,0 0 0,8 2 0,-14-3 0,0 0 0,1 1 0,-1-1 0,0 1 0,0-1 0,1 1 0,-1 0 0,0-1 0,0 1 0,0 0 0,0 0 0,0 0 0,0-1 0,0 1 0,-1 0 0,1 0 0,0 1 0,0-1 0,-1 0 0,1 0 0,0 0 0,-1 2 0,1-1 0,-1 0 0,0 0 0,0-1 0,0 1 0,0 0 0,0 0 0,-1 0 0,1 0 0,-1 0 0,1 0 0,-1 0 0,1-1 0,-1 1 0,0 0 0,0 0 0,-2 2 0,-3 4 0,-12 15 0,13-18 0,2-1 0,-1 0 0,0 0 0,0-1 0,0 1 0,0-1 0,-1 0 0,1 0 0,-1 0 0,0-1 0,0 0 0,-6 3 0,-8 2 0,1 1 0,1 0 0,-34 22 0,37-20 0,-24 22 0,31-25 0,2-4 0,0 1 0,0-1 0,-1 0 0,1 0 0,-7 3 0,-4 1 0,15-6 0,0-1 0,0 1 0,1-1 0,-1 1 0,0-1 0,1 1 0,-1-1 0,0 1 0,1 0 0,-1-1 0,1 1 0,-1 0 0,1 0 0,0-1 0,-1 1 0,1 0 0,0 0 0,-1 0 0,1-1 0,0 1 0,0 0 0,0 0 0,-1 0 0,1 0 0,0 0 0,0 0 0,1-1 0,-1 1 0,0 0 0,0 0 0,0 0 0,0 0 0,1-1 0,-1 1 0,0 0 0,1 0 0,-1 0 0,1 0 0,3 5 0,0 0 0,0 0 0,9 9 0,-9-9 0,14 13 0,-14-16 0,-1 1 0,1 0 0,-1 0 0,1 1 0,-1-1 0,0 0 0,-1 1 0,1 0 0,-1 0 0,0 0 0,0 0 0,2 7 0,-2 5 0,0-1 0,-2 1 0,0 0 0,-3 29 0,-19 66 0,17-92 0,1-8 0,-2 18 0,4-19 0,-1-1 0,0 0 0,-1 1 0,0-1 0,-8 14 0,2-3 0,8-17 0,0 1 0,-1-1 0,1-1 0,-1 1 0,0 0 0,0-1 0,-1 1 0,-3 2 0,-5 4 0,-16 8 0,-4 4 0,22-14-84,-7 6 155,-1-1 1,-30 17 0,43-27-172,-1-1 0,1 0 1,-1 1-1,1-2 0,-1 1 1,0-1-1,0 1 0,0-2 0,0 1 1,0-1-1,0 0 0,0 0 0,0 0 1,-7-2-1,1-2-6726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15:13:34.157"/>
    </inkml:context>
    <inkml:brush xml:id="br0">
      <inkml:brushProperty name="width" value="0.05" units="cm"/>
      <inkml:brushProperty name="height" value="0.05" units="cm"/>
      <inkml:brushProperty name="color" value="#E71224"/>
    </inkml:brush>
  </inkml:definitions>
  <inkml:trace contextRef="#ctx0" brushRef="#br0">0 1 24575,'387'0'0,"-381"0"0,0 1 0,0-1 0,0 2 0,0-1 0,-1 0 0,10 5 0,32 16 0,-33-14 0,84 47 0,-64-34 0,-26-16 0,-1 0 0,1 0 0,-2 1 0,1 0 0,-1 1 0,0-1 0,0 1 0,0 0 0,-1 1 0,0-1 0,-1 1 0,0 0 0,0 1 0,4 13 0,-2-3 0,-2 0 0,0 0 0,-1 1 0,-1-1 0,0 34 0,-3 78 0,1-125 0,-1 0 0,1-1 0,-1 1 0,0-1 0,-1 1 0,-3 9 0,-18 30 0,17-35 0,0 2 0,1-1 0,-5 13 0,1 10 0,5-19 0,0 0 0,-1 0 0,-1 0 0,-8 15 0,-12 22 0,17-33 0,-1-1 0,-13 21 0,-26 40 0,-5 6 0,48-77-170,0 1-1,0-1 0,1 1 1,0 0-1,0 0 0,1 1 1,-4 14-1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15:13:37.363"/>
    </inkml:context>
    <inkml:brush xml:id="br0">
      <inkml:brushProperty name="width" value="0.05" units="cm"/>
      <inkml:brushProperty name="height" value="0.05" units="cm"/>
      <inkml:brushProperty name="color" value="#E71224"/>
    </inkml:brush>
  </inkml:definitions>
  <inkml:trace contextRef="#ctx0" brushRef="#br0">1 0 24575,'0'501'0,"0"-497"0,0 0 0,0 0 0,0 0 0,1 0 0,0 0 0,0 0 0,2 6 0,-3-9 0,1 0 0,0 0 0,-1 1 0,1-1 0,0 0 0,0 0 0,0 0 0,0 0 0,0 0 0,0 0 0,0 0 0,0-1 0,0 1 0,1 0 0,-1-1 0,0 1 0,0-1 0,1 1 0,-1-1 0,0 1 0,1-1 0,-1 0 0,1 0 0,-1 1 0,2-1 0,2-1 0,0 0 0,-1 1 0,1-1 0,-1-1 0,1 1 0,-1-1 0,1 1 0,-1-2 0,0 1 0,6-4 0,-4 3 0,-1 0 0,1 0 0,0 0 0,0 1 0,8-3 0,-8 4 0,0 0 0,0 0 0,-1-1 0,1 0 0,0 0 0,-1 0 0,1-1 0,-1 0 0,0 0 0,0 0 0,0-1 0,7-6 0,-5 3 0,0 0 0,1 1 0,0 0 0,0 1 0,11-7 0,45-17 0,-23 12 0,-31 12 0,14-10 0,-19 11 0,0 1 0,0 0 0,0 0 0,0 0 0,1 0 0,-1 1 0,1 0 0,0 0 0,9-1 0,-10 2-273,1 1 0,-1-1 0,0 0 0,6-3 0,2-1-6553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295650" y="754375"/>
            <a:ext cx="5181850" cy="37719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777225" y="4777725"/>
            <a:ext cx="6217899" cy="4526274"/>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160305476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Shape 58"/>
          <p:cNvSpPr txBox="1">
            <a:spLocks noGrp="1"/>
          </p:cNvSpPr>
          <p:nvPr>
            <p:ph type="body" idx="1"/>
          </p:nvPr>
        </p:nvSpPr>
        <p:spPr>
          <a:xfrm>
            <a:off x="777225" y="4777725"/>
            <a:ext cx="6217899" cy="4526274"/>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9" name="Shape 59"/>
          <p:cNvSpPr>
            <a:spLocks noGrp="1" noRot="1" noChangeAspect="1"/>
          </p:cNvSpPr>
          <p:nvPr>
            <p:ph type="sldImg" idx="2"/>
          </p:nvPr>
        </p:nvSpPr>
        <p:spPr>
          <a:xfrm>
            <a:off x="1371600" y="754063"/>
            <a:ext cx="5029200" cy="37719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5056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66230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791323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4044809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350253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798744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4071283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429725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3366675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Shape 58"/>
          <p:cNvSpPr txBox="1">
            <a:spLocks noGrp="1"/>
          </p:cNvSpPr>
          <p:nvPr>
            <p:ph type="body" idx="1"/>
          </p:nvPr>
        </p:nvSpPr>
        <p:spPr>
          <a:xfrm>
            <a:off x="777225" y="4777725"/>
            <a:ext cx="6217899" cy="4526274"/>
          </a:xfrm>
          <a:prstGeom prst="rect">
            <a:avLst/>
          </a:prstGeom>
          <a:noFill/>
          <a:ln>
            <a:noFill/>
          </a:ln>
        </p:spPr>
        <p:txBody>
          <a:bodyPr lIns="91425" tIns="91425" rIns="91425" bIns="91425" anchor="ctr" anchorCtr="0">
            <a:noAutofit/>
          </a:bodyPr>
          <a:lstStyle/>
          <a:p>
            <a:pPr lvl="0">
              <a:spcBef>
                <a:spcPts val="0"/>
              </a:spcBef>
              <a:buNone/>
            </a:pPr>
            <a:endParaRPr dirty="0"/>
          </a:p>
        </p:txBody>
      </p:sp>
      <p:sp>
        <p:nvSpPr>
          <p:cNvPr id="59" name="Shape 59"/>
          <p:cNvSpPr>
            <a:spLocks noGrp="1" noRot="1" noChangeAspect="1"/>
          </p:cNvSpPr>
          <p:nvPr>
            <p:ph type="sldImg" idx="2"/>
          </p:nvPr>
        </p:nvSpPr>
        <p:spPr>
          <a:xfrm>
            <a:off x="1371600" y="754063"/>
            <a:ext cx="5029200" cy="37719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0751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80672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F4FD4-5D70-01AA-1ACD-716FFC884A3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D8ABF0-972E-9B76-CA85-4B5214124598}"/>
              </a:ext>
            </a:extLst>
          </p:cNvPr>
          <p:cNvSpPr>
            <a:spLocks noGrp="1" noRot="1" noChangeAspect="1"/>
          </p:cNvSpPr>
          <p:nvPr>
            <p:ph type="sldImg"/>
          </p:nvPr>
        </p:nvSpPr>
        <p:spPr>
          <a:xfrm>
            <a:off x="1371600" y="754063"/>
            <a:ext cx="5029200" cy="3771900"/>
          </a:xfrm>
        </p:spPr>
      </p:sp>
      <p:sp>
        <p:nvSpPr>
          <p:cNvPr id="3" name="Marcador de notas 2">
            <a:extLst>
              <a:ext uri="{FF2B5EF4-FFF2-40B4-BE49-F238E27FC236}">
                <a16:creationId xmlns:a16="http://schemas.microsoft.com/office/drawing/2014/main" id="{0F648340-97C1-2E0A-5CB1-783700C95085}"/>
              </a:ext>
            </a:extLst>
          </p:cNvPr>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179867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842781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6805104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0120467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4885776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Los inputs del subestado-1 (por ejemplo, problema=ítems</a:t>
            </a:r>
            <a:r>
              <a:rPr lang="es-CL" baseline="0" dirty="0"/>
              <a:t> empatados) permiten al programador </a:t>
            </a:r>
            <a:r>
              <a:rPr lang="es-CL" baseline="0" dirty="0" err="1"/>
              <a:t>trackear</a:t>
            </a:r>
            <a:r>
              <a:rPr lang="es-CL" baseline="0" dirty="0"/>
              <a:t> dónde se produce el problema y cuál es el </a:t>
            </a:r>
            <a:r>
              <a:rPr lang="es-CL" baseline="0" dirty="0" err="1"/>
              <a:t>superestado</a:t>
            </a:r>
            <a:r>
              <a:rPr lang="es-CL" baseline="0" dirty="0"/>
              <a:t> involucrado.</a:t>
            </a:r>
          </a:p>
          <a:p>
            <a:endParaRPr lang="es-CL" baseline="0" dirty="0"/>
          </a:p>
          <a:p>
            <a:r>
              <a:rPr lang="es-CL" baseline="0" dirty="0"/>
              <a:t>El tema de conservar la consistencia es un problema importante, principalmente cuando los modelos son complejos.</a:t>
            </a:r>
          </a:p>
          <a:p>
            <a:endParaRPr lang="es-CL" baseline="0" dirty="0"/>
          </a:p>
          <a:p>
            <a:r>
              <a:rPr lang="es-CL" baseline="0" dirty="0"/>
              <a:t>Toda la información del </a:t>
            </a:r>
            <a:r>
              <a:rPr lang="es-CL" baseline="0" dirty="0" err="1"/>
              <a:t>superestado</a:t>
            </a:r>
            <a:r>
              <a:rPr lang="es-CL" baseline="0" dirty="0"/>
              <a:t> se mantiene, pero el sistema se enfoca temporalmente en la </a:t>
            </a:r>
            <a:r>
              <a:rPr lang="es-CL" baseline="0" dirty="0" err="1"/>
              <a:t>submeta</a:t>
            </a:r>
            <a:r>
              <a:rPr lang="es-CL" baseline="0" dirty="0"/>
              <a:t>.</a:t>
            </a:r>
            <a:endParaRPr lang="es-CL" dirty="0"/>
          </a:p>
          <a:p>
            <a:endParaRPr lang="es-CL" dirty="0"/>
          </a:p>
          <a:p>
            <a:r>
              <a:rPr lang="es-CL" dirty="0"/>
              <a:t>Para que la </a:t>
            </a:r>
            <a:r>
              <a:rPr lang="es-CL" dirty="0" err="1"/>
              <a:t>submeta</a:t>
            </a:r>
            <a:r>
              <a:rPr lang="es-CL" dirty="0"/>
              <a:t> funcione, e</a:t>
            </a:r>
            <a:r>
              <a:rPr lang="es-CL" baseline="0" dirty="0"/>
              <a:t>l programador debe crear una regla para que pueda ser activada por el </a:t>
            </a:r>
            <a:r>
              <a:rPr lang="es-CL" baseline="0" dirty="0" err="1"/>
              <a:t>subestado</a:t>
            </a:r>
            <a:r>
              <a:rPr lang="es-CL" baseline="0" dirty="0"/>
              <a:t>.</a:t>
            </a:r>
          </a:p>
          <a:p>
            <a:endParaRPr lang="es-CL" baseline="0" dirty="0"/>
          </a:p>
          <a:p>
            <a:r>
              <a:rPr lang="es-CL" baseline="0" dirty="0"/>
              <a:t>Si gimnasio es preferido (&gt;), entonces se puede resolver el empate.</a:t>
            </a:r>
          </a:p>
          <a:p>
            <a:endParaRPr lang="es-CL" baseline="0" dirty="0"/>
          </a:p>
          <a:p>
            <a:r>
              <a:rPr lang="es-CL" baseline="0" dirty="0"/>
              <a:t>También sería posible que SOAR pregunte a un operador humano cómo resolver el impasse, y cree la regla correspondiente.</a:t>
            </a:r>
          </a:p>
          <a:p>
            <a:endParaRPr lang="es-CL" dirty="0"/>
          </a:p>
        </p:txBody>
      </p:sp>
    </p:spTree>
    <p:extLst>
      <p:ext uri="{BB962C8B-B14F-4D97-AF65-F5344CB8AC3E}">
        <p14:creationId xmlns:p14="http://schemas.microsoft.com/office/powerpoint/2010/main" val="1171923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Para que la </a:t>
            </a:r>
            <a:r>
              <a:rPr lang="es-CL" dirty="0" err="1"/>
              <a:t>submeta</a:t>
            </a:r>
            <a:r>
              <a:rPr lang="es-CL" dirty="0"/>
              <a:t> funcione, e</a:t>
            </a:r>
            <a:r>
              <a:rPr lang="es-CL" baseline="0" dirty="0"/>
              <a:t>l programador debería haber anticipado la situación y creado una regla para esto, la que es usada por el </a:t>
            </a:r>
            <a:r>
              <a:rPr lang="es-CL" baseline="0" dirty="0" err="1"/>
              <a:t>subestado</a:t>
            </a:r>
            <a:r>
              <a:rPr lang="es-CL" baseline="0" dirty="0"/>
              <a:t>.</a:t>
            </a:r>
          </a:p>
          <a:p>
            <a:endParaRPr lang="es-CL" baseline="0" dirty="0"/>
          </a:p>
          <a:p>
            <a:r>
              <a:rPr lang="es-CL" baseline="0" dirty="0"/>
              <a:t>Si gimnasio es preferido (&gt;), entonces se puede resolver el empate.</a:t>
            </a:r>
          </a:p>
          <a:p>
            <a:endParaRPr lang="es-CL" baseline="0" dirty="0"/>
          </a:p>
          <a:p>
            <a:r>
              <a:rPr lang="es-CL" baseline="0" dirty="0"/>
              <a:t>Si se han fijado, una pregunta que podrían hacerse es por qué es necesaria una </a:t>
            </a:r>
            <a:r>
              <a:rPr lang="es-CL" baseline="0" dirty="0" err="1"/>
              <a:t>submeta</a:t>
            </a:r>
            <a:r>
              <a:rPr lang="es-CL" baseline="0" dirty="0"/>
              <a:t>. Quizá el sistema podría haberse solucionado directamente, tal como todo el resto del proceso de activación de reglas.</a:t>
            </a:r>
          </a:p>
          <a:p>
            <a:endParaRPr lang="es-CL" baseline="0" dirty="0"/>
          </a:p>
          <a:p>
            <a:r>
              <a:rPr lang="es-CL" baseline="0" dirty="0"/>
              <a:t>La respuesta es que la detección de conflictos es importante para el proceso de aprendizaje por </a:t>
            </a:r>
            <a:r>
              <a:rPr lang="es-CL" baseline="0" dirty="0" err="1"/>
              <a:t>chunking</a:t>
            </a:r>
            <a:r>
              <a:rPr lang="es-CL" baseline="0" dirty="0"/>
              <a:t>. De hecho, en las primeras versiones de SOAR, el aprendizaje solo ocurría cuando había conflicto.</a:t>
            </a:r>
          </a:p>
          <a:p>
            <a:endParaRPr lang="es-CL" baseline="0" dirty="0"/>
          </a:p>
          <a:p>
            <a:r>
              <a:rPr lang="es-CL" baseline="0" dirty="0"/>
              <a:t>Fíjense que la regla que resuelve al impasse relaciona los operadores que dieron origen al impasse con el operador que lo resuelve, de modo que nunca ocurrirá nuevamente ese empate. Eso es un “</a:t>
            </a:r>
            <a:r>
              <a:rPr lang="es-CL" baseline="0" dirty="0" err="1"/>
              <a:t>chunk</a:t>
            </a:r>
            <a:r>
              <a:rPr lang="es-CL" baseline="0" dirty="0"/>
              <a:t>”</a:t>
            </a:r>
          </a:p>
          <a:p>
            <a:endParaRPr lang="es-CL" baseline="0" dirty="0"/>
          </a:p>
          <a:p>
            <a:endParaRPr lang="es-CL" dirty="0"/>
          </a:p>
        </p:txBody>
      </p:sp>
    </p:spTree>
    <p:extLst>
      <p:ext uri="{BB962C8B-B14F-4D97-AF65-F5344CB8AC3E}">
        <p14:creationId xmlns:p14="http://schemas.microsoft.com/office/powerpoint/2010/main" val="1588371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El sistema</a:t>
            </a:r>
            <a:r>
              <a:rPr lang="es-CL" baseline="0" dirty="0"/>
              <a:t> es capaz de aprender</a:t>
            </a:r>
          </a:p>
          <a:p>
            <a:r>
              <a:rPr lang="es-CL" baseline="0" dirty="0"/>
              <a:t>Se puede hacer interfaz con sensores y actuadores</a:t>
            </a:r>
          </a:p>
          <a:p>
            <a:r>
              <a:rPr lang="es-CL" baseline="0" dirty="0"/>
              <a:t>Dado que las decisiones se pueden </a:t>
            </a:r>
            <a:r>
              <a:rPr lang="es-CL" baseline="0" dirty="0" err="1"/>
              <a:t>trackear</a:t>
            </a:r>
            <a:r>
              <a:rPr lang="es-CL" baseline="0" dirty="0"/>
              <a:t>, el sistema puede entrenar mostrando dónde ocurrieron fallas</a:t>
            </a:r>
          </a:p>
          <a:p>
            <a:r>
              <a:rPr lang="es-CL" baseline="0" dirty="0"/>
              <a:t>El sistema puede actuar como una persona (por ejemplo, un piloto de avión), permitiendo entrenamiento sin requerir que participe un grupo grande de personas</a:t>
            </a:r>
          </a:p>
          <a:p>
            <a:endParaRPr lang="es-CL" baseline="0" dirty="0"/>
          </a:p>
          <a:p>
            <a:r>
              <a:rPr lang="es-CL" baseline="0" dirty="0"/>
              <a:t>PREGUNTA: ¿Hay problemas en su empresa que podrían atacarse con un sistema tipo SOAR?</a:t>
            </a:r>
          </a:p>
          <a:p>
            <a:endParaRPr lang="es-CL" dirty="0"/>
          </a:p>
        </p:txBody>
      </p:sp>
    </p:spTree>
    <p:extLst>
      <p:ext uri="{BB962C8B-B14F-4D97-AF65-F5344CB8AC3E}">
        <p14:creationId xmlns:p14="http://schemas.microsoft.com/office/powerpoint/2010/main" val="13421632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Durante</a:t>
            </a:r>
            <a:r>
              <a:rPr lang="es-CL" baseline="0" dirty="0"/>
              <a:t> las primeras etapas de desarrollo de SOAR, el único mecanismo de aprendizaje era el </a:t>
            </a:r>
            <a:r>
              <a:rPr lang="es-CL" baseline="0" dirty="0" err="1"/>
              <a:t>chunking</a:t>
            </a:r>
            <a:endParaRPr lang="es-CL" dirty="0"/>
          </a:p>
          <a:p>
            <a:r>
              <a:rPr lang="es-CL" dirty="0"/>
              <a:t>Las</a:t>
            </a:r>
            <a:r>
              <a:rPr lang="es-CL" baseline="0" dirty="0"/>
              <a:t> versiones actuales, a</a:t>
            </a:r>
            <a:r>
              <a:rPr lang="es-CL" dirty="0"/>
              <a:t>prenden a valorar</a:t>
            </a:r>
            <a:r>
              <a:rPr lang="es-CL" baseline="0" dirty="0"/>
              <a:t> operadores por el resultado obtenido</a:t>
            </a:r>
          </a:p>
          <a:p>
            <a:endParaRPr lang="es-CL" baseline="0" dirty="0"/>
          </a:p>
          <a:p>
            <a:r>
              <a:rPr lang="es-CL" baseline="0" dirty="0"/>
              <a:t>En las primeras versiones de SOAR, los contenidos de MT se mantenían ahí hasta que el sistema lograba decidir sobre la celda operador (contexto)</a:t>
            </a:r>
          </a:p>
          <a:p>
            <a:r>
              <a:rPr lang="es-CL" baseline="0" dirty="0"/>
              <a:t>Actualmente, hay versiones en las que los contenidos se van perdiendo progresivamente como función del tiempo, tal como ocurre en la memoria biológica</a:t>
            </a:r>
          </a:p>
          <a:p>
            <a:endParaRPr lang="es-CL" baseline="0" dirty="0"/>
          </a:p>
          <a:p>
            <a:r>
              <a:rPr lang="es-CL" baseline="0" dirty="0"/>
              <a:t>Aplicaciones posibles: un sistema IA para llevar la contabilidad</a:t>
            </a:r>
          </a:p>
          <a:p>
            <a:endParaRPr lang="es-CL" baseline="0" dirty="0"/>
          </a:p>
          <a:p>
            <a:endParaRPr lang="es-CL" dirty="0"/>
          </a:p>
        </p:txBody>
      </p:sp>
    </p:spTree>
    <p:extLst>
      <p:ext uri="{BB962C8B-B14F-4D97-AF65-F5344CB8AC3E}">
        <p14:creationId xmlns:p14="http://schemas.microsoft.com/office/powerpoint/2010/main" val="29748047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Durante</a:t>
            </a:r>
            <a:r>
              <a:rPr lang="es-CL" baseline="0" dirty="0"/>
              <a:t> las primeras etapas de desarrollo de SOAR, el único mecanismo de aprendizaje era el </a:t>
            </a:r>
            <a:r>
              <a:rPr lang="es-CL" baseline="0" dirty="0" err="1"/>
              <a:t>chunking</a:t>
            </a:r>
            <a:endParaRPr lang="es-CL" dirty="0"/>
          </a:p>
          <a:p>
            <a:r>
              <a:rPr lang="es-CL" dirty="0"/>
              <a:t>Las</a:t>
            </a:r>
            <a:r>
              <a:rPr lang="es-CL" baseline="0" dirty="0"/>
              <a:t> versiones actuales, a</a:t>
            </a:r>
            <a:r>
              <a:rPr lang="es-CL" dirty="0"/>
              <a:t>prenden a valorar</a:t>
            </a:r>
            <a:r>
              <a:rPr lang="es-CL" baseline="0" dirty="0"/>
              <a:t> operadores por el resultado obtenido</a:t>
            </a:r>
          </a:p>
          <a:p>
            <a:endParaRPr lang="es-CL" baseline="0" dirty="0"/>
          </a:p>
          <a:p>
            <a:r>
              <a:rPr lang="es-CL" baseline="0" dirty="0"/>
              <a:t>En las primeras versiones de SOAR, los contenidos de MT se mantenían ahí hasta que el sistema lograba decidir sobre la celda operador (contexto)</a:t>
            </a:r>
          </a:p>
          <a:p>
            <a:r>
              <a:rPr lang="es-CL" baseline="0" dirty="0"/>
              <a:t>Actualmente, hay versiones en las que los contenidos se van perdiendo progresivamente como función del tiempo, tal como ocurre en la memoria biológica</a:t>
            </a:r>
          </a:p>
          <a:p>
            <a:endParaRPr lang="es-CL" baseline="0" dirty="0"/>
          </a:p>
          <a:p>
            <a:r>
              <a:rPr lang="es-CL" baseline="0" dirty="0"/>
              <a:t>Aplicaciones posibles: un sistema IA para llevar la contabilidad</a:t>
            </a:r>
          </a:p>
          <a:p>
            <a:endParaRPr lang="es-CL" baseline="0" dirty="0"/>
          </a:p>
          <a:p>
            <a:endParaRPr lang="es-CL" dirty="0"/>
          </a:p>
        </p:txBody>
      </p:sp>
    </p:spTree>
    <p:extLst>
      <p:ext uri="{BB962C8B-B14F-4D97-AF65-F5344CB8AC3E}">
        <p14:creationId xmlns:p14="http://schemas.microsoft.com/office/powerpoint/2010/main" val="4107132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Shape 58"/>
          <p:cNvSpPr txBox="1">
            <a:spLocks noGrp="1"/>
          </p:cNvSpPr>
          <p:nvPr>
            <p:ph type="body" idx="1"/>
          </p:nvPr>
        </p:nvSpPr>
        <p:spPr>
          <a:xfrm>
            <a:off x="777225" y="4777725"/>
            <a:ext cx="6217899" cy="4526274"/>
          </a:xfrm>
          <a:prstGeom prst="rect">
            <a:avLst/>
          </a:prstGeom>
          <a:noFill/>
          <a:ln>
            <a:noFill/>
          </a:ln>
        </p:spPr>
        <p:txBody>
          <a:bodyPr lIns="91425" tIns="91425" rIns="91425" bIns="91425" anchor="ctr" anchorCtr="0">
            <a:noAutofit/>
          </a:bodyPr>
          <a:lstStyle/>
          <a:p>
            <a:pPr lvl="0">
              <a:spcBef>
                <a:spcPts val="0"/>
              </a:spcBef>
              <a:buNone/>
            </a:pPr>
            <a:endParaRPr dirty="0"/>
          </a:p>
        </p:txBody>
      </p:sp>
      <p:sp>
        <p:nvSpPr>
          <p:cNvPr id="59" name="Shape 59"/>
          <p:cNvSpPr>
            <a:spLocks noGrp="1" noRot="1" noChangeAspect="1"/>
          </p:cNvSpPr>
          <p:nvPr>
            <p:ph type="sldImg" idx="2"/>
          </p:nvPr>
        </p:nvSpPr>
        <p:spPr>
          <a:xfrm>
            <a:off x="1371600" y="754063"/>
            <a:ext cx="5029200" cy="37719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2324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Analogía de la hormiga</a:t>
            </a:r>
          </a:p>
        </p:txBody>
      </p:sp>
    </p:spTree>
    <p:extLst>
      <p:ext uri="{BB962C8B-B14F-4D97-AF65-F5344CB8AC3E}">
        <p14:creationId xmlns:p14="http://schemas.microsoft.com/office/powerpoint/2010/main" val="26988497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A diferencia de</a:t>
            </a:r>
            <a:r>
              <a:rPr lang="es-CL" baseline="0" dirty="0"/>
              <a:t> SOAR, ACT-R está directamente inspirada en resultados de investigación </a:t>
            </a:r>
            <a:r>
              <a:rPr lang="es-CL" baseline="0" dirty="0" err="1"/>
              <a:t>neurocientífica</a:t>
            </a:r>
            <a:r>
              <a:rPr lang="es-CL" baseline="0" dirty="0"/>
              <a:t> y cognitiva</a:t>
            </a:r>
          </a:p>
          <a:p>
            <a:endParaRPr lang="es-CL" dirty="0"/>
          </a:p>
        </p:txBody>
      </p:sp>
    </p:spTree>
    <p:extLst>
      <p:ext uri="{BB962C8B-B14F-4D97-AF65-F5344CB8AC3E}">
        <p14:creationId xmlns:p14="http://schemas.microsoft.com/office/powerpoint/2010/main" val="2387236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Ejemplo de automatización de manejar</a:t>
            </a:r>
          </a:p>
          <a:p>
            <a:r>
              <a:rPr lang="es-CL" dirty="0"/>
              <a:t>Extensión de esto a habilidades cognitivas (operaciones</a:t>
            </a:r>
            <a:r>
              <a:rPr lang="es-CL" baseline="0" dirty="0"/>
              <a:t> matemáticas)</a:t>
            </a:r>
          </a:p>
          <a:p>
            <a:endParaRPr lang="es-CL" dirty="0"/>
          </a:p>
        </p:txBody>
      </p:sp>
    </p:spTree>
    <p:extLst>
      <p:ext uri="{BB962C8B-B14F-4D97-AF65-F5344CB8AC3E}">
        <p14:creationId xmlns:p14="http://schemas.microsoft.com/office/powerpoint/2010/main" val="153432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3E1F8-6643-77DE-EC1E-C94F133441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DDF87A-F71E-B809-5A77-033EB52F2667}"/>
              </a:ext>
            </a:extLst>
          </p:cNvPr>
          <p:cNvSpPr>
            <a:spLocks noGrp="1" noRot="1" noChangeAspect="1"/>
          </p:cNvSpPr>
          <p:nvPr>
            <p:ph type="sldImg"/>
          </p:nvPr>
        </p:nvSpPr>
        <p:spPr>
          <a:xfrm>
            <a:off x="1371600" y="754063"/>
            <a:ext cx="5029200" cy="3771900"/>
          </a:xfrm>
        </p:spPr>
      </p:sp>
      <p:sp>
        <p:nvSpPr>
          <p:cNvPr id="3" name="Marcador de notas 2">
            <a:extLst>
              <a:ext uri="{FF2B5EF4-FFF2-40B4-BE49-F238E27FC236}">
                <a16:creationId xmlns:a16="http://schemas.microsoft.com/office/drawing/2014/main" id="{EC4CF63B-9080-FBAF-06F2-58492F533321}"/>
              </a:ext>
            </a:extLst>
          </p:cNvPr>
          <p:cNvSpPr>
            <a:spLocks noGrp="1"/>
          </p:cNvSpPr>
          <p:nvPr>
            <p:ph type="body" idx="1"/>
          </p:nvPr>
        </p:nvSpPr>
        <p:spPr/>
        <p:txBody>
          <a:bodyPr/>
          <a:lstStyle/>
          <a:p>
            <a:r>
              <a:rPr lang="es-CL" dirty="0"/>
              <a:t>Ejemplo de automatización de manejar</a:t>
            </a:r>
          </a:p>
          <a:p>
            <a:r>
              <a:rPr lang="es-CL" dirty="0"/>
              <a:t>Extensión de esto a habilidades cognitivas (operaciones</a:t>
            </a:r>
            <a:r>
              <a:rPr lang="es-CL" baseline="0" dirty="0"/>
              <a:t> matemáticas)</a:t>
            </a:r>
          </a:p>
          <a:p>
            <a:endParaRPr lang="es-CL" dirty="0"/>
          </a:p>
        </p:txBody>
      </p:sp>
    </p:spTree>
    <p:extLst>
      <p:ext uri="{BB962C8B-B14F-4D97-AF65-F5344CB8AC3E}">
        <p14:creationId xmlns:p14="http://schemas.microsoft.com/office/powerpoint/2010/main" val="35434611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4D7B5-93E9-C8DB-73F2-D01641F2BF7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F39D12-E8FE-4434-1E9A-39069EF4321D}"/>
              </a:ext>
            </a:extLst>
          </p:cNvPr>
          <p:cNvSpPr>
            <a:spLocks noGrp="1" noRot="1" noChangeAspect="1"/>
          </p:cNvSpPr>
          <p:nvPr>
            <p:ph type="sldImg"/>
          </p:nvPr>
        </p:nvSpPr>
        <p:spPr>
          <a:xfrm>
            <a:off x="1371600" y="754063"/>
            <a:ext cx="5029200" cy="3771900"/>
          </a:xfrm>
        </p:spPr>
      </p:sp>
      <p:sp>
        <p:nvSpPr>
          <p:cNvPr id="3" name="Marcador de notas 2">
            <a:extLst>
              <a:ext uri="{FF2B5EF4-FFF2-40B4-BE49-F238E27FC236}">
                <a16:creationId xmlns:a16="http://schemas.microsoft.com/office/drawing/2014/main" id="{87129A9C-CC9D-F026-EE72-EDF457130551}"/>
              </a:ext>
            </a:extLst>
          </p:cNvPr>
          <p:cNvSpPr>
            <a:spLocks noGrp="1"/>
          </p:cNvSpPr>
          <p:nvPr>
            <p:ph type="body" idx="1"/>
          </p:nvPr>
        </p:nvSpPr>
        <p:spPr/>
        <p:txBody>
          <a:bodyPr/>
          <a:lstStyle/>
          <a:p>
            <a:r>
              <a:rPr lang="es-CL" dirty="0"/>
              <a:t>Ejemplo de automatización de manejar</a:t>
            </a:r>
          </a:p>
          <a:p>
            <a:r>
              <a:rPr lang="es-CL" dirty="0"/>
              <a:t>Extensión de esto a habilidades cognitivas (operaciones</a:t>
            </a:r>
            <a:r>
              <a:rPr lang="es-CL" baseline="0" dirty="0"/>
              <a:t> matemáticas)</a:t>
            </a:r>
          </a:p>
          <a:p>
            <a:endParaRPr lang="es-CL" dirty="0"/>
          </a:p>
        </p:txBody>
      </p:sp>
    </p:spTree>
    <p:extLst>
      <p:ext uri="{BB962C8B-B14F-4D97-AF65-F5344CB8AC3E}">
        <p14:creationId xmlns:p14="http://schemas.microsoft.com/office/powerpoint/2010/main" val="9047958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El sistema</a:t>
            </a:r>
            <a:r>
              <a:rPr lang="es-CL" baseline="0" dirty="0"/>
              <a:t> es capaz de aprender</a:t>
            </a:r>
          </a:p>
          <a:p>
            <a:r>
              <a:rPr lang="es-CL" baseline="0" dirty="0"/>
              <a:t>Se puede hacer interfaz con sensores y actuadores</a:t>
            </a:r>
          </a:p>
          <a:p>
            <a:r>
              <a:rPr lang="es-CL" baseline="0" dirty="0"/>
              <a:t>Dado que las decisiones se pueden </a:t>
            </a:r>
            <a:r>
              <a:rPr lang="es-CL" baseline="0" dirty="0" err="1"/>
              <a:t>trackear</a:t>
            </a:r>
            <a:r>
              <a:rPr lang="es-CL" baseline="0" dirty="0"/>
              <a:t>, el sistema puede entrenar mostrando dónde ocurrieron fallas</a:t>
            </a:r>
          </a:p>
          <a:p>
            <a:r>
              <a:rPr lang="es-CL" baseline="0" dirty="0"/>
              <a:t>El sistema puede actuar como una persona (por ejemplo, un piloto de avión), permitiendo entrenamiento sin requerir que participe un grupo grande de personas</a:t>
            </a:r>
          </a:p>
          <a:p>
            <a:endParaRPr lang="es-CL" baseline="0" dirty="0"/>
          </a:p>
          <a:p>
            <a:r>
              <a:rPr lang="es-CL" baseline="0" dirty="0"/>
              <a:t>PREGUNTA: ¿Hay problemas en su empresa que podrían atacarse con un sistema tipo SOAR?</a:t>
            </a:r>
          </a:p>
          <a:p>
            <a:endParaRPr lang="es-CL" dirty="0"/>
          </a:p>
        </p:txBody>
      </p:sp>
    </p:spTree>
    <p:extLst>
      <p:ext uri="{BB962C8B-B14F-4D97-AF65-F5344CB8AC3E}">
        <p14:creationId xmlns:p14="http://schemas.microsoft.com/office/powerpoint/2010/main" val="13421632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754063"/>
            <a:ext cx="5029200" cy="3771900"/>
          </a:xfrm>
        </p:spPr>
      </p:sp>
      <p:sp>
        <p:nvSpPr>
          <p:cNvPr id="3" name="Marcador de notas 2"/>
          <p:cNvSpPr>
            <a:spLocks noGrp="1"/>
          </p:cNvSpPr>
          <p:nvPr>
            <p:ph type="body" idx="1"/>
          </p:nvPr>
        </p:nvSpPr>
        <p:spPr/>
        <p:txBody>
          <a:bodyPr/>
          <a:lstStyle/>
          <a:p>
            <a:r>
              <a:rPr lang="es-CL" dirty="0"/>
              <a:t>Durante</a:t>
            </a:r>
            <a:r>
              <a:rPr lang="es-CL" baseline="0" dirty="0"/>
              <a:t> las primeras etapas de desarrollo de SOAR, el único mecanismo de aprendizaje era el </a:t>
            </a:r>
            <a:r>
              <a:rPr lang="es-CL" baseline="0" dirty="0" err="1"/>
              <a:t>chunking</a:t>
            </a:r>
            <a:endParaRPr lang="es-CL" dirty="0"/>
          </a:p>
          <a:p>
            <a:r>
              <a:rPr lang="es-CL" dirty="0"/>
              <a:t>Las</a:t>
            </a:r>
            <a:r>
              <a:rPr lang="es-CL" baseline="0" dirty="0"/>
              <a:t> versiones actuales, a</a:t>
            </a:r>
            <a:r>
              <a:rPr lang="es-CL" dirty="0"/>
              <a:t>prenden a valorar</a:t>
            </a:r>
            <a:r>
              <a:rPr lang="es-CL" baseline="0" dirty="0"/>
              <a:t> operadores por el resultado obtenido</a:t>
            </a:r>
          </a:p>
          <a:p>
            <a:endParaRPr lang="es-CL" baseline="0" dirty="0"/>
          </a:p>
          <a:p>
            <a:r>
              <a:rPr lang="es-CL" baseline="0" dirty="0"/>
              <a:t>En las primeras versiones de SOAR, los contenidos de MT se mantenían ahí hasta que el sistema lograba decidir sobre la celda operador (contexto)</a:t>
            </a:r>
          </a:p>
          <a:p>
            <a:r>
              <a:rPr lang="es-CL" baseline="0" dirty="0"/>
              <a:t>Actualmente, hay versiones en las que los contenidos se van perdiendo progresivamente como función del tiempo, tal como ocurre en la memoria biológica</a:t>
            </a:r>
          </a:p>
          <a:p>
            <a:endParaRPr lang="es-CL" baseline="0" dirty="0"/>
          </a:p>
          <a:p>
            <a:r>
              <a:rPr lang="es-CL" baseline="0" dirty="0"/>
              <a:t>Aplicaciones posibles: un sistema IA para llevar la contabilidad</a:t>
            </a:r>
          </a:p>
          <a:p>
            <a:endParaRPr lang="es-CL" baseline="0" dirty="0"/>
          </a:p>
          <a:p>
            <a:endParaRPr lang="es-CL" dirty="0"/>
          </a:p>
        </p:txBody>
      </p:sp>
    </p:spTree>
    <p:extLst>
      <p:ext uri="{BB962C8B-B14F-4D97-AF65-F5344CB8AC3E}">
        <p14:creationId xmlns:p14="http://schemas.microsoft.com/office/powerpoint/2010/main" val="29748047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Shape 58"/>
          <p:cNvSpPr txBox="1">
            <a:spLocks noGrp="1"/>
          </p:cNvSpPr>
          <p:nvPr>
            <p:ph type="body" idx="1"/>
          </p:nvPr>
        </p:nvSpPr>
        <p:spPr>
          <a:xfrm>
            <a:off x="777225" y="4777725"/>
            <a:ext cx="6217899" cy="4526274"/>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9" name="Shape 59"/>
          <p:cNvSpPr>
            <a:spLocks noGrp="1" noRot="1" noChangeAspect="1"/>
          </p:cNvSpPr>
          <p:nvPr>
            <p:ph type="sldImg" idx="2"/>
          </p:nvPr>
        </p:nvSpPr>
        <p:spPr>
          <a:xfrm>
            <a:off x="1371600" y="754063"/>
            <a:ext cx="5029200" cy="37719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5056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Shape 11"/>
        <p:cNvGrpSpPr/>
        <p:nvPr/>
      </p:nvGrpSpPr>
      <p:grpSpPr>
        <a:xfrm>
          <a:off x="0" y="0"/>
          <a:ext cx="0" cy="0"/>
          <a:chOff x="0" y="0"/>
          <a:chExt cx="0" cy="0"/>
        </a:xfrm>
      </p:grpSpPr>
      <p:sp>
        <p:nvSpPr>
          <p:cNvPr id="12" name="Shape 12"/>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13" name="Shape 13"/>
          <p:cNvSpPr txBox="1">
            <a:spLocks noGrp="1"/>
          </p:cNvSpPr>
          <p:nvPr>
            <p:ph type="subTitle" idx="1"/>
          </p:nvPr>
        </p:nvSpPr>
        <p:spPr>
          <a:xfrm>
            <a:off x="504000" y="1769040"/>
            <a:ext cx="9071640" cy="438444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cSld name="Title, 2 Content">
    <p:spTree>
      <p:nvGrpSpPr>
        <p:cNvPr id="1" name="Shape 18"/>
        <p:cNvGrpSpPr/>
        <p:nvPr/>
      </p:nvGrpSpPr>
      <p:grpSpPr>
        <a:xfrm>
          <a:off x="0" y="0"/>
          <a:ext cx="0" cy="0"/>
          <a:chOff x="0" y="0"/>
          <a:chExt cx="0" cy="0"/>
        </a:xfrm>
      </p:grpSpPr>
      <p:sp>
        <p:nvSpPr>
          <p:cNvPr id="19" name="Shape 19"/>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20" name="Shape 20"/>
          <p:cNvSpPr txBox="1">
            <a:spLocks noGrp="1"/>
          </p:cNvSpPr>
          <p:nvPr>
            <p:ph type="body" idx="1"/>
          </p:nvPr>
        </p:nvSpPr>
        <p:spPr>
          <a:xfrm>
            <a:off x="504000" y="1769040"/>
            <a:ext cx="4426920" cy="43844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21" name="Shape 21"/>
          <p:cNvSpPr txBox="1">
            <a:spLocks noGrp="1"/>
          </p:cNvSpPr>
          <p:nvPr>
            <p:ph type="body" idx="2"/>
          </p:nvPr>
        </p:nvSpPr>
        <p:spPr>
          <a:xfrm>
            <a:off x="5152680" y="1769040"/>
            <a:ext cx="4426920" cy="43844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Only">
  <p:cSld name="Centered Text">
    <p:spTree>
      <p:nvGrpSpPr>
        <p:cNvPr id="1" name="Shape 24"/>
        <p:cNvGrpSpPr/>
        <p:nvPr/>
      </p:nvGrpSpPr>
      <p:grpSpPr>
        <a:xfrm>
          <a:off x="0" y="0"/>
          <a:ext cx="0" cy="0"/>
          <a:chOff x="0" y="0"/>
          <a:chExt cx="0" cy="0"/>
        </a:xfrm>
      </p:grpSpPr>
      <p:sp>
        <p:nvSpPr>
          <p:cNvPr id="25" name="Shape 25"/>
          <p:cNvSpPr txBox="1">
            <a:spLocks noGrp="1"/>
          </p:cNvSpPr>
          <p:nvPr>
            <p:ph type="subTitle" idx="1"/>
          </p:nvPr>
        </p:nvSpPr>
        <p:spPr>
          <a:xfrm>
            <a:off x="504000" y="301319"/>
            <a:ext cx="9071640" cy="585180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AndObj">
  <p:cSld name="Title, 2 Content and Content">
    <p:spTree>
      <p:nvGrpSpPr>
        <p:cNvPr id="1" name="Shape 26"/>
        <p:cNvGrpSpPr/>
        <p:nvPr/>
      </p:nvGrpSpPr>
      <p:grpSpPr>
        <a:xfrm>
          <a:off x="0" y="0"/>
          <a:ext cx="0" cy="0"/>
          <a:chOff x="0" y="0"/>
          <a:chExt cx="0" cy="0"/>
        </a:xfrm>
      </p:grpSpPr>
      <p:sp>
        <p:nvSpPr>
          <p:cNvPr id="27" name="Shape 27"/>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28" name="Shape 28"/>
          <p:cNvSpPr txBox="1">
            <a:spLocks noGrp="1"/>
          </p:cNvSpPr>
          <p:nvPr>
            <p:ph type="body" idx="1"/>
          </p:nvPr>
        </p:nvSpPr>
        <p:spPr>
          <a:xfrm>
            <a:off x="504000" y="176904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29" name="Shape 29"/>
          <p:cNvSpPr txBox="1">
            <a:spLocks noGrp="1"/>
          </p:cNvSpPr>
          <p:nvPr>
            <p:ph type="body" idx="2"/>
          </p:nvPr>
        </p:nvSpPr>
        <p:spPr>
          <a:xfrm>
            <a:off x="504000" y="405936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30" name="Shape 30"/>
          <p:cNvSpPr txBox="1">
            <a:spLocks noGrp="1"/>
          </p:cNvSpPr>
          <p:nvPr>
            <p:ph type="body" idx="3"/>
          </p:nvPr>
        </p:nvSpPr>
        <p:spPr>
          <a:xfrm>
            <a:off x="5152680" y="1769040"/>
            <a:ext cx="4426920" cy="43844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33" name="Shape 33"/>
          <p:cNvSpPr txBox="1">
            <a:spLocks noGrp="1"/>
          </p:cNvSpPr>
          <p:nvPr>
            <p:ph type="body" idx="1"/>
          </p:nvPr>
        </p:nvSpPr>
        <p:spPr>
          <a:xfrm>
            <a:off x="504000" y="1769040"/>
            <a:ext cx="4426920" cy="43844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34" name="Shape 34"/>
          <p:cNvSpPr txBox="1">
            <a:spLocks noGrp="1"/>
          </p:cNvSpPr>
          <p:nvPr>
            <p:ph type="body" idx="2"/>
          </p:nvPr>
        </p:nvSpPr>
        <p:spPr>
          <a:xfrm>
            <a:off x="5152680" y="176904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35" name="Shape 35"/>
          <p:cNvSpPr txBox="1">
            <a:spLocks noGrp="1"/>
          </p:cNvSpPr>
          <p:nvPr>
            <p:ph type="body" idx="3"/>
          </p:nvPr>
        </p:nvSpPr>
        <p:spPr>
          <a:xfrm>
            <a:off x="5152680" y="405936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OverTx">
  <p:cSld name="Title, 2 Content over Content">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38" name="Shape 38"/>
          <p:cNvSpPr txBox="1">
            <a:spLocks noGrp="1"/>
          </p:cNvSpPr>
          <p:nvPr>
            <p:ph type="body" idx="1"/>
          </p:nvPr>
        </p:nvSpPr>
        <p:spPr>
          <a:xfrm>
            <a:off x="504000" y="176904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39" name="Shape 39"/>
          <p:cNvSpPr txBox="1">
            <a:spLocks noGrp="1"/>
          </p:cNvSpPr>
          <p:nvPr>
            <p:ph type="body" idx="2"/>
          </p:nvPr>
        </p:nvSpPr>
        <p:spPr>
          <a:xfrm>
            <a:off x="5152680" y="176904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40" name="Shape 40"/>
          <p:cNvSpPr txBox="1">
            <a:spLocks noGrp="1"/>
          </p:cNvSpPr>
          <p:nvPr>
            <p:ph type="body" idx="3"/>
          </p:nvPr>
        </p:nvSpPr>
        <p:spPr>
          <a:xfrm>
            <a:off x="504000" y="4059360"/>
            <a:ext cx="907164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OverTx">
  <p:cSld name="Title, Content over Content">
    <p:spTree>
      <p:nvGrpSpPr>
        <p:cNvPr id="1" name="Shape 41"/>
        <p:cNvGrpSpPr/>
        <p:nvPr/>
      </p:nvGrpSpPr>
      <p:grpSpPr>
        <a:xfrm>
          <a:off x="0" y="0"/>
          <a:ext cx="0" cy="0"/>
          <a:chOff x="0" y="0"/>
          <a:chExt cx="0" cy="0"/>
        </a:xfrm>
      </p:grpSpPr>
      <p:sp>
        <p:nvSpPr>
          <p:cNvPr id="42" name="Shape 42"/>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43" name="Shape 43"/>
          <p:cNvSpPr txBox="1">
            <a:spLocks noGrp="1"/>
          </p:cNvSpPr>
          <p:nvPr>
            <p:ph type="body" idx="1"/>
          </p:nvPr>
        </p:nvSpPr>
        <p:spPr>
          <a:xfrm>
            <a:off x="504000" y="1769040"/>
            <a:ext cx="907164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44" name="Shape 44"/>
          <p:cNvSpPr txBox="1">
            <a:spLocks noGrp="1"/>
          </p:cNvSpPr>
          <p:nvPr>
            <p:ph type="body" idx="2"/>
          </p:nvPr>
        </p:nvSpPr>
        <p:spPr>
          <a:xfrm>
            <a:off x="504000" y="4059360"/>
            <a:ext cx="907164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fourObj">
  <p:cSld name="Title, 4 Content">
    <p:spTree>
      <p:nvGrpSpPr>
        <p:cNvPr id="1" name="Shape 45"/>
        <p:cNvGrpSpPr/>
        <p:nvPr/>
      </p:nvGrpSpPr>
      <p:grpSpPr>
        <a:xfrm>
          <a:off x="0" y="0"/>
          <a:ext cx="0" cy="0"/>
          <a:chOff x="0" y="0"/>
          <a:chExt cx="0" cy="0"/>
        </a:xfrm>
      </p:grpSpPr>
      <p:sp>
        <p:nvSpPr>
          <p:cNvPr id="46" name="Shape 46"/>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47" name="Shape 47"/>
          <p:cNvSpPr txBox="1">
            <a:spLocks noGrp="1"/>
          </p:cNvSpPr>
          <p:nvPr>
            <p:ph type="body" idx="1"/>
          </p:nvPr>
        </p:nvSpPr>
        <p:spPr>
          <a:xfrm>
            <a:off x="504000" y="176904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48" name="Shape 48"/>
          <p:cNvSpPr txBox="1">
            <a:spLocks noGrp="1"/>
          </p:cNvSpPr>
          <p:nvPr>
            <p:ph type="body" idx="2"/>
          </p:nvPr>
        </p:nvSpPr>
        <p:spPr>
          <a:xfrm>
            <a:off x="5152680" y="176904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49" name="Shape 49"/>
          <p:cNvSpPr txBox="1">
            <a:spLocks noGrp="1"/>
          </p:cNvSpPr>
          <p:nvPr>
            <p:ph type="body" idx="3"/>
          </p:nvPr>
        </p:nvSpPr>
        <p:spPr>
          <a:xfrm>
            <a:off x="5152680" y="405936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50" name="Shape 50"/>
          <p:cNvSpPr txBox="1">
            <a:spLocks noGrp="1"/>
          </p:cNvSpPr>
          <p:nvPr>
            <p:ph type="body" idx="4"/>
          </p:nvPr>
        </p:nvSpPr>
        <p:spPr>
          <a:xfrm>
            <a:off x="504000" y="4059360"/>
            <a:ext cx="4426920" cy="20912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6 Content">
    <p:spTree>
      <p:nvGrpSpPr>
        <p:cNvPr id="1" name="Shape 51"/>
        <p:cNvGrpSpPr/>
        <p:nvPr/>
      </p:nvGrpSpPr>
      <p:grpSpPr>
        <a:xfrm>
          <a:off x="0" y="0"/>
          <a:ext cx="0" cy="0"/>
          <a:chOff x="0" y="0"/>
          <a:chExt cx="0" cy="0"/>
        </a:xfrm>
      </p:grpSpPr>
      <p:sp>
        <p:nvSpPr>
          <p:cNvPr id="52" name="Shape 52"/>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53" name="Shape 53"/>
          <p:cNvSpPr txBox="1">
            <a:spLocks noGrp="1"/>
          </p:cNvSpPr>
          <p:nvPr>
            <p:ph type="body" idx="1"/>
          </p:nvPr>
        </p:nvSpPr>
        <p:spPr>
          <a:xfrm>
            <a:off x="504000" y="1769040"/>
            <a:ext cx="9071640" cy="43844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54" name="Shape 54"/>
          <p:cNvSpPr txBox="1">
            <a:spLocks noGrp="1"/>
          </p:cNvSpPr>
          <p:nvPr>
            <p:ph type="body" idx="2"/>
          </p:nvPr>
        </p:nvSpPr>
        <p:spPr>
          <a:xfrm>
            <a:off x="504000" y="1769040"/>
            <a:ext cx="9071640" cy="43844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55" name="Shape 55"/>
          <p:cNvSpPr/>
          <p:nvPr/>
        </p:nvSpPr>
        <p:spPr>
          <a:xfrm>
            <a:off x="504000" y="1769040"/>
            <a:ext cx="9071640" cy="438444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6" name="Shape 56"/>
          <p:cNvSpPr/>
          <p:nvPr/>
        </p:nvSpPr>
        <p:spPr>
          <a:xfrm>
            <a:off x="504000" y="1769040"/>
            <a:ext cx="9071640" cy="4384440"/>
          </a:xfrm>
          <a:prstGeom prst="rect">
            <a:avLst/>
          </a:prstGeom>
          <a:noFill/>
          <a:ln>
            <a:noFill/>
          </a:ln>
        </p:spPr>
        <p:txBody>
          <a:bodyPr lIns="91425" tIns="91425" rIns="91425" bIns="91425" anchor="ctr" anchorCtr="0">
            <a:noAutofit/>
          </a:bodyPr>
          <a:lstStyle/>
          <a:p>
            <a:pPr lvl="0">
              <a:spcBef>
                <a:spcPts val="0"/>
              </a:spcBef>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260078" y="1237197"/>
            <a:ext cx="7560469" cy="2631887"/>
          </a:xfrm>
        </p:spPr>
        <p:txBody>
          <a:bodyPr anchor="b"/>
          <a:lstStyle>
            <a:lvl1pPr algn="ctr">
              <a:defRPr sz="6614"/>
            </a:lvl1pPr>
          </a:lstStyle>
          <a:p>
            <a:r>
              <a:rPr lang="es-ES"/>
              <a:t>Haga clic para modificar el estilo de título del patrón</a:t>
            </a:r>
            <a:endParaRPr lang="es-CL"/>
          </a:p>
        </p:txBody>
      </p:sp>
      <p:sp>
        <p:nvSpPr>
          <p:cNvPr id="3" name="Subtítulo 2"/>
          <p:cNvSpPr>
            <a:spLocks noGrp="1"/>
          </p:cNvSpPr>
          <p:nvPr>
            <p:ph type="subTitle" idx="1"/>
          </p:nvPr>
        </p:nvSpPr>
        <p:spPr>
          <a:xfrm>
            <a:off x="1260078" y="3970580"/>
            <a:ext cx="7560469"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es-ES"/>
              <a:t>Haga clic para modificar el estilo de subtítulo del patrón</a:t>
            </a:r>
            <a:endParaRPr lang="es-CL"/>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48228BE-C43A-4FD2-B817-AA2966820E73}"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105159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D33FDDD-5CD7-4713-98BC-ACC98240E07D}"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182760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687793" y="1884670"/>
            <a:ext cx="8694539" cy="3144614"/>
          </a:xfrm>
        </p:spPr>
        <p:txBody>
          <a:bodyPr anchor="b"/>
          <a:lstStyle>
            <a:lvl1pPr>
              <a:defRPr sz="6614"/>
            </a:lvl1pPr>
          </a:lstStyle>
          <a:p>
            <a:r>
              <a:rPr lang="es-ES"/>
              <a:t>Haga clic para modificar el estilo de título del patrón</a:t>
            </a:r>
            <a:endParaRPr lang="es-CL"/>
          </a:p>
        </p:txBody>
      </p:sp>
      <p:sp>
        <p:nvSpPr>
          <p:cNvPr id="3" name="Marcador de texto 2"/>
          <p:cNvSpPr>
            <a:spLocks noGrp="1"/>
          </p:cNvSpPr>
          <p:nvPr>
            <p:ph type="body" idx="1"/>
          </p:nvPr>
        </p:nvSpPr>
        <p:spPr>
          <a:xfrm>
            <a:off x="687793" y="5059034"/>
            <a:ext cx="8694539" cy="1653678"/>
          </a:xfrm>
        </p:spPr>
        <p:txBody>
          <a:bodyPr/>
          <a:lstStyle>
            <a:lvl1pPr marL="0" indent="0">
              <a:buNone/>
              <a:defRPr sz="2646"/>
            </a:lvl1pPr>
            <a:lvl2pPr marL="503972" indent="0">
              <a:buNone/>
              <a:defRPr sz="2205"/>
            </a:lvl2pPr>
            <a:lvl3pPr marL="1007943" indent="0">
              <a:buNone/>
              <a:defRPr sz="1984"/>
            </a:lvl3pPr>
            <a:lvl4pPr marL="1511915" indent="0">
              <a:buNone/>
              <a:defRPr sz="1764"/>
            </a:lvl4pPr>
            <a:lvl5pPr marL="2015886" indent="0">
              <a:buNone/>
              <a:defRPr sz="1764"/>
            </a:lvl5pPr>
            <a:lvl6pPr marL="2519858" indent="0">
              <a:buNone/>
              <a:defRPr sz="1764"/>
            </a:lvl6pPr>
            <a:lvl7pPr marL="3023829" indent="0">
              <a:buNone/>
              <a:defRPr sz="1764"/>
            </a:lvl7pPr>
            <a:lvl8pPr marL="3527801" indent="0">
              <a:buNone/>
              <a:defRPr sz="1764"/>
            </a:lvl8pPr>
            <a:lvl9pPr marL="4031772" indent="0">
              <a:buNone/>
              <a:defRPr sz="1764"/>
            </a:lvl9pPr>
          </a:lstStyle>
          <a:p>
            <a:pPr lvl="0"/>
            <a:r>
              <a:rPr lang="es-ES"/>
              <a:t>Haga clic para modificar el estilo de texto del patrón</a:t>
            </a:r>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83A8A98-E210-4B62-B996-791F7D959229}"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3956636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contenido 2"/>
          <p:cNvSpPr>
            <a:spLocks noGrp="1"/>
          </p:cNvSpPr>
          <p:nvPr>
            <p:ph sz="half" idx="1"/>
          </p:nvPr>
        </p:nvSpPr>
        <p:spPr>
          <a:xfrm>
            <a:off x="504031" y="1763925"/>
            <a:ext cx="4452276" cy="498903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p:cNvSpPr>
            <a:spLocks noGrp="1"/>
          </p:cNvSpPr>
          <p:nvPr>
            <p:ph sz="half" idx="2"/>
          </p:nvPr>
        </p:nvSpPr>
        <p:spPr>
          <a:xfrm>
            <a:off x="5124318" y="1763925"/>
            <a:ext cx="4452276" cy="498903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F0FC6B25-4ABA-497E-98EE-435BF58F52F9}"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3231225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694794" y="402483"/>
            <a:ext cx="8694539" cy="1461188"/>
          </a:xfrm>
        </p:spPr>
        <p:txBody>
          <a:bodyPr/>
          <a:lstStyle/>
          <a:p>
            <a:r>
              <a:rPr lang="es-ES"/>
              <a:t>Haga clic para modificar el estilo de título del patrón</a:t>
            </a:r>
            <a:endParaRPr lang="es-CL"/>
          </a:p>
        </p:txBody>
      </p:sp>
      <p:sp>
        <p:nvSpPr>
          <p:cNvPr id="3" name="Marcador de texto 2"/>
          <p:cNvSpPr>
            <a:spLocks noGrp="1"/>
          </p:cNvSpPr>
          <p:nvPr>
            <p:ph type="body" idx="1"/>
          </p:nvPr>
        </p:nvSpPr>
        <p:spPr>
          <a:xfrm>
            <a:off x="694794" y="1853171"/>
            <a:ext cx="4265014"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s-ES"/>
              <a:t>Haga clic para modificar el estilo de texto del patrón</a:t>
            </a:r>
          </a:p>
        </p:txBody>
      </p:sp>
      <p:sp>
        <p:nvSpPr>
          <p:cNvPr id="4" name="Marcador de contenido 3"/>
          <p:cNvSpPr>
            <a:spLocks noGrp="1"/>
          </p:cNvSpPr>
          <p:nvPr>
            <p:ph sz="half" idx="2"/>
          </p:nvPr>
        </p:nvSpPr>
        <p:spPr>
          <a:xfrm>
            <a:off x="694794" y="2761381"/>
            <a:ext cx="4265014" cy="406157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p:cNvSpPr>
            <a:spLocks noGrp="1"/>
          </p:cNvSpPr>
          <p:nvPr>
            <p:ph type="body" sz="quarter" idx="3"/>
          </p:nvPr>
        </p:nvSpPr>
        <p:spPr>
          <a:xfrm>
            <a:off x="5103317" y="1853171"/>
            <a:ext cx="4286016"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s-ES"/>
              <a:t>Haga clic para modificar el estilo de texto del patrón</a:t>
            </a:r>
          </a:p>
        </p:txBody>
      </p:sp>
      <p:sp>
        <p:nvSpPr>
          <p:cNvPr id="6" name="Marcador de contenido 5"/>
          <p:cNvSpPr>
            <a:spLocks noGrp="1"/>
          </p:cNvSpPr>
          <p:nvPr>
            <p:ph sz="quarter" idx="4"/>
          </p:nvPr>
        </p:nvSpPr>
        <p:spPr>
          <a:xfrm>
            <a:off x="5103317" y="2761381"/>
            <a:ext cx="4286016" cy="406157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2AA004A8-8B36-4E08-8F33-CDBE7D0AAC7D}"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0364689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F399B8EA-7CCB-4343-ACC9-5CE73C0E832B}"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929124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19D1F96A-7218-438B-A075-302B43395483}"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452464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94794" y="503978"/>
            <a:ext cx="3251702" cy="1763924"/>
          </a:xfrm>
        </p:spPr>
        <p:txBody>
          <a:bodyPr anchor="b"/>
          <a:lstStyle>
            <a:lvl1pPr>
              <a:defRPr sz="3527"/>
            </a:lvl1pPr>
          </a:lstStyle>
          <a:p>
            <a:r>
              <a:rPr lang="es-ES"/>
              <a:t>Haga clic para modificar el estilo de título del patrón</a:t>
            </a:r>
            <a:endParaRPr lang="es-CL"/>
          </a:p>
        </p:txBody>
      </p:sp>
      <p:sp>
        <p:nvSpPr>
          <p:cNvPr id="3" name="Marcador de contenido 2"/>
          <p:cNvSpPr>
            <a:spLocks noGrp="1"/>
          </p:cNvSpPr>
          <p:nvPr>
            <p:ph idx="1"/>
          </p:nvPr>
        </p:nvSpPr>
        <p:spPr>
          <a:xfrm>
            <a:off x="4286016" y="1088454"/>
            <a:ext cx="5103316" cy="5372269"/>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p:cNvSpPr>
            <a:spLocks noGrp="1"/>
          </p:cNvSpPr>
          <p:nvPr>
            <p:ph type="body" sz="half" idx="2"/>
          </p:nvPr>
        </p:nvSpPr>
        <p:spPr>
          <a:xfrm>
            <a:off x="694794" y="2267902"/>
            <a:ext cx="3251702"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81E75F5-A394-4227-97F6-EB9E257E137C}"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5656877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94794" y="503978"/>
            <a:ext cx="3251702" cy="1763924"/>
          </a:xfrm>
        </p:spPr>
        <p:txBody>
          <a:bodyPr anchor="b"/>
          <a:lstStyle>
            <a:lvl1pPr>
              <a:defRPr sz="3527"/>
            </a:lvl1pPr>
          </a:lstStyle>
          <a:p>
            <a:r>
              <a:rPr lang="es-ES"/>
              <a:t>Haga clic para modificar el estilo de título del patrón</a:t>
            </a:r>
            <a:endParaRPr lang="es-CL"/>
          </a:p>
        </p:txBody>
      </p:sp>
      <p:sp>
        <p:nvSpPr>
          <p:cNvPr id="3" name="Marcador de posición de imagen 2"/>
          <p:cNvSpPr>
            <a:spLocks noGrp="1"/>
          </p:cNvSpPr>
          <p:nvPr>
            <p:ph type="pic" idx="1"/>
          </p:nvPr>
        </p:nvSpPr>
        <p:spPr>
          <a:xfrm>
            <a:off x="4286016" y="1088454"/>
            <a:ext cx="5103316" cy="5372269"/>
          </a:xfrm>
        </p:spPr>
        <p:txBody>
          <a:bodyPr/>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pPr lvl="0"/>
            <a:endParaRPr lang="es-CL" noProof="0"/>
          </a:p>
        </p:txBody>
      </p:sp>
      <p:sp>
        <p:nvSpPr>
          <p:cNvPr id="4" name="Marcador de texto 3"/>
          <p:cNvSpPr>
            <a:spLocks noGrp="1"/>
          </p:cNvSpPr>
          <p:nvPr>
            <p:ph type="body" sz="half" idx="2"/>
          </p:nvPr>
        </p:nvSpPr>
        <p:spPr>
          <a:xfrm>
            <a:off x="694794" y="2267902"/>
            <a:ext cx="3251702"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0927A047-509D-47B5-9426-7E250F2B98C2}"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24963627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DE03C4C-EC7B-4AA6-81C7-3420DBB5ADC1}"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5731470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308453" y="302738"/>
            <a:ext cx="2268141" cy="6450223"/>
          </a:xfrm>
        </p:spPr>
        <p:txBody>
          <a:bodyPr vert="eaVert"/>
          <a:lstStyle/>
          <a:p>
            <a:r>
              <a:rPr lang="es-ES"/>
              <a:t>Haga clic para modificar el estilo de título del patrón</a:t>
            </a:r>
            <a:endParaRPr lang="es-CL"/>
          </a:p>
        </p:txBody>
      </p:sp>
      <p:sp>
        <p:nvSpPr>
          <p:cNvPr id="3" name="Marcador de texto vertical 2"/>
          <p:cNvSpPr>
            <a:spLocks noGrp="1"/>
          </p:cNvSpPr>
          <p:nvPr>
            <p:ph type="body" orient="vert" idx="1"/>
          </p:nvPr>
        </p:nvSpPr>
        <p:spPr>
          <a:xfrm>
            <a:off x="504031" y="302738"/>
            <a:ext cx="6636411" cy="6450223"/>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BE36D9B-DD5B-40F3-BCEA-8F6620F0A47D}"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1180154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reserve="1">
  <p:cSld name="Título, text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504031" y="302737"/>
            <a:ext cx="9072563" cy="1259946"/>
          </a:xfrm>
        </p:spPr>
        <p:txBody>
          <a:bodyPr/>
          <a:lstStyle/>
          <a:p>
            <a:r>
              <a:rPr lang="es-ES"/>
              <a:t>Haga clic para modificar el estilo de título del patrón</a:t>
            </a:r>
            <a:endParaRPr lang="es-CL"/>
          </a:p>
        </p:txBody>
      </p:sp>
      <p:sp>
        <p:nvSpPr>
          <p:cNvPr id="3" name="Marcador de texto 2"/>
          <p:cNvSpPr>
            <a:spLocks noGrp="1"/>
          </p:cNvSpPr>
          <p:nvPr>
            <p:ph type="body" sz="half" idx="1"/>
          </p:nvPr>
        </p:nvSpPr>
        <p:spPr>
          <a:xfrm>
            <a:off x="504031" y="1763925"/>
            <a:ext cx="4452276" cy="498903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p:cNvSpPr>
            <a:spLocks noGrp="1"/>
          </p:cNvSpPr>
          <p:nvPr>
            <p:ph sz="half" idx="2"/>
          </p:nvPr>
        </p:nvSpPr>
        <p:spPr>
          <a:xfrm>
            <a:off x="5124318" y="1763925"/>
            <a:ext cx="4452276" cy="4989036"/>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Rectangle 4"/>
          <p:cNvSpPr>
            <a:spLocks noGrp="1" noChangeArrowheads="1"/>
          </p:cNvSpPr>
          <p:nvPr>
            <p:ph type="dt" sz="half" idx="10"/>
          </p:nvPr>
        </p:nvSpPr>
        <p:spPr>
          <a:ln/>
        </p:spPr>
        <p:txBody>
          <a:bodyPr/>
          <a:lstStyle>
            <a:lvl1pPr>
              <a:defRPr/>
            </a:lvl1pPr>
          </a:lstStyle>
          <a:p>
            <a:pPr>
              <a:defRPr/>
            </a:pPr>
            <a:endParaRPr lang="es-E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s-E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24248B9-E860-460B-96E3-BB6AC55B3A06}" type="slidenum">
              <a:rPr lang="es-ES">
                <a:solidFill>
                  <a:srgbClr val="000000"/>
                </a:solidFill>
              </a:rPr>
              <a:pPr>
                <a:defRPr/>
              </a:pPr>
              <a:t>‹Nº›</a:t>
            </a:fld>
            <a:endParaRPr lang="es-ES">
              <a:solidFill>
                <a:srgbClr val="000000"/>
              </a:solidFill>
            </a:endParaRPr>
          </a:p>
        </p:txBody>
      </p:sp>
    </p:spTree>
    <p:extLst>
      <p:ext uri="{BB962C8B-B14F-4D97-AF65-F5344CB8AC3E}">
        <p14:creationId xmlns:p14="http://schemas.microsoft.com/office/powerpoint/2010/main" val="4064422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504000" y="301319"/>
            <a:ext cx="9071640" cy="1262160"/>
          </a:xfrm>
          <a:prstGeom prst="rect">
            <a:avLst/>
          </a:prstGeom>
          <a:noFill/>
          <a:ln>
            <a:noFill/>
          </a:ln>
        </p:spPr>
        <p:txBody>
          <a:bodyPr lIns="91425" tIns="91425" rIns="91425" bIns="91425" anchor="ctr" anchorCtr="0"/>
          <a:lstStyle>
            <a:lvl1pPr marL="0" marR="0" lvl="0" indent="0" algn="l" rtl="0">
              <a:spcBef>
                <a:spcPts val="0"/>
              </a:spcBef>
              <a:buNone/>
              <a:defRPr sz="1800" b="0" i="0" u="none" strike="noStrike" cap="none"/>
            </a:lvl1pPr>
            <a:lvl2pPr marL="0" marR="0" lvl="1" indent="0" algn="l" rtl="0">
              <a:spcBef>
                <a:spcPts val="0"/>
              </a:spcBef>
              <a:buNone/>
              <a:defRPr sz="1800" b="0" i="0" u="none" strike="noStrike" cap="none"/>
            </a:lvl2pPr>
            <a:lvl3pPr marL="0" marR="0" lvl="2" indent="0" algn="l" rtl="0">
              <a:spcBef>
                <a:spcPts val="0"/>
              </a:spcBef>
              <a:buNone/>
              <a:defRPr sz="1800" b="0" i="0" u="none" strike="noStrike" cap="none"/>
            </a:lvl3pPr>
            <a:lvl4pPr marL="0" marR="0" lvl="3" indent="0" algn="l" rtl="0">
              <a:spcBef>
                <a:spcPts val="0"/>
              </a:spcBef>
              <a:buNone/>
              <a:defRPr sz="1800" b="0" i="0" u="none" strike="noStrike" cap="none"/>
            </a:lvl4pPr>
            <a:lvl5pPr marL="0" marR="0" lvl="4" indent="0" algn="l" rtl="0">
              <a:spcBef>
                <a:spcPts val="0"/>
              </a:spcBef>
              <a:buNone/>
              <a:defRPr sz="1800" b="0" i="0" u="none" strike="noStrike" cap="none"/>
            </a:lvl5pPr>
            <a:lvl6pPr marL="0" marR="0" lvl="5" indent="0" algn="l" rtl="0">
              <a:spcBef>
                <a:spcPts val="0"/>
              </a:spcBef>
              <a:buNone/>
              <a:defRPr sz="1800" b="0" i="0" u="none" strike="noStrike" cap="none"/>
            </a:lvl6pPr>
            <a:lvl7pPr marL="0" marR="0" lvl="6" indent="0" algn="l" rtl="0">
              <a:spcBef>
                <a:spcPts val="0"/>
              </a:spcBef>
              <a:buNone/>
              <a:defRPr sz="1800" b="0" i="0" u="none" strike="noStrike" cap="none"/>
            </a:lvl7pPr>
            <a:lvl8pPr marL="0" marR="0" lvl="7" indent="0" algn="l" rtl="0">
              <a:spcBef>
                <a:spcPts val="0"/>
              </a:spcBef>
              <a:buNone/>
              <a:defRPr sz="1800" b="0" i="0" u="none" strike="noStrike" cap="none"/>
            </a:lvl8pPr>
            <a:lvl9pPr marL="0" marR="0" lvl="8" indent="0" algn="l" rtl="0">
              <a:spcBef>
                <a:spcPts val="0"/>
              </a:spcBef>
              <a:buNone/>
              <a:defRPr sz="1800" b="0" i="0" u="none" strike="noStrike" cap="none"/>
            </a:lvl9pPr>
          </a:lstStyle>
          <a:p>
            <a:endParaRPr/>
          </a:p>
        </p:txBody>
      </p:sp>
      <p:sp>
        <p:nvSpPr>
          <p:cNvPr id="7" name="Shape 7"/>
          <p:cNvSpPr txBox="1">
            <a:spLocks noGrp="1"/>
          </p:cNvSpPr>
          <p:nvPr>
            <p:ph type="body" idx="1"/>
          </p:nvPr>
        </p:nvSpPr>
        <p:spPr>
          <a:xfrm>
            <a:off x="504000" y="1769040"/>
            <a:ext cx="9071640" cy="4384440"/>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8" name="Shape 8"/>
          <p:cNvSpPr txBox="1">
            <a:spLocks noGrp="1"/>
          </p:cNvSpPr>
          <p:nvPr>
            <p:ph type="dt" idx="10"/>
          </p:nvPr>
        </p:nvSpPr>
        <p:spPr>
          <a:xfrm>
            <a:off x="504000" y="6887160"/>
            <a:ext cx="2348280" cy="521279"/>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9" name="Shape 9"/>
          <p:cNvSpPr txBox="1">
            <a:spLocks noGrp="1"/>
          </p:cNvSpPr>
          <p:nvPr>
            <p:ph type="ftr" idx="11"/>
          </p:nvPr>
        </p:nvSpPr>
        <p:spPr>
          <a:xfrm>
            <a:off x="3447360" y="6887160"/>
            <a:ext cx="3195000" cy="521279"/>
          </a:xfrm>
          <a:prstGeom prst="rect">
            <a:avLst/>
          </a:prstGeom>
          <a:noFill/>
          <a:ln>
            <a:noFill/>
          </a:ln>
        </p:spPr>
        <p:txBody>
          <a:bodyPr lIns="91425" tIns="91425" rIns="91425" bIns="91425" anchor="t" anchorCtr="0"/>
          <a:lstStyle>
            <a:lvl1pPr marL="0" marR="0" lvl="0" indent="0" algn="l" rtl="0">
              <a:spcBef>
                <a:spcPts val="0"/>
              </a:spcBef>
              <a:buNone/>
              <a:defRPr sz="1800" b="0" i="0" u="none" strike="noStrike" cap="none"/>
            </a:lvl1pPr>
            <a:lvl2pPr marL="457200" marR="0" lvl="1" indent="0" algn="l" rtl="0">
              <a:spcBef>
                <a:spcPts val="0"/>
              </a:spcBef>
              <a:buNone/>
              <a:defRPr sz="1800" b="0" i="0" u="none" strike="noStrike" cap="none"/>
            </a:lvl2pPr>
            <a:lvl3pPr marL="914400" marR="0" lvl="2" indent="0" algn="l" rtl="0">
              <a:spcBef>
                <a:spcPts val="0"/>
              </a:spcBef>
              <a:buNone/>
              <a:defRPr sz="1800" b="0" i="0" u="none" strike="noStrike" cap="none"/>
            </a:lvl3pPr>
            <a:lvl4pPr marL="1371600" marR="0" lvl="3" indent="0" algn="l" rtl="0">
              <a:spcBef>
                <a:spcPts val="0"/>
              </a:spcBef>
              <a:buNone/>
              <a:defRPr sz="1800" b="0" i="0" u="none" strike="noStrike" cap="none"/>
            </a:lvl4pPr>
            <a:lvl5pPr marL="1828800" marR="0" lvl="4" indent="0" algn="l" rtl="0">
              <a:spcBef>
                <a:spcPts val="0"/>
              </a:spcBef>
              <a:buNone/>
              <a:defRPr sz="1800" b="0" i="0" u="none" strike="noStrike" cap="none"/>
            </a:lvl5pPr>
            <a:lvl6pPr marL="2286000" marR="0" lvl="5" indent="0" algn="l" rtl="0">
              <a:spcBef>
                <a:spcPts val="0"/>
              </a:spcBef>
              <a:buNone/>
              <a:defRPr sz="1800" b="0" i="0" u="none" strike="noStrike" cap="none"/>
            </a:lvl6pPr>
            <a:lvl7pPr marL="2743200" marR="0" lvl="6" indent="0" algn="l" rtl="0">
              <a:spcBef>
                <a:spcPts val="0"/>
              </a:spcBef>
              <a:buNone/>
              <a:defRPr sz="1800" b="0" i="0" u="none" strike="noStrike" cap="none"/>
            </a:lvl7pPr>
            <a:lvl8pPr marL="3200400" marR="0" lvl="7" indent="0" algn="l" rtl="0">
              <a:spcBef>
                <a:spcPts val="0"/>
              </a:spcBef>
              <a:buNone/>
              <a:defRPr sz="1800" b="0" i="0" u="none" strike="noStrike" cap="none"/>
            </a:lvl8pPr>
            <a:lvl9pPr marL="3657600" marR="0" lvl="8" indent="0" algn="l" rtl="0">
              <a:spcBef>
                <a:spcPts val="0"/>
              </a:spcBef>
              <a:buNone/>
              <a:defRPr sz="1800" b="0" i="0" u="none" strike="noStrike" cap="none"/>
            </a:lvl9pPr>
          </a:lstStyle>
          <a:p>
            <a:endParaRPr/>
          </a:p>
        </p:txBody>
      </p:sp>
      <p:sp>
        <p:nvSpPr>
          <p:cNvPr id="10" name="Shape 10"/>
          <p:cNvSpPr txBox="1">
            <a:spLocks noGrp="1"/>
          </p:cNvSpPr>
          <p:nvPr>
            <p:ph type="sldNum" idx="12"/>
          </p:nvPr>
        </p:nvSpPr>
        <p:spPr>
          <a:xfrm>
            <a:off x="7227360" y="6887160"/>
            <a:ext cx="2348280" cy="521279"/>
          </a:xfrm>
          <a:prstGeom prst="rect">
            <a:avLst/>
          </a:prstGeom>
          <a:noFill/>
          <a:ln>
            <a:noFill/>
          </a:ln>
        </p:spPr>
        <p:txBody>
          <a:bodyPr lIns="0" tIns="0" rIns="0" bIns="0" anchor="t" anchorCtr="0">
            <a:noAutofit/>
          </a:bodyPr>
          <a:lstStyle/>
          <a:p>
            <a:pPr marL="0" marR="0" lvl="0" indent="0" algn="r" rtl="0">
              <a:spcBef>
                <a:spcPts val="0"/>
              </a:spcBef>
              <a:buSzPct val="25000"/>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‹Nº›</a:t>
            </a:fld>
            <a:endParaRPr lang="en-US" sz="1400" b="0" i="0" u="none" strike="noStrike" cap="none">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04031" y="302737"/>
            <a:ext cx="9072563" cy="1259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t>Haga clic para cambiar el estilo de título	</a:t>
            </a:r>
          </a:p>
        </p:txBody>
      </p:sp>
      <p:sp>
        <p:nvSpPr>
          <p:cNvPr id="1027" name="Rectangle 3"/>
          <p:cNvSpPr>
            <a:spLocks noGrp="1" noChangeArrowheads="1"/>
          </p:cNvSpPr>
          <p:nvPr>
            <p:ph type="body" idx="1"/>
          </p:nvPr>
        </p:nvSpPr>
        <p:spPr bwMode="auto">
          <a:xfrm>
            <a:off x="504031" y="1763925"/>
            <a:ext cx="9072563" cy="4989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1028" name="Rectangle 4"/>
          <p:cNvSpPr>
            <a:spLocks noGrp="1" noChangeArrowheads="1"/>
          </p:cNvSpPr>
          <p:nvPr>
            <p:ph type="dt" sz="half" idx="2"/>
          </p:nvPr>
        </p:nvSpPr>
        <p:spPr bwMode="auto">
          <a:xfrm>
            <a:off x="504031" y="6884204"/>
            <a:ext cx="2352146" cy="524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543" smtClean="0"/>
            </a:lvl1pPr>
          </a:lstStyle>
          <a:p>
            <a:pPr fontAlgn="base">
              <a:spcBef>
                <a:spcPct val="0"/>
              </a:spcBef>
              <a:spcAft>
                <a:spcPct val="0"/>
              </a:spcAft>
              <a:defRPr/>
            </a:pPr>
            <a:endParaRPr lang="es-ES" kern="1200">
              <a:latin typeface="Arial" panose="020B0604020202020204" pitchFamily="34" charset="0"/>
            </a:endParaRPr>
          </a:p>
        </p:txBody>
      </p:sp>
      <p:sp>
        <p:nvSpPr>
          <p:cNvPr id="1029" name="Rectangle 5"/>
          <p:cNvSpPr>
            <a:spLocks noGrp="1" noChangeArrowheads="1"/>
          </p:cNvSpPr>
          <p:nvPr>
            <p:ph type="ftr" sz="quarter" idx="3"/>
          </p:nvPr>
        </p:nvSpPr>
        <p:spPr bwMode="auto">
          <a:xfrm>
            <a:off x="3444214" y="6884204"/>
            <a:ext cx="3192198" cy="524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543" smtClean="0"/>
            </a:lvl1pPr>
          </a:lstStyle>
          <a:p>
            <a:pPr fontAlgn="base">
              <a:spcBef>
                <a:spcPct val="0"/>
              </a:spcBef>
              <a:spcAft>
                <a:spcPct val="0"/>
              </a:spcAft>
              <a:defRPr/>
            </a:pPr>
            <a:endParaRPr lang="es-ES" kern="1200">
              <a:latin typeface="Arial" panose="020B0604020202020204" pitchFamily="34" charset="0"/>
            </a:endParaRPr>
          </a:p>
        </p:txBody>
      </p:sp>
      <p:sp>
        <p:nvSpPr>
          <p:cNvPr id="1030" name="Rectangle 6"/>
          <p:cNvSpPr>
            <a:spLocks noGrp="1" noChangeArrowheads="1"/>
          </p:cNvSpPr>
          <p:nvPr>
            <p:ph type="sldNum" sz="quarter" idx="4"/>
          </p:nvPr>
        </p:nvSpPr>
        <p:spPr bwMode="auto">
          <a:xfrm>
            <a:off x="7224448" y="6884204"/>
            <a:ext cx="2352146" cy="524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543" smtClean="0"/>
            </a:lvl1pPr>
          </a:lstStyle>
          <a:p>
            <a:pPr fontAlgn="base">
              <a:spcBef>
                <a:spcPct val="0"/>
              </a:spcBef>
              <a:spcAft>
                <a:spcPct val="0"/>
              </a:spcAft>
              <a:defRPr/>
            </a:pPr>
            <a:fld id="{CCB836D0-3760-4469-9E8B-17FE89EF2E03}" type="slidenum">
              <a:rPr lang="es-ES" kern="1200">
                <a:latin typeface="Arial" panose="020B0604020202020204" pitchFamily="34" charset="0"/>
              </a:rPr>
              <a:pPr fontAlgn="base">
                <a:spcBef>
                  <a:spcPct val="0"/>
                </a:spcBef>
                <a:spcAft>
                  <a:spcPct val="0"/>
                </a:spcAft>
                <a:defRPr/>
              </a:pPr>
              <a:t>‹Nº›</a:t>
            </a:fld>
            <a:endParaRPr lang="es-ES" kern="1200">
              <a:latin typeface="Arial" panose="020B0604020202020204" pitchFamily="34" charset="0"/>
            </a:endParaRPr>
          </a:p>
        </p:txBody>
      </p:sp>
    </p:spTree>
    <p:extLst>
      <p:ext uri="{BB962C8B-B14F-4D97-AF65-F5344CB8AC3E}">
        <p14:creationId xmlns:p14="http://schemas.microsoft.com/office/powerpoint/2010/main" val="46449757"/>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ctr" rtl="0" eaLnBrk="0" fontAlgn="base" hangingPunct="0">
        <a:spcBef>
          <a:spcPct val="0"/>
        </a:spcBef>
        <a:spcAft>
          <a:spcPct val="0"/>
        </a:spcAft>
        <a:defRPr sz="4850" kern="1200">
          <a:solidFill>
            <a:schemeClr val="tx2"/>
          </a:solidFill>
          <a:latin typeface="+mj-lt"/>
          <a:ea typeface="+mj-ea"/>
          <a:cs typeface="+mj-cs"/>
        </a:defRPr>
      </a:lvl1pPr>
      <a:lvl2pPr algn="ctr" rtl="0" eaLnBrk="0" fontAlgn="base" hangingPunct="0">
        <a:spcBef>
          <a:spcPct val="0"/>
        </a:spcBef>
        <a:spcAft>
          <a:spcPct val="0"/>
        </a:spcAft>
        <a:defRPr sz="4850">
          <a:solidFill>
            <a:schemeClr val="tx2"/>
          </a:solidFill>
          <a:latin typeface="Arial" panose="020B0604020202020204" pitchFamily="34" charset="0"/>
        </a:defRPr>
      </a:lvl2pPr>
      <a:lvl3pPr algn="ctr" rtl="0" eaLnBrk="0" fontAlgn="base" hangingPunct="0">
        <a:spcBef>
          <a:spcPct val="0"/>
        </a:spcBef>
        <a:spcAft>
          <a:spcPct val="0"/>
        </a:spcAft>
        <a:defRPr sz="4850">
          <a:solidFill>
            <a:schemeClr val="tx2"/>
          </a:solidFill>
          <a:latin typeface="Arial" panose="020B0604020202020204" pitchFamily="34" charset="0"/>
        </a:defRPr>
      </a:lvl3pPr>
      <a:lvl4pPr algn="ctr" rtl="0" eaLnBrk="0" fontAlgn="base" hangingPunct="0">
        <a:spcBef>
          <a:spcPct val="0"/>
        </a:spcBef>
        <a:spcAft>
          <a:spcPct val="0"/>
        </a:spcAft>
        <a:defRPr sz="4850">
          <a:solidFill>
            <a:schemeClr val="tx2"/>
          </a:solidFill>
          <a:latin typeface="Arial" panose="020B0604020202020204" pitchFamily="34" charset="0"/>
        </a:defRPr>
      </a:lvl4pPr>
      <a:lvl5pPr algn="ctr" rtl="0" eaLnBrk="0" fontAlgn="base" hangingPunct="0">
        <a:spcBef>
          <a:spcPct val="0"/>
        </a:spcBef>
        <a:spcAft>
          <a:spcPct val="0"/>
        </a:spcAft>
        <a:defRPr sz="4850">
          <a:solidFill>
            <a:schemeClr val="tx2"/>
          </a:solidFill>
          <a:latin typeface="Arial" panose="020B0604020202020204" pitchFamily="34" charset="0"/>
        </a:defRPr>
      </a:lvl5pPr>
      <a:lvl6pPr marL="503972" algn="ctr" rtl="0" fontAlgn="base">
        <a:spcBef>
          <a:spcPct val="0"/>
        </a:spcBef>
        <a:spcAft>
          <a:spcPct val="0"/>
        </a:spcAft>
        <a:defRPr sz="4850">
          <a:solidFill>
            <a:schemeClr val="tx2"/>
          </a:solidFill>
          <a:latin typeface="Arial" panose="020B0604020202020204" pitchFamily="34" charset="0"/>
        </a:defRPr>
      </a:lvl6pPr>
      <a:lvl7pPr marL="1007943" algn="ctr" rtl="0" fontAlgn="base">
        <a:spcBef>
          <a:spcPct val="0"/>
        </a:spcBef>
        <a:spcAft>
          <a:spcPct val="0"/>
        </a:spcAft>
        <a:defRPr sz="4850">
          <a:solidFill>
            <a:schemeClr val="tx2"/>
          </a:solidFill>
          <a:latin typeface="Arial" panose="020B0604020202020204" pitchFamily="34" charset="0"/>
        </a:defRPr>
      </a:lvl7pPr>
      <a:lvl8pPr marL="1511915" algn="ctr" rtl="0" fontAlgn="base">
        <a:spcBef>
          <a:spcPct val="0"/>
        </a:spcBef>
        <a:spcAft>
          <a:spcPct val="0"/>
        </a:spcAft>
        <a:defRPr sz="4850">
          <a:solidFill>
            <a:schemeClr val="tx2"/>
          </a:solidFill>
          <a:latin typeface="Arial" panose="020B0604020202020204" pitchFamily="34" charset="0"/>
        </a:defRPr>
      </a:lvl8pPr>
      <a:lvl9pPr marL="2015886" algn="ctr" rtl="0" fontAlgn="base">
        <a:spcBef>
          <a:spcPct val="0"/>
        </a:spcBef>
        <a:spcAft>
          <a:spcPct val="0"/>
        </a:spcAft>
        <a:defRPr sz="4850">
          <a:solidFill>
            <a:schemeClr val="tx2"/>
          </a:solidFill>
          <a:latin typeface="Arial" panose="020B0604020202020204" pitchFamily="34" charset="0"/>
        </a:defRPr>
      </a:lvl9pPr>
    </p:titleStyle>
    <p:bodyStyle>
      <a:lvl1pPr marL="377979" indent="-377979" algn="l" rtl="0" eaLnBrk="0" fontAlgn="base" hangingPunct="0">
        <a:spcBef>
          <a:spcPct val="20000"/>
        </a:spcBef>
        <a:spcAft>
          <a:spcPct val="0"/>
        </a:spcAft>
        <a:buChar char="•"/>
        <a:defRPr sz="3527" kern="1200">
          <a:solidFill>
            <a:schemeClr val="tx1"/>
          </a:solidFill>
          <a:latin typeface="+mn-lt"/>
          <a:ea typeface="+mn-ea"/>
          <a:cs typeface="+mn-cs"/>
        </a:defRPr>
      </a:lvl1pPr>
      <a:lvl2pPr marL="818954" indent="-314982" algn="l" rtl="0" eaLnBrk="0" fontAlgn="base" hangingPunct="0">
        <a:spcBef>
          <a:spcPct val="20000"/>
        </a:spcBef>
        <a:spcAft>
          <a:spcPct val="0"/>
        </a:spcAft>
        <a:buChar char="–"/>
        <a:defRPr sz="3086" kern="1200">
          <a:solidFill>
            <a:schemeClr val="tx1"/>
          </a:solidFill>
          <a:latin typeface="+mn-lt"/>
          <a:ea typeface="+mn-ea"/>
          <a:cs typeface="+mn-cs"/>
        </a:defRPr>
      </a:lvl2pPr>
      <a:lvl3pPr marL="1259929" indent="-251986" algn="l" rtl="0" eaLnBrk="0" fontAlgn="base" hangingPunct="0">
        <a:spcBef>
          <a:spcPct val="20000"/>
        </a:spcBef>
        <a:spcAft>
          <a:spcPct val="0"/>
        </a:spcAft>
        <a:buChar char="•"/>
        <a:defRPr sz="2646" kern="1200">
          <a:solidFill>
            <a:schemeClr val="tx1"/>
          </a:solidFill>
          <a:latin typeface="+mn-lt"/>
          <a:ea typeface="+mn-ea"/>
          <a:cs typeface="+mn-cs"/>
        </a:defRPr>
      </a:lvl3pPr>
      <a:lvl4pPr marL="1763900" indent="-251986" algn="l" rtl="0" eaLnBrk="0" fontAlgn="base" hangingPunct="0">
        <a:spcBef>
          <a:spcPct val="20000"/>
        </a:spcBef>
        <a:spcAft>
          <a:spcPct val="0"/>
        </a:spcAft>
        <a:buChar char="–"/>
        <a:defRPr sz="2205" kern="1200">
          <a:solidFill>
            <a:schemeClr val="tx1"/>
          </a:solidFill>
          <a:latin typeface="+mn-lt"/>
          <a:ea typeface="+mn-ea"/>
          <a:cs typeface="+mn-cs"/>
        </a:defRPr>
      </a:lvl4pPr>
      <a:lvl5pPr marL="2267872" indent="-251986" algn="l" rtl="0" eaLnBrk="0" fontAlgn="base" hangingPunct="0">
        <a:spcBef>
          <a:spcPct val="20000"/>
        </a:spcBef>
        <a:spcAft>
          <a:spcPct val="0"/>
        </a:spcAft>
        <a:buChar char="»"/>
        <a:defRPr sz="2205"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s-CL"/>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hyperlink" Target="http://act-r.psy.cmu.edu/" TargetMode="External"/><Relationship Id="rId2" Type="http://schemas.openxmlformats.org/officeDocument/2006/relationships/hyperlink" Target="https://soar.eecs.umich.edu/"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customXml" Target="../ink/ink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120.png"/><Relationship Id="rId4" Type="http://schemas.openxmlformats.org/officeDocument/2006/relationships/customXml" Target="../ink/ink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customXml" Target="../ink/ink5.xml"/><Relationship Id="rId5" Type="http://schemas.openxmlformats.org/officeDocument/2006/relationships/image" Target="../media/image130.png"/><Relationship Id="rId4" Type="http://schemas.openxmlformats.org/officeDocument/2006/relationships/customXml" Target="../ink/ink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customXml" Target="../ink/ink6.xml"/><Relationship Id="rId7" Type="http://schemas.openxmlformats.org/officeDocument/2006/relationships/customXml" Target="../ink/ink8.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customXml" Target="../ink/ink7.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www.soartech.com/"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0"/>
        <p:cNvGrpSpPr/>
        <p:nvPr/>
      </p:nvGrpSpPr>
      <p:grpSpPr>
        <a:xfrm>
          <a:off x="0" y="0"/>
          <a:ext cx="0" cy="0"/>
          <a:chOff x="0" y="0"/>
          <a:chExt cx="0" cy="0"/>
        </a:xfrm>
      </p:grpSpPr>
      <p:sp>
        <p:nvSpPr>
          <p:cNvPr id="88" name="Rectangle 8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3" name="Shape 63"/>
          <p:cNvSpPr txBox="1"/>
          <p:nvPr/>
        </p:nvSpPr>
        <p:spPr>
          <a:xfrm>
            <a:off x="3208428" y="643029"/>
            <a:ext cx="5920347" cy="4590943"/>
          </a:xfrm>
          <a:prstGeom prst="rect">
            <a:avLst/>
          </a:prstGeom>
        </p:spPr>
        <p:txBody>
          <a:bodyPr vert="horz" lIns="91440" tIns="45720" rIns="91440" bIns="45720" rtlCol="0" anchor="t" anchorCtr="0">
            <a:normAutofit/>
          </a:bodyPr>
          <a:lstStyle/>
          <a:p>
            <a:pPr lvl="0" algn="r">
              <a:lnSpc>
                <a:spcPct val="90000"/>
              </a:lnSpc>
              <a:spcBef>
                <a:spcPct val="0"/>
              </a:spcBef>
              <a:spcAft>
                <a:spcPts val="600"/>
              </a:spcAft>
            </a:pPr>
            <a:endParaRPr lang="en-US" sz="3100" kern="1200">
              <a:solidFill>
                <a:srgbClr val="FFFFFF"/>
              </a:solidFill>
              <a:latin typeface="+mj-lt"/>
              <a:ea typeface="+mj-ea"/>
              <a:cs typeface="+mj-cs"/>
            </a:endParaRPr>
          </a:p>
          <a:p>
            <a:pPr lvl="0" algn="r">
              <a:lnSpc>
                <a:spcPct val="90000"/>
              </a:lnSpc>
              <a:spcBef>
                <a:spcPct val="0"/>
              </a:spcBef>
              <a:spcAft>
                <a:spcPts val="600"/>
              </a:spcAft>
            </a:pPr>
            <a:endParaRPr lang="en-US" sz="3100" kern="1200">
              <a:solidFill>
                <a:srgbClr val="FFFFFF"/>
              </a:solidFill>
              <a:latin typeface="+mj-lt"/>
              <a:ea typeface="+mj-ea"/>
              <a:cs typeface="+mj-cs"/>
            </a:endParaRPr>
          </a:p>
          <a:p>
            <a:pPr lvl="0" algn="r">
              <a:lnSpc>
                <a:spcPct val="90000"/>
              </a:lnSpc>
              <a:spcBef>
                <a:spcPct val="0"/>
              </a:spcBef>
              <a:spcAft>
                <a:spcPts val="600"/>
              </a:spcAft>
            </a:pPr>
            <a:r>
              <a:rPr lang="en-US" sz="3100" b="1" kern="1200">
                <a:solidFill>
                  <a:srgbClr val="FFFFFF"/>
                </a:solidFill>
                <a:latin typeface="+mj-lt"/>
                <a:ea typeface="+mj-ea"/>
                <a:cs typeface="+mj-cs"/>
              </a:rPr>
              <a:t>Diplomado en Inteligencia Artificial</a:t>
            </a:r>
          </a:p>
          <a:p>
            <a:pPr lvl="0" algn="r">
              <a:lnSpc>
                <a:spcPct val="90000"/>
              </a:lnSpc>
              <a:spcBef>
                <a:spcPct val="0"/>
              </a:spcBef>
              <a:spcAft>
                <a:spcPts val="600"/>
              </a:spcAft>
            </a:pPr>
            <a:endParaRPr lang="en-US" sz="3100" kern="1200">
              <a:solidFill>
                <a:srgbClr val="FFFFFF"/>
              </a:solidFill>
              <a:latin typeface="+mj-lt"/>
              <a:ea typeface="+mj-ea"/>
              <a:cs typeface="+mj-cs"/>
            </a:endParaRPr>
          </a:p>
          <a:p>
            <a:pPr lvl="0" algn="r">
              <a:lnSpc>
                <a:spcPct val="90000"/>
              </a:lnSpc>
              <a:spcBef>
                <a:spcPct val="0"/>
              </a:spcBef>
              <a:spcAft>
                <a:spcPts val="600"/>
              </a:spcAft>
            </a:pPr>
            <a:r>
              <a:rPr lang="en-US" sz="3100" kern="1200">
                <a:solidFill>
                  <a:srgbClr val="FFFFFF"/>
                </a:solidFill>
                <a:latin typeface="+mj-lt"/>
                <a:ea typeface="+mj-ea"/>
                <a:cs typeface="+mj-cs"/>
              </a:rPr>
              <a:t>Ciencias Cognitivas e IA</a:t>
            </a:r>
          </a:p>
          <a:p>
            <a:pPr algn="r">
              <a:lnSpc>
                <a:spcPct val="90000"/>
              </a:lnSpc>
              <a:spcBef>
                <a:spcPct val="0"/>
              </a:spcBef>
              <a:spcAft>
                <a:spcPts val="600"/>
              </a:spcAft>
            </a:pPr>
            <a:r>
              <a:rPr lang="en-US" sz="3100" kern="1200">
                <a:solidFill>
                  <a:srgbClr val="FFFFFF"/>
                </a:solidFill>
                <a:latin typeface="+mj-lt"/>
                <a:ea typeface="+mj-ea"/>
                <a:cs typeface="+mj-cs"/>
              </a:rPr>
              <a:t>			</a:t>
            </a:r>
          </a:p>
          <a:p>
            <a:pPr lvl="0" algn="r">
              <a:lnSpc>
                <a:spcPct val="90000"/>
              </a:lnSpc>
              <a:spcBef>
                <a:spcPct val="0"/>
              </a:spcBef>
              <a:spcAft>
                <a:spcPts val="600"/>
              </a:spcAft>
            </a:pPr>
            <a:r>
              <a:rPr lang="en-US" sz="3100" kern="1200">
                <a:solidFill>
                  <a:srgbClr val="FFFFFF"/>
                </a:solidFill>
                <a:latin typeface="+mj-lt"/>
                <a:ea typeface="+mj-ea"/>
                <a:cs typeface="+mj-cs"/>
              </a:rPr>
              <a:t>		Sergio Chaigneau</a:t>
            </a:r>
          </a:p>
          <a:p>
            <a:pPr lvl="0" algn="r">
              <a:lnSpc>
                <a:spcPct val="90000"/>
              </a:lnSpc>
              <a:spcBef>
                <a:spcPct val="0"/>
              </a:spcBef>
              <a:spcAft>
                <a:spcPts val="600"/>
              </a:spcAft>
            </a:pPr>
            <a:endParaRPr lang="en-US" sz="3100" kern="1200">
              <a:solidFill>
                <a:srgbClr val="FFFFFF"/>
              </a:solidFill>
              <a:latin typeface="+mj-lt"/>
              <a:ea typeface="+mj-ea"/>
              <a:cs typeface="+mj-cs"/>
            </a:endParaRPr>
          </a:p>
        </p:txBody>
      </p:sp>
      <p:sp>
        <p:nvSpPr>
          <p:cNvPr id="9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72679" y="643029"/>
            <a:ext cx="114961" cy="153265"/>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9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69327" y="895785"/>
            <a:ext cx="75355" cy="100462"/>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9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9830" y="1143173"/>
            <a:ext cx="105597" cy="140781"/>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96" name="Straight Connector 9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7854" y="3861444"/>
            <a:ext cx="0" cy="368844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9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59804" y="6213395"/>
            <a:ext cx="125293" cy="167041"/>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0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97768" y="6720547"/>
            <a:ext cx="89814" cy="119739"/>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10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26527" y="6876271"/>
            <a:ext cx="79175" cy="105557"/>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pic>
        <p:nvPicPr>
          <p:cNvPr id="8" name="Shape 62"/>
          <p:cNvPicPr preferRelativeResize="0"/>
          <p:nvPr/>
        </p:nvPicPr>
        <p:blipFill>
          <a:blip r:embed="rId3">
            <a:alphaModFix/>
          </a:blip>
          <a:stretch>
            <a:fillRect/>
          </a:stretch>
        </p:blipFill>
        <p:spPr>
          <a:xfrm>
            <a:off x="181836" y="223675"/>
            <a:ext cx="1781436" cy="4150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728543" cy="2272793"/>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p:cNvSpPr>
            <a:spLocks noGrp="1"/>
          </p:cNvSpPr>
          <p:nvPr>
            <p:ph type="title"/>
          </p:nvPr>
        </p:nvSpPr>
        <p:spPr>
          <a:xfrm>
            <a:off x="940125" y="671967"/>
            <a:ext cx="7765869" cy="1467006"/>
          </a:xfrm>
        </p:spPr>
        <p:txBody>
          <a:bodyPr>
            <a:normAutofit/>
          </a:bodyPr>
          <a:lstStyle/>
          <a:p>
            <a:pPr>
              <a:lnSpc>
                <a:spcPct val="90000"/>
              </a:lnSpc>
            </a:pPr>
            <a:r>
              <a:rPr lang="es-CL"/>
              <a:t>Antecedentes de las Arquitecturas Cognitivas</a:t>
            </a:r>
          </a:p>
        </p:txBody>
      </p:sp>
      <p:sp>
        <p:nvSpPr>
          <p:cNvPr id="3" name="Marcador de contenido 2"/>
          <p:cNvSpPr>
            <a:spLocks noGrp="1"/>
          </p:cNvSpPr>
          <p:nvPr>
            <p:ph idx="1"/>
          </p:nvPr>
        </p:nvSpPr>
        <p:spPr>
          <a:xfrm>
            <a:off x="562669" y="2399451"/>
            <a:ext cx="4100187" cy="4318619"/>
          </a:xfrm>
        </p:spPr>
        <p:txBody>
          <a:bodyPr>
            <a:normAutofit/>
          </a:bodyPr>
          <a:lstStyle/>
          <a:p>
            <a:pPr marL="377825" indent="-377825"/>
            <a:r>
              <a:rPr lang="es-CL" sz="1900" dirty="0"/>
              <a:t>Las arquitecturas cognitivas son un tipo de modelos de IA que intentan programar lo que sabemos sobre inteligencia humana (en la línea de las ideas originales de Newell).</a:t>
            </a:r>
            <a:endParaRPr lang="en-US" sz="1900" dirty="0"/>
          </a:p>
          <a:p>
            <a:pPr marL="377825" indent="-377825"/>
            <a:r>
              <a:rPr lang="es-CL" sz="1900" dirty="0"/>
              <a:t>En su estructura, tienen procesos inspirados en la arquitectura de Memoria de Trabajo (sistema de control y sistema de memoria de largo plazo).</a:t>
            </a:r>
            <a:endParaRPr lang="es-CL" sz="1900" dirty="0">
              <a:cs typeface="Arial"/>
            </a:endParaRPr>
          </a:p>
        </p:txBody>
      </p:sp>
      <p:pic>
        <p:nvPicPr>
          <p:cNvPr id="4" name="Picture 3">
            <a:extLst>
              <a:ext uri="{FF2B5EF4-FFF2-40B4-BE49-F238E27FC236}">
                <a16:creationId xmlns:a16="http://schemas.microsoft.com/office/drawing/2014/main" id="{EF066691-07B2-77E9-571B-8963D29F21C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88583" y="2987359"/>
            <a:ext cx="4939960" cy="1840135"/>
          </a:xfrm>
          <a:prstGeom prst="rect">
            <a:avLst/>
          </a:prstGeom>
          <a:noFill/>
          <a:extLst>
            <a:ext uri="{909E8E84-426E-40DD-AFC4-6F175D3DCCD1}">
              <a14:hiddenFill xmlns:a14="http://schemas.microsoft.com/office/drawing/2010/main">
                <a:solidFill>
                  <a:srgbClr val="FFFFFF"/>
                </a:solidFill>
              </a14:hiddenFill>
            </a:ext>
          </a:extLst>
        </p:spPr>
      </p:pic>
      <p:sp>
        <p:nvSpPr>
          <p:cNvPr id="21" name="Freeform: Shape 2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49650" y="6844729"/>
            <a:ext cx="5630974" cy="71494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99724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132AB5-5540-DED0-782F-B6D306265A5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66DB370-EBFA-ACC0-3454-BA6F4950B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0" y="0"/>
            <a:ext cx="1007810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F63B3E-BE13-51D8-BBEC-0E99EEEB6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45595" cy="7559675"/>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F441EC3-E886-8820-1E07-418F902469C4}"/>
              </a:ext>
            </a:extLst>
          </p:cNvPr>
          <p:cNvSpPr>
            <a:spLocks noGrp="1"/>
          </p:cNvSpPr>
          <p:nvPr>
            <p:ph type="title"/>
          </p:nvPr>
        </p:nvSpPr>
        <p:spPr>
          <a:xfrm>
            <a:off x="567890" y="1271599"/>
            <a:ext cx="2646164" cy="4917606"/>
          </a:xfrm>
        </p:spPr>
        <p:txBody>
          <a:bodyPr>
            <a:normAutofit/>
          </a:bodyPr>
          <a:lstStyle/>
          <a:p>
            <a:pPr>
              <a:lnSpc>
                <a:spcPct val="90000"/>
              </a:lnSpc>
            </a:pPr>
            <a:r>
              <a:rPr lang="es-CL" sz="3000">
                <a:solidFill>
                  <a:srgbClr val="FFFFFF"/>
                </a:solidFill>
              </a:rPr>
              <a:t>Antecedentes de las Arquitecturas Cognitivas</a:t>
            </a:r>
          </a:p>
        </p:txBody>
      </p:sp>
      <p:sp>
        <p:nvSpPr>
          <p:cNvPr id="12" name="Arc 11">
            <a:extLst>
              <a:ext uri="{FF2B5EF4-FFF2-40B4-BE49-F238E27FC236}">
                <a16:creationId xmlns:a16="http://schemas.microsoft.com/office/drawing/2014/main" id="{CBF3ABD6-9D4E-37C2-7BFB-3501F4C0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42845" y="2706710"/>
            <a:ext cx="3376276" cy="4501229"/>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3FAA94DD-9F0A-3734-6C15-A558E3D6AC97}"/>
              </a:ext>
            </a:extLst>
          </p:cNvPr>
          <p:cNvSpPr>
            <a:spLocks noGrp="1"/>
          </p:cNvSpPr>
          <p:nvPr>
            <p:ph idx="1"/>
          </p:nvPr>
        </p:nvSpPr>
        <p:spPr>
          <a:xfrm>
            <a:off x="3677136" y="651847"/>
            <a:ext cx="5710445" cy="6157110"/>
          </a:xfrm>
        </p:spPr>
        <p:txBody>
          <a:bodyPr anchor="ctr">
            <a:normAutofit/>
          </a:bodyPr>
          <a:lstStyle/>
          <a:p>
            <a:pPr marL="377825" indent="-377825">
              <a:lnSpc>
                <a:spcPct val="90000"/>
              </a:lnSpc>
            </a:pPr>
            <a:r>
              <a:rPr lang="es-CL" sz="2500" dirty="0"/>
              <a:t>La aplicación de reglas simples de razonamiento permite que estos modelos usen el conocimiento de manera productiva</a:t>
            </a:r>
            <a:endParaRPr lang="es-CL" sz="2500" dirty="0">
              <a:cs typeface="Arial"/>
            </a:endParaRPr>
          </a:p>
          <a:p>
            <a:pPr marL="377825" indent="-377825">
              <a:lnSpc>
                <a:spcPct val="90000"/>
              </a:lnSpc>
            </a:pPr>
            <a:r>
              <a:rPr lang="es-CL" sz="2500" dirty="0"/>
              <a:t>Tienen además mecanismos de aprendizaje que les permiten desarrollar su propio conocimiento.</a:t>
            </a:r>
          </a:p>
          <a:p>
            <a:pPr marL="0" indent="0">
              <a:lnSpc>
                <a:spcPct val="90000"/>
              </a:lnSpc>
              <a:buNone/>
            </a:pPr>
            <a:endParaRPr lang="es-CL" sz="2500" dirty="0"/>
          </a:p>
          <a:p>
            <a:pPr marL="377825" indent="-377825">
              <a:lnSpc>
                <a:spcPct val="90000"/>
              </a:lnSpc>
            </a:pPr>
            <a:r>
              <a:rPr lang="es-CL" sz="2500" dirty="0">
                <a:cs typeface="Arial"/>
                <a:hlinkClick r:id="rId2"/>
              </a:rPr>
              <a:t>https://soar.eecs.umich.edu/</a:t>
            </a:r>
            <a:endParaRPr lang="es-CL" sz="2500" dirty="0">
              <a:cs typeface="Arial"/>
            </a:endParaRPr>
          </a:p>
          <a:p>
            <a:pPr marL="377825" indent="-377825">
              <a:lnSpc>
                <a:spcPct val="90000"/>
              </a:lnSpc>
            </a:pPr>
            <a:endParaRPr lang="es-CL" sz="2500" dirty="0">
              <a:cs typeface="Arial"/>
            </a:endParaRPr>
          </a:p>
          <a:p>
            <a:pPr marL="377825" indent="-377825">
              <a:lnSpc>
                <a:spcPct val="90000"/>
              </a:lnSpc>
            </a:pPr>
            <a:r>
              <a:rPr lang="es-CL" sz="2500" dirty="0">
                <a:cs typeface="Arial"/>
                <a:hlinkClick r:id="rId3"/>
              </a:rPr>
              <a:t>http://act-r.psy.cmu.edu/</a:t>
            </a:r>
            <a:endParaRPr lang="es-CL" sz="2500" dirty="0">
              <a:cs typeface="Arial"/>
            </a:endParaRPr>
          </a:p>
          <a:p>
            <a:pPr marL="377825" indent="-377825">
              <a:lnSpc>
                <a:spcPct val="90000"/>
              </a:lnSpc>
            </a:pPr>
            <a:endParaRPr lang="es-CL" sz="2500" dirty="0">
              <a:cs typeface="Arial"/>
            </a:endParaRPr>
          </a:p>
          <a:p>
            <a:pPr marL="377825" indent="-377825">
              <a:lnSpc>
                <a:spcPct val="90000"/>
              </a:lnSpc>
            </a:pPr>
            <a:endParaRPr lang="es-CL" sz="2500" dirty="0">
              <a:cs typeface="Arial"/>
            </a:endParaRPr>
          </a:p>
        </p:txBody>
      </p:sp>
    </p:spTree>
    <p:extLst>
      <p:ext uri="{BB962C8B-B14F-4D97-AF65-F5344CB8AC3E}">
        <p14:creationId xmlns:p14="http://schemas.microsoft.com/office/powerpoint/2010/main" val="2639158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0" y="0"/>
            <a:ext cx="1007810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45595" cy="7559675"/>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67890" y="1271599"/>
            <a:ext cx="2646164" cy="4917606"/>
          </a:xfrm>
        </p:spPr>
        <p:txBody>
          <a:bodyPr>
            <a:normAutofit/>
          </a:bodyPr>
          <a:lstStyle/>
          <a:p>
            <a:pPr>
              <a:lnSpc>
                <a:spcPct val="90000"/>
              </a:lnSpc>
            </a:pPr>
            <a:r>
              <a:rPr lang="es-CL" sz="3000">
                <a:solidFill>
                  <a:srgbClr val="FFFFFF"/>
                </a:solidFill>
              </a:rPr>
              <a:t>Antecedentes de las Arquitecturas Cognitivas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42845" y="2706710"/>
            <a:ext cx="3376276" cy="4501229"/>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p:cNvSpPr>
            <a:spLocks noGrp="1"/>
          </p:cNvSpPr>
          <p:nvPr>
            <p:ph idx="1"/>
          </p:nvPr>
        </p:nvSpPr>
        <p:spPr>
          <a:xfrm>
            <a:off x="3677136" y="651847"/>
            <a:ext cx="5710445" cy="6157110"/>
          </a:xfrm>
        </p:spPr>
        <p:txBody>
          <a:bodyPr anchor="ctr">
            <a:normAutofit/>
          </a:bodyPr>
          <a:lstStyle/>
          <a:p>
            <a:pPr marL="0" indent="0">
              <a:buNone/>
            </a:pPr>
            <a:endParaRPr lang="es-CL" dirty="0"/>
          </a:p>
          <a:p>
            <a:pPr marL="0" indent="0">
              <a:buNone/>
            </a:pPr>
            <a:endParaRPr lang="es-CL" dirty="0"/>
          </a:p>
          <a:p>
            <a:pPr marL="0" indent="0">
              <a:buNone/>
            </a:pPr>
            <a:r>
              <a:rPr lang="es-CL" dirty="0"/>
              <a:t>El General </a:t>
            </a:r>
            <a:r>
              <a:rPr lang="es-CL" dirty="0" err="1"/>
              <a:t>Problem</a:t>
            </a:r>
            <a:r>
              <a:rPr lang="es-CL" dirty="0"/>
              <a:t> </a:t>
            </a:r>
            <a:r>
              <a:rPr lang="es-CL" dirty="0" err="1"/>
              <a:t>Solver</a:t>
            </a:r>
            <a:r>
              <a:rPr lang="es-CL" dirty="0"/>
              <a:t> </a:t>
            </a:r>
          </a:p>
          <a:p>
            <a:pPr marL="0" indent="0">
              <a:buNone/>
            </a:pPr>
            <a:r>
              <a:rPr lang="es-CL"/>
              <a:t>(</a:t>
            </a:r>
            <a:r>
              <a:rPr lang="es-CL" err="1"/>
              <a:t>Newell</a:t>
            </a:r>
            <a:r>
              <a:rPr lang="es-CL"/>
              <a:t>, Shaw, &amp; </a:t>
            </a:r>
            <a:r>
              <a:rPr lang="es-CL" err="1"/>
              <a:t>Simon</a:t>
            </a:r>
            <a:r>
              <a:rPr lang="es-CL"/>
              <a:t>, 1959)</a:t>
            </a:r>
            <a:endParaRPr lang="es-CL" dirty="0"/>
          </a:p>
        </p:txBody>
      </p:sp>
    </p:spTree>
    <p:extLst>
      <p:ext uri="{BB962C8B-B14F-4D97-AF65-F5344CB8AC3E}">
        <p14:creationId xmlns:p14="http://schemas.microsoft.com/office/powerpoint/2010/main" val="1971430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728543" cy="2272793"/>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p:cNvSpPr>
            <a:spLocks noGrp="1"/>
          </p:cNvSpPr>
          <p:nvPr>
            <p:ph type="title"/>
          </p:nvPr>
        </p:nvSpPr>
        <p:spPr>
          <a:xfrm>
            <a:off x="940125" y="671967"/>
            <a:ext cx="7765869" cy="1467006"/>
          </a:xfrm>
        </p:spPr>
        <p:txBody>
          <a:bodyPr vert="horz" lIns="91440" tIns="45720" rIns="91440" bIns="45720" rtlCol="0" anchor="ctr">
            <a:normAutofit/>
          </a:bodyPr>
          <a:lstStyle/>
          <a:p>
            <a:pPr>
              <a:lnSpc>
                <a:spcPct val="90000"/>
              </a:lnSpc>
              <a:spcBef>
                <a:spcPct val="0"/>
              </a:spcBef>
            </a:pPr>
            <a:r>
              <a:rPr lang="en-US" sz="4100" b="1" kern="1200">
                <a:solidFill>
                  <a:schemeClr val="tx1"/>
                </a:solidFill>
                <a:latin typeface="+mj-lt"/>
                <a:ea typeface="+mj-ea"/>
                <a:cs typeface="+mj-cs"/>
              </a:rPr>
              <a:t>General Problem Solver (Newell, Shaw, &amp; Simon, 1959)</a:t>
            </a:r>
          </a:p>
        </p:txBody>
      </p:sp>
      <p:sp>
        <p:nvSpPr>
          <p:cNvPr id="3" name="CuadroTexto 2"/>
          <p:cNvSpPr txBox="1"/>
          <p:nvPr/>
        </p:nvSpPr>
        <p:spPr>
          <a:xfrm>
            <a:off x="940125" y="2423287"/>
            <a:ext cx="4796140" cy="452509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800" kern="1200" dirty="0" err="1">
                <a:solidFill>
                  <a:schemeClr val="tx1"/>
                </a:solidFill>
                <a:latin typeface="+mn-lt"/>
                <a:ea typeface="+mn-ea"/>
                <a:cs typeface="+mn-cs"/>
              </a:rPr>
              <a:t>Análisis</a:t>
            </a:r>
            <a:r>
              <a:rPr lang="en-US" sz="1800" kern="1200" dirty="0">
                <a:solidFill>
                  <a:schemeClr val="tx1"/>
                </a:solidFill>
                <a:latin typeface="+mn-lt"/>
                <a:ea typeface="+mn-ea"/>
                <a:cs typeface="+mn-cs"/>
              </a:rPr>
              <a:t> de </a:t>
            </a:r>
            <a:r>
              <a:rPr lang="en-US" sz="1800" kern="1200" dirty="0" err="1">
                <a:solidFill>
                  <a:schemeClr val="tx1"/>
                </a:solidFill>
                <a:latin typeface="+mn-lt"/>
                <a:ea typeface="+mn-ea"/>
                <a:cs typeface="+mn-cs"/>
              </a:rPr>
              <a:t>Medios</a:t>
            </a:r>
            <a:r>
              <a:rPr lang="en-US" sz="1800" kern="1200" dirty="0">
                <a:solidFill>
                  <a:schemeClr val="tx1"/>
                </a:solidFill>
                <a:latin typeface="+mn-lt"/>
                <a:ea typeface="+mn-ea"/>
                <a:cs typeface="+mn-cs"/>
              </a:rPr>
              <a:t> y Fines (</a:t>
            </a:r>
            <a:r>
              <a:rPr lang="en-US" sz="1800" kern="1200" dirty="0" err="1">
                <a:solidFill>
                  <a:schemeClr val="tx1"/>
                </a:solidFill>
                <a:latin typeface="+mn-lt"/>
                <a:ea typeface="+mn-ea"/>
                <a:cs typeface="+mn-cs"/>
              </a:rPr>
              <a:t>heurístico</a:t>
            </a:r>
            <a:r>
              <a:rPr lang="en-US" sz="1800" kern="1200" dirty="0">
                <a:solidFill>
                  <a:schemeClr val="tx1"/>
                </a:solidFill>
                <a:latin typeface="+mn-lt"/>
                <a:ea typeface="+mn-ea"/>
                <a:cs typeface="+mn-cs"/>
              </a:rPr>
              <a:t>)</a:t>
            </a:r>
          </a:p>
          <a:p>
            <a:pPr indent="-228600">
              <a:lnSpc>
                <a:spcPct val="90000"/>
              </a:lnSpc>
              <a:spcAft>
                <a:spcPts val="600"/>
              </a:spcAft>
              <a:buFont typeface="Arial" panose="020B0604020202020204" pitchFamily="34" charset="0"/>
              <a:buChar char="•"/>
            </a:pPr>
            <a:endParaRPr lang="en-US" sz="1800" kern="1200" dirty="0">
              <a:solidFill>
                <a:schemeClr val="tx1"/>
              </a:solidFill>
              <a:latin typeface="+mn-lt"/>
              <a:ea typeface="+mn-ea"/>
              <a:cs typeface="+mn-cs"/>
            </a:endParaRPr>
          </a:p>
          <a:p>
            <a:pPr marL="342900" indent="-228600">
              <a:lnSpc>
                <a:spcPct val="90000"/>
              </a:lnSpc>
              <a:spcAft>
                <a:spcPts val="600"/>
              </a:spcAft>
              <a:buFont typeface="Arial" panose="020B0604020202020204" pitchFamily="34" charset="0"/>
              <a:buChar char="•"/>
            </a:pPr>
            <a:r>
              <a:rPr lang="en-US" sz="1800" kern="1200" dirty="0">
                <a:solidFill>
                  <a:schemeClr val="tx1"/>
                </a:solidFill>
                <a:latin typeface="+mn-lt"/>
                <a:ea typeface="+mn-ea"/>
                <a:cs typeface="+mn-cs"/>
              </a:rPr>
              <a:t>Si </a:t>
            </a:r>
            <a:r>
              <a:rPr lang="en-US" sz="1800" kern="1200" dirty="0" err="1">
                <a:solidFill>
                  <a:schemeClr val="tx1"/>
                </a:solidFill>
                <a:latin typeface="+mn-lt"/>
                <a:ea typeface="+mn-ea"/>
                <a:cs typeface="+mn-cs"/>
              </a:rPr>
              <a:t>estoy</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en</a:t>
            </a:r>
            <a:r>
              <a:rPr lang="en-US" sz="1800" kern="1200" dirty="0">
                <a:solidFill>
                  <a:schemeClr val="tx1"/>
                </a:solidFill>
                <a:latin typeface="+mn-lt"/>
                <a:ea typeface="+mn-ea"/>
                <a:cs typeface="+mn-cs"/>
              </a:rPr>
              <a:t> “a” y </a:t>
            </a:r>
            <a:r>
              <a:rPr lang="en-US" sz="1800" kern="1200" dirty="0" err="1">
                <a:solidFill>
                  <a:schemeClr val="tx1"/>
                </a:solidFill>
                <a:latin typeface="+mn-lt"/>
                <a:ea typeface="+mn-ea"/>
                <a:cs typeface="+mn-cs"/>
              </a:rPr>
              <a:t>quiero</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llegar</a:t>
            </a:r>
            <a:r>
              <a:rPr lang="en-US" sz="1800" kern="1200" dirty="0">
                <a:solidFill>
                  <a:schemeClr val="tx1"/>
                </a:solidFill>
                <a:latin typeface="+mn-lt"/>
                <a:ea typeface="+mn-ea"/>
                <a:cs typeface="+mn-cs"/>
              </a:rPr>
              <a:t> a “b”.</a:t>
            </a:r>
          </a:p>
          <a:p>
            <a:pPr marL="342900" indent="-228600">
              <a:lnSpc>
                <a:spcPct val="90000"/>
              </a:lnSpc>
              <a:spcAft>
                <a:spcPts val="600"/>
              </a:spcAft>
              <a:buFont typeface="Arial" panose="020B0604020202020204" pitchFamily="34" charset="0"/>
              <a:buChar char="•"/>
            </a:pPr>
            <a:r>
              <a:rPr lang="en-US" sz="1800" kern="1200" dirty="0" err="1">
                <a:solidFill>
                  <a:schemeClr val="tx1"/>
                </a:solidFill>
                <a:latin typeface="+mn-lt"/>
                <a:ea typeface="+mn-ea"/>
                <a:cs typeface="+mn-cs"/>
              </a:rPr>
              <a:t>Selecciono</a:t>
            </a:r>
            <a:r>
              <a:rPr lang="en-US" sz="1800" kern="1200" dirty="0">
                <a:solidFill>
                  <a:schemeClr val="tx1"/>
                </a:solidFill>
                <a:latin typeface="+mn-lt"/>
                <a:ea typeface="+mn-ea"/>
                <a:cs typeface="+mn-cs"/>
              </a:rPr>
              <a:t> un </a:t>
            </a:r>
            <a:r>
              <a:rPr lang="en-US" sz="1800" kern="1200" dirty="0" err="1">
                <a:solidFill>
                  <a:schemeClr val="tx1"/>
                </a:solidFill>
                <a:latin typeface="+mn-lt"/>
                <a:ea typeface="+mn-ea"/>
                <a:cs typeface="+mn-cs"/>
              </a:rPr>
              <a:t>operador</a:t>
            </a:r>
            <a:r>
              <a:rPr lang="en-US" sz="1800" kern="1200" dirty="0">
                <a:solidFill>
                  <a:schemeClr val="tx1"/>
                </a:solidFill>
                <a:latin typeface="+mn-lt"/>
                <a:ea typeface="+mn-ea"/>
                <a:cs typeface="+mn-cs"/>
              </a:rPr>
              <a:t> que </a:t>
            </a:r>
            <a:r>
              <a:rPr lang="en-US" sz="1800" kern="1200" dirty="0" err="1">
                <a:solidFill>
                  <a:schemeClr val="tx1"/>
                </a:solidFill>
                <a:latin typeface="+mn-lt"/>
                <a:ea typeface="+mn-ea"/>
                <a:cs typeface="+mn-cs"/>
              </a:rPr>
              <a:t>modifique</a:t>
            </a:r>
            <a:r>
              <a:rPr lang="en-US" sz="1800" kern="1200" dirty="0">
                <a:solidFill>
                  <a:schemeClr val="tx1"/>
                </a:solidFill>
                <a:latin typeface="+mn-lt"/>
                <a:ea typeface="+mn-ea"/>
                <a:cs typeface="+mn-cs"/>
              </a:rPr>
              <a:t> “a” </a:t>
            </a:r>
            <a:r>
              <a:rPr lang="en-US" sz="1800" kern="1200" dirty="0" err="1">
                <a:solidFill>
                  <a:schemeClr val="tx1"/>
                </a:solidFill>
                <a:latin typeface="+mn-lt"/>
                <a:ea typeface="+mn-ea"/>
                <a:cs typeface="+mn-cs"/>
              </a:rPr>
              <a:t>en</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una</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dimensión</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relevante</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dejando</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otras</a:t>
            </a:r>
            <a:r>
              <a:rPr lang="en-US" sz="1800" kern="1200" dirty="0">
                <a:solidFill>
                  <a:schemeClr val="tx1"/>
                </a:solidFill>
                <a:latin typeface="+mn-lt"/>
                <a:ea typeface="+mn-ea"/>
                <a:cs typeface="+mn-cs"/>
              </a:rPr>
              <a:t> sin </a:t>
            </a:r>
            <a:r>
              <a:rPr lang="en-US" sz="1800" kern="1200" dirty="0" err="1">
                <a:solidFill>
                  <a:schemeClr val="tx1"/>
                </a:solidFill>
                <a:latin typeface="+mn-lt"/>
                <a:ea typeface="+mn-ea"/>
                <a:cs typeface="+mn-cs"/>
              </a:rPr>
              <a:t>modificar</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selecciono</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el</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operador</a:t>
            </a:r>
            <a:r>
              <a:rPr lang="en-US" sz="1800" kern="1200" dirty="0">
                <a:solidFill>
                  <a:schemeClr val="tx1"/>
                </a:solidFill>
                <a:latin typeface="+mn-lt"/>
                <a:ea typeface="+mn-ea"/>
                <a:cs typeface="+mn-cs"/>
              </a:rPr>
              <a:t> que </a:t>
            </a:r>
            <a:r>
              <a:rPr lang="en-US" sz="1800" kern="1200" dirty="0" err="1">
                <a:solidFill>
                  <a:schemeClr val="tx1"/>
                </a:solidFill>
                <a:latin typeface="+mn-lt"/>
                <a:ea typeface="+mn-ea"/>
                <a:cs typeface="+mn-cs"/>
              </a:rPr>
              <a:t>más</a:t>
            </a:r>
            <a:r>
              <a:rPr lang="en-US" sz="1800" kern="1200" dirty="0">
                <a:solidFill>
                  <a:schemeClr val="tx1"/>
                </a:solidFill>
                <a:latin typeface="+mn-lt"/>
                <a:ea typeface="+mn-ea"/>
                <a:cs typeface="+mn-cs"/>
              </a:rPr>
              <a:t> me </a:t>
            </a:r>
            <a:r>
              <a:rPr lang="en-US" sz="1800" kern="1200" dirty="0" err="1">
                <a:solidFill>
                  <a:schemeClr val="tx1"/>
                </a:solidFill>
                <a:latin typeface="+mn-lt"/>
                <a:ea typeface="+mn-ea"/>
                <a:cs typeface="+mn-cs"/>
              </a:rPr>
              <a:t>acerque</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el</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estado</a:t>
            </a:r>
            <a:r>
              <a:rPr lang="en-US" sz="1800" kern="1200" dirty="0">
                <a:solidFill>
                  <a:schemeClr val="tx1"/>
                </a:solidFill>
                <a:latin typeface="+mn-lt"/>
                <a:ea typeface="+mn-ea"/>
                <a:cs typeface="+mn-cs"/>
              </a:rPr>
              <a:t> final </a:t>
            </a:r>
            <a:r>
              <a:rPr lang="en-US" sz="1800" kern="1200" dirty="0" err="1">
                <a:solidFill>
                  <a:schemeClr val="tx1"/>
                </a:solidFill>
                <a:latin typeface="+mn-lt"/>
                <a:ea typeface="+mn-ea"/>
                <a:cs typeface="+mn-cs"/>
              </a:rPr>
              <a:t>deseado</a:t>
            </a:r>
            <a:r>
              <a:rPr lang="en-US" sz="1800" kern="1200" dirty="0">
                <a:solidFill>
                  <a:schemeClr val="tx1"/>
                </a:solidFill>
                <a:latin typeface="+mn-lt"/>
                <a:ea typeface="+mn-ea"/>
                <a:cs typeface="+mn-cs"/>
              </a:rPr>
              <a:t>).</a:t>
            </a:r>
          </a:p>
          <a:p>
            <a:pPr marL="342900" indent="-228600">
              <a:lnSpc>
                <a:spcPct val="90000"/>
              </a:lnSpc>
              <a:spcAft>
                <a:spcPts val="600"/>
              </a:spcAft>
              <a:buFont typeface="Arial" panose="020B0604020202020204" pitchFamily="34" charset="0"/>
              <a:buChar char="•"/>
            </a:pPr>
            <a:r>
              <a:rPr lang="en-US" sz="1800" kern="1200" dirty="0">
                <a:solidFill>
                  <a:schemeClr val="tx1"/>
                </a:solidFill>
                <a:latin typeface="+mn-lt"/>
                <a:ea typeface="+mn-ea"/>
                <a:cs typeface="+mn-cs"/>
              </a:rPr>
              <a:t>Vale la </a:t>
            </a:r>
            <a:r>
              <a:rPr lang="en-US" sz="1800" kern="1200" dirty="0" err="1">
                <a:solidFill>
                  <a:schemeClr val="tx1"/>
                </a:solidFill>
                <a:latin typeface="+mn-lt"/>
                <a:ea typeface="+mn-ea"/>
                <a:cs typeface="+mn-cs"/>
              </a:rPr>
              <a:t>pena</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intentar</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modificar</a:t>
            </a:r>
            <a:r>
              <a:rPr lang="en-US" sz="1800" kern="1200" dirty="0">
                <a:solidFill>
                  <a:schemeClr val="tx1"/>
                </a:solidFill>
                <a:latin typeface="+mn-lt"/>
                <a:ea typeface="+mn-ea"/>
                <a:cs typeface="+mn-cs"/>
              </a:rPr>
              <a:t> las </a:t>
            </a:r>
            <a:r>
              <a:rPr lang="en-US" sz="1800" kern="1200" dirty="0" err="1">
                <a:solidFill>
                  <a:schemeClr val="tx1"/>
                </a:solidFill>
                <a:latin typeface="+mn-lt"/>
                <a:ea typeface="+mn-ea"/>
                <a:cs typeface="+mn-cs"/>
              </a:rPr>
              <a:t>diferencias</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más</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difíciles</a:t>
            </a:r>
            <a:r>
              <a:rPr lang="en-US" sz="1800" kern="1200" dirty="0">
                <a:solidFill>
                  <a:schemeClr val="tx1"/>
                </a:solidFill>
                <a:latin typeface="+mn-lt"/>
                <a:ea typeface="+mn-ea"/>
                <a:cs typeface="+mn-cs"/>
              </a:rPr>
              <a:t> primero, </a:t>
            </a:r>
            <a:r>
              <a:rPr lang="en-US" sz="1800" kern="1200" dirty="0" err="1">
                <a:solidFill>
                  <a:schemeClr val="tx1"/>
                </a:solidFill>
                <a:latin typeface="+mn-lt"/>
                <a:ea typeface="+mn-ea"/>
                <a:cs typeface="+mn-cs"/>
              </a:rPr>
              <a:t>incluso</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si</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esto</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implica</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introducir</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más</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diferencias</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en</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otras</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dimensiones</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más</a:t>
            </a:r>
            <a:r>
              <a:rPr lang="en-US" sz="1800" kern="1200" dirty="0">
                <a:solidFill>
                  <a:schemeClr val="tx1"/>
                </a:solidFill>
                <a:latin typeface="+mn-lt"/>
                <a:ea typeface="+mn-ea"/>
                <a:cs typeface="+mn-cs"/>
              </a:rPr>
              <a:t> </a:t>
            </a:r>
            <a:r>
              <a:rPr lang="en-US" sz="1800" kern="1200" dirty="0" err="1">
                <a:solidFill>
                  <a:schemeClr val="tx1"/>
                </a:solidFill>
                <a:latin typeface="+mn-lt"/>
                <a:ea typeface="+mn-ea"/>
                <a:cs typeface="+mn-cs"/>
              </a:rPr>
              <a:t>fáciles</a:t>
            </a:r>
            <a:r>
              <a:rPr lang="en-US" sz="1800" kern="1200" dirty="0">
                <a:solidFill>
                  <a:schemeClr val="tx1"/>
                </a:solidFill>
                <a:latin typeface="+mn-lt"/>
                <a:ea typeface="+mn-ea"/>
                <a:cs typeface="+mn-cs"/>
              </a:rPr>
              <a:t>.</a:t>
            </a:r>
          </a:p>
        </p:txBody>
      </p:sp>
      <p:pic>
        <p:nvPicPr>
          <p:cNvPr id="4" name="Marcador de contenido 4" descr="Juego de ajedrez de metal de piezas de oro y plata en tablero de ajedrez">
            <a:extLst>
              <a:ext uri="{FF2B5EF4-FFF2-40B4-BE49-F238E27FC236}">
                <a16:creationId xmlns:a16="http://schemas.microsoft.com/office/drawing/2014/main" id="{AD2FCEFF-D372-AEC3-0FAE-B5C4B3A48D40}"/>
              </a:ext>
            </a:extLst>
          </p:cNvPr>
          <p:cNvPicPr>
            <a:picLocks noChangeAspect="1"/>
          </p:cNvPicPr>
          <p:nvPr/>
        </p:nvPicPr>
        <p:blipFill>
          <a:blip r:embed="rId3"/>
          <a:srcRect l="35272" r="27806" b="1"/>
          <a:stretch/>
        </p:blipFill>
        <p:spPr>
          <a:xfrm>
            <a:off x="6423596" y="2408463"/>
            <a:ext cx="2223505" cy="4140200"/>
          </a:xfrm>
          <a:prstGeom prst="rect">
            <a:avLst/>
          </a:prstGeom>
          <a:noFill/>
        </p:spPr>
      </p:pic>
      <p:sp>
        <p:nvSpPr>
          <p:cNvPr id="21" name="Freeform: Shape 20">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49650" y="6844729"/>
            <a:ext cx="5630974" cy="71494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05637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A597D97-203B-498B-95D3-E90DC961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Marcador de contenido 4" descr="Juego de ajedrez de metal de piezas de oro y plata en tablero de ajedrez">
            <a:extLst>
              <a:ext uri="{FF2B5EF4-FFF2-40B4-BE49-F238E27FC236}">
                <a16:creationId xmlns:a16="http://schemas.microsoft.com/office/drawing/2014/main" id="{6045AC3E-7B77-43BC-445E-4C9D00D36CF4}"/>
              </a:ext>
            </a:extLst>
          </p:cNvPr>
          <p:cNvPicPr>
            <a:picLocks noChangeAspect="1"/>
          </p:cNvPicPr>
          <p:nvPr/>
        </p:nvPicPr>
        <p:blipFill>
          <a:blip r:embed="rId3"/>
          <a:srcRect t="12601" b="4611"/>
          <a:stretch/>
        </p:blipFill>
        <p:spPr>
          <a:xfrm>
            <a:off x="3528219" y="10"/>
            <a:ext cx="6552406" cy="3729429"/>
          </a:xfrm>
          <a:prstGeom prst="rect">
            <a:avLst/>
          </a:prstGeom>
          <a:noFill/>
        </p:spPr>
      </p:pic>
      <p:pic>
        <p:nvPicPr>
          <p:cNvPr id="4" name="Imagen 3" descr="Diagrama&#10;&#10;El contenido generado por IA puede ser incorrecto."/>
          <p:cNvPicPr>
            <a:picLocks noChangeAspect="1"/>
          </p:cNvPicPr>
          <p:nvPr/>
        </p:nvPicPr>
        <p:blipFill>
          <a:blip r:embed="rId4">
            <a:extLst>
              <a:ext uri="{28A0092B-C50C-407E-A947-70E740481C1C}">
                <a14:useLocalDpi xmlns:a14="http://schemas.microsoft.com/office/drawing/2010/main" val="0"/>
              </a:ext>
            </a:extLst>
          </a:blip>
          <a:srcRect t="6563" r="-2" b="7849"/>
          <a:stretch/>
        </p:blipFill>
        <p:spPr>
          <a:xfrm>
            <a:off x="3845483" y="3830235"/>
            <a:ext cx="6247335" cy="3729440"/>
          </a:xfrm>
          <a:prstGeom prst="rect">
            <a:avLst/>
          </a:prstGeom>
        </p:spPr>
      </p:pic>
      <p:sp useBgFill="1">
        <p:nvSpPr>
          <p:cNvPr id="24" name="Freeform: Shape 23">
            <a:extLst>
              <a:ext uri="{FF2B5EF4-FFF2-40B4-BE49-F238E27FC236}">
                <a16:creationId xmlns:a16="http://schemas.microsoft.com/office/drawing/2014/main" id="{6A6EF10E-DF41-4BD3-8EB4-6F646531D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162907" cy="7559675"/>
          </a:xfrm>
          <a:custGeom>
            <a:avLst/>
            <a:gdLst>
              <a:gd name="connsiteX0" fmla="*/ 0 w 6244272"/>
              <a:gd name="connsiteY0" fmla="*/ 0 h 6858000"/>
              <a:gd name="connsiteX1" fmla="*/ 732568 w 6244272"/>
              <a:gd name="connsiteY1" fmla="*/ 0 h 6858000"/>
              <a:gd name="connsiteX2" fmla="*/ 947849 w 6244272"/>
              <a:gd name="connsiteY2" fmla="*/ 0 h 6858000"/>
              <a:gd name="connsiteX3" fmla="*/ 1823619 w 6244272"/>
              <a:gd name="connsiteY3" fmla="*/ 0 h 6858000"/>
              <a:gd name="connsiteX4" fmla="*/ 5235673 w 6244272"/>
              <a:gd name="connsiteY4" fmla="*/ 0 h 6858000"/>
              <a:gd name="connsiteX5" fmla="*/ 4933297 w 6244272"/>
              <a:gd name="connsiteY5" fmla="*/ 110269 h 6858000"/>
              <a:gd name="connsiteX6" fmla="*/ 4976910 w 6244272"/>
              <a:gd name="connsiteY6" fmla="*/ 135168 h 6858000"/>
              <a:gd name="connsiteX7" fmla="*/ 5238580 w 6244272"/>
              <a:gd name="connsiteY7" fmla="*/ 71141 h 6858000"/>
              <a:gd name="connsiteX8" fmla="*/ 5290914 w 6244272"/>
              <a:gd name="connsiteY8" fmla="*/ 88927 h 6858000"/>
              <a:gd name="connsiteX9" fmla="*/ 5264747 w 6244272"/>
              <a:gd name="connsiteY9" fmla="*/ 163625 h 6858000"/>
              <a:gd name="connsiteX10" fmla="*/ 5151357 w 6244272"/>
              <a:gd name="connsiteY10" fmla="*/ 192082 h 6858000"/>
              <a:gd name="connsiteX11" fmla="*/ 4974002 w 6244272"/>
              <a:gd name="connsiteY11" fmla="*/ 373491 h 6858000"/>
              <a:gd name="connsiteX12" fmla="*/ 5241488 w 6244272"/>
              <a:gd name="connsiteY12" fmla="*/ 352148 h 6858000"/>
              <a:gd name="connsiteX13" fmla="*/ 5288007 w 6244272"/>
              <a:gd name="connsiteY13" fmla="*/ 394834 h 6858000"/>
              <a:gd name="connsiteX14" fmla="*/ 5305452 w 6244272"/>
              <a:gd name="connsiteY14" fmla="*/ 451747 h 6858000"/>
              <a:gd name="connsiteX15" fmla="*/ 5383953 w 6244272"/>
              <a:gd name="connsiteY15" fmla="*/ 359262 h 6858000"/>
              <a:gd name="connsiteX16" fmla="*/ 5450825 w 6244272"/>
              <a:gd name="connsiteY16" fmla="*/ 334364 h 6858000"/>
              <a:gd name="connsiteX17" fmla="*/ 5471177 w 6244272"/>
              <a:gd name="connsiteY17" fmla="*/ 416176 h 6858000"/>
              <a:gd name="connsiteX18" fmla="*/ 5410121 w 6244272"/>
              <a:gd name="connsiteY18" fmla="*/ 505101 h 6858000"/>
              <a:gd name="connsiteX19" fmla="*/ 5247303 w 6244272"/>
              <a:gd name="connsiteY19" fmla="*/ 558458 h 6858000"/>
              <a:gd name="connsiteX20" fmla="*/ 5421750 w 6244272"/>
              <a:gd name="connsiteY20" fmla="*/ 558458 h 6858000"/>
              <a:gd name="connsiteX21" fmla="*/ 5622364 w 6244272"/>
              <a:gd name="connsiteY21" fmla="*/ 522887 h 6858000"/>
              <a:gd name="connsiteX22" fmla="*/ 5834608 w 6244272"/>
              <a:gd name="connsiteY22" fmla="*/ 533558 h 6858000"/>
              <a:gd name="connsiteX23" fmla="*/ 6035223 w 6244272"/>
              <a:gd name="connsiteY23" fmla="*/ 462417 h 6858000"/>
              <a:gd name="connsiteX24" fmla="*/ 6238745 w 6244272"/>
              <a:gd name="connsiteY24" fmla="*/ 465975 h 6858000"/>
              <a:gd name="connsiteX25" fmla="*/ 5337434 w 6244272"/>
              <a:gd name="connsiteY25" fmla="*/ 910606 h 6858000"/>
              <a:gd name="connsiteX26" fmla="*/ 5381046 w 6244272"/>
              <a:gd name="connsiteY26" fmla="*/ 921277 h 6858000"/>
              <a:gd name="connsiteX27" fmla="*/ 5439195 w 6244272"/>
              <a:gd name="connsiteY27" fmla="*/ 949734 h 6858000"/>
              <a:gd name="connsiteX28" fmla="*/ 5395583 w 6244272"/>
              <a:gd name="connsiteY28" fmla="*/ 1006647 h 6858000"/>
              <a:gd name="connsiteX29" fmla="*/ 5160079 w 6244272"/>
              <a:gd name="connsiteY29" fmla="*/ 1113358 h 6858000"/>
              <a:gd name="connsiteX30" fmla="*/ 5101930 w 6244272"/>
              <a:gd name="connsiteY30" fmla="*/ 1220069 h 6858000"/>
              <a:gd name="connsiteX31" fmla="*/ 5174617 w 6244272"/>
              <a:gd name="connsiteY31" fmla="*/ 1209399 h 6858000"/>
              <a:gd name="connsiteX32" fmla="*/ 5238580 w 6244272"/>
              <a:gd name="connsiteY32" fmla="*/ 1230741 h 6858000"/>
              <a:gd name="connsiteX33" fmla="*/ 5212414 w 6244272"/>
              <a:gd name="connsiteY33" fmla="*/ 1365909 h 6858000"/>
              <a:gd name="connsiteX34" fmla="*/ 4878056 w 6244272"/>
              <a:gd name="connsiteY34" fmla="*/ 1540204 h 6858000"/>
              <a:gd name="connsiteX35" fmla="*/ 4848982 w 6244272"/>
              <a:gd name="connsiteY35" fmla="*/ 1597117 h 6858000"/>
              <a:gd name="connsiteX36" fmla="*/ 4889686 w 6244272"/>
              <a:gd name="connsiteY36" fmla="*/ 1636245 h 6858000"/>
              <a:gd name="connsiteX37" fmla="*/ 4997261 w 6244272"/>
              <a:gd name="connsiteY37" fmla="*/ 1657587 h 6858000"/>
              <a:gd name="connsiteX38" fmla="*/ 4846074 w 6244272"/>
              <a:gd name="connsiteY38" fmla="*/ 1849668 h 6858000"/>
              <a:gd name="connsiteX39" fmla="*/ 4790832 w 6244272"/>
              <a:gd name="connsiteY39" fmla="*/ 1903025 h 6858000"/>
              <a:gd name="connsiteX40" fmla="*/ 4694886 w 6244272"/>
              <a:gd name="connsiteY40" fmla="*/ 1984836 h 6858000"/>
              <a:gd name="connsiteX41" fmla="*/ 4694886 w 6244272"/>
              <a:gd name="connsiteY41" fmla="*/ 2013292 h 6858000"/>
              <a:gd name="connsiteX42" fmla="*/ 4822814 w 6244272"/>
              <a:gd name="connsiteY42" fmla="*/ 2102219 h 6858000"/>
              <a:gd name="connsiteX43" fmla="*/ 5055411 w 6244272"/>
              <a:gd name="connsiteY43" fmla="*/ 2077320 h 6858000"/>
              <a:gd name="connsiteX44" fmla="*/ 4712331 w 6244272"/>
              <a:gd name="connsiteY44" fmla="*/ 2208931 h 6858000"/>
              <a:gd name="connsiteX45" fmla="*/ 5822979 w 6244272"/>
              <a:gd name="connsiteY45" fmla="*/ 1892353 h 6858000"/>
              <a:gd name="connsiteX46" fmla="*/ 5753200 w 6244272"/>
              <a:gd name="connsiteY46" fmla="*/ 1974165 h 6858000"/>
              <a:gd name="connsiteX47" fmla="*/ 5363601 w 6244272"/>
              <a:gd name="connsiteY47" fmla="*/ 2191146 h 6858000"/>
              <a:gd name="connsiteX48" fmla="*/ 5253118 w 6244272"/>
              <a:gd name="connsiteY48" fmla="*/ 2326314 h 6858000"/>
              <a:gd name="connsiteX49" fmla="*/ 5136819 w 6244272"/>
              <a:gd name="connsiteY49" fmla="*/ 2401012 h 6858000"/>
              <a:gd name="connsiteX50" fmla="*/ 4974002 w 6244272"/>
              <a:gd name="connsiteY50" fmla="*/ 2401012 h 6858000"/>
              <a:gd name="connsiteX51" fmla="*/ 4857704 w 6244272"/>
              <a:gd name="connsiteY51" fmla="*/ 2518395 h 6858000"/>
              <a:gd name="connsiteX52" fmla="*/ 4976910 w 6244272"/>
              <a:gd name="connsiteY52" fmla="*/ 2543294 h 6858000"/>
              <a:gd name="connsiteX53" fmla="*/ 5116467 w 6244272"/>
              <a:gd name="connsiteY53" fmla="*/ 2525509 h 6858000"/>
              <a:gd name="connsiteX54" fmla="*/ 5273470 w 6244272"/>
              <a:gd name="connsiteY54" fmla="*/ 2564636 h 6858000"/>
              <a:gd name="connsiteX55" fmla="*/ 5418843 w 6244272"/>
              <a:gd name="connsiteY55" fmla="*/ 2532623 h 6858000"/>
              <a:gd name="connsiteX56" fmla="*/ 5593290 w 6244272"/>
              <a:gd name="connsiteY56" fmla="*/ 2553965 h 6858000"/>
              <a:gd name="connsiteX57" fmla="*/ 5648532 w 6244272"/>
              <a:gd name="connsiteY57" fmla="*/ 2692689 h 6858000"/>
              <a:gd name="connsiteX58" fmla="*/ 5665976 w 6244272"/>
              <a:gd name="connsiteY58" fmla="*/ 2703362 h 6858000"/>
              <a:gd name="connsiteX59" fmla="*/ 5988704 w 6244272"/>
              <a:gd name="connsiteY59" fmla="*/ 2923898 h 6858000"/>
              <a:gd name="connsiteX60" fmla="*/ 6078835 w 6244272"/>
              <a:gd name="connsiteY60" fmla="*/ 2941684 h 6858000"/>
              <a:gd name="connsiteX61" fmla="*/ 5546771 w 6244272"/>
              <a:gd name="connsiteY61" fmla="*/ 3329402 h 6858000"/>
              <a:gd name="connsiteX62" fmla="*/ 5904388 w 6244272"/>
              <a:gd name="connsiteY62" fmla="*/ 3229805 h 6858000"/>
              <a:gd name="connsiteX63" fmla="*/ 5953814 w 6244272"/>
              <a:gd name="connsiteY63" fmla="*/ 3393429 h 6858000"/>
              <a:gd name="connsiteX64" fmla="*/ 5785182 w 6244272"/>
              <a:gd name="connsiteY64" fmla="*/ 3539269 h 6858000"/>
              <a:gd name="connsiteX65" fmla="*/ 5724125 w 6244272"/>
              <a:gd name="connsiteY65" fmla="*/ 3827390 h 6858000"/>
              <a:gd name="connsiteX66" fmla="*/ 5753200 w 6244272"/>
              <a:gd name="connsiteY66" fmla="*/ 4090612 h 6858000"/>
              <a:gd name="connsiteX67" fmla="*/ 5825886 w 6244272"/>
              <a:gd name="connsiteY67" fmla="*/ 4172424 h 6858000"/>
              <a:gd name="connsiteX68" fmla="*/ 5930554 w 6244272"/>
              <a:gd name="connsiteY68" fmla="*/ 4321821 h 6858000"/>
              <a:gd name="connsiteX69" fmla="*/ 5994519 w 6244272"/>
              <a:gd name="connsiteY69" fmla="*/ 4414305 h 6858000"/>
              <a:gd name="connsiteX70" fmla="*/ 6218393 w 6244272"/>
              <a:gd name="connsiteY70" fmla="*/ 4378734 h 6858000"/>
              <a:gd name="connsiteX71" fmla="*/ 5918925 w 6244272"/>
              <a:gd name="connsiteY71" fmla="*/ 4613499 h 6858000"/>
              <a:gd name="connsiteX72" fmla="*/ 6160243 w 6244272"/>
              <a:gd name="connsiteY72" fmla="*/ 4585042 h 6858000"/>
              <a:gd name="connsiteX73" fmla="*/ 6238745 w 6244272"/>
              <a:gd name="connsiteY73" fmla="*/ 4602828 h 6858000"/>
              <a:gd name="connsiteX74" fmla="*/ 6195133 w 6244272"/>
              <a:gd name="connsiteY74" fmla="*/ 4677526 h 6858000"/>
              <a:gd name="connsiteX75" fmla="*/ 6017778 w 6244272"/>
              <a:gd name="connsiteY75" fmla="*/ 4805580 h 6858000"/>
              <a:gd name="connsiteX76" fmla="*/ 5651439 w 6244272"/>
              <a:gd name="connsiteY76" fmla="*/ 5154171 h 6858000"/>
              <a:gd name="connsiteX77" fmla="*/ 6006149 w 6244272"/>
              <a:gd name="connsiteY77" fmla="*/ 4994104 h 6858000"/>
              <a:gd name="connsiteX78" fmla="*/ 5633994 w 6244272"/>
              <a:gd name="connsiteY78" fmla="*/ 5353367 h 6858000"/>
              <a:gd name="connsiteX79" fmla="*/ 5552586 w 6244272"/>
              <a:gd name="connsiteY79" fmla="*/ 5474306 h 6858000"/>
              <a:gd name="connsiteX80" fmla="*/ 5383953 w 6244272"/>
              <a:gd name="connsiteY80" fmla="*/ 5769542 h 6858000"/>
              <a:gd name="connsiteX81" fmla="*/ 5392675 w 6244272"/>
              <a:gd name="connsiteY81" fmla="*/ 5801555 h 6858000"/>
              <a:gd name="connsiteX82" fmla="*/ 5584568 w 6244272"/>
              <a:gd name="connsiteY82" fmla="*/ 5755314 h 6858000"/>
              <a:gd name="connsiteX83" fmla="*/ 5334526 w 6244272"/>
              <a:gd name="connsiteY83" fmla="*/ 6004307 h 6858000"/>
              <a:gd name="connsiteX84" fmla="*/ 5075763 w 6244272"/>
              <a:gd name="connsiteY84" fmla="*/ 6196388 h 6858000"/>
              <a:gd name="connsiteX85" fmla="*/ 5258933 w 6244272"/>
              <a:gd name="connsiteY85" fmla="*/ 6167932 h 6858000"/>
              <a:gd name="connsiteX86" fmla="*/ 5511881 w 6244272"/>
              <a:gd name="connsiteY86" fmla="*/ 6057663 h 6858000"/>
              <a:gd name="connsiteX87" fmla="*/ 5599105 w 6244272"/>
              <a:gd name="connsiteY87" fmla="*/ 6100347 h 6858000"/>
              <a:gd name="connsiteX88" fmla="*/ 5360693 w 6244272"/>
              <a:gd name="connsiteY88" fmla="*/ 6281757 h 6858000"/>
              <a:gd name="connsiteX89" fmla="*/ 5224043 w 6244272"/>
              <a:gd name="connsiteY89" fmla="*/ 6367127 h 6858000"/>
              <a:gd name="connsiteX90" fmla="*/ 5168801 w 6244272"/>
              <a:gd name="connsiteY90" fmla="*/ 6431153 h 6858000"/>
              <a:gd name="connsiteX91" fmla="*/ 5011799 w 6244272"/>
              <a:gd name="connsiteY91" fmla="*/ 6658805 h 6858000"/>
              <a:gd name="connsiteX92" fmla="*/ 4651275 w 6244272"/>
              <a:gd name="connsiteY92" fmla="*/ 6858000 h 6858000"/>
              <a:gd name="connsiteX93" fmla="*/ 1823619 w 6244272"/>
              <a:gd name="connsiteY93" fmla="*/ 6858000 h 6858000"/>
              <a:gd name="connsiteX94" fmla="*/ 947849 w 6244272"/>
              <a:gd name="connsiteY94" fmla="*/ 6858000 h 6858000"/>
              <a:gd name="connsiteX95" fmla="*/ 732568 w 6244272"/>
              <a:gd name="connsiteY95" fmla="*/ 6858000 h 6858000"/>
              <a:gd name="connsiteX96" fmla="*/ 0 w 6244272"/>
              <a:gd name="connsiteY9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6244272" h="6858000">
                <a:moveTo>
                  <a:pt x="0" y="0"/>
                </a:moveTo>
                <a:lnTo>
                  <a:pt x="732568" y="0"/>
                </a:lnTo>
                <a:lnTo>
                  <a:pt x="947849" y="0"/>
                </a:lnTo>
                <a:lnTo>
                  <a:pt x="1823619" y="0"/>
                </a:lnTo>
                <a:lnTo>
                  <a:pt x="5235673" y="0"/>
                </a:lnTo>
                <a:cubicBezTo>
                  <a:pt x="5133912" y="35571"/>
                  <a:pt x="5035058" y="78255"/>
                  <a:pt x="4933297" y="110269"/>
                </a:cubicBezTo>
                <a:cubicBezTo>
                  <a:pt x="4947835" y="145839"/>
                  <a:pt x="4962372" y="138725"/>
                  <a:pt x="4976910" y="135168"/>
                </a:cubicBezTo>
                <a:cubicBezTo>
                  <a:pt x="5064133" y="120941"/>
                  <a:pt x="5154264" y="110269"/>
                  <a:pt x="5238580" y="71141"/>
                </a:cubicBezTo>
                <a:cubicBezTo>
                  <a:pt x="5258933" y="64027"/>
                  <a:pt x="5282192" y="64027"/>
                  <a:pt x="5290914" y="88927"/>
                </a:cubicBezTo>
                <a:cubicBezTo>
                  <a:pt x="5305452" y="124497"/>
                  <a:pt x="5285100" y="145839"/>
                  <a:pt x="5264747" y="163625"/>
                </a:cubicBezTo>
                <a:cubicBezTo>
                  <a:pt x="5229858" y="195638"/>
                  <a:pt x="5189154" y="188525"/>
                  <a:pt x="5151357" y="192082"/>
                </a:cubicBezTo>
                <a:cubicBezTo>
                  <a:pt x="5046689" y="209867"/>
                  <a:pt x="4997261" y="259665"/>
                  <a:pt x="4974002" y="373491"/>
                </a:cubicBezTo>
                <a:cubicBezTo>
                  <a:pt x="5064133" y="327250"/>
                  <a:pt x="5154264" y="384162"/>
                  <a:pt x="5241488" y="352148"/>
                </a:cubicBezTo>
                <a:cubicBezTo>
                  <a:pt x="5264747" y="345034"/>
                  <a:pt x="5299637" y="355706"/>
                  <a:pt x="5288007" y="394834"/>
                </a:cubicBezTo>
                <a:cubicBezTo>
                  <a:pt x="5276378" y="430405"/>
                  <a:pt x="5238580" y="458860"/>
                  <a:pt x="5305452" y="451747"/>
                </a:cubicBezTo>
                <a:cubicBezTo>
                  <a:pt x="5354879" y="448189"/>
                  <a:pt x="5369416" y="405504"/>
                  <a:pt x="5383953" y="359262"/>
                </a:cubicBezTo>
                <a:cubicBezTo>
                  <a:pt x="5395583" y="334364"/>
                  <a:pt x="5427565" y="320135"/>
                  <a:pt x="5450825" y="334364"/>
                </a:cubicBezTo>
                <a:cubicBezTo>
                  <a:pt x="5479899" y="348592"/>
                  <a:pt x="5471177" y="387720"/>
                  <a:pt x="5471177" y="416176"/>
                </a:cubicBezTo>
                <a:cubicBezTo>
                  <a:pt x="5474085" y="469532"/>
                  <a:pt x="5450825" y="494431"/>
                  <a:pt x="5410121" y="505101"/>
                </a:cubicBezTo>
                <a:cubicBezTo>
                  <a:pt x="5360693" y="519330"/>
                  <a:pt x="5311267" y="537116"/>
                  <a:pt x="5247303" y="558458"/>
                </a:cubicBezTo>
                <a:cubicBezTo>
                  <a:pt x="5317082" y="594028"/>
                  <a:pt x="5369416" y="586915"/>
                  <a:pt x="5421750" y="558458"/>
                </a:cubicBezTo>
                <a:cubicBezTo>
                  <a:pt x="5485714" y="526444"/>
                  <a:pt x="5570030" y="483759"/>
                  <a:pt x="5622364" y="522887"/>
                </a:cubicBezTo>
                <a:cubicBezTo>
                  <a:pt x="5700865" y="579800"/>
                  <a:pt x="5764829" y="544229"/>
                  <a:pt x="5834608" y="533558"/>
                </a:cubicBezTo>
                <a:cubicBezTo>
                  <a:pt x="5979982" y="512216"/>
                  <a:pt x="5889850" y="480203"/>
                  <a:pt x="6035223" y="462417"/>
                </a:cubicBezTo>
                <a:cubicBezTo>
                  <a:pt x="6093372" y="455303"/>
                  <a:pt x="6154429" y="426847"/>
                  <a:pt x="6238745" y="465975"/>
                </a:cubicBezTo>
                <a:cubicBezTo>
                  <a:pt x="5857868" y="672284"/>
                  <a:pt x="5677606" y="658055"/>
                  <a:pt x="5337434" y="910606"/>
                </a:cubicBezTo>
                <a:cubicBezTo>
                  <a:pt x="5351971" y="935506"/>
                  <a:pt x="5366508" y="924835"/>
                  <a:pt x="5381046" y="921277"/>
                </a:cubicBezTo>
                <a:cubicBezTo>
                  <a:pt x="5404305" y="917720"/>
                  <a:pt x="5433380" y="903491"/>
                  <a:pt x="5439195" y="949734"/>
                </a:cubicBezTo>
                <a:cubicBezTo>
                  <a:pt x="5442103" y="985305"/>
                  <a:pt x="5424657" y="1003089"/>
                  <a:pt x="5395583" y="1006647"/>
                </a:cubicBezTo>
                <a:cubicBezTo>
                  <a:pt x="5311267" y="1020875"/>
                  <a:pt x="5235673" y="1070674"/>
                  <a:pt x="5160079" y="1113358"/>
                </a:cubicBezTo>
                <a:cubicBezTo>
                  <a:pt x="5125190" y="1131144"/>
                  <a:pt x="5087393" y="1156043"/>
                  <a:pt x="5101930" y="1220069"/>
                </a:cubicBezTo>
                <a:cubicBezTo>
                  <a:pt x="5131004" y="1237855"/>
                  <a:pt x="5151357" y="1212955"/>
                  <a:pt x="5174617" y="1209399"/>
                </a:cubicBezTo>
                <a:cubicBezTo>
                  <a:pt x="5197876" y="1205842"/>
                  <a:pt x="5253118" y="1220069"/>
                  <a:pt x="5238580" y="1230741"/>
                </a:cubicBezTo>
                <a:cubicBezTo>
                  <a:pt x="5171709" y="1269868"/>
                  <a:pt x="5293822" y="1365909"/>
                  <a:pt x="5212414" y="1365909"/>
                </a:cubicBezTo>
                <a:cubicBezTo>
                  <a:pt x="5078671" y="1365909"/>
                  <a:pt x="5005984" y="1536647"/>
                  <a:pt x="4878056" y="1540204"/>
                </a:cubicBezTo>
                <a:cubicBezTo>
                  <a:pt x="4857704" y="1540204"/>
                  <a:pt x="4848982" y="1572219"/>
                  <a:pt x="4848982" y="1597117"/>
                </a:cubicBezTo>
                <a:cubicBezTo>
                  <a:pt x="4848982" y="1629132"/>
                  <a:pt x="4869333" y="1632688"/>
                  <a:pt x="4889686" y="1636245"/>
                </a:cubicBezTo>
                <a:cubicBezTo>
                  <a:pt x="4921668" y="1639802"/>
                  <a:pt x="4956557" y="1597117"/>
                  <a:pt x="4997261" y="1657587"/>
                </a:cubicBezTo>
                <a:cubicBezTo>
                  <a:pt x="4921668" y="1693158"/>
                  <a:pt x="4843167" y="1728729"/>
                  <a:pt x="4846074" y="1849668"/>
                </a:cubicBezTo>
                <a:cubicBezTo>
                  <a:pt x="4846074" y="1881683"/>
                  <a:pt x="4814092" y="1895910"/>
                  <a:pt x="4790832" y="1903025"/>
                </a:cubicBezTo>
                <a:cubicBezTo>
                  <a:pt x="4750128" y="1917252"/>
                  <a:pt x="4718146" y="1938595"/>
                  <a:pt x="4694886" y="1984836"/>
                </a:cubicBezTo>
                <a:cubicBezTo>
                  <a:pt x="4694886" y="1995507"/>
                  <a:pt x="4694886" y="2002622"/>
                  <a:pt x="4694886" y="2013292"/>
                </a:cubicBezTo>
                <a:cubicBezTo>
                  <a:pt x="4700701" y="2123562"/>
                  <a:pt x="4758850" y="2120004"/>
                  <a:pt x="4822814" y="2102219"/>
                </a:cubicBezTo>
                <a:cubicBezTo>
                  <a:pt x="4898408" y="2080877"/>
                  <a:pt x="4974002" y="2038192"/>
                  <a:pt x="5055411" y="2077320"/>
                </a:cubicBezTo>
                <a:cubicBezTo>
                  <a:pt x="4942020" y="2130676"/>
                  <a:pt x="4817000" y="2134233"/>
                  <a:pt x="4712331" y="2208931"/>
                </a:cubicBezTo>
                <a:cubicBezTo>
                  <a:pt x="5101930" y="2223159"/>
                  <a:pt x="5445010" y="1984836"/>
                  <a:pt x="5822979" y="1892353"/>
                </a:cubicBezTo>
                <a:cubicBezTo>
                  <a:pt x="5811349" y="1952823"/>
                  <a:pt x="5779367" y="1967051"/>
                  <a:pt x="5753200" y="1974165"/>
                </a:cubicBezTo>
                <a:cubicBezTo>
                  <a:pt x="5613642" y="2020407"/>
                  <a:pt x="5491529" y="2112891"/>
                  <a:pt x="5363601" y="2191146"/>
                </a:cubicBezTo>
                <a:cubicBezTo>
                  <a:pt x="5311267" y="2223159"/>
                  <a:pt x="5273470" y="2258731"/>
                  <a:pt x="5253118" y="2326314"/>
                </a:cubicBezTo>
                <a:cubicBezTo>
                  <a:pt x="5235673" y="2390340"/>
                  <a:pt x="5200783" y="2418796"/>
                  <a:pt x="5136819" y="2401012"/>
                </a:cubicBezTo>
                <a:cubicBezTo>
                  <a:pt x="5084485" y="2386784"/>
                  <a:pt x="5029243" y="2393898"/>
                  <a:pt x="4974002" y="2401012"/>
                </a:cubicBezTo>
                <a:cubicBezTo>
                  <a:pt x="4912946" y="2408126"/>
                  <a:pt x="4843167" y="2479267"/>
                  <a:pt x="4857704" y="2518395"/>
                </a:cubicBezTo>
                <a:cubicBezTo>
                  <a:pt x="4886778" y="2582422"/>
                  <a:pt x="4936205" y="2550408"/>
                  <a:pt x="4976910" y="2543294"/>
                </a:cubicBezTo>
                <a:cubicBezTo>
                  <a:pt x="5026336" y="2536181"/>
                  <a:pt x="5116467" y="2518395"/>
                  <a:pt x="5116467" y="2525509"/>
                </a:cubicBezTo>
                <a:cubicBezTo>
                  <a:pt x="5148450" y="2685576"/>
                  <a:pt x="5221136" y="2564636"/>
                  <a:pt x="5273470" y="2564636"/>
                </a:cubicBezTo>
                <a:cubicBezTo>
                  <a:pt x="5322897" y="2564636"/>
                  <a:pt x="5372323" y="2546851"/>
                  <a:pt x="5418843" y="2532623"/>
                </a:cubicBezTo>
                <a:cubicBezTo>
                  <a:pt x="5479899" y="2514837"/>
                  <a:pt x="5535140" y="2546851"/>
                  <a:pt x="5593290" y="2553965"/>
                </a:cubicBezTo>
                <a:cubicBezTo>
                  <a:pt x="5645624" y="2561080"/>
                  <a:pt x="5616550" y="2653563"/>
                  <a:pt x="5648532" y="2692689"/>
                </a:cubicBezTo>
                <a:cubicBezTo>
                  <a:pt x="5654346" y="2703362"/>
                  <a:pt x="5660161" y="2703362"/>
                  <a:pt x="5665976" y="2703362"/>
                </a:cubicBezTo>
                <a:cubicBezTo>
                  <a:pt x="5683421" y="2980812"/>
                  <a:pt x="5988704" y="2913227"/>
                  <a:pt x="5988704" y="2923898"/>
                </a:cubicBezTo>
                <a:cubicBezTo>
                  <a:pt x="6014871" y="2941684"/>
                  <a:pt x="6046853" y="2899000"/>
                  <a:pt x="6078835" y="2941684"/>
                </a:cubicBezTo>
                <a:cubicBezTo>
                  <a:pt x="5942185" y="3137322"/>
                  <a:pt x="5732847" y="3183563"/>
                  <a:pt x="5546771" y="3329402"/>
                </a:cubicBezTo>
                <a:cubicBezTo>
                  <a:pt x="5700865" y="3379202"/>
                  <a:pt x="5790997" y="3208463"/>
                  <a:pt x="5904388" y="3229805"/>
                </a:cubicBezTo>
                <a:cubicBezTo>
                  <a:pt x="5959629" y="3283162"/>
                  <a:pt x="5793904" y="3368530"/>
                  <a:pt x="5953814" y="3393429"/>
                </a:cubicBezTo>
                <a:cubicBezTo>
                  <a:pt x="5884036" y="3439672"/>
                  <a:pt x="5834608" y="3485914"/>
                  <a:pt x="5785182" y="3539269"/>
                </a:cubicBezTo>
                <a:cubicBezTo>
                  <a:pt x="5700865" y="3635309"/>
                  <a:pt x="5683421" y="3699337"/>
                  <a:pt x="5724125" y="3827390"/>
                </a:cubicBezTo>
                <a:cubicBezTo>
                  <a:pt x="5750293" y="3912759"/>
                  <a:pt x="5788089" y="3991015"/>
                  <a:pt x="5753200" y="4090612"/>
                </a:cubicBezTo>
                <a:cubicBezTo>
                  <a:pt x="5729940" y="4158196"/>
                  <a:pt x="5738663" y="4204438"/>
                  <a:pt x="5825886" y="4172424"/>
                </a:cubicBezTo>
                <a:cubicBezTo>
                  <a:pt x="5918925" y="4140411"/>
                  <a:pt x="5953814" y="4200882"/>
                  <a:pt x="5930554" y="4321821"/>
                </a:cubicBezTo>
                <a:cubicBezTo>
                  <a:pt x="5916018" y="4400076"/>
                  <a:pt x="5930554" y="4424975"/>
                  <a:pt x="5994519" y="4414305"/>
                </a:cubicBezTo>
                <a:cubicBezTo>
                  <a:pt x="6064297" y="4403633"/>
                  <a:pt x="6131169" y="4353835"/>
                  <a:pt x="6218393" y="4378734"/>
                </a:cubicBezTo>
                <a:cubicBezTo>
                  <a:pt x="6148614" y="4521016"/>
                  <a:pt x="6000333" y="4478331"/>
                  <a:pt x="5918925" y="4613499"/>
                </a:cubicBezTo>
                <a:cubicBezTo>
                  <a:pt x="6014871" y="4613499"/>
                  <a:pt x="6090465" y="4613499"/>
                  <a:pt x="6160243" y="4585042"/>
                </a:cubicBezTo>
                <a:cubicBezTo>
                  <a:pt x="6189318" y="4574373"/>
                  <a:pt x="6221300" y="4560144"/>
                  <a:pt x="6238745" y="4602828"/>
                </a:cubicBezTo>
                <a:cubicBezTo>
                  <a:pt x="6259098" y="4652628"/>
                  <a:pt x="6218393" y="4670412"/>
                  <a:pt x="6195133" y="4677526"/>
                </a:cubicBezTo>
                <a:cubicBezTo>
                  <a:pt x="6128261" y="4702425"/>
                  <a:pt x="6075928" y="4759339"/>
                  <a:pt x="6017778" y="4805580"/>
                </a:cubicBezTo>
                <a:cubicBezTo>
                  <a:pt x="5892758" y="4905177"/>
                  <a:pt x="5756107" y="4990547"/>
                  <a:pt x="5651439" y="5154171"/>
                </a:cubicBezTo>
                <a:cubicBezTo>
                  <a:pt x="5782275" y="5111487"/>
                  <a:pt x="5881128" y="5011889"/>
                  <a:pt x="6006149" y="4994104"/>
                </a:cubicBezTo>
                <a:cubicBezTo>
                  <a:pt x="5898572" y="5143500"/>
                  <a:pt x="5761922" y="5243097"/>
                  <a:pt x="5633994" y="5353367"/>
                </a:cubicBezTo>
                <a:cubicBezTo>
                  <a:pt x="5596197" y="5385379"/>
                  <a:pt x="5558400" y="5406721"/>
                  <a:pt x="5552586" y="5474306"/>
                </a:cubicBezTo>
                <a:cubicBezTo>
                  <a:pt x="5535140" y="5605917"/>
                  <a:pt x="5488622" y="5712629"/>
                  <a:pt x="5383953" y="5769542"/>
                </a:cubicBezTo>
                <a:cubicBezTo>
                  <a:pt x="5383953" y="5769542"/>
                  <a:pt x="5389768" y="5790884"/>
                  <a:pt x="5392675" y="5801555"/>
                </a:cubicBezTo>
                <a:cubicBezTo>
                  <a:pt x="5456640" y="5805112"/>
                  <a:pt x="5506066" y="5726858"/>
                  <a:pt x="5584568" y="5755314"/>
                </a:cubicBezTo>
                <a:cubicBezTo>
                  <a:pt x="5506066" y="5862025"/>
                  <a:pt x="5442103" y="5954508"/>
                  <a:pt x="5334526" y="6004307"/>
                </a:cubicBezTo>
                <a:cubicBezTo>
                  <a:pt x="5247303" y="6043434"/>
                  <a:pt x="5139727" y="6068335"/>
                  <a:pt x="5075763" y="6196388"/>
                </a:cubicBezTo>
                <a:cubicBezTo>
                  <a:pt x="5148450" y="6221287"/>
                  <a:pt x="5203691" y="6189274"/>
                  <a:pt x="5258933" y="6167932"/>
                </a:cubicBezTo>
                <a:cubicBezTo>
                  <a:pt x="5343249" y="6132361"/>
                  <a:pt x="5427565" y="6093234"/>
                  <a:pt x="5511881" y="6057663"/>
                </a:cubicBezTo>
                <a:cubicBezTo>
                  <a:pt x="5543864" y="6043434"/>
                  <a:pt x="5578753" y="6036320"/>
                  <a:pt x="5599105" y="6100347"/>
                </a:cubicBezTo>
                <a:cubicBezTo>
                  <a:pt x="5491529" y="6114575"/>
                  <a:pt x="5427565" y="6199945"/>
                  <a:pt x="5360693" y="6281757"/>
                </a:cubicBezTo>
                <a:cubicBezTo>
                  <a:pt x="5322897" y="6327999"/>
                  <a:pt x="5290914" y="6388469"/>
                  <a:pt x="5224043" y="6367127"/>
                </a:cubicBezTo>
                <a:cubicBezTo>
                  <a:pt x="5189154" y="6356456"/>
                  <a:pt x="5165894" y="6388469"/>
                  <a:pt x="5168801" y="6431153"/>
                </a:cubicBezTo>
                <a:cubicBezTo>
                  <a:pt x="5183339" y="6580550"/>
                  <a:pt x="5099022" y="6630349"/>
                  <a:pt x="5011799" y="6658805"/>
                </a:cubicBezTo>
                <a:cubicBezTo>
                  <a:pt x="4883871" y="6701489"/>
                  <a:pt x="4770480" y="6786859"/>
                  <a:pt x="4651275" y="6858000"/>
                </a:cubicBezTo>
                <a:lnTo>
                  <a:pt x="1823619" y="6858000"/>
                </a:lnTo>
                <a:lnTo>
                  <a:pt x="947849" y="6858000"/>
                </a:lnTo>
                <a:lnTo>
                  <a:pt x="732568"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p:cNvSpPr>
            <a:spLocks noGrp="1"/>
          </p:cNvSpPr>
          <p:nvPr>
            <p:ph type="title"/>
          </p:nvPr>
        </p:nvSpPr>
        <p:spPr>
          <a:xfrm>
            <a:off x="532034" y="671971"/>
            <a:ext cx="3301255" cy="4273891"/>
          </a:xfrm>
        </p:spPr>
        <p:txBody>
          <a:bodyPr vert="horz" lIns="91440" tIns="45720" rIns="91440" bIns="45720" rtlCol="0" anchor="b">
            <a:normAutofit/>
          </a:bodyPr>
          <a:lstStyle/>
          <a:p>
            <a:pPr>
              <a:lnSpc>
                <a:spcPct val="90000"/>
              </a:lnSpc>
              <a:spcBef>
                <a:spcPct val="0"/>
              </a:spcBef>
            </a:pPr>
            <a:r>
              <a:rPr lang="en-US" sz="4200" b="1" kern="1200" dirty="0">
                <a:solidFill>
                  <a:schemeClr val="tx1"/>
                </a:solidFill>
                <a:latin typeface="+mj-lt"/>
                <a:ea typeface="+mj-ea"/>
                <a:cs typeface="+mj-cs"/>
              </a:rPr>
              <a:t>General Problem Solver (Newell, Shaw, &amp; Simon, 1959)</a:t>
            </a:r>
          </a:p>
        </p:txBody>
      </p:sp>
    </p:spTree>
    <p:extLst>
      <p:ext uri="{BB962C8B-B14F-4D97-AF65-F5344CB8AC3E}">
        <p14:creationId xmlns:p14="http://schemas.microsoft.com/office/powerpoint/2010/main" val="2412943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8BA5F19-D5E1-4ECC-BEC2-DF7AEDFD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0CC88A9-A661-4C48-866E-8734E511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317745" cy="2214152"/>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ítulo 1"/>
          <p:cNvSpPr>
            <a:spLocks noGrp="1"/>
          </p:cNvSpPr>
          <p:nvPr>
            <p:ph type="title"/>
          </p:nvPr>
        </p:nvSpPr>
        <p:spPr>
          <a:xfrm>
            <a:off x="411735" y="433628"/>
            <a:ext cx="6329682" cy="815582"/>
          </a:xfrm>
        </p:spPr>
        <p:txBody>
          <a:bodyPr vert="horz" lIns="91440" tIns="45720" rIns="91440" bIns="45720" rtlCol="0" anchor="b">
            <a:normAutofit/>
          </a:bodyPr>
          <a:lstStyle/>
          <a:p>
            <a:pPr>
              <a:lnSpc>
                <a:spcPct val="90000"/>
              </a:lnSpc>
              <a:spcBef>
                <a:spcPct val="0"/>
              </a:spcBef>
            </a:pPr>
            <a:r>
              <a:rPr lang="en-US" sz="2500" b="1" kern="1200">
                <a:solidFill>
                  <a:schemeClr val="tx1"/>
                </a:solidFill>
                <a:latin typeface="+mj-lt"/>
                <a:ea typeface="+mj-ea"/>
                <a:cs typeface="+mj-cs"/>
              </a:rPr>
              <a:t>General Problem Solver (Newell, Shaw, &amp; Simon, 1959)</a:t>
            </a:r>
          </a:p>
        </p:txBody>
      </p:sp>
      <p:pic>
        <p:nvPicPr>
          <p:cNvPr id="4" name="Imagen 3">
            <a:extLst>
              <a:ext uri="{FF2B5EF4-FFF2-40B4-BE49-F238E27FC236}">
                <a16:creationId xmlns:a16="http://schemas.microsoft.com/office/drawing/2014/main" id="{E339C36D-0166-43F8-AADE-019A85C2BB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110" y="3122643"/>
            <a:ext cx="4061239" cy="2832713"/>
          </a:xfrm>
          <a:prstGeom prst="rect">
            <a:avLst/>
          </a:prstGeom>
        </p:spPr>
      </p:pic>
      <p:pic>
        <p:nvPicPr>
          <p:cNvPr id="5" name="Imagen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9738" y="2748516"/>
            <a:ext cx="4788498" cy="2745736"/>
          </a:xfrm>
          <a:prstGeom prst="rect">
            <a:avLst/>
          </a:prstGeom>
        </p:spPr>
      </p:pic>
      <p:sp>
        <p:nvSpPr>
          <p:cNvPr id="27" name="Freeform: Shape 26">
            <a:extLst>
              <a:ext uri="{FF2B5EF4-FFF2-40B4-BE49-F238E27FC236}">
                <a16:creationId xmlns:a16="http://schemas.microsoft.com/office/drawing/2014/main" id="{CFDF195F-784B-4D00-8C92-6FC1B0499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8021" y="6920300"/>
            <a:ext cx="5692604" cy="639376"/>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3139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93043" y="402482"/>
            <a:ext cx="3155235" cy="2136370"/>
          </a:xfrm>
        </p:spPr>
        <p:txBody>
          <a:bodyPr vert="horz" lIns="91440" tIns="45720" rIns="91440" bIns="45720" rtlCol="0" anchor="ctr">
            <a:normAutofit/>
          </a:bodyPr>
          <a:lstStyle/>
          <a:p>
            <a:pPr>
              <a:lnSpc>
                <a:spcPct val="90000"/>
              </a:lnSpc>
              <a:spcBef>
                <a:spcPct val="0"/>
              </a:spcBef>
            </a:pPr>
            <a:r>
              <a:rPr lang="en-US" sz="3100" b="1" kern="1200">
                <a:solidFill>
                  <a:schemeClr val="tx1"/>
                </a:solidFill>
                <a:latin typeface="+mj-lt"/>
                <a:ea typeface="+mj-ea"/>
                <a:cs typeface="+mj-cs"/>
              </a:rPr>
              <a:t>General Problem Solver (Newell, Shaw, &amp; Simon, 1959)</a:t>
            </a:r>
          </a:p>
        </p:txBody>
      </p:sp>
      <p:sp>
        <p:nvSpPr>
          <p:cNvPr id="4" name="CuadroTexto 3"/>
          <p:cNvSpPr txBox="1"/>
          <p:nvPr/>
        </p:nvSpPr>
        <p:spPr>
          <a:xfrm>
            <a:off x="693043" y="2736594"/>
            <a:ext cx="3155236" cy="407236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kern="1200" dirty="0" err="1">
                <a:solidFill>
                  <a:schemeClr val="tx1"/>
                </a:solidFill>
                <a:latin typeface="+mn-lt"/>
                <a:ea typeface="+mn-ea"/>
                <a:cs typeface="+mn-cs"/>
              </a:rPr>
              <a:t>Problemas</a:t>
            </a:r>
            <a:r>
              <a:rPr lang="en-US" sz="2400" kern="1200" dirty="0">
                <a:solidFill>
                  <a:schemeClr val="tx1"/>
                </a:solidFill>
                <a:latin typeface="+mn-lt"/>
                <a:ea typeface="+mn-ea"/>
                <a:cs typeface="+mn-cs"/>
              </a:rPr>
              <a:t> que </a:t>
            </a:r>
            <a:r>
              <a:rPr lang="en-US" sz="2400" kern="1200" dirty="0" err="1">
                <a:solidFill>
                  <a:schemeClr val="tx1"/>
                </a:solidFill>
                <a:latin typeface="+mn-lt"/>
                <a:ea typeface="+mn-ea"/>
                <a:cs typeface="+mn-cs"/>
              </a:rPr>
              <a:t>tienen</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estas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características</a:t>
            </a:r>
            <a:r>
              <a:rPr lang="en-US" sz="2400" kern="1200" dirty="0">
                <a:solidFill>
                  <a:schemeClr val="tx1"/>
                </a:solidFill>
                <a:latin typeface="+mn-lt"/>
                <a:ea typeface="+mn-ea"/>
                <a:cs typeface="+mn-cs"/>
              </a:rPr>
              <a:t>:</a:t>
            </a:r>
          </a:p>
          <a:p>
            <a:pPr indent="-228600">
              <a:lnSpc>
                <a:spcPct val="90000"/>
              </a:lnSpc>
              <a:spcAft>
                <a:spcPts val="600"/>
              </a:spcAft>
              <a:buFont typeface="Arial" panose="020B0604020202020204" pitchFamily="34" charset="0"/>
              <a:buChar char="•"/>
            </a:pPr>
            <a:endParaRPr lang="en-US" sz="24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2400" kern="1200" dirty="0" err="1">
                <a:solidFill>
                  <a:schemeClr val="tx1"/>
                </a:solidFill>
                <a:latin typeface="+mn-lt"/>
                <a:ea typeface="+mn-ea"/>
                <a:cs typeface="+mn-cs"/>
              </a:rPr>
              <a:t>Problemas</a:t>
            </a:r>
            <a:r>
              <a:rPr lang="en-US" sz="2400" kern="1200" dirty="0">
                <a:solidFill>
                  <a:schemeClr val="tx1"/>
                </a:solidFill>
                <a:latin typeface="+mn-lt"/>
                <a:ea typeface="+mn-ea"/>
                <a:cs typeface="+mn-cs"/>
              </a:rPr>
              <a:t> de </a:t>
            </a:r>
            <a:r>
              <a:rPr lang="en-US" sz="2400" kern="1200" dirty="0" err="1">
                <a:solidFill>
                  <a:schemeClr val="tx1"/>
                </a:solidFill>
                <a:latin typeface="+mn-lt"/>
                <a:ea typeface="+mn-ea"/>
                <a:cs typeface="+mn-cs"/>
              </a:rPr>
              <a:t>Ruteo</a:t>
            </a:r>
            <a:r>
              <a:rPr lang="en-US" sz="2400" kern="1200" dirty="0">
                <a:solidFill>
                  <a:schemeClr val="tx1"/>
                </a:solidFill>
                <a:latin typeface="+mn-lt"/>
                <a:ea typeface="+mn-ea"/>
                <a:cs typeface="+mn-cs"/>
              </a:rPr>
              <a:t>: robots, autos </a:t>
            </a:r>
            <a:r>
              <a:rPr lang="en-US" sz="2400" kern="1200" dirty="0" err="1">
                <a:solidFill>
                  <a:schemeClr val="tx1"/>
                </a:solidFill>
                <a:latin typeface="+mn-lt"/>
                <a:ea typeface="+mn-ea"/>
                <a:cs typeface="+mn-cs"/>
              </a:rPr>
              <a:t>autónomos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llamadas</a:t>
            </a:r>
            <a:r>
              <a:rPr lang="en-US" sz="2400" kern="1200" dirty="0">
                <a:solidFill>
                  <a:schemeClr val="tx1"/>
                </a:solidFill>
                <a:latin typeface="+mn-lt"/>
                <a:ea typeface="+mn-ea"/>
                <a:cs typeface="+mn-cs"/>
              </a:rPr>
              <a:t> de </a:t>
            </a:r>
            <a:r>
              <a:rPr lang="en-US" sz="2400" kern="1200" dirty="0" err="1">
                <a:solidFill>
                  <a:schemeClr val="tx1"/>
                </a:solidFill>
                <a:latin typeface="+mn-lt"/>
                <a:ea typeface="+mn-ea"/>
                <a:cs typeface="+mn-cs"/>
              </a:rPr>
              <a:t>celular</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aerolíneas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personajes</a:t>
            </a:r>
            <a:r>
              <a:rPr lang="en-US" sz="2400" kern="1200" dirty="0">
                <a:solidFill>
                  <a:schemeClr val="tx1"/>
                </a:solidFill>
                <a:latin typeface="+mn-lt"/>
                <a:ea typeface="+mn-ea"/>
                <a:cs typeface="+mn-cs"/>
              </a:rPr>
              <a:t> de video-</a:t>
            </a:r>
            <a:r>
              <a:rPr lang="en-US" sz="2400" kern="1200" dirty="0" err="1">
                <a:solidFill>
                  <a:schemeClr val="tx1"/>
                </a:solidFill>
                <a:latin typeface="+mn-lt"/>
                <a:ea typeface="+mn-ea"/>
                <a:cs typeface="+mn-cs"/>
              </a:rPr>
              <a:t>juegos</a:t>
            </a:r>
            <a:r>
              <a:rPr lang="en-US" sz="2400" kern="1200" dirty="0">
                <a:solidFill>
                  <a:schemeClr val="tx1"/>
                </a:solidFill>
                <a:latin typeface="+mn-lt"/>
                <a:ea typeface="+mn-ea"/>
                <a:cs typeface="+mn-cs"/>
              </a:rPr>
              <a:t>.</a:t>
            </a:r>
          </a:p>
          <a:p>
            <a:pPr indent="-228600">
              <a:lnSpc>
                <a:spcPct val="90000"/>
              </a:lnSpc>
              <a:spcAft>
                <a:spcPts val="600"/>
              </a:spcAft>
              <a:buFont typeface="Arial" panose="020B0604020202020204" pitchFamily="34" charset="0"/>
              <a:buChar char="•"/>
            </a:pPr>
            <a:endParaRPr lang="en-US" sz="1900" kern="1200" dirty="0">
              <a:solidFill>
                <a:schemeClr val="tx1"/>
              </a:solidFill>
              <a:latin typeface="+mn-lt"/>
              <a:ea typeface="+mn-ea"/>
              <a:cs typeface="+mn-cs"/>
            </a:endParaRPr>
          </a:p>
        </p:txBody>
      </p:sp>
      <p:pic>
        <p:nvPicPr>
          <p:cNvPr id="7" name="Imagen 6" descr="Diagrama&#10;&#10;Descripción generada automáticamente con confianza baja">
            <a:extLst>
              <a:ext uri="{FF2B5EF4-FFF2-40B4-BE49-F238E27FC236}">
                <a16:creationId xmlns:a16="http://schemas.microsoft.com/office/drawing/2014/main" id="{3F6C2A60-7042-4483-BBAC-3BE980B8177F}"/>
              </a:ext>
            </a:extLst>
          </p:cNvPr>
          <p:cNvPicPr>
            <a:picLocks noChangeAspect="1"/>
          </p:cNvPicPr>
          <p:nvPr/>
        </p:nvPicPr>
        <p:blipFill rotWithShape="1">
          <a:blip r:embed="rId3"/>
          <a:srcRect l="17880"/>
          <a:stretch/>
        </p:blipFill>
        <p:spPr>
          <a:xfrm>
            <a:off x="4055000" y="-4"/>
            <a:ext cx="6025625" cy="4072360"/>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5" name="Imagen 4" descr="Diagrama, Esquemático&#10;&#10;Descripción generada automáticamente">
            <a:extLst>
              <a:ext uri="{FF2B5EF4-FFF2-40B4-BE49-F238E27FC236}">
                <a16:creationId xmlns:a16="http://schemas.microsoft.com/office/drawing/2014/main" id="{13246787-59C7-41B6-9F51-71F8173432FC}"/>
              </a:ext>
            </a:extLst>
          </p:cNvPr>
          <p:cNvPicPr>
            <a:picLocks noChangeAspect="1"/>
          </p:cNvPicPr>
          <p:nvPr/>
        </p:nvPicPr>
        <p:blipFill rotWithShape="1">
          <a:blip r:embed="rId4"/>
          <a:srcRect l="489" r="31024" b="-1"/>
          <a:stretch/>
        </p:blipFill>
        <p:spPr>
          <a:xfrm>
            <a:off x="3908167" y="4192060"/>
            <a:ext cx="6178335" cy="3367619"/>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pic>
    </p:spTree>
    <p:extLst>
      <p:ext uri="{BB962C8B-B14F-4D97-AF65-F5344CB8AC3E}">
        <p14:creationId xmlns:p14="http://schemas.microsoft.com/office/powerpoint/2010/main" val="653652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9F1FFA9-D672-408C-9220-ADEEC6ABD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p:cNvSpPr txBox="1"/>
          <p:nvPr/>
        </p:nvSpPr>
        <p:spPr>
          <a:xfrm>
            <a:off x="581401" y="1620175"/>
            <a:ext cx="3155236" cy="407236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800" kern="1200" dirty="0">
                <a:solidFill>
                  <a:schemeClr val="tx1"/>
                </a:solidFill>
                <a:latin typeface="+mn-lt"/>
                <a:ea typeface="+mn-ea"/>
                <a:cs typeface="+mn-cs"/>
              </a:rPr>
              <a:t>Para </a:t>
            </a:r>
            <a:r>
              <a:rPr lang="en-US" sz="2800" kern="1200" dirty="0" err="1">
                <a:solidFill>
                  <a:schemeClr val="tx1"/>
                </a:solidFill>
                <a:latin typeface="+mn-lt"/>
                <a:ea typeface="+mn-ea"/>
                <a:cs typeface="+mn-cs"/>
              </a:rPr>
              <a:t>qué</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sirven</a:t>
            </a:r>
            <a:r>
              <a:rPr lang="en-US" sz="2800" kern="1200" dirty="0">
                <a:solidFill>
                  <a:schemeClr val="tx1"/>
                </a:solidFill>
                <a:latin typeface="+mn-lt"/>
                <a:ea typeface="+mn-ea"/>
                <a:cs typeface="+mn-cs"/>
              </a:rPr>
              <a:t>:</a:t>
            </a:r>
          </a:p>
          <a:p>
            <a:pPr lvl="8" indent="-228600">
              <a:lnSpc>
                <a:spcPct val="90000"/>
              </a:lnSpc>
              <a:spcAft>
                <a:spcPts val="600"/>
              </a:spcAft>
              <a:buFont typeface="Arial" panose="020B0604020202020204" pitchFamily="34" charset="0"/>
              <a:buChar char="•"/>
            </a:pPr>
            <a:r>
              <a:rPr lang="en-US" sz="2800" kern="1200" dirty="0" err="1">
                <a:solidFill>
                  <a:schemeClr val="tx1"/>
                </a:solidFill>
                <a:latin typeface="+mn-lt"/>
                <a:ea typeface="+mn-ea"/>
                <a:cs typeface="+mn-cs"/>
              </a:rPr>
              <a:t>Determinar</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rutas</a:t>
            </a:r>
            <a:endParaRPr lang="en-US" sz="2800" kern="1200" dirty="0">
              <a:solidFill>
                <a:schemeClr val="tx1"/>
              </a:solidFill>
              <a:latin typeface="+mn-lt"/>
              <a:ea typeface="+mn-ea"/>
              <a:cs typeface="+mn-cs"/>
            </a:endParaRPr>
          </a:p>
          <a:p>
            <a:pPr lvl="2" indent="-228600">
              <a:lnSpc>
                <a:spcPct val="90000"/>
              </a:lnSpc>
              <a:spcAft>
                <a:spcPts val="600"/>
              </a:spcAft>
              <a:buFont typeface="Arial" panose="020B0604020202020204" pitchFamily="34" charset="0"/>
              <a:buChar char="•"/>
            </a:pPr>
            <a:r>
              <a:rPr lang="en-US" sz="2800" kern="1200" dirty="0" err="1">
                <a:solidFill>
                  <a:schemeClr val="tx1"/>
                </a:solidFill>
                <a:latin typeface="+mn-lt"/>
                <a:ea typeface="+mn-ea"/>
                <a:cs typeface="+mn-cs"/>
              </a:rPr>
              <a:t>Enviar</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datos</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productos</a:t>
            </a:r>
            <a:r>
              <a:rPr lang="en-US" sz="2800" kern="1200" dirty="0">
                <a:solidFill>
                  <a:schemeClr val="tx1"/>
                </a:solidFill>
                <a:latin typeface="+mn-lt"/>
                <a:ea typeface="+mn-ea"/>
                <a:cs typeface="+mn-cs"/>
              </a:rPr>
              <a:t>)</a:t>
            </a:r>
          </a:p>
          <a:p>
            <a:pPr lvl="1" indent="-228600">
              <a:lnSpc>
                <a:spcPct val="90000"/>
              </a:lnSpc>
              <a:spcAft>
                <a:spcPts val="600"/>
              </a:spcAft>
              <a:buFont typeface="Arial" panose="020B0604020202020204" pitchFamily="34" charset="0"/>
              <a:buChar char="•"/>
            </a:pPr>
            <a:r>
              <a:rPr lang="en-US" sz="2800" kern="1200" dirty="0">
                <a:solidFill>
                  <a:schemeClr val="tx1"/>
                </a:solidFill>
                <a:latin typeface="+mn-lt"/>
                <a:ea typeface="+mn-ea"/>
                <a:cs typeface="+mn-cs"/>
              </a:rPr>
              <a:t>“</a:t>
            </a:r>
            <a:r>
              <a:rPr lang="en-US" sz="2800" kern="1200" dirty="0" err="1">
                <a:solidFill>
                  <a:schemeClr val="tx1"/>
                </a:solidFill>
                <a:latin typeface="+mn-lt"/>
                <a:ea typeface="+mn-ea"/>
                <a:cs typeface="+mn-cs"/>
              </a:rPr>
              <a:t>Balancear</a:t>
            </a:r>
            <a:r>
              <a:rPr lang="en-US" sz="2800" kern="1200" dirty="0">
                <a:solidFill>
                  <a:schemeClr val="tx1"/>
                </a:solidFill>
                <a:latin typeface="+mn-lt"/>
                <a:ea typeface="+mn-ea"/>
                <a:cs typeface="+mn-cs"/>
              </a:rPr>
              <a:t> la carga” </a:t>
            </a:r>
            <a:r>
              <a:rPr lang="en-US" sz="2800" kern="1200" dirty="0" err="1">
                <a:solidFill>
                  <a:schemeClr val="tx1"/>
                </a:solidFill>
                <a:latin typeface="+mn-lt"/>
                <a:ea typeface="+mn-ea"/>
                <a:cs typeface="+mn-cs"/>
              </a:rPr>
              <a:t>en</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flotas</a:t>
            </a:r>
            <a:r>
              <a:rPr lang="en-US" sz="2800" kern="1200" dirty="0">
                <a:solidFill>
                  <a:schemeClr val="tx1"/>
                </a:solidFill>
                <a:latin typeface="+mn-lt"/>
                <a:ea typeface="+mn-ea"/>
                <a:cs typeface="+mn-cs"/>
              </a:rPr>
              <a:t> de </a:t>
            </a:r>
            <a:r>
              <a:rPr lang="en-US" sz="2800" kern="1200" dirty="0" err="1">
                <a:solidFill>
                  <a:schemeClr val="tx1"/>
                </a:solidFill>
                <a:latin typeface="+mn-lt"/>
                <a:ea typeface="+mn-ea"/>
                <a:cs typeface="+mn-cs"/>
              </a:rPr>
              <a:t>vehículos</a:t>
            </a:r>
            <a:endParaRPr lang="en-US" sz="2800" kern="1200" dirty="0">
              <a:solidFill>
                <a:schemeClr val="tx1"/>
              </a:solidFill>
              <a:latin typeface="+mn-lt"/>
              <a:ea typeface="+mn-ea"/>
              <a:cs typeface="+mn-cs"/>
            </a:endParaRPr>
          </a:p>
        </p:txBody>
      </p:sp>
      <p:pic>
        <p:nvPicPr>
          <p:cNvPr id="7" name="Imagen 6" descr="Diagrama&#10;&#10;Descripción generada automáticamente con confianza baja">
            <a:extLst>
              <a:ext uri="{FF2B5EF4-FFF2-40B4-BE49-F238E27FC236}">
                <a16:creationId xmlns:a16="http://schemas.microsoft.com/office/drawing/2014/main" id="{3F6C2A60-7042-4483-BBAC-3BE980B8177F}"/>
              </a:ext>
            </a:extLst>
          </p:cNvPr>
          <p:cNvPicPr>
            <a:picLocks noChangeAspect="1"/>
          </p:cNvPicPr>
          <p:nvPr/>
        </p:nvPicPr>
        <p:blipFill rotWithShape="1">
          <a:blip r:embed="rId3"/>
          <a:srcRect l="17880"/>
          <a:stretch/>
        </p:blipFill>
        <p:spPr>
          <a:xfrm>
            <a:off x="4055000" y="-4"/>
            <a:ext cx="6025625" cy="4072360"/>
          </a:xfrm>
          <a:custGeom>
            <a:avLst/>
            <a:gdLst/>
            <a:ahLst/>
            <a:cxnLst/>
            <a:rect l="l" t="t" r="r" b="b"/>
            <a:pathLst>
              <a:path w="7287684" h="3694372">
                <a:moveTo>
                  <a:pt x="1047969" y="0"/>
                </a:moveTo>
                <a:lnTo>
                  <a:pt x="7287684" y="0"/>
                </a:lnTo>
                <a:lnTo>
                  <a:pt x="7287684" y="814388"/>
                </a:lnTo>
                <a:lnTo>
                  <a:pt x="7287684" y="3694372"/>
                </a:lnTo>
                <a:lnTo>
                  <a:pt x="471411" y="3694372"/>
                </a:lnTo>
                <a:lnTo>
                  <a:pt x="470992" y="3686621"/>
                </a:lnTo>
                <a:cubicBezTo>
                  <a:pt x="458999" y="3642419"/>
                  <a:pt x="427907" y="3602236"/>
                  <a:pt x="376383" y="3554015"/>
                </a:cubicBezTo>
                <a:cubicBezTo>
                  <a:pt x="315976" y="3500438"/>
                  <a:pt x="255568" y="3454003"/>
                  <a:pt x="170288" y="3407569"/>
                </a:cubicBezTo>
                <a:cubicBezTo>
                  <a:pt x="365723" y="3382565"/>
                  <a:pt x="163181" y="3296841"/>
                  <a:pt x="230695" y="3243263"/>
                </a:cubicBezTo>
                <a:cubicBezTo>
                  <a:pt x="369276" y="3221831"/>
                  <a:pt x="479431" y="3393282"/>
                  <a:pt x="667759" y="3343275"/>
                </a:cubicBezTo>
                <a:cubicBezTo>
                  <a:pt x="440344" y="3196828"/>
                  <a:pt x="184501" y="3150393"/>
                  <a:pt x="17493" y="2953940"/>
                </a:cubicBezTo>
                <a:cubicBezTo>
                  <a:pt x="56580" y="2911078"/>
                  <a:pt x="95667" y="2953940"/>
                  <a:pt x="127647" y="2936081"/>
                </a:cubicBezTo>
                <a:cubicBezTo>
                  <a:pt x="127647" y="2925365"/>
                  <a:pt x="500751" y="2993232"/>
                  <a:pt x="522071" y="2714625"/>
                </a:cubicBezTo>
                <a:cubicBezTo>
                  <a:pt x="529178" y="2714625"/>
                  <a:pt x="536285" y="2714625"/>
                  <a:pt x="543391" y="2703909"/>
                </a:cubicBezTo>
                <a:cubicBezTo>
                  <a:pt x="582478" y="2664619"/>
                  <a:pt x="546945" y="2571750"/>
                  <a:pt x="610905" y="2564606"/>
                </a:cubicBezTo>
                <a:cubicBezTo>
                  <a:pt x="681973" y="2557462"/>
                  <a:pt x="749487" y="2525315"/>
                  <a:pt x="824107" y="2543175"/>
                </a:cubicBezTo>
                <a:cubicBezTo>
                  <a:pt x="880961" y="2557462"/>
                  <a:pt x="941368" y="2575322"/>
                  <a:pt x="1001776" y="2575322"/>
                </a:cubicBezTo>
                <a:cubicBezTo>
                  <a:pt x="1065736" y="2575322"/>
                  <a:pt x="1154570" y="2696766"/>
                  <a:pt x="1193658" y="2536031"/>
                </a:cubicBezTo>
                <a:cubicBezTo>
                  <a:pt x="1193658" y="2528888"/>
                  <a:pt x="1303812" y="2546747"/>
                  <a:pt x="1364219" y="2553891"/>
                </a:cubicBezTo>
                <a:cubicBezTo>
                  <a:pt x="1413966" y="2561035"/>
                  <a:pt x="1474374" y="2593181"/>
                  <a:pt x="1509907" y="2528888"/>
                </a:cubicBezTo>
                <a:cubicBezTo>
                  <a:pt x="1527674" y="2489596"/>
                  <a:pt x="1442393" y="2418159"/>
                  <a:pt x="1367772" y="2411015"/>
                </a:cubicBezTo>
                <a:cubicBezTo>
                  <a:pt x="1300259" y="2403872"/>
                  <a:pt x="1232745" y="2396728"/>
                  <a:pt x="1168784" y="2411015"/>
                </a:cubicBezTo>
                <a:cubicBezTo>
                  <a:pt x="1090610" y="2428875"/>
                  <a:pt x="1047969" y="2400300"/>
                  <a:pt x="1026649" y="2336007"/>
                </a:cubicBezTo>
                <a:cubicBezTo>
                  <a:pt x="1001776" y="2268141"/>
                  <a:pt x="955582" y="2232422"/>
                  <a:pt x="891621" y="2200275"/>
                </a:cubicBezTo>
                <a:cubicBezTo>
                  <a:pt x="735273" y="2121694"/>
                  <a:pt x="586032" y="2028825"/>
                  <a:pt x="415470" y="1982390"/>
                </a:cubicBezTo>
                <a:cubicBezTo>
                  <a:pt x="383490" y="1975246"/>
                  <a:pt x="344403" y="1960959"/>
                  <a:pt x="330189" y="1900238"/>
                </a:cubicBezTo>
                <a:cubicBezTo>
                  <a:pt x="792127" y="1993106"/>
                  <a:pt x="1211424" y="2232422"/>
                  <a:pt x="1687576" y="2218135"/>
                </a:cubicBezTo>
                <a:cubicBezTo>
                  <a:pt x="1559654" y="2143125"/>
                  <a:pt x="1406860" y="2139554"/>
                  <a:pt x="1268278" y="2085975"/>
                </a:cubicBezTo>
                <a:cubicBezTo>
                  <a:pt x="1367772" y="2046685"/>
                  <a:pt x="1460160" y="2089547"/>
                  <a:pt x="1552548" y="2110978"/>
                </a:cubicBezTo>
                <a:cubicBezTo>
                  <a:pt x="1630722" y="2128837"/>
                  <a:pt x="1701789" y="2132410"/>
                  <a:pt x="1708896" y="2021681"/>
                </a:cubicBezTo>
                <a:cubicBezTo>
                  <a:pt x="1708896" y="2010965"/>
                  <a:pt x="1708896" y="2003821"/>
                  <a:pt x="1708896" y="1993106"/>
                </a:cubicBezTo>
                <a:cubicBezTo>
                  <a:pt x="1680469" y="1946672"/>
                  <a:pt x="1641382" y="1925240"/>
                  <a:pt x="1591635" y="1910953"/>
                </a:cubicBezTo>
                <a:cubicBezTo>
                  <a:pt x="1563208" y="1903809"/>
                  <a:pt x="1524121" y="1889522"/>
                  <a:pt x="1524121" y="1857375"/>
                </a:cubicBezTo>
                <a:cubicBezTo>
                  <a:pt x="1527674" y="1735931"/>
                  <a:pt x="1431733" y="1700212"/>
                  <a:pt x="1339346" y="1664493"/>
                </a:cubicBezTo>
                <a:cubicBezTo>
                  <a:pt x="1389093" y="1603772"/>
                  <a:pt x="1431733" y="1646635"/>
                  <a:pt x="1470820" y="1643062"/>
                </a:cubicBezTo>
                <a:cubicBezTo>
                  <a:pt x="1495694" y="1639491"/>
                  <a:pt x="1520567" y="1635919"/>
                  <a:pt x="1520567" y="1603772"/>
                </a:cubicBezTo>
                <a:cubicBezTo>
                  <a:pt x="1520567" y="1578769"/>
                  <a:pt x="1509907" y="1546622"/>
                  <a:pt x="1485034" y="1546622"/>
                </a:cubicBezTo>
                <a:cubicBezTo>
                  <a:pt x="1328686" y="1543050"/>
                  <a:pt x="1239851" y="1371600"/>
                  <a:pt x="1076396" y="1371600"/>
                </a:cubicBezTo>
                <a:cubicBezTo>
                  <a:pt x="976902" y="1371600"/>
                  <a:pt x="1126144" y="1275159"/>
                  <a:pt x="1044416" y="1235869"/>
                </a:cubicBezTo>
                <a:cubicBezTo>
                  <a:pt x="1026649" y="1225153"/>
                  <a:pt x="1094163" y="1210866"/>
                  <a:pt x="1122590" y="1214437"/>
                </a:cubicBezTo>
                <a:cubicBezTo>
                  <a:pt x="1151017" y="1218009"/>
                  <a:pt x="1175891" y="1243013"/>
                  <a:pt x="1211424" y="1225153"/>
                </a:cubicBezTo>
                <a:cubicBezTo>
                  <a:pt x="1229191" y="1160860"/>
                  <a:pt x="1182997" y="1135856"/>
                  <a:pt x="1140357" y="1117997"/>
                </a:cubicBezTo>
                <a:cubicBezTo>
                  <a:pt x="1047969" y="1075135"/>
                  <a:pt x="955582" y="1025129"/>
                  <a:pt x="852534" y="1010841"/>
                </a:cubicBezTo>
                <a:cubicBezTo>
                  <a:pt x="817001" y="1007269"/>
                  <a:pt x="795680" y="989409"/>
                  <a:pt x="799234" y="953690"/>
                </a:cubicBezTo>
                <a:cubicBezTo>
                  <a:pt x="806340" y="907256"/>
                  <a:pt x="841874" y="921544"/>
                  <a:pt x="870301" y="925115"/>
                </a:cubicBezTo>
                <a:cubicBezTo>
                  <a:pt x="888068" y="928688"/>
                  <a:pt x="905835" y="939403"/>
                  <a:pt x="923602" y="914400"/>
                </a:cubicBezTo>
                <a:cubicBezTo>
                  <a:pt x="611794" y="724198"/>
                  <a:pt x="409919" y="684684"/>
                  <a:pt x="132090" y="589415"/>
                </a:cubicBezTo>
                <a:lnTo>
                  <a:pt x="31922" y="552917"/>
                </a:lnTo>
                <a:lnTo>
                  <a:pt x="26859" y="541335"/>
                </a:lnTo>
                <a:cubicBezTo>
                  <a:pt x="20137" y="534929"/>
                  <a:pt x="8953" y="532232"/>
                  <a:pt x="0" y="527681"/>
                </a:cubicBezTo>
                <a:cubicBezTo>
                  <a:pt x="5969" y="516305"/>
                  <a:pt x="7617" y="502963"/>
                  <a:pt x="17905" y="493550"/>
                </a:cubicBezTo>
                <a:cubicBezTo>
                  <a:pt x="23947" y="488022"/>
                  <a:pt x="35344" y="487159"/>
                  <a:pt x="44763" y="486724"/>
                </a:cubicBezTo>
                <a:lnTo>
                  <a:pt x="165722" y="483650"/>
                </a:lnTo>
                <a:lnTo>
                  <a:pt x="193385" y="498723"/>
                </a:lnTo>
                <a:cubicBezTo>
                  <a:pt x="210263" y="511671"/>
                  <a:pt x="227142" y="525066"/>
                  <a:pt x="315976" y="535781"/>
                </a:cubicBezTo>
                <a:cubicBezTo>
                  <a:pt x="401257" y="546497"/>
                  <a:pt x="479431" y="582216"/>
                  <a:pt x="575372" y="525066"/>
                </a:cubicBezTo>
                <a:cubicBezTo>
                  <a:pt x="639332" y="485775"/>
                  <a:pt x="742380" y="528637"/>
                  <a:pt x="820554" y="560785"/>
                </a:cubicBezTo>
                <a:cubicBezTo>
                  <a:pt x="884515" y="589360"/>
                  <a:pt x="948475" y="596503"/>
                  <a:pt x="1033756" y="560785"/>
                </a:cubicBezTo>
                <a:cubicBezTo>
                  <a:pt x="955582" y="539354"/>
                  <a:pt x="895175" y="521494"/>
                  <a:pt x="834767" y="507206"/>
                </a:cubicBezTo>
                <a:cubicBezTo>
                  <a:pt x="785020" y="496491"/>
                  <a:pt x="756593" y="471488"/>
                  <a:pt x="760147" y="417909"/>
                </a:cubicBezTo>
                <a:cubicBezTo>
                  <a:pt x="760147" y="389334"/>
                  <a:pt x="749487" y="350044"/>
                  <a:pt x="785020" y="335757"/>
                </a:cubicBezTo>
                <a:cubicBezTo>
                  <a:pt x="813447" y="321469"/>
                  <a:pt x="852534" y="335757"/>
                  <a:pt x="866748" y="360759"/>
                </a:cubicBezTo>
                <a:cubicBezTo>
                  <a:pt x="884515" y="407194"/>
                  <a:pt x="902281" y="450056"/>
                  <a:pt x="962689" y="453629"/>
                </a:cubicBezTo>
                <a:cubicBezTo>
                  <a:pt x="1044416" y="460771"/>
                  <a:pt x="998222" y="432197"/>
                  <a:pt x="984009" y="396478"/>
                </a:cubicBezTo>
                <a:cubicBezTo>
                  <a:pt x="969795" y="357188"/>
                  <a:pt x="1012436" y="346472"/>
                  <a:pt x="1040863" y="353615"/>
                </a:cubicBezTo>
                <a:cubicBezTo>
                  <a:pt x="1147464" y="385763"/>
                  <a:pt x="1257618" y="328613"/>
                  <a:pt x="1367772" y="375047"/>
                </a:cubicBezTo>
                <a:cubicBezTo>
                  <a:pt x="1339346" y="260747"/>
                  <a:pt x="1278938" y="210741"/>
                  <a:pt x="1151017" y="192881"/>
                </a:cubicBezTo>
                <a:cubicBezTo>
                  <a:pt x="1104823" y="189310"/>
                  <a:pt x="1055076" y="196453"/>
                  <a:pt x="1012436" y="164306"/>
                </a:cubicBezTo>
                <a:cubicBezTo>
                  <a:pt x="987562" y="146447"/>
                  <a:pt x="962689" y="125016"/>
                  <a:pt x="980456" y="89297"/>
                </a:cubicBezTo>
                <a:cubicBezTo>
                  <a:pt x="991116" y="64294"/>
                  <a:pt x="1019542" y="64294"/>
                  <a:pt x="1044416" y="71437"/>
                </a:cubicBezTo>
                <a:cubicBezTo>
                  <a:pt x="1147464" y="110728"/>
                  <a:pt x="1257618" y="121444"/>
                  <a:pt x="1364219" y="135731"/>
                </a:cubicBezTo>
                <a:cubicBezTo>
                  <a:pt x="1381986" y="139303"/>
                  <a:pt x="1399753" y="146447"/>
                  <a:pt x="1417520" y="110728"/>
                </a:cubicBezTo>
                <a:cubicBezTo>
                  <a:pt x="1293152" y="78581"/>
                  <a:pt x="1172337" y="35719"/>
                  <a:pt x="1047969" y="0"/>
                </a:cubicBezTo>
                <a:close/>
              </a:path>
            </a:pathLst>
          </a:custGeom>
        </p:spPr>
      </p:pic>
      <p:pic>
        <p:nvPicPr>
          <p:cNvPr id="5" name="Imagen 4" descr="Diagrama, Esquemático&#10;&#10;Descripción generada automáticamente">
            <a:extLst>
              <a:ext uri="{FF2B5EF4-FFF2-40B4-BE49-F238E27FC236}">
                <a16:creationId xmlns:a16="http://schemas.microsoft.com/office/drawing/2014/main" id="{13246787-59C7-41B6-9F51-71F8173432FC}"/>
              </a:ext>
            </a:extLst>
          </p:cNvPr>
          <p:cNvPicPr>
            <a:picLocks noChangeAspect="1"/>
          </p:cNvPicPr>
          <p:nvPr/>
        </p:nvPicPr>
        <p:blipFill rotWithShape="1">
          <a:blip r:embed="rId4"/>
          <a:srcRect l="489" r="31024" b="-1"/>
          <a:stretch/>
        </p:blipFill>
        <p:spPr>
          <a:xfrm>
            <a:off x="3908167" y="4192060"/>
            <a:ext cx="6178335" cy="3367619"/>
          </a:xfrm>
          <a:custGeom>
            <a:avLst/>
            <a:gdLst/>
            <a:ahLst/>
            <a:cxnLst/>
            <a:rect l="l" t="t" r="r" b="b"/>
            <a:pathLst>
              <a:path w="7472381" h="3055043">
                <a:moveTo>
                  <a:pt x="638975" y="0"/>
                </a:moveTo>
                <a:lnTo>
                  <a:pt x="7472381" y="0"/>
                </a:lnTo>
                <a:lnTo>
                  <a:pt x="7472381" y="2579984"/>
                </a:lnTo>
                <a:lnTo>
                  <a:pt x="7472381" y="3055043"/>
                </a:lnTo>
                <a:lnTo>
                  <a:pt x="6992676"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pic>
    </p:spTree>
    <p:extLst>
      <p:ext uri="{BB962C8B-B14F-4D97-AF65-F5344CB8AC3E}">
        <p14:creationId xmlns:p14="http://schemas.microsoft.com/office/powerpoint/2010/main" val="3961467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0" y="0"/>
            <a:ext cx="1007810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Un circuito electrónico&#10;&#10;Descripción generada automáticamente con confianza media">
            <a:extLst>
              <a:ext uri="{FF2B5EF4-FFF2-40B4-BE49-F238E27FC236}">
                <a16:creationId xmlns:a16="http://schemas.microsoft.com/office/drawing/2014/main" id="{02CBEBFC-1603-4657-9289-42F32704FE53}"/>
              </a:ext>
            </a:extLst>
          </p:cNvPr>
          <p:cNvPicPr>
            <a:picLocks noChangeAspect="1"/>
          </p:cNvPicPr>
          <p:nvPr/>
        </p:nvPicPr>
        <p:blipFill>
          <a:blip r:embed="rId3"/>
          <a:srcRect t="1016" b="17020"/>
          <a:stretch/>
        </p:blipFill>
        <p:spPr>
          <a:xfrm rot="5400000">
            <a:off x="2303244" y="-217703"/>
            <a:ext cx="7559675" cy="7995082"/>
          </a:xfrm>
          <a:prstGeom prst="rect">
            <a:avLst/>
          </a:prstGeom>
        </p:spPr>
      </p:pic>
      <p:sp>
        <p:nvSpPr>
          <p:cNvPr id="19" name="Rectangle 18">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10437" cy="7559675"/>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p:cNvSpPr>
            <a:spLocks noGrp="1"/>
          </p:cNvSpPr>
          <p:nvPr>
            <p:ph type="title"/>
          </p:nvPr>
        </p:nvSpPr>
        <p:spPr>
          <a:xfrm>
            <a:off x="693042" y="402482"/>
            <a:ext cx="3160274" cy="2094301"/>
          </a:xfrm>
        </p:spPr>
        <p:txBody>
          <a:bodyPr vert="horz" lIns="91440" tIns="45720" rIns="91440" bIns="45720" rtlCol="0" anchor="ctr">
            <a:normAutofit/>
          </a:bodyPr>
          <a:lstStyle/>
          <a:p>
            <a:pPr>
              <a:lnSpc>
                <a:spcPct val="90000"/>
              </a:lnSpc>
              <a:spcBef>
                <a:spcPct val="0"/>
              </a:spcBef>
            </a:pPr>
            <a:r>
              <a:rPr lang="en-US" sz="2900" b="1" kern="1200">
                <a:solidFill>
                  <a:schemeClr val="tx1"/>
                </a:solidFill>
                <a:latin typeface="+mj-lt"/>
                <a:ea typeface="+mj-ea"/>
                <a:cs typeface="+mj-cs"/>
              </a:rPr>
              <a:t>General Problem Solver (Newell, Shaw, &amp; Simon, 1959)</a:t>
            </a:r>
          </a:p>
        </p:txBody>
      </p:sp>
      <p:sp>
        <p:nvSpPr>
          <p:cNvPr id="4" name="CuadroTexto 3"/>
          <p:cNvSpPr txBox="1"/>
          <p:nvPr/>
        </p:nvSpPr>
        <p:spPr>
          <a:xfrm>
            <a:off x="693042" y="2683255"/>
            <a:ext cx="3160274" cy="412570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800" kern="1200" dirty="0" err="1">
                <a:solidFill>
                  <a:schemeClr val="tx1"/>
                </a:solidFill>
                <a:latin typeface="+mn-lt"/>
                <a:ea typeface="+mn-ea"/>
                <a:cs typeface="+mn-cs"/>
              </a:rPr>
              <a:t>Problemas</a:t>
            </a:r>
            <a:r>
              <a:rPr lang="en-US" sz="2800" kern="1200" dirty="0">
                <a:solidFill>
                  <a:schemeClr val="tx1"/>
                </a:solidFill>
                <a:latin typeface="+mn-lt"/>
                <a:ea typeface="+mn-ea"/>
                <a:cs typeface="+mn-cs"/>
              </a:rPr>
              <a:t> que </a:t>
            </a:r>
            <a:r>
              <a:rPr lang="en-US" sz="2800" kern="1200" dirty="0" err="1">
                <a:solidFill>
                  <a:schemeClr val="tx1"/>
                </a:solidFill>
                <a:latin typeface="+mn-lt"/>
                <a:ea typeface="+mn-ea"/>
                <a:cs typeface="+mn-cs"/>
              </a:rPr>
              <a:t>tienen</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estas</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características</a:t>
            </a:r>
            <a:r>
              <a:rPr lang="en-US" sz="2800" kern="1200" dirty="0">
                <a:solidFill>
                  <a:schemeClr val="tx1"/>
                </a:solidFill>
                <a:latin typeface="+mn-lt"/>
                <a:ea typeface="+mn-ea"/>
                <a:cs typeface="+mn-cs"/>
              </a:rPr>
              <a:t>:</a:t>
            </a:r>
          </a:p>
          <a:p>
            <a:pPr indent="-228600">
              <a:lnSpc>
                <a:spcPct val="90000"/>
              </a:lnSpc>
              <a:spcAft>
                <a:spcPts val="600"/>
              </a:spcAft>
              <a:buFont typeface="Arial" panose="020B0604020202020204" pitchFamily="34" charset="0"/>
              <a:buChar char="•"/>
            </a:pPr>
            <a:endParaRPr lang="en-US" sz="28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2800" kern="1200" dirty="0" err="1">
                <a:solidFill>
                  <a:schemeClr val="tx1"/>
                </a:solidFill>
                <a:latin typeface="+mn-lt"/>
                <a:ea typeface="+mn-ea"/>
                <a:cs typeface="+mn-cs"/>
              </a:rPr>
              <a:t>Disposición</a:t>
            </a:r>
            <a:r>
              <a:rPr lang="en-US" sz="2800" kern="1200" dirty="0">
                <a:solidFill>
                  <a:schemeClr val="tx1"/>
                </a:solidFill>
                <a:latin typeface="+mn-lt"/>
                <a:ea typeface="+mn-ea"/>
                <a:cs typeface="+mn-cs"/>
              </a:rPr>
              <a:t> de </a:t>
            </a:r>
            <a:r>
              <a:rPr lang="en-US" sz="2800" kern="1200" dirty="0" err="1">
                <a:solidFill>
                  <a:schemeClr val="tx1"/>
                </a:solidFill>
                <a:latin typeface="+mn-lt"/>
                <a:ea typeface="+mn-ea"/>
                <a:cs typeface="+mn-cs"/>
              </a:rPr>
              <a:t>circuitos</a:t>
            </a:r>
            <a:r>
              <a:rPr lang="en-US" sz="2800" kern="1200" dirty="0">
                <a:solidFill>
                  <a:schemeClr val="tx1"/>
                </a:solidFill>
                <a:latin typeface="+mn-lt"/>
                <a:ea typeface="+mn-ea"/>
                <a:cs typeface="+mn-cs"/>
              </a:rPr>
              <a:t> </a:t>
            </a:r>
            <a:r>
              <a:rPr lang="en-US" sz="2800" kern="1200" dirty="0" err="1">
                <a:solidFill>
                  <a:schemeClr val="tx1"/>
                </a:solidFill>
                <a:latin typeface="+mn-lt"/>
                <a:ea typeface="+mn-ea"/>
                <a:cs typeface="+mn-cs"/>
              </a:rPr>
              <a:t>electrónicos</a:t>
            </a:r>
            <a:endParaRPr lang="en-US" sz="28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sz="24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sz="1900" kern="1200" dirty="0">
              <a:solidFill>
                <a:schemeClr val="tx1"/>
              </a:solidFill>
              <a:latin typeface="+mn-lt"/>
              <a:ea typeface="+mn-ea"/>
              <a:cs typeface="+mn-cs"/>
            </a:endParaRPr>
          </a:p>
        </p:txBody>
      </p:sp>
    </p:spTree>
    <p:extLst>
      <p:ext uri="{BB962C8B-B14F-4D97-AF65-F5344CB8AC3E}">
        <p14:creationId xmlns:p14="http://schemas.microsoft.com/office/powerpoint/2010/main" val="1943715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Primera movida de un juego de ajedrez">
            <a:extLst>
              <a:ext uri="{FF2B5EF4-FFF2-40B4-BE49-F238E27FC236}">
                <a16:creationId xmlns:a16="http://schemas.microsoft.com/office/drawing/2014/main" id="{F53AB749-A11E-52A5-02B6-271CD7AFAA3A}"/>
              </a:ext>
            </a:extLst>
          </p:cNvPr>
          <p:cNvPicPr>
            <a:picLocks noChangeAspect="1"/>
          </p:cNvPicPr>
          <p:nvPr/>
        </p:nvPicPr>
        <p:blipFill>
          <a:blip r:embed="rId3"/>
          <a:srcRect l="41753" r="18897" b="1"/>
          <a:stretch/>
        </p:blipFill>
        <p:spPr>
          <a:xfrm>
            <a:off x="20" y="-2"/>
            <a:ext cx="4473254" cy="7559677"/>
          </a:xfrm>
          <a:prstGeom prst="rect">
            <a:avLst/>
          </a:prstGeom>
        </p:spPr>
      </p:pic>
      <p:sp useBgFill="1">
        <p:nvSpPr>
          <p:cNvPr id="27" name="Rectangle 26">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274" y="-1"/>
            <a:ext cx="5607350" cy="2519891"/>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056284" y="447192"/>
            <a:ext cx="4518561" cy="1718841"/>
          </a:xfrm>
        </p:spPr>
        <p:txBody>
          <a:bodyPr vert="horz" lIns="91440" tIns="45720" rIns="91440" bIns="45720" rtlCol="0" anchor="ctr">
            <a:normAutofit/>
          </a:bodyPr>
          <a:lstStyle/>
          <a:p>
            <a:pPr>
              <a:lnSpc>
                <a:spcPct val="90000"/>
              </a:lnSpc>
              <a:spcBef>
                <a:spcPct val="0"/>
              </a:spcBef>
            </a:pPr>
            <a:r>
              <a:rPr lang="en-US" sz="3200" b="1" kern="1200">
                <a:solidFill>
                  <a:schemeClr val="tx1"/>
                </a:solidFill>
                <a:latin typeface="+mj-lt"/>
                <a:ea typeface="+mj-ea"/>
                <a:cs typeface="+mj-cs"/>
              </a:rPr>
              <a:t>General Problem Solver (Newell, Shaw, &amp; Simon, 1959)</a:t>
            </a:r>
          </a:p>
        </p:txBody>
      </p:sp>
      <p:sp>
        <p:nvSpPr>
          <p:cNvPr id="4" name="CuadroTexto 3"/>
          <p:cNvSpPr txBox="1"/>
          <p:nvPr/>
        </p:nvSpPr>
        <p:spPr>
          <a:xfrm>
            <a:off x="5146253" y="2556010"/>
            <a:ext cx="4338621" cy="4243483"/>
          </a:xfrm>
          <a:prstGeom prst="rect">
            <a:avLst/>
          </a:prstGeom>
        </p:spPr>
        <p:txBody>
          <a:bodyPr vert="horz" lIns="91440" tIns="45720" rIns="91440" bIns="45720" rtlCol="0" anchor="ctr">
            <a:noAutofit/>
          </a:bodyPr>
          <a:lstStyle/>
          <a:p>
            <a:pPr indent="-228600">
              <a:lnSpc>
                <a:spcPct val="90000"/>
              </a:lnSpc>
              <a:spcAft>
                <a:spcPts val="600"/>
              </a:spcAft>
              <a:buFont typeface="Arial" panose="020B0604020202020204" pitchFamily="34" charset="0"/>
              <a:buChar char="•"/>
            </a:pPr>
            <a:r>
              <a:rPr lang="en-US" sz="2000" kern="1200" dirty="0" err="1">
                <a:solidFill>
                  <a:schemeClr val="tx1"/>
                </a:solidFill>
                <a:latin typeface="+mn-lt"/>
                <a:ea typeface="+mn-ea"/>
                <a:cs typeface="+mn-cs"/>
              </a:rPr>
              <a:t>Otros</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problemas</a:t>
            </a:r>
            <a:r>
              <a:rPr lang="en-US" sz="2000" kern="1200" dirty="0">
                <a:solidFill>
                  <a:schemeClr val="tx1"/>
                </a:solidFill>
                <a:latin typeface="+mn-lt"/>
                <a:ea typeface="+mn-ea"/>
                <a:cs typeface="+mn-cs"/>
              </a:rPr>
              <a:t> que </a:t>
            </a:r>
            <a:r>
              <a:rPr lang="en-US" sz="2000" kern="1200" dirty="0" err="1">
                <a:solidFill>
                  <a:schemeClr val="tx1"/>
                </a:solidFill>
                <a:latin typeface="+mn-lt"/>
                <a:ea typeface="+mn-ea"/>
                <a:cs typeface="+mn-cs"/>
              </a:rPr>
              <a:t>tienen</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estas</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características</a:t>
            </a:r>
            <a:r>
              <a:rPr lang="en-US" sz="2000" kern="1200" dirty="0">
                <a:solidFill>
                  <a:schemeClr val="tx1"/>
                </a:solidFill>
                <a:latin typeface="+mn-lt"/>
                <a:ea typeface="+mn-ea"/>
                <a:cs typeface="+mn-cs"/>
              </a:rPr>
              <a:t>:</a:t>
            </a:r>
          </a:p>
          <a:p>
            <a:pPr indent="-228600">
              <a:lnSpc>
                <a:spcPct val="90000"/>
              </a:lnSpc>
              <a:spcAft>
                <a:spcPts val="600"/>
              </a:spcAft>
              <a:buFont typeface="Arial" panose="020B0604020202020204" pitchFamily="34" charset="0"/>
              <a:buChar char="•"/>
            </a:pPr>
            <a:endParaRPr lang="en-US" sz="20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sz="20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2000" kern="1200" dirty="0" err="1">
                <a:solidFill>
                  <a:schemeClr val="tx1"/>
                </a:solidFill>
                <a:latin typeface="+mn-lt"/>
                <a:ea typeface="+mn-ea"/>
                <a:cs typeface="+mn-cs"/>
              </a:rPr>
              <a:t>Asignación</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tareas</a:t>
            </a:r>
            <a:r>
              <a:rPr lang="en-US" sz="2000" kern="1200" dirty="0">
                <a:solidFill>
                  <a:schemeClr val="tx1"/>
                </a:solidFill>
                <a:latin typeface="+mn-lt"/>
                <a:ea typeface="+mn-ea"/>
                <a:cs typeface="+mn-cs"/>
              </a:rPr>
              <a:t> (job-shop scheduling)</a:t>
            </a:r>
          </a:p>
          <a:p>
            <a:pPr indent="-228600">
              <a:lnSpc>
                <a:spcPct val="90000"/>
              </a:lnSpc>
              <a:spcAft>
                <a:spcPts val="600"/>
              </a:spcAft>
              <a:buFont typeface="Arial" panose="020B0604020202020204" pitchFamily="34" charset="0"/>
              <a:buChar char="•"/>
            </a:pPr>
            <a:endParaRPr lang="en-US" sz="20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2000" kern="1200" dirty="0" err="1">
                <a:solidFill>
                  <a:schemeClr val="tx1"/>
                </a:solidFill>
                <a:latin typeface="+mn-lt"/>
                <a:ea typeface="+mn-ea"/>
                <a:cs typeface="+mn-cs"/>
              </a:rPr>
              <a:t>Juegos</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ajedrez</a:t>
            </a:r>
            <a:r>
              <a:rPr lang="en-US" sz="2000" kern="1200" dirty="0">
                <a:solidFill>
                  <a:schemeClr val="tx1"/>
                </a:solidFill>
                <a:latin typeface="+mn-lt"/>
                <a:ea typeface="+mn-ea"/>
                <a:cs typeface="+mn-cs"/>
              </a:rPr>
              <a:t>, Go)</a:t>
            </a:r>
          </a:p>
          <a:p>
            <a:pPr indent="-228600">
              <a:lnSpc>
                <a:spcPct val="90000"/>
              </a:lnSpc>
              <a:spcAft>
                <a:spcPts val="600"/>
              </a:spcAft>
              <a:buFont typeface="Arial" panose="020B0604020202020204" pitchFamily="34" charset="0"/>
              <a:buChar char="•"/>
            </a:pPr>
            <a:endParaRPr lang="en-US" sz="20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2000" kern="1200" dirty="0" err="1">
                <a:solidFill>
                  <a:schemeClr val="tx1"/>
                </a:solidFill>
                <a:latin typeface="+mn-lt"/>
                <a:ea typeface="+mn-ea"/>
                <a:cs typeface="+mn-cs"/>
              </a:rPr>
              <a:t>Prueba</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teoremas</a:t>
            </a:r>
            <a:endParaRPr lang="en-US" sz="20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endParaRPr lang="en-US" sz="2000" kern="120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2000" kern="1200" dirty="0" err="1">
                <a:solidFill>
                  <a:schemeClr val="tx1"/>
                </a:solidFill>
                <a:latin typeface="+mn-lt"/>
                <a:ea typeface="+mn-ea"/>
                <a:cs typeface="+mn-cs"/>
              </a:rPr>
              <a:t>Diseño</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drogas</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combinación</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moléculas</a:t>
            </a:r>
            <a:r>
              <a:rPr lang="en-US" sz="2000" kern="1200" dirty="0">
                <a:solidFill>
                  <a:schemeClr val="tx1"/>
                </a:solidFill>
                <a:latin typeface="+mn-lt"/>
                <a:ea typeface="+mn-ea"/>
                <a:cs typeface="+mn-cs"/>
              </a:rPr>
              <a:t>)</a:t>
            </a:r>
          </a:p>
        </p:txBody>
      </p:sp>
    </p:spTree>
    <p:extLst>
      <p:ext uri="{BB962C8B-B14F-4D97-AF65-F5344CB8AC3E}">
        <p14:creationId xmlns:p14="http://schemas.microsoft.com/office/powerpoint/2010/main" val="3424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949124" y="0"/>
            <a:ext cx="4401769" cy="1811070"/>
          </a:xfrm>
        </p:spPr>
        <p:txBody>
          <a:bodyPr vert="horz" lIns="91440" tIns="45720" rIns="91440" bIns="45720" rtlCol="0" anchor="b">
            <a:normAutofit/>
          </a:bodyPr>
          <a:lstStyle/>
          <a:p>
            <a:pPr>
              <a:lnSpc>
                <a:spcPct val="90000"/>
              </a:lnSpc>
              <a:spcBef>
                <a:spcPct val="0"/>
              </a:spcBef>
            </a:pPr>
            <a:r>
              <a:rPr lang="en-US" sz="3200" b="1" kern="1200" dirty="0">
                <a:solidFill>
                  <a:schemeClr val="tx1"/>
                </a:solidFill>
                <a:latin typeface="+mj-lt"/>
                <a:ea typeface="+mj-ea"/>
                <a:cs typeface="+mj-cs"/>
              </a:rPr>
              <a:t>General Problem Solver (Newell, Shaw, &amp; Simon, 1959)</a:t>
            </a:r>
          </a:p>
        </p:txBody>
      </p:sp>
      <p:sp>
        <p:nvSpPr>
          <p:cNvPr id="4" name="CuadroTexto 3"/>
          <p:cNvSpPr txBox="1"/>
          <p:nvPr/>
        </p:nvSpPr>
        <p:spPr>
          <a:xfrm>
            <a:off x="782861" y="1968351"/>
            <a:ext cx="5398865" cy="5044212"/>
          </a:xfrm>
          <a:prstGeom prst="rect">
            <a:avLst/>
          </a:prstGeom>
        </p:spPr>
        <p:txBody>
          <a:bodyPr vert="horz" lIns="91440" tIns="45720" rIns="91440" bIns="45720" rtlCol="0" anchor="t">
            <a:noAutofit/>
          </a:bodyPr>
          <a:lstStyle/>
          <a:p>
            <a:pPr indent="-228600">
              <a:buFont typeface="Arial" panose="020B0604020202020204" pitchFamily="34" charset="0"/>
              <a:buChar char="•"/>
            </a:pPr>
            <a:r>
              <a:rPr lang="en-US" sz="2400" kern="1200" dirty="0" err="1">
                <a:solidFill>
                  <a:schemeClr val="tx1"/>
                </a:solidFill>
                <a:latin typeface="+mn-lt"/>
                <a:ea typeface="+mn-ea"/>
                <a:cs typeface="+mn-cs"/>
              </a:rPr>
              <a:t>Número</a:t>
            </a:r>
            <a:r>
              <a:rPr lang="en-US" sz="2400" kern="1200" dirty="0">
                <a:solidFill>
                  <a:schemeClr val="tx1"/>
                </a:solidFill>
                <a:latin typeface="+mn-lt"/>
                <a:ea typeface="+mn-ea"/>
                <a:cs typeface="+mn-cs"/>
              </a:rPr>
              <a:t> de </a:t>
            </a:r>
            <a:r>
              <a:rPr lang="en-US" sz="2400" kern="1200" dirty="0" err="1">
                <a:solidFill>
                  <a:schemeClr val="tx1"/>
                </a:solidFill>
                <a:latin typeface="+mn-lt"/>
                <a:ea typeface="+mn-ea"/>
                <a:cs typeface="+mn-cs"/>
              </a:rPr>
              <a:t>estados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aproximados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explosión</a:t>
            </a:r>
            <a:r>
              <a:rPr lang="en-US" sz="2400" kern="1200" dirty="0">
                <a:solidFill>
                  <a:schemeClr val="tx1"/>
                </a:solidFill>
                <a:latin typeface="+mn-lt"/>
                <a:ea typeface="+mn-ea"/>
                <a:cs typeface="+mn-cs"/>
              </a:rPr>
              <a:t> combinatorial)</a:t>
            </a:r>
          </a:p>
          <a:p>
            <a:pPr indent="-228600">
              <a:buFont typeface="Arial" panose="020B0604020202020204" pitchFamily="34" charset="0"/>
              <a:buChar char="•"/>
            </a:pPr>
            <a:r>
              <a:rPr lang="en-US" sz="2400" kern="1200" dirty="0">
                <a:solidFill>
                  <a:schemeClr val="tx1"/>
                </a:solidFill>
                <a:latin typeface="+mn-lt"/>
                <a:ea typeface="+mn-ea"/>
                <a:cs typeface="+mn-cs"/>
              </a:rPr>
              <a:t>Este es un </a:t>
            </a:r>
            <a:r>
              <a:rPr lang="en-US" sz="2400" kern="1200" dirty="0" err="1">
                <a:solidFill>
                  <a:schemeClr val="tx1"/>
                </a:solidFill>
                <a:latin typeface="+mn-lt"/>
                <a:ea typeface="+mn-ea"/>
                <a:cs typeface="+mn-cs"/>
              </a:rPr>
              <a:t>problema</a:t>
            </a:r>
            <a:r>
              <a:rPr lang="en-US" sz="2400" kern="1200" dirty="0">
                <a:solidFill>
                  <a:schemeClr val="tx1"/>
                </a:solidFill>
                <a:latin typeface="+mn-lt"/>
                <a:ea typeface="+mn-ea"/>
                <a:cs typeface="+mn-cs"/>
              </a:rPr>
              <a:t> general de </a:t>
            </a:r>
            <a:r>
              <a:rPr lang="en-US" sz="2400" kern="1200" dirty="0" err="1">
                <a:solidFill>
                  <a:schemeClr val="tx1"/>
                </a:solidFill>
                <a:latin typeface="+mn-lt"/>
                <a:ea typeface="+mn-ea"/>
                <a:cs typeface="+mn-cs"/>
              </a:rPr>
              <a:t>problemas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combinatorios</a:t>
            </a:r>
            <a:r>
              <a:rPr lang="en-US" sz="2400" kern="1200" dirty="0">
                <a:solidFill>
                  <a:schemeClr val="tx1"/>
                </a:solidFill>
                <a:latin typeface="+mn-lt"/>
                <a:ea typeface="+mn-ea"/>
                <a:cs typeface="+mn-cs"/>
              </a:rPr>
              <a:t>.</a:t>
            </a:r>
            <a:endParaRPr lang="en-US" sz="2400" kern="1200" dirty="0">
              <a:solidFill>
                <a:schemeClr val="tx1"/>
              </a:solidFill>
              <a:latin typeface="+mn-lt"/>
              <a:ea typeface="+mn-ea"/>
            </a:endParaRPr>
          </a:p>
          <a:p>
            <a:pPr indent="-228600">
              <a:buFont typeface="Arial" panose="020B0604020202020204" pitchFamily="34" charset="0"/>
              <a:buChar char="•"/>
            </a:pPr>
            <a:endParaRPr lang="en-US" sz="2400" kern="1200" dirty="0">
              <a:solidFill>
                <a:schemeClr val="tx1"/>
              </a:solidFill>
              <a:latin typeface="+mn-lt"/>
              <a:ea typeface="+mn-ea"/>
            </a:endParaRPr>
          </a:p>
          <a:p>
            <a:pPr indent="-228600">
              <a:buFont typeface="Arial" panose="020B0604020202020204" pitchFamily="34" charset="0"/>
              <a:buChar char="•"/>
            </a:pPr>
            <a:r>
              <a:rPr lang="en-US" sz="2400" kern="1200" dirty="0">
                <a:solidFill>
                  <a:schemeClr val="tx1"/>
                </a:solidFill>
                <a:latin typeface="+mn-lt"/>
                <a:ea typeface="+mn-ea"/>
                <a:cs typeface="+mn-cs"/>
              </a:rPr>
              <a:t>Gato: 3</a:t>
            </a:r>
            <a:r>
              <a:rPr lang="en-US" sz="2400" kern="1200" baseline="30000" dirty="0">
                <a:solidFill>
                  <a:schemeClr val="tx1"/>
                </a:solidFill>
                <a:latin typeface="+mn-lt"/>
                <a:ea typeface="+mn-ea"/>
                <a:cs typeface="+mn-cs"/>
              </a:rPr>
              <a:t>9</a:t>
            </a:r>
            <a:endParaRPr lang="en-US" sz="2400" kern="1200" baseline="30000" dirty="0">
              <a:solidFill>
                <a:schemeClr val="tx1"/>
              </a:solidFill>
              <a:latin typeface="+mn-lt"/>
              <a:ea typeface="+mn-ea"/>
            </a:endParaRPr>
          </a:p>
          <a:p>
            <a:pPr indent="-228600">
              <a:buFont typeface="Arial" panose="020B0604020202020204" pitchFamily="34" charset="0"/>
              <a:buChar char="•"/>
            </a:pPr>
            <a:endParaRPr lang="en-US" sz="2400" kern="1200" dirty="0">
              <a:solidFill>
                <a:schemeClr val="tx1"/>
              </a:solidFill>
              <a:latin typeface="+mn-lt"/>
              <a:ea typeface="+mn-ea"/>
            </a:endParaRPr>
          </a:p>
          <a:p>
            <a:pPr indent="-228600">
              <a:buFont typeface="Arial" panose="020B0604020202020204" pitchFamily="34" charset="0"/>
              <a:buChar char="•"/>
            </a:pPr>
            <a:r>
              <a:rPr lang="en-US" sz="2400" kern="1200" dirty="0" err="1">
                <a:solidFill>
                  <a:schemeClr val="tx1"/>
                </a:solidFill>
                <a:latin typeface="+mn-lt"/>
                <a:ea typeface="+mn-ea"/>
                <a:cs typeface="+mn-cs"/>
              </a:rPr>
              <a:t>Cubo</a:t>
            </a:r>
            <a:r>
              <a:rPr lang="en-US" sz="2400" kern="1200" dirty="0">
                <a:solidFill>
                  <a:schemeClr val="tx1"/>
                </a:solidFill>
                <a:latin typeface="+mn-lt"/>
                <a:ea typeface="+mn-ea"/>
                <a:cs typeface="+mn-cs"/>
              </a:rPr>
              <a:t> de Rubik: 10</a:t>
            </a:r>
            <a:r>
              <a:rPr lang="en-US" sz="2400" kern="1200" baseline="30000" dirty="0">
                <a:solidFill>
                  <a:schemeClr val="tx1"/>
                </a:solidFill>
                <a:latin typeface="+mn-lt"/>
                <a:ea typeface="+mn-ea"/>
                <a:cs typeface="+mn-cs"/>
              </a:rPr>
              <a:t>19</a:t>
            </a:r>
            <a:endParaRPr lang="en-US" sz="2400" kern="1200" baseline="30000" dirty="0">
              <a:solidFill>
                <a:schemeClr val="tx1"/>
              </a:solidFill>
              <a:latin typeface="+mn-lt"/>
              <a:ea typeface="+mn-ea"/>
            </a:endParaRPr>
          </a:p>
          <a:p>
            <a:pPr indent="-228600">
              <a:buFont typeface="Arial" panose="020B0604020202020204" pitchFamily="34" charset="0"/>
              <a:buChar char="•"/>
            </a:pPr>
            <a:endParaRPr lang="en-US" sz="2400" kern="1200" dirty="0">
              <a:solidFill>
                <a:schemeClr val="tx1"/>
              </a:solidFill>
              <a:latin typeface="+mn-lt"/>
              <a:ea typeface="+mn-ea"/>
            </a:endParaRPr>
          </a:p>
          <a:p>
            <a:pPr indent="-228600">
              <a:buFont typeface="Arial" panose="020B0604020202020204" pitchFamily="34" charset="0"/>
              <a:buChar char="•"/>
            </a:pPr>
            <a:r>
              <a:rPr lang="en-US" sz="2400" kern="1200" dirty="0">
                <a:solidFill>
                  <a:schemeClr val="tx1"/>
                </a:solidFill>
                <a:latin typeface="+mn-lt"/>
                <a:ea typeface="+mn-ea"/>
                <a:cs typeface="+mn-cs"/>
              </a:rPr>
              <a:t>Damas: 10</a:t>
            </a:r>
            <a:r>
              <a:rPr lang="en-US" sz="2400" kern="1200" baseline="30000" dirty="0">
                <a:solidFill>
                  <a:schemeClr val="tx1"/>
                </a:solidFill>
                <a:latin typeface="+mn-lt"/>
                <a:ea typeface="+mn-ea"/>
                <a:cs typeface="+mn-cs"/>
              </a:rPr>
              <a:t>40</a:t>
            </a:r>
            <a:endParaRPr lang="en-US" sz="2400" kern="1200" baseline="30000" dirty="0">
              <a:solidFill>
                <a:schemeClr val="tx1"/>
              </a:solidFill>
              <a:latin typeface="+mn-lt"/>
              <a:ea typeface="+mn-ea"/>
            </a:endParaRPr>
          </a:p>
          <a:p>
            <a:pPr indent="-228600">
              <a:buFont typeface="Arial" panose="020B0604020202020204" pitchFamily="34" charset="0"/>
              <a:buChar char="•"/>
            </a:pPr>
            <a:endParaRPr lang="en-US" sz="2400" kern="1200" dirty="0">
              <a:solidFill>
                <a:schemeClr val="tx1"/>
              </a:solidFill>
              <a:latin typeface="+mn-lt"/>
              <a:ea typeface="+mn-ea"/>
            </a:endParaRPr>
          </a:p>
          <a:p>
            <a:pPr indent="-228600">
              <a:buFont typeface="Arial" panose="020B0604020202020204" pitchFamily="34" charset="0"/>
              <a:buChar char="•"/>
            </a:pPr>
            <a:r>
              <a:rPr lang="en-US" sz="2400" kern="1200" dirty="0" err="1">
                <a:solidFill>
                  <a:schemeClr val="tx1"/>
                </a:solidFill>
                <a:latin typeface="+mn-lt"/>
                <a:ea typeface="+mn-ea"/>
                <a:cs typeface="+mn-cs"/>
              </a:rPr>
              <a:t>Ajedrez</a:t>
            </a:r>
            <a:r>
              <a:rPr lang="en-US" sz="2400" kern="1200" dirty="0">
                <a:solidFill>
                  <a:schemeClr val="tx1"/>
                </a:solidFill>
                <a:latin typeface="+mn-lt"/>
                <a:ea typeface="+mn-ea"/>
                <a:cs typeface="+mn-cs"/>
              </a:rPr>
              <a:t>: 10</a:t>
            </a:r>
            <a:r>
              <a:rPr lang="en-US" sz="2400" kern="1200" baseline="30000" dirty="0">
                <a:solidFill>
                  <a:schemeClr val="tx1"/>
                </a:solidFill>
                <a:latin typeface="+mn-lt"/>
                <a:ea typeface="+mn-ea"/>
                <a:cs typeface="+mn-cs"/>
              </a:rPr>
              <a:t>120</a:t>
            </a:r>
            <a:endParaRPr lang="en-US" sz="2400" kern="1200" baseline="30000" dirty="0">
              <a:solidFill>
                <a:schemeClr val="tx1"/>
              </a:solidFill>
              <a:latin typeface="+mn-lt"/>
              <a:ea typeface="+mn-ea"/>
            </a:endParaRPr>
          </a:p>
          <a:p>
            <a:pPr indent="-228600">
              <a:buFont typeface="Arial" panose="020B0604020202020204" pitchFamily="34" charset="0"/>
              <a:buChar char="•"/>
            </a:pPr>
            <a:endParaRPr lang="en-US" sz="2400" kern="1200" dirty="0">
              <a:solidFill>
                <a:schemeClr val="tx1"/>
              </a:solidFill>
              <a:latin typeface="+mn-lt"/>
              <a:ea typeface="+mn-ea"/>
            </a:endParaRPr>
          </a:p>
          <a:p>
            <a:pPr indent="-228600">
              <a:buFont typeface="Arial" panose="020B0604020202020204" pitchFamily="34" charset="0"/>
              <a:buChar char="•"/>
            </a:pPr>
            <a:r>
              <a:rPr lang="en-US" sz="2400" kern="1200" dirty="0">
                <a:solidFill>
                  <a:schemeClr val="tx1"/>
                </a:solidFill>
                <a:latin typeface="+mn-lt"/>
                <a:ea typeface="+mn-ea"/>
                <a:cs typeface="+mn-cs"/>
              </a:rPr>
              <a:t>Go: 2.081681994 * 10</a:t>
            </a:r>
            <a:r>
              <a:rPr lang="en-US" sz="2400" kern="1200" baseline="30000" dirty="0">
                <a:solidFill>
                  <a:schemeClr val="tx1"/>
                </a:solidFill>
                <a:latin typeface="+mn-lt"/>
                <a:ea typeface="+mn-ea"/>
                <a:cs typeface="+mn-cs"/>
              </a:rPr>
              <a:t>170</a:t>
            </a:r>
            <a:endParaRPr lang="en-US" sz="2400" kern="1200" dirty="0">
              <a:solidFill>
                <a:schemeClr val="tx1"/>
              </a:solidFill>
              <a:latin typeface="+mn-lt"/>
              <a:ea typeface="+mn-ea"/>
            </a:endParaRPr>
          </a:p>
          <a:p>
            <a:pPr indent="-228600">
              <a:lnSpc>
                <a:spcPct val="90000"/>
              </a:lnSpc>
              <a:spcAft>
                <a:spcPts val="600"/>
              </a:spcAft>
              <a:buFont typeface="Arial" panose="020B0604020202020204" pitchFamily="34" charset="0"/>
              <a:buChar char="•"/>
            </a:pPr>
            <a:endParaRPr lang="en-US" sz="2400" kern="1200" baseline="30000" dirty="0">
              <a:solidFill>
                <a:schemeClr val="tx1"/>
              </a:solidFill>
              <a:latin typeface="+mn-lt"/>
              <a:ea typeface="+mn-ea"/>
            </a:endParaRPr>
          </a:p>
        </p:txBody>
      </p:sp>
      <p:sp>
        <p:nvSpPr>
          <p:cNvPr id="12" name="Rectangle 11">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16557" y="-5"/>
            <a:ext cx="3383791" cy="7559674"/>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16557" y="-2"/>
            <a:ext cx="3383791" cy="7055221"/>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16557" y="-24"/>
            <a:ext cx="3364068" cy="7055243"/>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716557" y="-11"/>
            <a:ext cx="2986044" cy="7559671"/>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Imagen 4"/>
          <p:cNvPicPr>
            <a:picLocks noChangeAspect="1"/>
          </p:cNvPicPr>
          <p:nvPr/>
        </p:nvPicPr>
        <p:blipFill>
          <a:blip r:embed="rId3"/>
          <a:stretch>
            <a:fillRect/>
          </a:stretch>
        </p:blipFill>
        <p:spPr>
          <a:xfrm>
            <a:off x="5769993" y="3779824"/>
            <a:ext cx="4007420" cy="2568693"/>
          </a:xfrm>
          <a:prstGeom prst="rect">
            <a:avLst/>
          </a:prstGeom>
        </p:spPr>
      </p:pic>
    </p:spTree>
    <p:extLst>
      <p:ext uri="{BB962C8B-B14F-4D97-AF65-F5344CB8AC3E}">
        <p14:creationId xmlns:p14="http://schemas.microsoft.com/office/powerpoint/2010/main" val="1291375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0"/>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0" name="Freeform: Shape 6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1432" y="0"/>
            <a:ext cx="8237760" cy="7559675"/>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2" name="Freeform: Shape 7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417" y="0"/>
            <a:ext cx="8225790" cy="7559675"/>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Shape 63"/>
          <p:cNvSpPr txBox="1"/>
          <p:nvPr/>
        </p:nvSpPr>
        <p:spPr>
          <a:xfrm>
            <a:off x="1260080" y="2204205"/>
            <a:ext cx="7560469" cy="3046829"/>
          </a:xfrm>
          <a:prstGeom prst="rect">
            <a:avLst/>
          </a:prstGeom>
        </p:spPr>
        <p:txBody>
          <a:bodyPr vert="horz" lIns="91440" tIns="45720" rIns="91440" bIns="45720" rtlCol="0" anchor="ctr" anchorCtr="0">
            <a:normAutofit/>
          </a:bodyPr>
          <a:lstStyle/>
          <a:p>
            <a:pPr lvl="0" algn="ctr">
              <a:lnSpc>
                <a:spcPct val="90000"/>
              </a:lnSpc>
              <a:spcBef>
                <a:spcPct val="0"/>
              </a:spcBef>
              <a:spcAft>
                <a:spcPts val="600"/>
              </a:spcAft>
            </a:pPr>
            <a:r>
              <a:rPr lang="en-US" sz="4800" kern="1200">
                <a:solidFill>
                  <a:schemeClr val="tx1"/>
                </a:solidFill>
                <a:latin typeface="+mj-lt"/>
                <a:ea typeface="+mj-ea"/>
                <a:cs typeface="+mj-cs"/>
              </a:rPr>
              <a:t>Una arquitectura cognitiva</a:t>
            </a:r>
          </a:p>
          <a:p>
            <a:pPr algn="ctr">
              <a:lnSpc>
                <a:spcPct val="90000"/>
              </a:lnSpc>
              <a:spcBef>
                <a:spcPct val="0"/>
              </a:spcBef>
              <a:spcAft>
                <a:spcPts val="600"/>
              </a:spcAft>
            </a:pPr>
            <a:r>
              <a:rPr lang="en-US" sz="4800" kern="1200">
                <a:solidFill>
                  <a:schemeClr val="tx1"/>
                </a:solidFill>
                <a:latin typeface="+mj-lt"/>
                <a:ea typeface="+mj-ea"/>
                <a:cs typeface="+mj-cs"/>
              </a:rPr>
              <a:t>SOAR (State, Operator, and Result)</a:t>
            </a:r>
          </a:p>
          <a:p>
            <a:pPr algn="ctr">
              <a:lnSpc>
                <a:spcPct val="90000"/>
              </a:lnSpc>
              <a:spcBef>
                <a:spcPct val="0"/>
              </a:spcBef>
              <a:spcAft>
                <a:spcPts val="600"/>
              </a:spcAft>
            </a:pPr>
            <a:r>
              <a:rPr lang="en-US" sz="4800" kern="1200">
                <a:solidFill>
                  <a:schemeClr val="tx1"/>
                </a:solidFill>
                <a:latin typeface="+mj-lt"/>
                <a:ea typeface="+mj-ea"/>
                <a:cs typeface="+mj-cs"/>
              </a:rPr>
              <a:t>(Newell, Laird)</a:t>
            </a:r>
          </a:p>
          <a:p>
            <a:pPr lvl="0" algn="ctr">
              <a:lnSpc>
                <a:spcPct val="90000"/>
              </a:lnSpc>
              <a:spcBef>
                <a:spcPct val="0"/>
              </a:spcBef>
              <a:spcAft>
                <a:spcPts val="600"/>
              </a:spcAft>
            </a:pPr>
            <a:endParaRPr lang="en-US" sz="4800" kern="1200">
              <a:solidFill>
                <a:schemeClr val="tx1"/>
              </a:solidFill>
              <a:latin typeface="+mj-lt"/>
              <a:ea typeface="+mj-ea"/>
              <a:cs typeface="+mj-cs"/>
            </a:endParaRPr>
          </a:p>
          <a:p>
            <a:pPr lvl="0" algn="ctr">
              <a:lnSpc>
                <a:spcPct val="90000"/>
              </a:lnSpc>
              <a:spcBef>
                <a:spcPct val="0"/>
              </a:spcBef>
              <a:spcAft>
                <a:spcPts val="600"/>
              </a:spcAft>
            </a:pPr>
            <a:endParaRPr lang="en-US" sz="4800" kern="1200">
              <a:solidFill>
                <a:schemeClr val="tx1"/>
              </a:solidFill>
              <a:latin typeface="+mj-lt"/>
              <a:ea typeface="+mj-ea"/>
              <a:cs typeface="+mj-cs"/>
            </a:endParaRPr>
          </a:p>
        </p:txBody>
      </p:sp>
      <p:sp>
        <p:nvSpPr>
          <p:cNvPr id="74" name="Rectangle 7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4590" y="6090053"/>
            <a:ext cx="3931444" cy="302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2752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93042" y="402482"/>
            <a:ext cx="8694540" cy="1461188"/>
          </a:xfrm>
        </p:spPr>
        <p:txBody>
          <a:bodyPr vert="horz" lIns="91440" tIns="45720" rIns="91440" bIns="45720" rtlCol="0" anchor="ctr">
            <a:normAutofit/>
          </a:bodyPr>
          <a:lstStyle/>
          <a:p>
            <a:pPr>
              <a:lnSpc>
                <a:spcPct val="90000"/>
              </a:lnSpc>
              <a:spcBef>
                <a:spcPct val="0"/>
              </a:spcBef>
            </a:pPr>
            <a:r>
              <a:rPr lang="en-US" sz="4800" b="1" kern="1200">
                <a:solidFill>
                  <a:schemeClr val="tx1"/>
                </a:solidFill>
                <a:latin typeface="+mj-lt"/>
                <a:ea typeface="+mj-ea"/>
                <a:cs typeface="+mj-cs"/>
              </a:rPr>
              <a:t>Principios de la Arquitectura</a:t>
            </a:r>
            <a:r>
              <a:rPr lang="en-US" sz="4800" kern="1200">
                <a:solidFill>
                  <a:schemeClr val="tx1"/>
                </a:solidFill>
                <a:latin typeface="+mj-lt"/>
                <a:ea typeface="+mj-ea"/>
                <a:cs typeface="+mj-cs"/>
              </a:rPr>
              <a:t> </a:t>
            </a:r>
            <a:r>
              <a:rPr lang="en-US" sz="4800" b="1" kern="1200">
                <a:solidFill>
                  <a:schemeClr val="tx1"/>
                </a:solidFill>
                <a:latin typeface="+mj-lt"/>
                <a:ea typeface="+mj-ea"/>
                <a:cs typeface="+mj-cs"/>
              </a:rPr>
              <a:t>SOAR</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3174" y="1848993"/>
            <a:ext cx="8974276" cy="20159"/>
          </a:xfrm>
          <a:custGeom>
            <a:avLst/>
            <a:gdLst>
              <a:gd name="connsiteX0" fmla="*/ 0 w 8974276"/>
              <a:gd name="connsiteY0" fmla="*/ 0 h 20159"/>
              <a:gd name="connsiteX1" fmla="*/ 600586 w 8974276"/>
              <a:gd name="connsiteY1" fmla="*/ 0 h 20159"/>
              <a:gd name="connsiteX2" fmla="*/ 1290915 w 8974276"/>
              <a:gd name="connsiteY2" fmla="*/ 0 h 20159"/>
              <a:gd name="connsiteX3" fmla="*/ 2070987 w 8974276"/>
              <a:gd name="connsiteY3" fmla="*/ 0 h 20159"/>
              <a:gd name="connsiteX4" fmla="*/ 2671573 w 8974276"/>
              <a:gd name="connsiteY4" fmla="*/ 0 h 20159"/>
              <a:gd name="connsiteX5" fmla="*/ 3361902 w 8974276"/>
              <a:gd name="connsiteY5" fmla="*/ 0 h 20159"/>
              <a:gd name="connsiteX6" fmla="*/ 4231716 w 8974276"/>
              <a:gd name="connsiteY6" fmla="*/ 0 h 20159"/>
              <a:gd name="connsiteX7" fmla="*/ 4742560 w 8974276"/>
              <a:gd name="connsiteY7" fmla="*/ 0 h 20159"/>
              <a:gd name="connsiteX8" fmla="*/ 5522631 w 8974276"/>
              <a:gd name="connsiteY8" fmla="*/ 0 h 20159"/>
              <a:gd name="connsiteX9" fmla="*/ 6033475 w 8974276"/>
              <a:gd name="connsiteY9" fmla="*/ 0 h 20159"/>
              <a:gd name="connsiteX10" fmla="*/ 6723804 w 8974276"/>
              <a:gd name="connsiteY10" fmla="*/ 0 h 20159"/>
              <a:gd name="connsiteX11" fmla="*/ 7503875 w 8974276"/>
              <a:gd name="connsiteY11" fmla="*/ 0 h 20159"/>
              <a:gd name="connsiteX12" fmla="*/ 7924976 w 8974276"/>
              <a:gd name="connsiteY12" fmla="*/ 0 h 20159"/>
              <a:gd name="connsiteX13" fmla="*/ 8346077 w 8974276"/>
              <a:gd name="connsiteY13" fmla="*/ 0 h 20159"/>
              <a:gd name="connsiteX14" fmla="*/ 8974276 w 8974276"/>
              <a:gd name="connsiteY14" fmla="*/ 0 h 20159"/>
              <a:gd name="connsiteX15" fmla="*/ 8974276 w 8974276"/>
              <a:gd name="connsiteY15" fmla="*/ 20159 h 20159"/>
              <a:gd name="connsiteX16" fmla="*/ 8194204 w 8974276"/>
              <a:gd name="connsiteY16" fmla="*/ 20159 h 20159"/>
              <a:gd name="connsiteX17" fmla="*/ 7503875 w 8974276"/>
              <a:gd name="connsiteY17" fmla="*/ 20159 h 20159"/>
              <a:gd name="connsiteX18" fmla="*/ 6903289 w 8974276"/>
              <a:gd name="connsiteY18" fmla="*/ 20159 h 20159"/>
              <a:gd name="connsiteX19" fmla="*/ 6123218 w 8974276"/>
              <a:gd name="connsiteY19" fmla="*/ 20159 h 20159"/>
              <a:gd name="connsiteX20" fmla="*/ 5432889 w 8974276"/>
              <a:gd name="connsiteY20" fmla="*/ 20159 h 20159"/>
              <a:gd name="connsiteX21" fmla="*/ 4563074 w 8974276"/>
              <a:gd name="connsiteY21" fmla="*/ 20159 h 20159"/>
              <a:gd name="connsiteX22" fmla="*/ 3693260 w 8974276"/>
              <a:gd name="connsiteY22" fmla="*/ 20159 h 20159"/>
              <a:gd name="connsiteX23" fmla="*/ 2913188 w 8974276"/>
              <a:gd name="connsiteY23" fmla="*/ 20159 h 20159"/>
              <a:gd name="connsiteX24" fmla="*/ 2133116 w 8974276"/>
              <a:gd name="connsiteY24" fmla="*/ 20159 h 20159"/>
              <a:gd name="connsiteX25" fmla="*/ 1353045 w 8974276"/>
              <a:gd name="connsiteY25" fmla="*/ 20159 h 20159"/>
              <a:gd name="connsiteX26" fmla="*/ 842201 w 8974276"/>
              <a:gd name="connsiteY26" fmla="*/ 20159 h 20159"/>
              <a:gd name="connsiteX27" fmla="*/ 0 w 8974276"/>
              <a:gd name="connsiteY27" fmla="*/ 20159 h 20159"/>
              <a:gd name="connsiteX28" fmla="*/ 0 w 8974276"/>
              <a:gd name="connsiteY28" fmla="*/ 0 h 20159"/>
              <a:gd name="connsiteX0" fmla="*/ 0 w 8974276"/>
              <a:gd name="connsiteY0" fmla="*/ 0 h 20159"/>
              <a:gd name="connsiteX1" fmla="*/ 600586 w 8974276"/>
              <a:gd name="connsiteY1" fmla="*/ 0 h 20159"/>
              <a:gd name="connsiteX2" fmla="*/ 1021687 w 8974276"/>
              <a:gd name="connsiteY2" fmla="*/ 0 h 20159"/>
              <a:gd name="connsiteX3" fmla="*/ 1891501 w 8974276"/>
              <a:gd name="connsiteY3" fmla="*/ 0 h 20159"/>
              <a:gd name="connsiteX4" fmla="*/ 2492087 w 8974276"/>
              <a:gd name="connsiteY4" fmla="*/ 0 h 20159"/>
              <a:gd name="connsiteX5" fmla="*/ 3092674 w 8974276"/>
              <a:gd name="connsiteY5" fmla="*/ 0 h 20159"/>
              <a:gd name="connsiteX6" fmla="*/ 3962488 w 8974276"/>
              <a:gd name="connsiteY6" fmla="*/ 0 h 20159"/>
              <a:gd name="connsiteX7" fmla="*/ 4473331 w 8974276"/>
              <a:gd name="connsiteY7" fmla="*/ 0 h 20159"/>
              <a:gd name="connsiteX8" fmla="*/ 4882144 w 8974276"/>
              <a:gd name="connsiteY8" fmla="*/ 0 h 20159"/>
              <a:gd name="connsiteX9" fmla="*/ 5343146 w 8974276"/>
              <a:gd name="connsiteY9" fmla="*/ 0 h 20159"/>
              <a:gd name="connsiteX10" fmla="*/ 6212960 w 8974276"/>
              <a:gd name="connsiteY10" fmla="*/ 0 h 20159"/>
              <a:gd name="connsiteX11" fmla="*/ 6903289 w 8974276"/>
              <a:gd name="connsiteY11" fmla="*/ 0 h 20159"/>
              <a:gd name="connsiteX12" fmla="*/ 7773104 w 8974276"/>
              <a:gd name="connsiteY12" fmla="*/ 0 h 20159"/>
              <a:gd name="connsiteX13" fmla="*/ 8373690 w 8974276"/>
              <a:gd name="connsiteY13" fmla="*/ 0 h 20159"/>
              <a:gd name="connsiteX14" fmla="*/ 8974276 w 8974276"/>
              <a:gd name="connsiteY14" fmla="*/ 0 h 20159"/>
              <a:gd name="connsiteX15" fmla="*/ 8974276 w 8974276"/>
              <a:gd name="connsiteY15" fmla="*/ 20159 h 20159"/>
              <a:gd name="connsiteX16" fmla="*/ 8283947 w 8974276"/>
              <a:gd name="connsiteY16" fmla="*/ 20159 h 20159"/>
              <a:gd name="connsiteX17" fmla="*/ 7593618 w 8974276"/>
              <a:gd name="connsiteY17" fmla="*/ 20159 h 20159"/>
              <a:gd name="connsiteX18" fmla="*/ 6723804 w 8974276"/>
              <a:gd name="connsiteY18" fmla="*/ 20159 h 20159"/>
              <a:gd name="connsiteX19" fmla="*/ 6033475 w 8974276"/>
              <a:gd name="connsiteY19" fmla="*/ 20159 h 20159"/>
              <a:gd name="connsiteX20" fmla="*/ 5612374 w 8974276"/>
              <a:gd name="connsiteY20" fmla="*/ 20159 h 20159"/>
              <a:gd name="connsiteX21" fmla="*/ 5101531 w 8974276"/>
              <a:gd name="connsiteY21" fmla="*/ 20159 h 20159"/>
              <a:gd name="connsiteX22" fmla="*/ 4231716 w 8974276"/>
              <a:gd name="connsiteY22" fmla="*/ 20159 h 20159"/>
              <a:gd name="connsiteX23" fmla="*/ 3541387 w 8974276"/>
              <a:gd name="connsiteY23" fmla="*/ 20159 h 20159"/>
              <a:gd name="connsiteX24" fmla="*/ 3030544 w 8974276"/>
              <a:gd name="connsiteY24" fmla="*/ 20159 h 20159"/>
              <a:gd name="connsiteX25" fmla="*/ 2340215 w 8974276"/>
              <a:gd name="connsiteY25" fmla="*/ 20159 h 20159"/>
              <a:gd name="connsiteX26" fmla="*/ 1919114 w 8974276"/>
              <a:gd name="connsiteY26" fmla="*/ 20159 h 20159"/>
              <a:gd name="connsiteX27" fmla="*/ 1498014 w 8974276"/>
              <a:gd name="connsiteY27" fmla="*/ 20159 h 20159"/>
              <a:gd name="connsiteX28" fmla="*/ 807685 w 8974276"/>
              <a:gd name="connsiteY28" fmla="*/ 20159 h 20159"/>
              <a:gd name="connsiteX29" fmla="*/ 0 w 8974276"/>
              <a:gd name="connsiteY29" fmla="*/ 20159 h 20159"/>
              <a:gd name="connsiteX30" fmla="*/ 0 w 8974276"/>
              <a:gd name="connsiteY30"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974276" h="20159" fill="none" extrusionOk="0">
                <a:moveTo>
                  <a:pt x="0" y="0"/>
                </a:moveTo>
                <a:cubicBezTo>
                  <a:pt x="183005" y="-28121"/>
                  <a:pt x="385563" y="-16729"/>
                  <a:pt x="600586" y="0"/>
                </a:cubicBezTo>
                <a:cubicBezTo>
                  <a:pt x="819816" y="25297"/>
                  <a:pt x="1008894" y="-16975"/>
                  <a:pt x="1290915" y="0"/>
                </a:cubicBezTo>
                <a:cubicBezTo>
                  <a:pt x="1586779" y="-10612"/>
                  <a:pt x="1739355" y="-6632"/>
                  <a:pt x="2070987" y="0"/>
                </a:cubicBezTo>
                <a:cubicBezTo>
                  <a:pt x="2423196" y="26888"/>
                  <a:pt x="2516800" y="-23939"/>
                  <a:pt x="2671573" y="0"/>
                </a:cubicBezTo>
                <a:cubicBezTo>
                  <a:pt x="2856946" y="57495"/>
                  <a:pt x="3123719" y="-1120"/>
                  <a:pt x="3361902" y="0"/>
                </a:cubicBezTo>
                <a:cubicBezTo>
                  <a:pt x="3551026" y="-6967"/>
                  <a:pt x="3893151" y="-7410"/>
                  <a:pt x="4231716" y="0"/>
                </a:cubicBezTo>
                <a:cubicBezTo>
                  <a:pt x="4589327" y="4599"/>
                  <a:pt x="4499151" y="-7078"/>
                  <a:pt x="4742560" y="0"/>
                </a:cubicBezTo>
                <a:cubicBezTo>
                  <a:pt x="4945774" y="22991"/>
                  <a:pt x="5327086" y="78686"/>
                  <a:pt x="5522631" y="0"/>
                </a:cubicBezTo>
                <a:cubicBezTo>
                  <a:pt x="5706117" y="-51653"/>
                  <a:pt x="5820576" y="-5919"/>
                  <a:pt x="6033475" y="0"/>
                </a:cubicBezTo>
                <a:cubicBezTo>
                  <a:pt x="6269799" y="2680"/>
                  <a:pt x="6590499" y="22166"/>
                  <a:pt x="6723804" y="0"/>
                </a:cubicBezTo>
                <a:cubicBezTo>
                  <a:pt x="6858112" y="-15926"/>
                  <a:pt x="7310513" y="-3462"/>
                  <a:pt x="7503875" y="0"/>
                </a:cubicBezTo>
                <a:cubicBezTo>
                  <a:pt x="7698227" y="-14053"/>
                  <a:pt x="7786960" y="-2924"/>
                  <a:pt x="7924976" y="0"/>
                </a:cubicBezTo>
                <a:cubicBezTo>
                  <a:pt x="8047409" y="-11757"/>
                  <a:pt x="8231917" y="2497"/>
                  <a:pt x="8346077" y="0"/>
                </a:cubicBezTo>
                <a:cubicBezTo>
                  <a:pt x="8472830" y="-16379"/>
                  <a:pt x="8819304" y="6003"/>
                  <a:pt x="8974276" y="0"/>
                </a:cubicBezTo>
                <a:cubicBezTo>
                  <a:pt x="8975415" y="3917"/>
                  <a:pt x="8973977" y="14625"/>
                  <a:pt x="8974276" y="20159"/>
                </a:cubicBezTo>
                <a:cubicBezTo>
                  <a:pt x="8690793" y="39099"/>
                  <a:pt x="8424209" y="27543"/>
                  <a:pt x="8194204" y="20159"/>
                </a:cubicBezTo>
                <a:cubicBezTo>
                  <a:pt x="7951806" y="-3374"/>
                  <a:pt x="7694321" y="34346"/>
                  <a:pt x="7503875" y="20159"/>
                </a:cubicBezTo>
                <a:cubicBezTo>
                  <a:pt x="7256604" y="22540"/>
                  <a:pt x="7188022" y="40185"/>
                  <a:pt x="6903289" y="20159"/>
                </a:cubicBezTo>
                <a:cubicBezTo>
                  <a:pt x="6597262" y="3673"/>
                  <a:pt x="6282575" y="7422"/>
                  <a:pt x="6123218" y="20159"/>
                </a:cubicBezTo>
                <a:cubicBezTo>
                  <a:pt x="5947747" y="46383"/>
                  <a:pt x="5709228" y="48856"/>
                  <a:pt x="5432889" y="20159"/>
                </a:cubicBezTo>
                <a:cubicBezTo>
                  <a:pt x="5148051" y="-9432"/>
                  <a:pt x="4825392" y="933"/>
                  <a:pt x="4563074" y="20159"/>
                </a:cubicBezTo>
                <a:cubicBezTo>
                  <a:pt x="4230436" y="42050"/>
                  <a:pt x="3919280" y="15731"/>
                  <a:pt x="3693260" y="20159"/>
                </a:cubicBezTo>
                <a:cubicBezTo>
                  <a:pt x="3463686" y="2881"/>
                  <a:pt x="3258547" y="69973"/>
                  <a:pt x="2913188" y="20159"/>
                </a:cubicBezTo>
                <a:cubicBezTo>
                  <a:pt x="2530193" y="5895"/>
                  <a:pt x="2366063" y="69889"/>
                  <a:pt x="2133116" y="20159"/>
                </a:cubicBezTo>
                <a:cubicBezTo>
                  <a:pt x="1852614" y="-15825"/>
                  <a:pt x="1586183" y="7145"/>
                  <a:pt x="1353045" y="20159"/>
                </a:cubicBezTo>
                <a:cubicBezTo>
                  <a:pt x="1124470" y="12726"/>
                  <a:pt x="1043335" y="-1836"/>
                  <a:pt x="842201" y="20159"/>
                </a:cubicBezTo>
                <a:cubicBezTo>
                  <a:pt x="675009" y="15591"/>
                  <a:pt x="208716" y="6391"/>
                  <a:pt x="0" y="20159"/>
                </a:cubicBezTo>
                <a:cubicBezTo>
                  <a:pt x="1099" y="14912"/>
                  <a:pt x="1706" y="4245"/>
                  <a:pt x="0" y="0"/>
                </a:cubicBezTo>
                <a:close/>
              </a:path>
              <a:path w="8974276" h="20159" stroke="0" extrusionOk="0">
                <a:moveTo>
                  <a:pt x="0" y="0"/>
                </a:moveTo>
                <a:cubicBezTo>
                  <a:pt x="158429" y="17111"/>
                  <a:pt x="477266" y="-13453"/>
                  <a:pt x="600586" y="0"/>
                </a:cubicBezTo>
                <a:cubicBezTo>
                  <a:pt x="698766" y="1226"/>
                  <a:pt x="829625" y="-2597"/>
                  <a:pt x="1021687" y="0"/>
                </a:cubicBezTo>
                <a:cubicBezTo>
                  <a:pt x="1212890" y="45242"/>
                  <a:pt x="1481051" y="28111"/>
                  <a:pt x="1891501" y="0"/>
                </a:cubicBezTo>
                <a:cubicBezTo>
                  <a:pt x="2325146" y="-55911"/>
                  <a:pt x="2244169" y="37407"/>
                  <a:pt x="2492087" y="0"/>
                </a:cubicBezTo>
                <a:cubicBezTo>
                  <a:pt x="2770106" y="-48226"/>
                  <a:pt x="2945409" y="-29732"/>
                  <a:pt x="3092674" y="0"/>
                </a:cubicBezTo>
                <a:cubicBezTo>
                  <a:pt x="3301483" y="30847"/>
                  <a:pt x="3757132" y="-5762"/>
                  <a:pt x="3962488" y="0"/>
                </a:cubicBezTo>
                <a:cubicBezTo>
                  <a:pt x="4161917" y="18597"/>
                  <a:pt x="4382907" y="-1453"/>
                  <a:pt x="4473331" y="0"/>
                </a:cubicBezTo>
                <a:cubicBezTo>
                  <a:pt x="4623996" y="-933"/>
                  <a:pt x="4781894" y="-19370"/>
                  <a:pt x="4882144" y="0"/>
                </a:cubicBezTo>
                <a:cubicBezTo>
                  <a:pt x="4982394" y="19370"/>
                  <a:pt x="5184581" y="-18943"/>
                  <a:pt x="5343146" y="0"/>
                </a:cubicBezTo>
                <a:cubicBezTo>
                  <a:pt x="5569297" y="-45353"/>
                  <a:pt x="5915584" y="-43416"/>
                  <a:pt x="6212960" y="0"/>
                </a:cubicBezTo>
                <a:cubicBezTo>
                  <a:pt x="6533267" y="7030"/>
                  <a:pt x="6713745" y="-31540"/>
                  <a:pt x="6903289" y="0"/>
                </a:cubicBezTo>
                <a:cubicBezTo>
                  <a:pt x="7143989" y="31285"/>
                  <a:pt x="7485701" y="4614"/>
                  <a:pt x="7773104" y="0"/>
                </a:cubicBezTo>
                <a:cubicBezTo>
                  <a:pt x="8054928" y="-60204"/>
                  <a:pt x="8243916" y="31090"/>
                  <a:pt x="8373690" y="0"/>
                </a:cubicBezTo>
                <a:cubicBezTo>
                  <a:pt x="8470374" y="-9848"/>
                  <a:pt x="8712921" y="13270"/>
                  <a:pt x="8974276" y="0"/>
                </a:cubicBezTo>
                <a:cubicBezTo>
                  <a:pt x="8974207" y="8692"/>
                  <a:pt x="8973976" y="14163"/>
                  <a:pt x="8974276" y="20159"/>
                </a:cubicBezTo>
                <a:cubicBezTo>
                  <a:pt x="8731729" y="31867"/>
                  <a:pt x="8623535" y="-551"/>
                  <a:pt x="8283947" y="20159"/>
                </a:cubicBezTo>
                <a:cubicBezTo>
                  <a:pt x="7960326" y="43064"/>
                  <a:pt x="7776735" y="63579"/>
                  <a:pt x="7593618" y="20159"/>
                </a:cubicBezTo>
                <a:cubicBezTo>
                  <a:pt x="7433204" y="23923"/>
                  <a:pt x="7072953" y="23782"/>
                  <a:pt x="6723804" y="20159"/>
                </a:cubicBezTo>
                <a:cubicBezTo>
                  <a:pt x="6379040" y="-18365"/>
                  <a:pt x="6238900" y="16195"/>
                  <a:pt x="6033475" y="20159"/>
                </a:cubicBezTo>
                <a:cubicBezTo>
                  <a:pt x="5820847" y="25326"/>
                  <a:pt x="5773194" y="29594"/>
                  <a:pt x="5612374" y="20159"/>
                </a:cubicBezTo>
                <a:cubicBezTo>
                  <a:pt x="5459272" y="6433"/>
                  <a:pt x="5214346" y="1016"/>
                  <a:pt x="5101531" y="20159"/>
                </a:cubicBezTo>
                <a:cubicBezTo>
                  <a:pt x="5074679" y="44082"/>
                  <a:pt x="4571458" y="3492"/>
                  <a:pt x="4231716" y="20159"/>
                </a:cubicBezTo>
                <a:cubicBezTo>
                  <a:pt x="3847477" y="69580"/>
                  <a:pt x="3798193" y="22318"/>
                  <a:pt x="3541387" y="20159"/>
                </a:cubicBezTo>
                <a:cubicBezTo>
                  <a:pt x="3313277" y="16275"/>
                  <a:pt x="3169205" y="857"/>
                  <a:pt x="3030544" y="20159"/>
                </a:cubicBezTo>
                <a:cubicBezTo>
                  <a:pt x="2877895" y="65593"/>
                  <a:pt x="2628234" y="67321"/>
                  <a:pt x="2340215" y="20159"/>
                </a:cubicBezTo>
                <a:cubicBezTo>
                  <a:pt x="2072515" y="1292"/>
                  <a:pt x="2122288" y="47041"/>
                  <a:pt x="1919114" y="20159"/>
                </a:cubicBezTo>
                <a:cubicBezTo>
                  <a:pt x="1711037" y="4218"/>
                  <a:pt x="1683277" y="18003"/>
                  <a:pt x="1498014" y="20159"/>
                </a:cubicBezTo>
                <a:cubicBezTo>
                  <a:pt x="1271935" y="13811"/>
                  <a:pt x="970426" y="12259"/>
                  <a:pt x="807685" y="20159"/>
                </a:cubicBezTo>
                <a:cubicBezTo>
                  <a:pt x="642052" y="6598"/>
                  <a:pt x="193677" y="46988"/>
                  <a:pt x="0" y="20159"/>
                </a:cubicBezTo>
                <a:cubicBezTo>
                  <a:pt x="821" y="16001"/>
                  <a:pt x="-441" y="5889"/>
                  <a:pt x="0" y="0"/>
                </a:cubicBezTo>
                <a:close/>
              </a:path>
              <a:path w="8974276" h="20159" fill="none" stroke="0" extrusionOk="0">
                <a:moveTo>
                  <a:pt x="0" y="0"/>
                </a:moveTo>
                <a:cubicBezTo>
                  <a:pt x="133021" y="-45326"/>
                  <a:pt x="351596" y="-10132"/>
                  <a:pt x="600586" y="0"/>
                </a:cubicBezTo>
                <a:cubicBezTo>
                  <a:pt x="824846" y="25895"/>
                  <a:pt x="974850" y="12687"/>
                  <a:pt x="1290915" y="0"/>
                </a:cubicBezTo>
                <a:cubicBezTo>
                  <a:pt x="1543854" y="8594"/>
                  <a:pt x="1730765" y="-5283"/>
                  <a:pt x="2070987" y="0"/>
                </a:cubicBezTo>
                <a:cubicBezTo>
                  <a:pt x="2388789" y="2502"/>
                  <a:pt x="2537180" y="-18640"/>
                  <a:pt x="2671573" y="0"/>
                </a:cubicBezTo>
                <a:cubicBezTo>
                  <a:pt x="2846783" y="31613"/>
                  <a:pt x="3162345" y="2138"/>
                  <a:pt x="3361902" y="0"/>
                </a:cubicBezTo>
                <a:cubicBezTo>
                  <a:pt x="3560523" y="-33799"/>
                  <a:pt x="3850943" y="16514"/>
                  <a:pt x="4231716" y="0"/>
                </a:cubicBezTo>
                <a:cubicBezTo>
                  <a:pt x="4582093" y="-6251"/>
                  <a:pt x="4497042" y="-241"/>
                  <a:pt x="4742560" y="0"/>
                </a:cubicBezTo>
                <a:cubicBezTo>
                  <a:pt x="5026744" y="28398"/>
                  <a:pt x="5367035" y="44798"/>
                  <a:pt x="5522631" y="0"/>
                </a:cubicBezTo>
                <a:cubicBezTo>
                  <a:pt x="5715671" y="-35366"/>
                  <a:pt x="5819152" y="19249"/>
                  <a:pt x="6033475" y="0"/>
                </a:cubicBezTo>
                <a:cubicBezTo>
                  <a:pt x="6276754" y="15513"/>
                  <a:pt x="6580075" y="39465"/>
                  <a:pt x="6723804" y="0"/>
                </a:cubicBezTo>
                <a:cubicBezTo>
                  <a:pt x="6874324" y="-12484"/>
                  <a:pt x="7335585" y="32838"/>
                  <a:pt x="7503875" y="0"/>
                </a:cubicBezTo>
                <a:cubicBezTo>
                  <a:pt x="7699518" y="-4479"/>
                  <a:pt x="7784573" y="-1350"/>
                  <a:pt x="7924976" y="0"/>
                </a:cubicBezTo>
                <a:cubicBezTo>
                  <a:pt x="8038978" y="-8555"/>
                  <a:pt x="8207279" y="-2913"/>
                  <a:pt x="8346077" y="0"/>
                </a:cubicBezTo>
                <a:cubicBezTo>
                  <a:pt x="8460045" y="-10908"/>
                  <a:pt x="8807112" y="-916"/>
                  <a:pt x="8974276" y="0"/>
                </a:cubicBezTo>
                <a:cubicBezTo>
                  <a:pt x="8975175" y="4507"/>
                  <a:pt x="8973255" y="15783"/>
                  <a:pt x="8974276" y="20159"/>
                </a:cubicBezTo>
                <a:cubicBezTo>
                  <a:pt x="8690015" y="13384"/>
                  <a:pt x="8498032" y="90009"/>
                  <a:pt x="8194204" y="20159"/>
                </a:cubicBezTo>
                <a:cubicBezTo>
                  <a:pt x="7940226" y="7057"/>
                  <a:pt x="7765141" y="7157"/>
                  <a:pt x="7503875" y="20159"/>
                </a:cubicBezTo>
                <a:cubicBezTo>
                  <a:pt x="7257867" y="32369"/>
                  <a:pt x="7168747" y="45544"/>
                  <a:pt x="6903289" y="20159"/>
                </a:cubicBezTo>
                <a:cubicBezTo>
                  <a:pt x="6624057" y="6871"/>
                  <a:pt x="6248483" y="211"/>
                  <a:pt x="6123218" y="20159"/>
                </a:cubicBezTo>
                <a:cubicBezTo>
                  <a:pt x="5966303" y="35167"/>
                  <a:pt x="5680376" y="46639"/>
                  <a:pt x="5432889" y="20159"/>
                </a:cubicBezTo>
                <a:cubicBezTo>
                  <a:pt x="5191863" y="8691"/>
                  <a:pt x="4872405" y="-4811"/>
                  <a:pt x="4563074" y="20159"/>
                </a:cubicBezTo>
                <a:cubicBezTo>
                  <a:pt x="4237152" y="84258"/>
                  <a:pt x="3902138" y="26513"/>
                  <a:pt x="3693260" y="20159"/>
                </a:cubicBezTo>
                <a:cubicBezTo>
                  <a:pt x="3481803" y="-1949"/>
                  <a:pt x="3269305" y="20073"/>
                  <a:pt x="2913188" y="20159"/>
                </a:cubicBezTo>
                <a:cubicBezTo>
                  <a:pt x="2564887" y="5224"/>
                  <a:pt x="2328697" y="52725"/>
                  <a:pt x="2133116" y="20159"/>
                </a:cubicBezTo>
                <a:cubicBezTo>
                  <a:pt x="1894582" y="38029"/>
                  <a:pt x="1576170" y="-14808"/>
                  <a:pt x="1353045" y="20159"/>
                </a:cubicBezTo>
                <a:cubicBezTo>
                  <a:pt x="1127523" y="16230"/>
                  <a:pt x="1038557" y="145"/>
                  <a:pt x="842201" y="20159"/>
                </a:cubicBezTo>
                <a:cubicBezTo>
                  <a:pt x="638472" y="28249"/>
                  <a:pt x="195915" y="15640"/>
                  <a:pt x="0" y="20159"/>
                </a:cubicBezTo>
                <a:cubicBezTo>
                  <a:pt x="81" y="14899"/>
                  <a:pt x="1360" y="610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974276"/>
                      <a:gd name="connsiteY0" fmla="*/ 0 h 20159"/>
                      <a:gd name="connsiteX1" fmla="*/ 600586 w 8974276"/>
                      <a:gd name="connsiteY1" fmla="*/ 0 h 20159"/>
                      <a:gd name="connsiteX2" fmla="*/ 1290915 w 8974276"/>
                      <a:gd name="connsiteY2" fmla="*/ 0 h 20159"/>
                      <a:gd name="connsiteX3" fmla="*/ 2070987 w 8974276"/>
                      <a:gd name="connsiteY3" fmla="*/ 0 h 20159"/>
                      <a:gd name="connsiteX4" fmla="*/ 2671573 w 8974276"/>
                      <a:gd name="connsiteY4" fmla="*/ 0 h 20159"/>
                      <a:gd name="connsiteX5" fmla="*/ 3361902 w 8974276"/>
                      <a:gd name="connsiteY5" fmla="*/ 0 h 20159"/>
                      <a:gd name="connsiteX6" fmla="*/ 4231716 w 8974276"/>
                      <a:gd name="connsiteY6" fmla="*/ 0 h 20159"/>
                      <a:gd name="connsiteX7" fmla="*/ 4742560 w 8974276"/>
                      <a:gd name="connsiteY7" fmla="*/ 0 h 20159"/>
                      <a:gd name="connsiteX8" fmla="*/ 5522631 w 8974276"/>
                      <a:gd name="connsiteY8" fmla="*/ 0 h 20159"/>
                      <a:gd name="connsiteX9" fmla="*/ 6033475 w 8974276"/>
                      <a:gd name="connsiteY9" fmla="*/ 0 h 20159"/>
                      <a:gd name="connsiteX10" fmla="*/ 6723804 w 8974276"/>
                      <a:gd name="connsiteY10" fmla="*/ 0 h 20159"/>
                      <a:gd name="connsiteX11" fmla="*/ 7503875 w 8974276"/>
                      <a:gd name="connsiteY11" fmla="*/ 0 h 20159"/>
                      <a:gd name="connsiteX12" fmla="*/ 7924976 w 8974276"/>
                      <a:gd name="connsiteY12" fmla="*/ 0 h 20159"/>
                      <a:gd name="connsiteX13" fmla="*/ 8346077 w 8974276"/>
                      <a:gd name="connsiteY13" fmla="*/ 0 h 20159"/>
                      <a:gd name="connsiteX14" fmla="*/ 8974276 w 8974276"/>
                      <a:gd name="connsiteY14" fmla="*/ 0 h 20159"/>
                      <a:gd name="connsiteX15" fmla="*/ 8974276 w 8974276"/>
                      <a:gd name="connsiteY15" fmla="*/ 20159 h 20159"/>
                      <a:gd name="connsiteX16" fmla="*/ 8194204 w 8974276"/>
                      <a:gd name="connsiteY16" fmla="*/ 20159 h 20159"/>
                      <a:gd name="connsiteX17" fmla="*/ 7503875 w 8974276"/>
                      <a:gd name="connsiteY17" fmla="*/ 20159 h 20159"/>
                      <a:gd name="connsiteX18" fmla="*/ 6903289 w 8974276"/>
                      <a:gd name="connsiteY18" fmla="*/ 20159 h 20159"/>
                      <a:gd name="connsiteX19" fmla="*/ 6123218 w 8974276"/>
                      <a:gd name="connsiteY19" fmla="*/ 20159 h 20159"/>
                      <a:gd name="connsiteX20" fmla="*/ 5432889 w 8974276"/>
                      <a:gd name="connsiteY20" fmla="*/ 20159 h 20159"/>
                      <a:gd name="connsiteX21" fmla="*/ 4563074 w 8974276"/>
                      <a:gd name="connsiteY21" fmla="*/ 20159 h 20159"/>
                      <a:gd name="connsiteX22" fmla="*/ 3693260 w 8974276"/>
                      <a:gd name="connsiteY22" fmla="*/ 20159 h 20159"/>
                      <a:gd name="connsiteX23" fmla="*/ 2913188 w 8974276"/>
                      <a:gd name="connsiteY23" fmla="*/ 20159 h 20159"/>
                      <a:gd name="connsiteX24" fmla="*/ 2133116 w 8974276"/>
                      <a:gd name="connsiteY24" fmla="*/ 20159 h 20159"/>
                      <a:gd name="connsiteX25" fmla="*/ 1353045 w 8974276"/>
                      <a:gd name="connsiteY25" fmla="*/ 20159 h 20159"/>
                      <a:gd name="connsiteX26" fmla="*/ 842201 w 8974276"/>
                      <a:gd name="connsiteY26" fmla="*/ 20159 h 20159"/>
                      <a:gd name="connsiteX27" fmla="*/ 0 w 8974276"/>
                      <a:gd name="connsiteY27" fmla="*/ 20159 h 20159"/>
                      <a:gd name="connsiteX28" fmla="*/ 0 w 8974276"/>
                      <a:gd name="connsiteY28" fmla="*/ 0 h 2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974276" h="20159" fill="none" extrusionOk="0">
                        <a:moveTo>
                          <a:pt x="0" y="0"/>
                        </a:moveTo>
                        <a:cubicBezTo>
                          <a:pt x="166292" y="-24804"/>
                          <a:pt x="387390" y="-23566"/>
                          <a:pt x="600586" y="0"/>
                        </a:cubicBezTo>
                        <a:cubicBezTo>
                          <a:pt x="813782" y="23566"/>
                          <a:pt x="1017575" y="11328"/>
                          <a:pt x="1290915" y="0"/>
                        </a:cubicBezTo>
                        <a:cubicBezTo>
                          <a:pt x="1564255" y="-11328"/>
                          <a:pt x="1732327" y="-13914"/>
                          <a:pt x="2070987" y="0"/>
                        </a:cubicBezTo>
                        <a:cubicBezTo>
                          <a:pt x="2409647" y="13914"/>
                          <a:pt x="2514543" y="-29456"/>
                          <a:pt x="2671573" y="0"/>
                        </a:cubicBezTo>
                        <a:cubicBezTo>
                          <a:pt x="2828603" y="29456"/>
                          <a:pt x="3148091" y="31473"/>
                          <a:pt x="3361902" y="0"/>
                        </a:cubicBezTo>
                        <a:cubicBezTo>
                          <a:pt x="3575713" y="-31473"/>
                          <a:pt x="3879587" y="-10454"/>
                          <a:pt x="4231716" y="0"/>
                        </a:cubicBezTo>
                        <a:cubicBezTo>
                          <a:pt x="4583845" y="10454"/>
                          <a:pt x="4500381" y="-4882"/>
                          <a:pt x="4742560" y="0"/>
                        </a:cubicBezTo>
                        <a:cubicBezTo>
                          <a:pt x="4984739" y="4882"/>
                          <a:pt x="5324139" y="34484"/>
                          <a:pt x="5522631" y="0"/>
                        </a:cubicBezTo>
                        <a:cubicBezTo>
                          <a:pt x="5721123" y="-34484"/>
                          <a:pt x="5806715" y="9078"/>
                          <a:pt x="6033475" y="0"/>
                        </a:cubicBezTo>
                        <a:cubicBezTo>
                          <a:pt x="6260235" y="-9078"/>
                          <a:pt x="6578201" y="20058"/>
                          <a:pt x="6723804" y="0"/>
                        </a:cubicBezTo>
                        <a:cubicBezTo>
                          <a:pt x="6869407" y="-20058"/>
                          <a:pt x="7310682" y="2334"/>
                          <a:pt x="7503875" y="0"/>
                        </a:cubicBezTo>
                        <a:cubicBezTo>
                          <a:pt x="7697068" y="-2334"/>
                          <a:pt x="7781436" y="13405"/>
                          <a:pt x="7924976" y="0"/>
                        </a:cubicBezTo>
                        <a:cubicBezTo>
                          <a:pt x="8068516" y="-13405"/>
                          <a:pt x="8226759" y="10528"/>
                          <a:pt x="8346077" y="0"/>
                        </a:cubicBezTo>
                        <a:cubicBezTo>
                          <a:pt x="8465395" y="-10528"/>
                          <a:pt x="8810829" y="6661"/>
                          <a:pt x="8974276" y="0"/>
                        </a:cubicBezTo>
                        <a:cubicBezTo>
                          <a:pt x="8975140" y="4980"/>
                          <a:pt x="8973745" y="15497"/>
                          <a:pt x="8974276" y="20159"/>
                        </a:cubicBezTo>
                        <a:cubicBezTo>
                          <a:pt x="8699318" y="-3249"/>
                          <a:pt x="8447378" y="52369"/>
                          <a:pt x="8194204" y="20159"/>
                        </a:cubicBezTo>
                        <a:cubicBezTo>
                          <a:pt x="7941030" y="-12051"/>
                          <a:pt x="7741578" y="21134"/>
                          <a:pt x="7503875" y="20159"/>
                        </a:cubicBezTo>
                        <a:cubicBezTo>
                          <a:pt x="7266172" y="19184"/>
                          <a:pt x="7188109" y="44512"/>
                          <a:pt x="6903289" y="20159"/>
                        </a:cubicBezTo>
                        <a:cubicBezTo>
                          <a:pt x="6618469" y="-4194"/>
                          <a:pt x="6284300" y="-18677"/>
                          <a:pt x="6123218" y="20159"/>
                        </a:cubicBezTo>
                        <a:cubicBezTo>
                          <a:pt x="5962136" y="58995"/>
                          <a:pt x="5692124" y="47304"/>
                          <a:pt x="5432889" y="20159"/>
                        </a:cubicBezTo>
                        <a:cubicBezTo>
                          <a:pt x="5173654" y="-6986"/>
                          <a:pt x="4878157" y="-22180"/>
                          <a:pt x="4563074" y="20159"/>
                        </a:cubicBezTo>
                        <a:cubicBezTo>
                          <a:pt x="4247992" y="62498"/>
                          <a:pt x="3916884" y="46079"/>
                          <a:pt x="3693260" y="20159"/>
                        </a:cubicBezTo>
                        <a:cubicBezTo>
                          <a:pt x="3469636" y="-5761"/>
                          <a:pt x="3270296" y="40643"/>
                          <a:pt x="2913188" y="20159"/>
                        </a:cubicBezTo>
                        <a:cubicBezTo>
                          <a:pt x="2556080" y="-325"/>
                          <a:pt x="2357500" y="46404"/>
                          <a:pt x="2133116" y="20159"/>
                        </a:cubicBezTo>
                        <a:cubicBezTo>
                          <a:pt x="1908732" y="-6086"/>
                          <a:pt x="1586604" y="18051"/>
                          <a:pt x="1353045" y="20159"/>
                        </a:cubicBezTo>
                        <a:cubicBezTo>
                          <a:pt x="1119486" y="22267"/>
                          <a:pt x="1034265" y="7597"/>
                          <a:pt x="842201" y="20159"/>
                        </a:cubicBezTo>
                        <a:cubicBezTo>
                          <a:pt x="650137" y="32721"/>
                          <a:pt x="184422" y="26941"/>
                          <a:pt x="0" y="20159"/>
                        </a:cubicBezTo>
                        <a:cubicBezTo>
                          <a:pt x="1005" y="14381"/>
                          <a:pt x="940" y="4962"/>
                          <a:pt x="0" y="0"/>
                        </a:cubicBezTo>
                        <a:close/>
                      </a:path>
                      <a:path w="8974276" h="20159" stroke="0" extrusionOk="0">
                        <a:moveTo>
                          <a:pt x="0" y="0"/>
                        </a:moveTo>
                        <a:cubicBezTo>
                          <a:pt x="144422" y="16250"/>
                          <a:pt x="478464" y="1403"/>
                          <a:pt x="600586" y="0"/>
                        </a:cubicBezTo>
                        <a:cubicBezTo>
                          <a:pt x="722708" y="-1403"/>
                          <a:pt x="818531" y="-16117"/>
                          <a:pt x="1021687" y="0"/>
                        </a:cubicBezTo>
                        <a:cubicBezTo>
                          <a:pt x="1224843" y="16117"/>
                          <a:pt x="1467451" y="32888"/>
                          <a:pt x="1891501" y="0"/>
                        </a:cubicBezTo>
                        <a:cubicBezTo>
                          <a:pt x="2315551" y="-32888"/>
                          <a:pt x="2226053" y="29411"/>
                          <a:pt x="2492087" y="0"/>
                        </a:cubicBezTo>
                        <a:cubicBezTo>
                          <a:pt x="2758121" y="-29411"/>
                          <a:pt x="2926098" y="-23291"/>
                          <a:pt x="3092674" y="0"/>
                        </a:cubicBezTo>
                        <a:cubicBezTo>
                          <a:pt x="3259250" y="23291"/>
                          <a:pt x="3755917" y="-21280"/>
                          <a:pt x="3962488" y="0"/>
                        </a:cubicBezTo>
                        <a:cubicBezTo>
                          <a:pt x="4169059" y="21280"/>
                          <a:pt x="4370581" y="-641"/>
                          <a:pt x="4473331" y="0"/>
                        </a:cubicBezTo>
                        <a:cubicBezTo>
                          <a:pt x="4576081" y="641"/>
                          <a:pt x="5154732" y="6658"/>
                          <a:pt x="5343146" y="0"/>
                        </a:cubicBezTo>
                        <a:cubicBezTo>
                          <a:pt x="5531560" y="-6658"/>
                          <a:pt x="5898845" y="-4229"/>
                          <a:pt x="6212960" y="0"/>
                        </a:cubicBezTo>
                        <a:cubicBezTo>
                          <a:pt x="6527075" y="4229"/>
                          <a:pt x="6698755" y="-18559"/>
                          <a:pt x="6903289" y="0"/>
                        </a:cubicBezTo>
                        <a:cubicBezTo>
                          <a:pt x="7107823" y="18559"/>
                          <a:pt x="7480389" y="36157"/>
                          <a:pt x="7773104" y="0"/>
                        </a:cubicBezTo>
                        <a:cubicBezTo>
                          <a:pt x="8065820" y="-36157"/>
                          <a:pt x="8239902" y="964"/>
                          <a:pt x="8373690" y="0"/>
                        </a:cubicBezTo>
                        <a:cubicBezTo>
                          <a:pt x="8507478" y="-964"/>
                          <a:pt x="8713268" y="22725"/>
                          <a:pt x="8974276" y="0"/>
                        </a:cubicBezTo>
                        <a:cubicBezTo>
                          <a:pt x="8974621" y="9051"/>
                          <a:pt x="8974315" y="13764"/>
                          <a:pt x="8974276" y="20159"/>
                        </a:cubicBezTo>
                        <a:cubicBezTo>
                          <a:pt x="8724149" y="27323"/>
                          <a:pt x="8615348" y="628"/>
                          <a:pt x="8283947" y="20159"/>
                        </a:cubicBezTo>
                        <a:cubicBezTo>
                          <a:pt x="7952546" y="39690"/>
                          <a:pt x="7745156" y="43189"/>
                          <a:pt x="7593618" y="20159"/>
                        </a:cubicBezTo>
                        <a:cubicBezTo>
                          <a:pt x="7442080" y="-2871"/>
                          <a:pt x="7037419" y="44082"/>
                          <a:pt x="6723804" y="20159"/>
                        </a:cubicBezTo>
                        <a:cubicBezTo>
                          <a:pt x="6410189" y="-3764"/>
                          <a:pt x="6244694" y="25386"/>
                          <a:pt x="6033475" y="20159"/>
                        </a:cubicBezTo>
                        <a:cubicBezTo>
                          <a:pt x="5822256" y="14932"/>
                          <a:pt x="5767540" y="24892"/>
                          <a:pt x="5612374" y="20159"/>
                        </a:cubicBezTo>
                        <a:cubicBezTo>
                          <a:pt x="5457208" y="15426"/>
                          <a:pt x="5206963" y="14316"/>
                          <a:pt x="5101531" y="20159"/>
                        </a:cubicBezTo>
                        <a:cubicBezTo>
                          <a:pt x="4996099" y="26002"/>
                          <a:pt x="4610998" y="-20487"/>
                          <a:pt x="4231716" y="20159"/>
                        </a:cubicBezTo>
                        <a:cubicBezTo>
                          <a:pt x="3852434" y="60805"/>
                          <a:pt x="3780038" y="18973"/>
                          <a:pt x="3541387" y="20159"/>
                        </a:cubicBezTo>
                        <a:cubicBezTo>
                          <a:pt x="3302736" y="21345"/>
                          <a:pt x="3171257" y="3853"/>
                          <a:pt x="3030544" y="20159"/>
                        </a:cubicBezTo>
                        <a:cubicBezTo>
                          <a:pt x="2889831" y="36465"/>
                          <a:pt x="2606062" y="39269"/>
                          <a:pt x="2340215" y="20159"/>
                        </a:cubicBezTo>
                        <a:cubicBezTo>
                          <a:pt x="2074368" y="1049"/>
                          <a:pt x="2121463" y="37109"/>
                          <a:pt x="1919114" y="20159"/>
                        </a:cubicBezTo>
                        <a:cubicBezTo>
                          <a:pt x="1716765" y="3209"/>
                          <a:pt x="1683550" y="16874"/>
                          <a:pt x="1498014" y="20159"/>
                        </a:cubicBezTo>
                        <a:cubicBezTo>
                          <a:pt x="1312478" y="23444"/>
                          <a:pt x="981544" y="5974"/>
                          <a:pt x="807685" y="20159"/>
                        </a:cubicBezTo>
                        <a:cubicBezTo>
                          <a:pt x="633826" y="34344"/>
                          <a:pt x="213205" y="58480"/>
                          <a:pt x="0" y="20159"/>
                        </a:cubicBezTo>
                        <a:cubicBezTo>
                          <a:pt x="685" y="15408"/>
                          <a:pt x="-736" y="507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ítulo 2"/>
          <p:cNvSpPr>
            <a:spLocks noGrp="1"/>
          </p:cNvSpPr>
          <p:nvPr>
            <p:ph type="subTitle" idx="1"/>
          </p:nvPr>
        </p:nvSpPr>
        <p:spPr>
          <a:xfrm>
            <a:off x="611372" y="2126788"/>
            <a:ext cx="8776210" cy="4810956"/>
          </a:xfr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endParaRPr lang="en-US" sz="1900"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sz="1900" kern="1200" dirty="0">
                <a:solidFill>
                  <a:schemeClr val="tx1"/>
                </a:solidFill>
                <a:latin typeface="+mn-lt"/>
                <a:ea typeface="+mn-ea"/>
                <a:cs typeface="+mn-cs"/>
              </a:rPr>
              <a:t>Hay </a:t>
            </a:r>
            <a:r>
              <a:rPr lang="en-US" sz="1900" kern="1200" dirty="0" err="1">
                <a:solidFill>
                  <a:schemeClr val="tx1"/>
                </a:solidFill>
                <a:latin typeface="+mn-lt"/>
                <a:ea typeface="+mn-ea"/>
                <a:cs typeface="+mn-cs"/>
              </a:rPr>
              <a:t>una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estructura</a:t>
            </a:r>
            <a:r>
              <a:rPr lang="en-US" sz="1900" kern="1200" dirty="0">
                <a:solidFill>
                  <a:schemeClr val="tx1"/>
                </a:solidFill>
                <a:latin typeface="+mn-lt"/>
                <a:ea typeface="+mn-ea"/>
                <a:cs typeface="+mn-cs"/>
              </a:rPr>
              <a:t> de </a:t>
            </a:r>
            <a:r>
              <a:rPr lang="en-US" sz="1900" kern="1200" dirty="0" err="1">
                <a:solidFill>
                  <a:schemeClr val="tx1"/>
                </a:solidFill>
                <a:latin typeface="+mn-lt"/>
                <a:ea typeface="+mn-ea"/>
                <a:cs typeface="+mn-cs"/>
              </a:rPr>
              <a:t>procesamiento</a:t>
            </a:r>
            <a:r>
              <a:rPr lang="en-US" sz="1900" kern="1200" dirty="0">
                <a:solidFill>
                  <a:schemeClr val="tx1"/>
                </a:solidFill>
                <a:latin typeface="+mn-lt"/>
                <a:ea typeface="+mn-ea"/>
                <a:cs typeface="+mn-cs"/>
              </a:rPr>
              <a:t> que es </a:t>
            </a:r>
            <a:r>
              <a:rPr lang="en-US" sz="1900" kern="1200" dirty="0" err="1">
                <a:solidFill>
                  <a:schemeClr val="tx1"/>
                </a:solidFill>
                <a:latin typeface="+mn-lt"/>
                <a:ea typeface="+mn-ea"/>
                <a:cs typeface="+mn-cs"/>
              </a:rPr>
              <a:t>fija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el</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sistema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cognitivo</a:t>
            </a:r>
            <a:r>
              <a:rPr lang="en-US" sz="1900" kern="1200" dirty="0">
                <a:solidFill>
                  <a:schemeClr val="tx1"/>
                </a:solidFill>
                <a:latin typeface="+mn-lt"/>
                <a:ea typeface="+mn-ea"/>
                <a:cs typeface="+mn-cs"/>
              </a:rPr>
              <a:t> que </a:t>
            </a:r>
            <a:r>
              <a:rPr lang="en-US" sz="1900" kern="1200" dirty="0" err="1">
                <a:solidFill>
                  <a:schemeClr val="tx1"/>
                </a:solidFill>
                <a:latin typeface="+mn-lt"/>
                <a:ea typeface="+mn-ea"/>
                <a:cs typeface="+mn-cs"/>
              </a:rPr>
              <a:t>soluciona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distintos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problemas</a:t>
            </a:r>
            <a:r>
              <a:rPr lang="en-US" sz="1900" kern="1200" dirty="0">
                <a:solidFill>
                  <a:schemeClr val="tx1"/>
                </a:solidFill>
                <a:latin typeface="+mn-lt"/>
                <a:ea typeface="+mn-ea"/>
                <a:cs typeface="+mn-cs"/>
              </a:rPr>
              <a:t> es </a:t>
            </a:r>
            <a:r>
              <a:rPr lang="en-US" sz="1900" kern="1200" dirty="0" err="1">
                <a:solidFill>
                  <a:schemeClr val="tx1"/>
                </a:solidFill>
                <a:latin typeface="+mn-lt"/>
                <a:ea typeface="+mn-ea"/>
                <a:cs typeface="+mn-cs"/>
              </a:rPr>
              <a:t>siempre</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el</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mismo</a:t>
            </a:r>
            <a:r>
              <a:rPr lang="en-US" sz="1900" kern="1200" dirty="0">
                <a:solidFill>
                  <a:schemeClr val="tx1"/>
                </a:solidFill>
                <a:latin typeface="+mn-lt"/>
                <a:ea typeface="+mn-ea"/>
                <a:cs typeface="+mn-cs"/>
              </a:rPr>
              <a:t>).</a:t>
            </a:r>
          </a:p>
          <a:p>
            <a:pPr marL="457200" indent="-228600">
              <a:lnSpc>
                <a:spcPct val="90000"/>
              </a:lnSpc>
              <a:spcAft>
                <a:spcPts val="600"/>
              </a:spcAft>
              <a:buFont typeface="Arial" panose="020B0604020202020204" pitchFamily="34" charset="0"/>
              <a:buChar char="•"/>
            </a:pPr>
            <a:r>
              <a:rPr lang="en-US" sz="1900" kern="1200" dirty="0" err="1">
                <a:solidFill>
                  <a:schemeClr val="tx1"/>
                </a:solidFill>
                <a:latin typeface="+mn-lt"/>
                <a:ea typeface="+mn-ea"/>
                <a:cs typeface="+mn-cs"/>
              </a:rPr>
              <a:t>Distintos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problemas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pueden</a:t>
            </a:r>
            <a:r>
              <a:rPr lang="en-US" sz="1900" kern="1200" dirty="0">
                <a:solidFill>
                  <a:schemeClr val="tx1"/>
                </a:solidFill>
                <a:latin typeface="+mn-lt"/>
                <a:ea typeface="+mn-ea"/>
                <a:cs typeface="+mn-cs"/>
              </a:rPr>
              <a:t> ser </a:t>
            </a:r>
            <a:r>
              <a:rPr lang="en-US" sz="1900" kern="1200" dirty="0" err="1">
                <a:solidFill>
                  <a:schemeClr val="tx1"/>
                </a:solidFill>
                <a:latin typeface="+mn-lt"/>
                <a:ea typeface="+mn-ea"/>
                <a:cs typeface="+mn-cs"/>
              </a:rPr>
              <a:t>expresados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como</a:t>
            </a:r>
            <a:r>
              <a:rPr lang="en-US" sz="1900" kern="1200" dirty="0">
                <a:solidFill>
                  <a:schemeClr val="tx1"/>
                </a:solidFill>
                <a:latin typeface="+mn-lt"/>
                <a:ea typeface="+mn-ea"/>
                <a:cs typeface="+mn-cs"/>
              </a:rPr>
              <a:t> un </a:t>
            </a:r>
            <a:r>
              <a:rPr lang="en-US" sz="1900" kern="1200" dirty="0" err="1">
                <a:solidFill>
                  <a:schemeClr val="tx1"/>
                </a:solidFill>
                <a:latin typeface="+mn-lt"/>
                <a:ea typeface="+mn-ea"/>
                <a:cs typeface="+mn-cs"/>
              </a:rPr>
              <a:t>espacio</a:t>
            </a:r>
            <a:r>
              <a:rPr lang="en-US" sz="1900" kern="1200" dirty="0">
                <a:solidFill>
                  <a:schemeClr val="tx1"/>
                </a:solidFill>
                <a:latin typeface="+mn-lt"/>
                <a:ea typeface="+mn-ea"/>
                <a:cs typeface="+mn-cs"/>
              </a:rPr>
              <a:t> de </a:t>
            </a:r>
            <a:r>
              <a:rPr lang="en-US" sz="1900" kern="1200" dirty="0" err="1">
                <a:solidFill>
                  <a:schemeClr val="tx1"/>
                </a:solidFill>
                <a:latin typeface="+mn-lt"/>
                <a:ea typeface="+mn-ea"/>
                <a:cs typeface="+mn-cs"/>
              </a:rPr>
              <a:t>búsqueda</a:t>
            </a:r>
            <a:r>
              <a:rPr lang="en-US" sz="1900" kern="1200" dirty="0">
                <a:solidFill>
                  <a:schemeClr val="tx1"/>
                </a:solidFill>
                <a:latin typeface="+mn-lt"/>
                <a:ea typeface="+mn-ea"/>
                <a:cs typeface="+mn-cs"/>
              </a:rPr>
              <a:t>.</a:t>
            </a:r>
          </a:p>
          <a:p>
            <a:pPr marL="457200" indent="-228600">
              <a:lnSpc>
                <a:spcPct val="90000"/>
              </a:lnSpc>
              <a:spcAft>
                <a:spcPts val="600"/>
              </a:spcAft>
              <a:buFont typeface="Arial" panose="020B0604020202020204" pitchFamily="34" charset="0"/>
              <a:buChar char="•"/>
            </a:pPr>
            <a:r>
              <a:rPr lang="en-US" sz="1900" kern="1200" dirty="0">
                <a:solidFill>
                  <a:schemeClr val="tx1"/>
                </a:solidFill>
                <a:latin typeface="+mn-lt"/>
                <a:ea typeface="+mn-ea"/>
                <a:cs typeface="+mn-cs"/>
              </a:rPr>
              <a:t>Se </a:t>
            </a:r>
            <a:r>
              <a:rPr lang="en-US" sz="1900" kern="1200" dirty="0" err="1">
                <a:solidFill>
                  <a:schemeClr val="tx1"/>
                </a:solidFill>
                <a:latin typeface="+mn-lt"/>
                <a:ea typeface="+mn-ea"/>
                <a:cs typeface="+mn-cs"/>
              </a:rPr>
              <a:t>puede</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llegar</a:t>
            </a:r>
            <a:r>
              <a:rPr lang="en-US" sz="1900" kern="1200" dirty="0">
                <a:solidFill>
                  <a:schemeClr val="tx1"/>
                </a:solidFill>
                <a:latin typeface="+mn-lt"/>
                <a:ea typeface="+mn-ea"/>
                <a:cs typeface="+mn-cs"/>
              </a:rPr>
              <a:t> a </a:t>
            </a:r>
            <a:r>
              <a:rPr lang="en-US" sz="1900" kern="1200" dirty="0" err="1">
                <a:solidFill>
                  <a:schemeClr val="tx1"/>
                </a:solidFill>
                <a:latin typeface="+mn-lt"/>
                <a:ea typeface="+mn-ea"/>
                <a:cs typeface="+mn-cs"/>
              </a:rPr>
              <a:t>una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solución</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aplicando</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reglas</a:t>
            </a:r>
            <a:r>
              <a:rPr lang="en-US" sz="1900" kern="1200" dirty="0">
                <a:solidFill>
                  <a:schemeClr val="tx1"/>
                </a:solidFill>
                <a:latin typeface="+mn-lt"/>
                <a:ea typeface="+mn-ea"/>
                <a:cs typeface="+mn-cs"/>
              </a:rPr>
              <a:t> (if-then) para </a:t>
            </a:r>
            <a:r>
              <a:rPr lang="en-US" sz="1900" kern="1200" dirty="0" err="1">
                <a:solidFill>
                  <a:schemeClr val="tx1"/>
                </a:solidFill>
                <a:latin typeface="+mn-lt"/>
                <a:ea typeface="+mn-ea"/>
                <a:cs typeface="+mn-cs"/>
              </a:rPr>
              <a:t>actuar</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en</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el</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ambiente</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este</a:t>
            </a:r>
            <a:r>
              <a:rPr lang="en-US" sz="1900" kern="1200" dirty="0">
                <a:solidFill>
                  <a:schemeClr val="tx1"/>
                </a:solidFill>
                <a:latin typeface="+mn-lt"/>
                <a:ea typeface="+mn-ea"/>
                <a:cs typeface="+mn-cs"/>
              </a:rPr>
              <a:t> es </a:t>
            </a:r>
            <a:r>
              <a:rPr lang="en-US" sz="1900" kern="1200" dirty="0" err="1">
                <a:solidFill>
                  <a:schemeClr val="tx1"/>
                </a:solidFill>
                <a:latin typeface="+mn-lt"/>
                <a:ea typeface="+mn-ea"/>
                <a:cs typeface="+mn-cs"/>
              </a:rPr>
              <a:t>el</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conocimiento</a:t>
            </a:r>
            <a:r>
              <a:rPr lang="en-US" sz="1900" kern="1200" dirty="0">
                <a:solidFill>
                  <a:schemeClr val="tx1"/>
                </a:solidFill>
                <a:latin typeface="+mn-lt"/>
                <a:ea typeface="+mn-ea"/>
                <a:cs typeface="+mn-cs"/>
              </a:rPr>
              <a:t> que </a:t>
            </a:r>
            <a:r>
              <a:rPr lang="en-US" sz="1900" kern="1200" dirty="0" err="1">
                <a:solidFill>
                  <a:schemeClr val="tx1"/>
                </a:solidFill>
                <a:latin typeface="+mn-lt"/>
                <a:ea typeface="+mn-ea"/>
                <a:cs typeface="+mn-cs"/>
              </a:rPr>
              <a:t>el</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sistema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tiene</a:t>
            </a:r>
            <a:r>
              <a:rPr lang="en-US" sz="1900" kern="1200" dirty="0">
                <a:solidFill>
                  <a:schemeClr val="tx1"/>
                </a:solidFill>
                <a:latin typeface="+mn-lt"/>
                <a:ea typeface="+mn-ea"/>
                <a:cs typeface="+mn-cs"/>
              </a:rPr>
              <a:t>).</a:t>
            </a:r>
          </a:p>
          <a:p>
            <a:pPr marL="457200" indent="-228600">
              <a:lnSpc>
                <a:spcPct val="90000"/>
              </a:lnSpc>
              <a:spcAft>
                <a:spcPts val="600"/>
              </a:spcAft>
              <a:buFont typeface="Arial" panose="020B0604020202020204" pitchFamily="34" charset="0"/>
              <a:buChar char="•"/>
            </a:pPr>
            <a:r>
              <a:rPr lang="en-US" sz="1900" kern="1200" dirty="0" err="1">
                <a:solidFill>
                  <a:schemeClr val="tx1"/>
                </a:solidFill>
                <a:latin typeface="+mn-lt"/>
                <a:ea typeface="+mn-ea"/>
                <a:cs typeface="+mn-cs"/>
              </a:rPr>
              <a:t>Estas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reglas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están</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en</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una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memoria</a:t>
            </a:r>
            <a:r>
              <a:rPr lang="en-US" sz="1900" kern="1200" dirty="0">
                <a:solidFill>
                  <a:schemeClr val="tx1"/>
                </a:solidFill>
                <a:latin typeface="+mn-lt"/>
                <a:ea typeface="+mn-ea"/>
                <a:cs typeface="+mn-cs"/>
              </a:rPr>
              <a:t> de largo </a:t>
            </a:r>
            <a:r>
              <a:rPr lang="en-US" sz="1900" kern="1200" dirty="0" err="1">
                <a:solidFill>
                  <a:schemeClr val="tx1"/>
                </a:solidFill>
                <a:latin typeface="+mn-lt"/>
                <a:ea typeface="+mn-ea"/>
                <a:cs typeface="+mn-cs"/>
              </a:rPr>
              <a:t>plazo</a:t>
            </a:r>
            <a:r>
              <a:rPr lang="en-US" sz="1900" kern="1200" dirty="0">
                <a:solidFill>
                  <a:schemeClr val="tx1"/>
                </a:solidFill>
                <a:latin typeface="+mn-lt"/>
                <a:ea typeface="+mn-ea"/>
                <a:cs typeface="+mn-cs"/>
              </a:rPr>
              <a:t> (MLP) que </a:t>
            </a:r>
            <a:r>
              <a:rPr lang="en-US" sz="1900" kern="1200" dirty="0" err="1">
                <a:solidFill>
                  <a:schemeClr val="tx1"/>
                </a:solidFill>
                <a:latin typeface="+mn-lt"/>
                <a:ea typeface="+mn-ea"/>
                <a:cs typeface="+mn-cs"/>
              </a:rPr>
              <a:t>tiene</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una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estructura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jerárquica</a:t>
            </a:r>
            <a:r>
              <a:rPr lang="en-US" sz="1900" kern="1200" dirty="0">
                <a:solidFill>
                  <a:schemeClr val="tx1"/>
                </a:solidFill>
                <a:latin typeface="+mn-lt"/>
                <a:ea typeface="+mn-ea"/>
                <a:cs typeface="+mn-cs"/>
              </a:rPr>
              <a:t>.</a:t>
            </a:r>
          </a:p>
          <a:p>
            <a:pPr marL="457200" indent="-228600">
              <a:lnSpc>
                <a:spcPct val="90000"/>
              </a:lnSpc>
              <a:spcAft>
                <a:spcPts val="600"/>
              </a:spcAft>
              <a:buFont typeface="Arial" panose="020B0604020202020204" pitchFamily="34" charset="0"/>
              <a:buChar char="•"/>
            </a:pPr>
            <a:r>
              <a:rPr lang="en-US" sz="1900" kern="1200" dirty="0">
                <a:solidFill>
                  <a:schemeClr val="tx1"/>
                </a:solidFill>
                <a:latin typeface="+mn-lt"/>
                <a:ea typeface="+mn-ea"/>
                <a:cs typeface="+mn-cs"/>
              </a:rPr>
              <a:t>Hay un </a:t>
            </a:r>
            <a:r>
              <a:rPr lang="en-US" sz="1900" kern="1200" dirty="0" err="1">
                <a:solidFill>
                  <a:schemeClr val="tx1"/>
                </a:solidFill>
                <a:latin typeface="+mn-lt"/>
                <a:ea typeface="+mn-ea"/>
                <a:cs typeface="+mn-cs"/>
              </a:rPr>
              <a:t>proceso</a:t>
            </a:r>
            <a:r>
              <a:rPr lang="en-US" sz="1900" kern="1200" dirty="0">
                <a:solidFill>
                  <a:schemeClr val="tx1"/>
                </a:solidFill>
                <a:latin typeface="+mn-lt"/>
                <a:ea typeface="+mn-ea"/>
                <a:cs typeface="+mn-cs"/>
              </a:rPr>
              <a:t> de </a:t>
            </a:r>
            <a:r>
              <a:rPr lang="en-US" sz="1900" kern="1200" dirty="0" err="1">
                <a:solidFill>
                  <a:schemeClr val="tx1"/>
                </a:solidFill>
                <a:latin typeface="+mn-lt"/>
                <a:ea typeface="+mn-ea"/>
                <a:cs typeface="+mn-cs"/>
              </a:rPr>
              <a:t>decisión</a:t>
            </a:r>
            <a:r>
              <a:rPr lang="en-US" sz="1900" kern="1200" dirty="0">
                <a:solidFill>
                  <a:schemeClr val="tx1"/>
                </a:solidFill>
                <a:latin typeface="+mn-lt"/>
                <a:ea typeface="+mn-ea"/>
                <a:cs typeface="+mn-cs"/>
              </a:rPr>
              <a:t> que </a:t>
            </a:r>
            <a:r>
              <a:rPr lang="en-US" sz="1900" kern="1200" dirty="0" err="1">
                <a:solidFill>
                  <a:schemeClr val="tx1"/>
                </a:solidFill>
                <a:latin typeface="+mn-lt"/>
                <a:ea typeface="+mn-ea"/>
                <a:cs typeface="+mn-cs"/>
              </a:rPr>
              <a:t>valora</a:t>
            </a:r>
            <a:r>
              <a:rPr lang="en-US" sz="1900" kern="1200" dirty="0">
                <a:solidFill>
                  <a:schemeClr val="tx1"/>
                </a:solidFill>
                <a:latin typeface="+mn-lt"/>
                <a:ea typeface="+mn-ea"/>
                <a:cs typeface="+mn-cs"/>
              </a:rPr>
              <a:t> las </a:t>
            </a:r>
            <a:r>
              <a:rPr lang="en-US" sz="1900" kern="1200" dirty="0" err="1">
                <a:solidFill>
                  <a:schemeClr val="tx1"/>
                </a:solidFill>
                <a:latin typeface="+mn-lt"/>
                <a:ea typeface="+mn-ea"/>
                <a:cs typeface="+mn-cs"/>
              </a:rPr>
              <a:t>distintas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alternativas</a:t>
            </a:r>
            <a:r>
              <a:rPr lang="en-US" sz="1900" kern="1200" dirty="0">
                <a:solidFill>
                  <a:schemeClr val="tx1"/>
                </a:solidFill>
                <a:latin typeface="+mn-lt"/>
                <a:ea typeface="+mn-ea"/>
                <a:cs typeface="+mn-cs"/>
              </a:rPr>
              <a:t> de </a:t>
            </a:r>
            <a:r>
              <a:rPr lang="en-US" sz="1900" kern="1200" dirty="0" err="1">
                <a:solidFill>
                  <a:schemeClr val="tx1"/>
                </a:solidFill>
                <a:latin typeface="+mn-lt"/>
                <a:ea typeface="+mn-ea"/>
                <a:cs typeface="+mn-cs"/>
              </a:rPr>
              <a:t>acción</a:t>
            </a:r>
            <a:r>
              <a:rPr lang="en-US" sz="1900" kern="1200" dirty="0">
                <a:solidFill>
                  <a:schemeClr val="tx1"/>
                </a:solidFill>
                <a:latin typeface="+mn-lt"/>
                <a:ea typeface="+mn-ea"/>
                <a:cs typeface="+mn-cs"/>
              </a:rPr>
              <a:t> de </a:t>
            </a:r>
            <a:r>
              <a:rPr lang="en-US" sz="1900" kern="1200" dirty="0" err="1">
                <a:solidFill>
                  <a:schemeClr val="tx1"/>
                </a:solidFill>
                <a:latin typeface="+mn-lt"/>
                <a:ea typeface="+mn-ea"/>
                <a:cs typeface="+mn-cs"/>
              </a:rPr>
              <a:t>acuerdo</a:t>
            </a:r>
            <a:r>
              <a:rPr lang="en-US" sz="1900" kern="1200" dirty="0">
                <a:solidFill>
                  <a:schemeClr val="tx1"/>
                </a:solidFill>
                <a:latin typeface="+mn-lt"/>
                <a:ea typeface="+mn-ea"/>
                <a:cs typeface="+mn-cs"/>
              </a:rPr>
              <a:t> a la meta actual.</a:t>
            </a:r>
          </a:p>
          <a:p>
            <a:pPr marL="457200" indent="-228600">
              <a:lnSpc>
                <a:spcPct val="90000"/>
              </a:lnSpc>
              <a:spcAft>
                <a:spcPts val="600"/>
              </a:spcAft>
              <a:buFont typeface="Arial" panose="020B0604020202020204" pitchFamily="34" charset="0"/>
              <a:buChar char="•"/>
            </a:pPr>
            <a:r>
              <a:rPr lang="en-US" sz="1900" kern="1200" dirty="0">
                <a:solidFill>
                  <a:schemeClr val="tx1"/>
                </a:solidFill>
                <a:latin typeface="+mn-lt"/>
                <a:ea typeface="+mn-ea"/>
                <a:cs typeface="+mn-cs"/>
              </a:rPr>
              <a:t>El </a:t>
            </a:r>
            <a:r>
              <a:rPr lang="en-US" sz="1900" kern="1200" dirty="0" err="1">
                <a:solidFill>
                  <a:schemeClr val="tx1"/>
                </a:solidFill>
                <a:latin typeface="+mn-lt"/>
                <a:ea typeface="+mn-ea"/>
                <a:cs typeface="+mn-cs"/>
              </a:rPr>
              <a:t>sistema</a:t>
            </a:r>
            <a:r>
              <a:rPr lang="en-US" sz="1900" kern="1200" dirty="0">
                <a:solidFill>
                  <a:schemeClr val="tx1"/>
                </a:solidFill>
                <a:latin typeface="+mn-lt"/>
                <a:ea typeface="+mn-ea"/>
                <a:cs typeface="+mn-cs"/>
              </a:rPr>
              <a:t> opera </a:t>
            </a:r>
            <a:r>
              <a:rPr lang="en-US" sz="1900" kern="1200" dirty="0" err="1">
                <a:solidFill>
                  <a:schemeClr val="tx1"/>
                </a:solidFill>
                <a:latin typeface="+mn-lt"/>
                <a:ea typeface="+mn-ea"/>
                <a:cs typeface="+mn-cs"/>
              </a:rPr>
              <a:t>sobre</a:t>
            </a:r>
            <a:r>
              <a:rPr lang="en-US" sz="1900" kern="1200" dirty="0">
                <a:solidFill>
                  <a:schemeClr val="tx1"/>
                </a:solidFill>
                <a:latin typeface="+mn-lt"/>
                <a:ea typeface="+mn-ea"/>
                <a:cs typeface="+mn-cs"/>
              </a:rPr>
              <a:t> un </a:t>
            </a:r>
            <a:r>
              <a:rPr lang="en-US" sz="1900" kern="1200" dirty="0" err="1">
                <a:solidFill>
                  <a:schemeClr val="tx1"/>
                </a:solidFill>
                <a:latin typeface="+mn-lt"/>
                <a:ea typeface="+mn-ea"/>
                <a:cs typeface="+mn-cs"/>
              </a:rPr>
              <a:t>ambiente</a:t>
            </a:r>
            <a:r>
              <a:rPr lang="en-US" sz="1900" kern="1200" dirty="0">
                <a:solidFill>
                  <a:schemeClr val="tx1"/>
                </a:solidFill>
                <a:latin typeface="+mn-lt"/>
                <a:ea typeface="+mn-ea"/>
                <a:cs typeface="+mn-cs"/>
              </a:rPr>
              <a:t>, de modo que sus </a:t>
            </a:r>
            <a:r>
              <a:rPr lang="en-US" sz="1900" kern="1200" dirty="0" err="1">
                <a:solidFill>
                  <a:schemeClr val="tx1"/>
                </a:solidFill>
                <a:latin typeface="+mn-lt"/>
                <a:ea typeface="+mn-ea"/>
                <a:cs typeface="+mn-cs"/>
              </a:rPr>
              <a:t>acciones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tienen</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consecuencias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retroalimentación</a:t>
            </a:r>
            <a:r>
              <a:rPr lang="en-US" sz="1900" kern="1200" dirty="0">
                <a:solidFill>
                  <a:schemeClr val="tx1"/>
                </a:solidFill>
                <a:latin typeface="+mn-lt"/>
                <a:ea typeface="+mn-ea"/>
                <a:cs typeface="+mn-cs"/>
              </a:rPr>
              <a:t>).</a:t>
            </a:r>
          </a:p>
          <a:p>
            <a:pPr marL="457200" indent="-228600">
              <a:lnSpc>
                <a:spcPct val="90000"/>
              </a:lnSpc>
              <a:spcAft>
                <a:spcPts val="600"/>
              </a:spcAft>
              <a:buFont typeface="Arial" panose="020B0604020202020204" pitchFamily="34" charset="0"/>
              <a:buChar char="•"/>
            </a:pPr>
            <a:r>
              <a:rPr lang="en-US" sz="1900" kern="1200" dirty="0">
                <a:solidFill>
                  <a:schemeClr val="tx1"/>
                </a:solidFill>
                <a:latin typeface="+mn-lt"/>
                <a:ea typeface="+mn-ea"/>
                <a:cs typeface="+mn-cs"/>
              </a:rPr>
              <a:t>El </a:t>
            </a:r>
            <a:r>
              <a:rPr lang="en-US" sz="1900" kern="1200" dirty="0" err="1">
                <a:solidFill>
                  <a:schemeClr val="tx1"/>
                </a:solidFill>
                <a:latin typeface="+mn-lt"/>
                <a:ea typeface="+mn-ea"/>
                <a:cs typeface="+mn-cs"/>
              </a:rPr>
              <a:t>sistema</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puede</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adquirir</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reglas</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por</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aprendizaje</a:t>
            </a:r>
            <a:r>
              <a:rPr lang="en-US" sz="1900" kern="1200" dirty="0">
                <a:solidFill>
                  <a:schemeClr val="tx1"/>
                </a:solidFill>
                <a:latin typeface="+mn-lt"/>
                <a:ea typeface="+mn-ea"/>
                <a:cs typeface="+mn-cs"/>
              </a:rPr>
              <a:t> (no </a:t>
            </a:r>
            <a:r>
              <a:rPr lang="en-US" sz="1900" kern="1200" dirty="0" err="1">
                <a:solidFill>
                  <a:schemeClr val="tx1"/>
                </a:solidFill>
                <a:latin typeface="+mn-lt"/>
                <a:ea typeface="+mn-ea"/>
                <a:cs typeface="+mn-cs"/>
              </a:rPr>
              <a:t>todo</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tiene</a:t>
            </a:r>
            <a:r>
              <a:rPr lang="en-US" sz="1900" kern="1200" dirty="0">
                <a:solidFill>
                  <a:schemeClr val="tx1"/>
                </a:solidFill>
                <a:latin typeface="+mn-lt"/>
                <a:ea typeface="+mn-ea"/>
                <a:cs typeface="+mn-cs"/>
              </a:rPr>
              <a:t> que </a:t>
            </a:r>
            <a:r>
              <a:rPr lang="en-US" sz="1900" kern="1200" dirty="0" err="1">
                <a:solidFill>
                  <a:schemeClr val="tx1"/>
                </a:solidFill>
                <a:latin typeface="+mn-lt"/>
                <a:ea typeface="+mn-ea"/>
                <a:cs typeface="+mn-cs"/>
              </a:rPr>
              <a:t>estar</a:t>
            </a:r>
            <a:r>
              <a:rPr lang="en-US" sz="1900" kern="1200" dirty="0">
                <a:solidFill>
                  <a:schemeClr val="tx1"/>
                </a:solidFill>
                <a:latin typeface="+mn-lt"/>
                <a:ea typeface="+mn-ea"/>
                <a:cs typeface="+mn-cs"/>
              </a:rPr>
              <a:t> </a:t>
            </a:r>
            <a:r>
              <a:rPr lang="en-US" sz="1900" kern="1200" dirty="0" err="1">
                <a:solidFill>
                  <a:schemeClr val="tx1"/>
                </a:solidFill>
                <a:latin typeface="+mn-lt"/>
                <a:ea typeface="+mn-ea"/>
                <a:cs typeface="+mn-cs"/>
              </a:rPr>
              <a:t>programado</a:t>
            </a:r>
            <a:r>
              <a:rPr lang="en-US" sz="1900" kern="1200" dirty="0">
                <a:solidFill>
                  <a:schemeClr val="tx1"/>
                </a:solidFill>
                <a:latin typeface="+mn-lt"/>
                <a:ea typeface="+mn-ea"/>
                <a:cs typeface="+mn-cs"/>
              </a:rPr>
              <a:t>).</a:t>
            </a:r>
          </a:p>
          <a:p>
            <a:pPr indent="-228600">
              <a:lnSpc>
                <a:spcPct val="90000"/>
              </a:lnSpc>
              <a:spcAft>
                <a:spcPts val="600"/>
              </a:spcAft>
              <a:buFont typeface="Arial" panose="020B0604020202020204" pitchFamily="34" charset="0"/>
              <a:buChar char="•"/>
            </a:pPr>
            <a:endParaRPr lang="en-US" sz="1900" kern="1200" dirty="0">
              <a:solidFill>
                <a:schemeClr val="tx1"/>
              </a:solidFill>
              <a:latin typeface="+mn-lt"/>
              <a:ea typeface="+mn-ea"/>
              <a:cs typeface="+mn-cs"/>
            </a:endParaRPr>
          </a:p>
        </p:txBody>
      </p:sp>
    </p:spTree>
    <p:extLst>
      <p:ext uri="{BB962C8B-B14F-4D97-AF65-F5344CB8AC3E}">
        <p14:creationId xmlns:p14="http://schemas.microsoft.com/office/powerpoint/2010/main" val="2147465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Arquitectura</a:t>
            </a:r>
            <a:r>
              <a:rPr lang="es-CL" sz="3200" dirty="0"/>
              <a:t> </a:t>
            </a:r>
            <a:r>
              <a:rPr lang="es-CL" sz="3200" b="1" dirty="0"/>
              <a:t>SOAR</a:t>
            </a:r>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5923" y="1528814"/>
            <a:ext cx="7527793" cy="5259926"/>
          </a:xfrm>
          <a:prstGeom prst="rect">
            <a:avLst/>
          </a:prstGeom>
        </p:spPr>
      </p:pic>
      <p:sp>
        <p:nvSpPr>
          <p:cNvPr id="7" name="CuadroTexto 6">
            <a:extLst>
              <a:ext uri="{FF2B5EF4-FFF2-40B4-BE49-F238E27FC236}">
                <a16:creationId xmlns:a16="http://schemas.microsoft.com/office/drawing/2014/main" id="{EDFB362B-AB7C-C634-30A5-8397712A4D33}"/>
              </a:ext>
            </a:extLst>
          </p:cNvPr>
          <p:cNvSpPr txBox="1"/>
          <p:nvPr/>
        </p:nvSpPr>
        <p:spPr>
          <a:xfrm>
            <a:off x="6129338" y="5395913"/>
            <a:ext cx="342900" cy="307777"/>
          </a:xfrm>
          <a:prstGeom prst="rect">
            <a:avLst/>
          </a:prstGeom>
          <a:solidFill>
            <a:schemeClr val="bg1"/>
          </a:solidFill>
        </p:spPr>
        <p:txBody>
          <a:bodyPr wrap="square" rtlCol="0">
            <a:spAutoFit/>
          </a:bodyPr>
          <a:lstStyle/>
          <a:p>
            <a:endParaRPr lang="es-CL" dirty="0"/>
          </a:p>
        </p:txBody>
      </p:sp>
    </p:spTree>
    <p:extLst>
      <p:ext uri="{BB962C8B-B14F-4D97-AF65-F5344CB8AC3E}">
        <p14:creationId xmlns:p14="http://schemas.microsoft.com/office/powerpoint/2010/main" val="1852063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361BB-E43B-7412-8861-ACB6DD0956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1EAB53-D975-EF6C-A152-C09C45F3BE49}"/>
              </a:ext>
            </a:extLst>
          </p:cNvPr>
          <p:cNvSpPr>
            <a:spLocks noGrp="1"/>
          </p:cNvSpPr>
          <p:nvPr>
            <p:ph type="title"/>
          </p:nvPr>
        </p:nvSpPr>
        <p:spPr>
          <a:xfrm>
            <a:off x="504000" y="152029"/>
            <a:ext cx="9071640" cy="1262160"/>
          </a:xfrm>
        </p:spPr>
        <p:txBody>
          <a:bodyPr/>
          <a:lstStyle/>
          <a:p>
            <a:pPr algn="ctr"/>
            <a:r>
              <a:rPr lang="es-CL" sz="3200" b="1" dirty="0"/>
              <a:t>Arquitectura</a:t>
            </a:r>
            <a:r>
              <a:rPr lang="es-CL" sz="3200" dirty="0"/>
              <a:t> </a:t>
            </a:r>
            <a:r>
              <a:rPr lang="es-CL" sz="3200" b="1" dirty="0"/>
              <a:t>SOAR</a:t>
            </a:r>
          </a:p>
        </p:txBody>
      </p:sp>
      <p:pic>
        <p:nvPicPr>
          <p:cNvPr id="5" name="Imagen 4">
            <a:extLst>
              <a:ext uri="{FF2B5EF4-FFF2-40B4-BE49-F238E27FC236}">
                <a16:creationId xmlns:a16="http://schemas.microsoft.com/office/drawing/2014/main" id="{82C29A45-8AC2-AA53-5E78-A3415312B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5923" y="1528814"/>
            <a:ext cx="7527793" cy="5259926"/>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Entrada de lápiz 3">
                <a:extLst>
                  <a:ext uri="{FF2B5EF4-FFF2-40B4-BE49-F238E27FC236}">
                    <a16:creationId xmlns:a16="http://schemas.microsoft.com/office/drawing/2014/main" id="{E6A21B61-D246-50A1-FDC9-9CB64497BA7A}"/>
                  </a:ext>
                </a:extLst>
              </p14:cNvPr>
              <p14:cNvContentPartPr/>
              <p14:nvPr/>
            </p14:nvContentPartPr>
            <p14:xfrm>
              <a:off x="4917142" y="4571705"/>
              <a:ext cx="1069200" cy="966600"/>
            </p14:xfrm>
          </p:contentPart>
        </mc:Choice>
        <mc:Fallback xmlns="">
          <p:pic>
            <p:nvPicPr>
              <p:cNvPr id="4" name="Entrada de lápiz 3">
                <a:extLst>
                  <a:ext uri="{FF2B5EF4-FFF2-40B4-BE49-F238E27FC236}">
                    <a16:creationId xmlns:a16="http://schemas.microsoft.com/office/drawing/2014/main" id="{E6A21B61-D246-50A1-FDC9-9CB64497BA7A}"/>
                  </a:ext>
                </a:extLst>
              </p:cNvPr>
              <p:cNvPicPr/>
              <p:nvPr/>
            </p:nvPicPr>
            <p:blipFill>
              <a:blip r:embed="rId5"/>
              <a:stretch>
                <a:fillRect/>
              </a:stretch>
            </p:blipFill>
            <p:spPr>
              <a:xfrm>
                <a:off x="4899142" y="4553705"/>
                <a:ext cx="1104840" cy="1002240"/>
              </a:xfrm>
              <a:prstGeom prst="rect">
                <a:avLst/>
              </a:prstGeom>
            </p:spPr>
          </p:pic>
        </mc:Fallback>
      </mc:AlternateContent>
      <p:sp>
        <p:nvSpPr>
          <p:cNvPr id="7" name="CuadroTexto 6">
            <a:extLst>
              <a:ext uri="{FF2B5EF4-FFF2-40B4-BE49-F238E27FC236}">
                <a16:creationId xmlns:a16="http://schemas.microsoft.com/office/drawing/2014/main" id="{9BFD60EC-6EB4-ACD0-8169-B43D74959CF8}"/>
              </a:ext>
            </a:extLst>
          </p:cNvPr>
          <p:cNvSpPr txBox="1"/>
          <p:nvPr/>
        </p:nvSpPr>
        <p:spPr>
          <a:xfrm>
            <a:off x="6129338" y="5395913"/>
            <a:ext cx="342900" cy="307777"/>
          </a:xfrm>
          <a:prstGeom prst="rect">
            <a:avLst/>
          </a:prstGeom>
          <a:solidFill>
            <a:schemeClr val="bg1"/>
          </a:solidFill>
        </p:spPr>
        <p:txBody>
          <a:bodyPr wrap="square" rtlCol="0">
            <a:spAutoFit/>
          </a:bodyPr>
          <a:lstStyle/>
          <a:p>
            <a:endParaRPr lang="es-CL" dirty="0"/>
          </a:p>
        </p:txBody>
      </p:sp>
    </p:spTree>
    <p:extLst>
      <p:ext uri="{BB962C8B-B14F-4D97-AF65-F5344CB8AC3E}">
        <p14:creationId xmlns:p14="http://schemas.microsoft.com/office/powerpoint/2010/main" val="1214289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Arquitectura</a:t>
            </a:r>
            <a:r>
              <a:rPr lang="es-CL" sz="3200" dirty="0"/>
              <a:t> </a:t>
            </a:r>
            <a:r>
              <a:rPr lang="es-CL" sz="3200" b="1" dirty="0"/>
              <a:t>SOAR</a:t>
            </a:r>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5923" y="1528814"/>
            <a:ext cx="7527793" cy="5259926"/>
          </a:xfrm>
          <a:prstGeom prst="rect">
            <a:avLst/>
          </a:prstGeom>
        </p:spPr>
      </p:pic>
      <mc:AlternateContent xmlns:mc="http://schemas.openxmlformats.org/markup-compatibility/2006" xmlns:p14="http://schemas.microsoft.com/office/powerpoint/2010/main">
        <mc:Choice Requires="p14">
          <p:contentPart p14:bwMode="auto" r:id="rId4">
            <p14:nvContentPartPr>
              <p14:cNvPr id="12" name="Entrada de lápiz 11">
                <a:extLst>
                  <a:ext uri="{FF2B5EF4-FFF2-40B4-BE49-F238E27FC236}">
                    <a16:creationId xmlns:a16="http://schemas.microsoft.com/office/drawing/2014/main" id="{86423D3E-7BFF-4B42-148E-9783F4E0FC95}"/>
                  </a:ext>
                </a:extLst>
              </p14:cNvPr>
              <p14:cNvContentPartPr/>
              <p14:nvPr/>
            </p14:nvContentPartPr>
            <p14:xfrm>
              <a:off x="4752622" y="2209745"/>
              <a:ext cx="1186560" cy="487800"/>
            </p14:xfrm>
          </p:contentPart>
        </mc:Choice>
        <mc:Fallback xmlns="">
          <p:pic>
            <p:nvPicPr>
              <p:cNvPr id="12" name="Entrada de lápiz 11">
                <a:extLst>
                  <a:ext uri="{FF2B5EF4-FFF2-40B4-BE49-F238E27FC236}">
                    <a16:creationId xmlns:a16="http://schemas.microsoft.com/office/drawing/2014/main" id="{86423D3E-7BFF-4B42-148E-9783F4E0FC95}"/>
                  </a:ext>
                </a:extLst>
              </p:cNvPr>
              <p:cNvPicPr/>
              <p:nvPr/>
            </p:nvPicPr>
            <p:blipFill>
              <a:blip r:embed="rId5"/>
              <a:stretch>
                <a:fillRect/>
              </a:stretch>
            </p:blipFill>
            <p:spPr>
              <a:xfrm>
                <a:off x="4734982" y="2192105"/>
                <a:ext cx="1222200" cy="523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Entrada de lápiz 2">
                <a:extLst>
                  <a:ext uri="{FF2B5EF4-FFF2-40B4-BE49-F238E27FC236}">
                    <a16:creationId xmlns:a16="http://schemas.microsoft.com/office/drawing/2014/main" id="{E540AE1B-5002-587A-13AE-8124D217FC43}"/>
                  </a:ext>
                </a:extLst>
              </p14:cNvPr>
              <p14:cNvContentPartPr/>
              <p14:nvPr/>
            </p14:nvContentPartPr>
            <p14:xfrm>
              <a:off x="6087682" y="5328562"/>
              <a:ext cx="429120" cy="395640"/>
            </p14:xfrm>
          </p:contentPart>
        </mc:Choice>
        <mc:Fallback xmlns="">
          <p:pic>
            <p:nvPicPr>
              <p:cNvPr id="3" name="Entrada de lápiz 2">
                <a:extLst>
                  <a:ext uri="{FF2B5EF4-FFF2-40B4-BE49-F238E27FC236}">
                    <a16:creationId xmlns:a16="http://schemas.microsoft.com/office/drawing/2014/main" id="{E540AE1B-5002-587A-13AE-8124D217FC43}"/>
                  </a:ext>
                </a:extLst>
              </p:cNvPr>
              <p:cNvPicPr/>
              <p:nvPr/>
            </p:nvPicPr>
            <p:blipFill>
              <a:blip r:embed="rId7"/>
              <a:stretch>
                <a:fillRect/>
              </a:stretch>
            </p:blipFill>
            <p:spPr>
              <a:xfrm>
                <a:off x="6078682" y="5319922"/>
                <a:ext cx="446760" cy="413280"/>
              </a:xfrm>
              <a:prstGeom prst="rect">
                <a:avLst/>
              </a:prstGeom>
            </p:spPr>
          </p:pic>
        </mc:Fallback>
      </mc:AlternateContent>
    </p:spTree>
    <p:extLst>
      <p:ext uri="{BB962C8B-B14F-4D97-AF65-F5344CB8AC3E}">
        <p14:creationId xmlns:p14="http://schemas.microsoft.com/office/powerpoint/2010/main" val="10300523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Arquitectura</a:t>
            </a:r>
            <a:r>
              <a:rPr lang="es-CL" sz="3200" dirty="0"/>
              <a:t> </a:t>
            </a:r>
            <a:r>
              <a:rPr lang="es-CL" sz="3200" b="1" dirty="0"/>
              <a:t>SOAR</a:t>
            </a:r>
          </a:p>
        </p:txBody>
      </p:sp>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5923" y="1528814"/>
            <a:ext cx="7527793" cy="5259926"/>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Entrada de lápiz 2">
                <a:extLst>
                  <a:ext uri="{FF2B5EF4-FFF2-40B4-BE49-F238E27FC236}">
                    <a16:creationId xmlns:a16="http://schemas.microsoft.com/office/drawing/2014/main" id="{EE76C890-A54D-17E2-0FF4-B0F4DC50C04D}"/>
                  </a:ext>
                </a:extLst>
              </p14:cNvPr>
              <p14:cNvContentPartPr/>
              <p14:nvPr/>
            </p14:nvContentPartPr>
            <p14:xfrm>
              <a:off x="5036302" y="4506545"/>
              <a:ext cx="1036080" cy="947520"/>
            </p14:xfrm>
          </p:contentPart>
        </mc:Choice>
        <mc:Fallback xmlns="">
          <p:pic>
            <p:nvPicPr>
              <p:cNvPr id="3" name="Entrada de lápiz 2">
                <a:extLst>
                  <a:ext uri="{FF2B5EF4-FFF2-40B4-BE49-F238E27FC236}">
                    <a16:creationId xmlns:a16="http://schemas.microsoft.com/office/drawing/2014/main" id="{EE76C890-A54D-17E2-0FF4-B0F4DC50C04D}"/>
                  </a:ext>
                </a:extLst>
              </p:cNvPr>
              <p:cNvPicPr/>
              <p:nvPr/>
            </p:nvPicPr>
            <p:blipFill>
              <a:blip r:embed="rId5"/>
              <a:stretch>
                <a:fillRect/>
              </a:stretch>
            </p:blipFill>
            <p:spPr>
              <a:xfrm>
                <a:off x="5018662" y="4488905"/>
                <a:ext cx="1071720" cy="983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Entrada de lápiz 3">
                <a:extLst>
                  <a:ext uri="{FF2B5EF4-FFF2-40B4-BE49-F238E27FC236}">
                    <a16:creationId xmlns:a16="http://schemas.microsoft.com/office/drawing/2014/main" id="{DB6DDEE4-9AFF-6E0D-2D54-65246F7AF71E}"/>
                  </a:ext>
                </a:extLst>
              </p14:cNvPr>
              <p14:cNvContentPartPr/>
              <p14:nvPr/>
            </p14:nvContentPartPr>
            <p14:xfrm>
              <a:off x="6132502" y="5267945"/>
              <a:ext cx="437760" cy="420480"/>
            </p14:xfrm>
          </p:contentPart>
        </mc:Choice>
        <mc:Fallback xmlns="">
          <p:pic>
            <p:nvPicPr>
              <p:cNvPr id="4" name="Entrada de lápiz 3">
                <a:extLst>
                  <a:ext uri="{FF2B5EF4-FFF2-40B4-BE49-F238E27FC236}">
                    <a16:creationId xmlns:a16="http://schemas.microsoft.com/office/drawing/2014/main" id="{DB6DDEE4-9AFF-6E0D-2D54-65246F7AF71E}"/>
                  </a:ext>
                </a:extLst>
              </p:cNvPr>
              <p:cNvPicPr/>
              <p:nvPr/>
            </p:nvPicPr>
            <p:blipFill>
              <a:blip r:embed="rId7"/>
              <a:stretch>
                <a:fillRect/>
              </a:stretch>
            </p:blipFill>
            <p:spPr>
              <a:xfrm>
                <a:off x="6114862" y="5249945"/>
                <a:ext cx="473400" cy="456120"/>
              </a:xfrm>
              <a:prstGeom prst="rect">
                <a:avLst/>
              </a:prstGeom>
            </p:spPr>
          </p:pic>
        </mc:Fallback>
      </mc:AlternateContent>
    </p:spTree>
    <p:extLst>
      <p:ext uri="{BB962C8B-B14F-4D97-AF65-F5344CB8AC3E}">
        <p14:creationId xmlns:p14="http://schemas.microsoft.com/office/powerpoint/2010/main" val="2029470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Ejemplo de SOAR </a:t>
            </a:r>
            <a:r>
              <a:rPr lang="es-CL" sz="1400" b="1" dirty="0"/>
              <a:t>(</a:t>
            </a:r>
            <a:r>
              <a:rPr lang="es-CL" sz="1400" b="1" dirty="0" err="1"/>
              <a:t>Rieman</a:t>
            </a:r>
            <a:r>
              <a:rPr lang="es-CL" sz="1400" b="1" dirty="0"/>
              <a:t>, 1995)</a:t>
            </a:r>
          </a:p>
        </p:txBody>
      </p:sp>
      <p:sp>
        <p:nvSpPr>
          <p:cNvPr id="3" name="Rectángulo 2"/>
          <p:cNvSpPr/>
          <p:nvPr/>
        </p:nvSpPr>
        <p:spPr>
          <a:xfrm>
            <a:off x="1573426" y="1414189"/>
            <a:ext cx="7414055" cy="1790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solidFill>
                <a:srgbClr val="FFFFFF"/>
              </a:solidFill>
            </a:endParaRPr>
          </a:p>
        </p:txBody>
      </p:sp>
      <p:sp>
        <p:nvSpPr>
          <p:cNvPr id="4" name="CuadroTexto 3"/>
          <p:cNvSpPr txBox="1"/>
          <p:nvPr/>
        </p:nvSpPr>
        <p:spPr>
          <a:xfrm>
            <a:off x="1631087" y="1672281"/>
            <a:ext cx="5107459" cy="307777"/>
          </a:xfrm>
          <a:prstGeom prst="rect">
            <a:avLst/>
          </a:prstGeom>
          <a:noFill/>
        </p:spPr>
        <p:txBody>
          <a:bodyPr wrap="square" rtlCol="0">
            <a:spAutoFit/>
          </a:bodyPr>
          <a:lstStyle/>
          <a:p>
            <a:r>
              <a:rPr lang="es-CL" dirty="0"/>
              <a:t>SI hora=13 </a:t>
            </a:r>
            <a:r>
              <a:rPr lang="es-CL" dirty="0" err="1"/>
              <a:t>hrs</a:t>
            </a:r>
            <a:r>
              <a:rPr lang="es-CL" dirty="0"/>
              <a:t>. ENTONCES agenda=almorzar</a:t>
            </a:r>
          </a:p>
        </p:txBody>
      </p:sp>
      <p:sp>
        <p:nvSpPr>
          <p:cNvPr id="6" name="CuadroTexto 5"/>
          <p:cNvSpPr txBox="1"/>
          <p:nvPr/>
        </p:nvSpPr>
        <p:spPr>
          <a:xfrm>
            <a:off x="1622848" y="2084261"/>
            <a:ext cx="5568778" cy="307777"/>
          </a:xfrm>
          <a:prstGeom prst="rect">
            <a:avLst/>
          </a:prstGeom>
          <a:noFill/>
        </p:spPr>
        <p:txBody>
          <a:bodyPr wrap="square" rtlCol="0">
            <a:spAutoFit/>
          </a:bodyPr>
          <a:lstStyle/>
          <a:p>
            <a:r>
              <a:rPr lang="es-CL" dirty="0"/>
              <a:t>SI agenda=almorzar y día=viernes ENTONCES operador=gimnasio</a:t>
            </a:r>
          </a:p>
        </p:txBody>
      </p:sp>
      <p:sp>
        <p:nvSpPr>
          <p:cNvPr id="7" name="CuadroTexto 6"/>
          <p:cNvSpPr txBox="1"/>
          <p:nvPr/>
        </p:nvSpPr>
        <p:spPr>
          <a:xfrm>
            <a:off x="1606371" y="2478056"/>
            <a:ext cx="7501304" cy="307777"/>
          </a:xfrm>
          <a:prstGeom prst="rect">
            <a:avLst/>
          </a:prstGeom>
          <a:noFill/>
        </p:spPr>
        <p:txBody>
          <a:bodyPr wrap="square" rtlCol="0">
            <a:spAutoFit/>
          </a:bodyPr>
          <a:lstStyle/>
          <a:p>
            <a:r>
              <a:rPr lang="es-CL" dirty="0"/>
              <a:t>SI agenda=almorzar y tipo-de-día=pago ENTONCES operador= comer bistec en “El </a:t>
            </a:r>
            <a:r>
              <a:rPr lang="es-CL" dirty="0" err="1"/>
              <a:t>Crutón</a:t>
            </a:r>
            <a:r>
              <a:rPr lang="es-CL" dirty="0"/>
              <a:t>”</a:t>
            </a:r>
          </a:p>
        </p:txBody>
      </p:sp>
      <p:sp>
        <p:nvSpPr>
          <p:cNvPr id="8" name="Rectángulo 7"/>
          <p:cNvSpPr/>
          <p:nvPr/>
        </p:nvSpPr>
        <p:spPr>
          <a:xfrm>
            <a:off x="1573426" y="3995351"/>
            <a:ext cx="3361039" cy="2842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solidFill>
                <a:srgbClr val="FFFFFF"/>
              </a:solidFill>
            </a:endParaRPr>
          </a:p>
        </p:txBody>
      </p:sp>
      <p:sp>
        <p:nvSpPr>
          <p:cNvPr id="9" name="Rectángulo 8"/>
          <p:cNvSpPr/>
          <p:nvPr/>
        </p:nvSpPr>
        <p:spPr>
          <a:xfrm>
            <a:off x="5354595" y="3995351"/>
            <a:ext cx="3554627" cy="2842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solidFill>
                <a:srgbClr val="FFFFFF"/>
              </a:solidFill>
            </a:endParaRPr>
          </a:p>
        </p:txBody>
      </p:sp>
      <p:sp>
        <p:nvSpPr>
          <p:cNvPr id="10" name="CuadroTexto 9"/>
          <p:cNvSpPr txBox="1"/>
          <p:nvPr/>
        </p:nvSpPr>
        <p:spPr>
          <a:xfrm>
            <a:off x="5486396" y="4268386"/>
            <a:ext cx="1252152" cy="523220"/>
          </a:xfrm>
          <a:prstGeom prst="rect">
            <a:avLst/>
          </a:prstGeom>
          <a:noFill/>
        </p:spPr>
        <p:txBody>
          <a:bodyPr wrap="square" rtlCol="0">
            <a:spAutoFit/>
          </a:bodyPr>
          <a:lstStyle/>
          <a:p>
            <a:r>
              <a:rPr lang="es-CL" dirty="0"/>
              <a:t>Estado=top:</a:t>
            </a:r>
          </a:p>
          <a:p>
            <a:r>
              <a:rPr lang="es-CL" dirty="0"/>
              <a:t>Operador=?</a:t>
            </a:r>
          </a:p>
        </p:txBody>
      </p:sp>
      <p:sp>
        <p:nvSpPr>
          <p:cNvPr id="11" name="CuadroTexto 10"/>
          <p:cNvSpPr txBox="1"/>
          <p:nvPr/>
        </p:nvSpPr>
        <p:spPr>
          <a:xfrm>
            <a:off x="5914762" y="4839777"/>
            <a:ext cx="1342767" cy="307777"/>
          </a:xfrm>
          <a:prstGeom prst="rect">
            <a:avLst/>
          </a:prstGeom>
          <a:noFill/>
        </p:spPr>
        <p:txBody>
          <a:bodyPr wrap="square" rtlCol="0">
            <a:spAutoFit/>
          </a:bodyPr>
          <a:lstStyle/>
          <a:p>
            <a:r>
              <a:rPr lang="es-CL" dirty="0"/>
              <a:t>Hora=13 </a:t>
            </a:r>
            <a:r>
              <a:rPr lang="es-CL" dirty="0" err="1"/>
              <a:t>hrs</a:t>
            </a:r>
            <a:r>
              <a:rPr lang="es-CL" dirty="0"/>
              <a:t>.</a:t>
            </a:r>
          </a:p>
        </p:txBody>
      </p:sp>
      <p:sp>
        <p:nvSpPr>
          <p:cNvPr id="12" name="CuadroTexto 11"/>
          <p:cNvSpPr txBox="1"/>
          <p:nvPr/>
        </p:nvSpPr>
        <p:spPr>
          <a:xfrm>
            <a:off x="5906532" y="5090985"/>
            <a:ext cx="1252151" cy="307777"/>
          </a:xfrm>
          <a:prstGeom prst="rect">
            <a:avLst/>
          </a:prstGeom>
          <a:noFill/>
        </p:spPr>
        <p:txBody>
          <a:bodyPr wrap="square" rtlCol="0">
            <a:spAutoFit/>
          </a:bodyPr>
          <a:lstStyle/>
          <a:p>
            <a:r>
              <a:rPr lang="es-CL" dirty="0"/>
              <a:t>Día=viernes</a:t>
            </a:r>
          </a:p>
        </p:txBody>
      </p:sp>
      <p:sp>
        <p:nvSpPr>
          <p:cNvPr id="13" name="CuadroTexto 12"/>
          <p:cNvSpPr txBox="1"/>
          <p:nvPr/>
        </p:nvSpPr>
        <p:spPr>
          <a:xfrm>
            <a:off x="5906526" y="5329885"/>
            <a:ext cx="1869989" cy="307777"/>
          </a:xfrm>
          <a:prstGeom prst="rect">
            <a:avLst/>
          </a:prstGeom>
          <a:noFill/>
        </p:spPr>
        <p:txBody>
          <a:bodyPr wrap="square" rtlCol="0">
            <a:spAutoFit/>
          </a:bodyPr>
          <a:lstStyle/>
          <a:p>
            <a:r>
              <a:rPr lang="es-CL" dirty="0"/>
              <a:t>Tipo-de-día=pago</a:t>
            </a:r>
          </a:p>
        </p:txBody>
      </p:sp>
      <p:sp>
        <p:nvSpPr>
          <p:cNvPr id="14" name="CuadroTexto 13"/>
          <p:cNvSpPr txBox="1"/>
          <p:nvPr/>
        </p:nvSpPr>
        <p:spPr>
          <a:xfrm>
            <a:off x="504000" y="1980058"/>
            <a:ext cx="830530" cy="307777"/>
          </a:xfrm>
          <a:prstGeom prst="rect">
            <a:avLst/>
          </a:prstGeom>
          <a:noFill/>
        </p:spPr>
        <p:txBody>
          <a:bodyPr wrap="square" rtlCol="0">
            <a:spAutoFit/>
          </a:bodyPr>
          <a:lstStyle/>
          <a:p>
            <a:r>
              <a:rPr lang="es-CL" dirty="0"/>
              <a:t>MLP</a:t>
            </a:r>
          </a:p>
        </p:txBody>
      </p:sp>
      <p:sp>
        <p:nvSpPr>
          <p:cNvPr id="15" name="CuadroTexto 14"/>
          <p:cNvSpPr txBox="1"/>
          <p:nvPr/>
        </p:nvSpPr>
        <p:spPr>
          <a:xfrm>
            <a:off x="370703" y="5108601"/>
            <a:ext cx="1112107" cy="738664"/>
          </a:xfrm>
          <a:prstGeom prst="rect">
            <a:avLst/>
          </a:prstGeom>
          <a:noFill/>
        </p:spPr>
        <p:txBody>
          <a:bodyPr wrap="square" rtlCol="0">
            <a:spAutoFit/>
          </a:bodyPr>
          <a:lstStyle/>
          <a:p>
            <a:pPr algn="ctr"/>
            <a:r>
              <a:rPr lang="es-CL" dirty="0"/>
              <a:t>Memoria de Preferencia</a:t>
            </a:r>
          </a:p>
        </p:txBody>
      </p:sp>
      <p:sp>
        <p:nvSpPr>
          <p:cNvPr id="16" name="CuadroTexto 15"/>
          <p:cNvSpPr txBox="1"/>
          <p:nvPr/>
        </p:nvSpPr>
        <p:spPr>
          <a:xfrm>
            <a:off x="9107675" y="5191279"/>
            <a:ext cx="830530" cy="307777"/>
          </a:xfrm>
          <a:prstGeom prst="rect">
            <a:avLst/>
          </a:prstGeom>
          <a:noFill/>
        </p:spPr>
        <p:txBody>
          <a:bodyPr wrap="square" rtlCol="0">
            <a:spAutoFit/>
          </a:bodyPr>
          <a:lstStyle/>
          <a:p>
            <a:r>
              <a:rPr lang="es-CL" dirty="0"/>
              <a:t>MT</a:t>
            </a:r>
          </a:p>
        </p:txBody>
      </p:sp>
      <p:sp>
        <p:nvSpPr>
          <p:cNvPr id="19" name="CuadroTexto 18"/>
          <p:cNvSpPr txBox="1"/>
          <p:nvPr/>
        </p:nvSpPr>
        <p:spPr>
          <a:xfrm>
            <a:off x="1935891" y="4268386"/>
            <a:ext cx="2421925" cy="307777"/>
          </a:xfrm>
          <a:prstGeom prst="rect">
            <a:avLst/>
          </a:prstGeom>
          <a:noFill/>
        </p:spPr>
        <p:txBody>
          <a:bodyPr wrap="square" rtlCol="0">
            <a:spAutoFit/>
          </a:bodyPr>
          <a:lstStyle/>
          <a:p>
            <a:r>
              <a:rPr lang="es-CL" dirty="0"/>
              <a:t>[agenda=almorzar +]</a:t>
            </a:r>
          </a:p>
        </p:txBody>
      </p:sp>
      <p:sp>
        <p:nvSpPr>
          <p:cNvPr id="25" name="CuadroTexto 24"/>
          <p:cNvSpPr txBox="1"/>
          <p:nvPr/>
        </p:nvSpPr>
        <p:spPr>
          <a:xfrm>
            <a:off x="1973101" y="5059218"/>
            <a:ext cx="1977085" cy="307777"/>
          </a:xfrm>
          <a:prstGeom prst="rect">
            <a:avLst/>
          </a:prstGeom>
          <a:noFill/>
        </p:spPr>
        <p:txBody>
          <a:bodyPr wrap="square" rtlCol="0">
            <a:spAutoFit/>
          </a:bodyPr>
          <a:lstStyle/>
          <a:p>
            <a:r>
              <a:rPr lang="es-CL" dirty="0"/>
              <a:t>[operador=gimnasio +]</a:t>
            </a:r>
          </a:p>
        </p:txBody>
      </p:sp>
      <p:sp>
        <p:nvSpPr>
          <p:cNvPr id="27" name="CuadroTexto 26"/>
          <p:cNvSpPr txBox="1"/>
          <p:nvPr/>
        </p:nvSpPr>
        <p:spPr>
          <a:xfrm>
            <a:off x="1973101" y="5477023"/>
            <a:ext cx="2907961" cy="307777"/>
          </a:xfrm>
          <a:prstGeom prst="rect">
            <a:avLst/>
          </a:prstGeom>
          <a:noFill/>
        </p:spPr>
        <p:txBody>
          <a:bodyPr wrap="square" rtlCol="0">
            <a:spAutoFit/>
          </a:bodyPr>
          <a:lstStyle/>
          <a:p>
            <a:r>
              <a:rPr lang="es-CL" dirty="0"/>
              <a:t>[operador=comer… +]</a:t>
            </a:r>
          </a:p>
        </p:txBody>
      </p:sp>
      <p:sp>
        <p:nvSpPr>
          <p:cNvPr id="30" name="Elipse 29">
            <a:extLst>
              <a:ext uri="{FF2B5EF4-FFF2-40B4-BE49-F238E27FC236}">
                <a16:creationId xmlns:a16="http://schemas.microsoft.com/office/drawing/2014/main" id="{A7541AAF-ABAB-4753-A6FE-C6F20249494E}"/>
              </a:ext>
            </a:extLst>
          </p:cNvPr>
          <p:cNvSpPr/>
          <p:nvPr/>
        </p:nvSpPr>
        <p:spPr>
          <a:xfrm>
            <a:off x="5225760" y="4167720"/>
            <a:ext cx="1645920" cy="731520"/>
          </a:xfrm>
          <a:prstGeom prst="ellipse">
            <a:avLst/>
          </a:prstGeom>
          <a:solidFill>
            <a:srgbClr val="E71224">
              <a:alpha val="5000"/>
            </a:srgbClr>
          </a:solidFill>
          <a:ln w="18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pt-BR">
              <a:solidFill>
                <a:srgbClr val="E71224"/>
              </a:solidFill>
            </a:endParaRPr>
          </a:p>
        </p:txBody>
      </p:sp>
      <p:sp>
        <p:nvSpPr>
          <p:cNvPr id="20" name="CuadroTexto 19">
            <a:extLst>
              <a:ext uri="{FF2B5EF4-FFF2-40B4-BE49-F238E27FC236}">
                <a16:creationId xmlns:a16="http://schemas.microsoft.com/office/drawing/2014/main" id="{8A80C32F-ABDF-1D7F-0137-C1504FCC4175}"/>
              </a:ext>
            </a:extLst>
          </p:cNvPr>
          <p:cNvSpPr txBox="1"/>
          <p:nvPr/>
        </p:nvSpPr>
        <p:spPr>
          <a:xfrm>
            <a:off x="6112472" y="3265556"/>
            <a:ext cx="1638300" cy="738664"/>
          </a:xfrm>
          <a:prstGeom prst="rect">
            <a:avLst/>
          </a:prstGeom>
          <a:noFill/>
        </p:spPr>
        <p:txBody>
          <a:bodyPr wrap="square" rtlCol="0">
            <a:spAutoFit/>
          </a:bodyPr>
          <a:lstStyle/>
          <a:p>
            <a:r>
              <a:rPr lang="es-CL" dirty="0"/>
              <a:t>QUÉ HACER EN ESTAS CONDICIONES?</a:t>
            </a:r>
          </a:p>
        </p:txBody>
      </p:sp>
    </p:spTree>
    <p:extLst>
      <p:ext uri="{BB962C8B-B14F-4D97-AF65-F5344CB8AC3E}">
        <p14:creationId xmlns:p14="http://schemas.microsoft.com/office/powerpoint/2010/main" val="1244050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10" grpId="0"/>
      <p:bldP spid="11" grpId="0"/>
      <p:bldP spid="12" grpId="0"/>
      <p:bldP spid="13" grpId="0"/>
      <p:bldP spid="19" grpId="0"/>
      <p:bldP spid="25" grpId="0"/>
      <p:bldP spid="27" grpId="0"/>
      <p:bldP spid="30" grpId="0" animBg="1"/>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Ejemplo de SOAR </a:t>
            </a:r>
            <a:r>
              <a:rPr lang="es-CL" sz="1400" b="1" dirty="0"/>
              <a:t>(</a:t>
            </a:r>
            <a:r>
              <a:rPr lang="es-CL" sz="1400" b="1" dirty="0" err="1"/>
              <a:t>Rieman</a:t>
            </a:r>
            <a:r>
              <a:rPr lang="es-CL" sz="1400" b="1" dirty="0"/>
              <a:t>, 1995)</a:t>
            </a:r>
          </a:p>
        </p:txBody>
      </p:sp>
      <p:sp>
        <p:nvSpPr>
          <p:cNvPr id="3" name="Rectángulo 2"/>
          <p:cNvSpPr/>
          <p:nvPr/>
        </p:nvSpPr>
        <p:spPr>
          <a:xfrm>
            <a:off x="1573426" y="1414189"/>
            <a:ext cx="7414055" cy="1790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CuadroTexto 3"/>
          <p:cNvSpPr txBox="1"/>
          <p:nvPr/>
        </p:nvSpPr>
        <p:spPr>
          <a:xfrm>
            <a:off x="1631087" y="1672281"/>
            <a:ext cx="5107459" cy="307777"/>
          </a:xfrm>
          <a:prstGeom prst="rect">
            <a:avLst/>
          </a:prstGeom>
          <a:noFill/>
        </p:spPr>
        <p:txBody>
          <a:bodyPr wrap="square" rtlCol="0">
            <a:spAutoFit/>
          </a:bodyPr>
          <a:lstStyle/>
          <a:p>
            <a:r>
              <a:rPr lang="es-CL" dirty="0"/>
              <a:t>SI hora=13 </a:t>
            </a:r>
            <a:r>
              <a:rPr lang="es-CL" dirty="0" err="1"/>
              <a:t>hrs</a:t>
            </a:r>
            <a:r>
              <a:rPr lang="es-CL" dirty="0"/>
              <a:t>. ENTONCES agenda=almorzar</a:t>
            </a:r>
          </a:p>
        </p:txBody>
      </p:sp>
      <p:sp>
        <p:nvSpPr>
          <p:cNvPr id="6" name="CuadroTexto 5"/>
          <p:cNvSpPr txBox="1"/>
          <p:nvPr/>
        </p:nvSpPr>
        <p:spPr>
          <a:xfrm>
            <a:off x="1622848" y="2084261"/>
            <a:ext cx="5568778" cy="307777"/>
          </a:xfrm>
          <a:prstGeom prst="rect">
            <a:avLst/>
          </a:prstGeom>
          <a:noFill/>
        </p:spPr>
        <p:txBody>
          <a:bodyPr wrap="square" rtlCol="0">
            <a:spAutoFit/>
          </a:bodyPr>
          <a:lstStyle/>
          <a:p>
            <a:r>
              <a:rPr lang="es-CL" dirty="0"/>
              <a:t>SI agenda=almorzar y día=viernes ENTONCES operador=gimnasio</a:t>
            </a:r>
          </a:p>
        </p:txBody>
      </p:sp>
      <p:sp>
        <p:nvSpPr>
          <p:cNvPr id="7" name="CuadroTexto 6"/>
          <p:cNvSpPr txBox="1"/>
          <p:nvPr/>
        </p:nvSpPr>
        <p:spPr>
          <a:xfrm>
            <a:off x="1606371" y="2478056"/>
            <a:ext cx="7501304" cy="307777"/>
          </a:xfrm>
          <a:prstGeom prst="rect">
            <a:avLst/>
          </a:prstGeom>
          <a:noFill/>
        </p:spPr>
        <p:txBody>
          <a:bodyPr wrap="square" rtlCol="0">
            <a:spAutoFit/>
          </a:bodyPr>
          <a:lstStyle/>
          <a:p>
            <a:r>
              <a:rPr lang="es-CL" dirty="0"/>
              <a:t>SI agenda=almorzar y tipo-de-día=pago ENTONCES operador= comer bistec en “El </a:t>
            </a:r>
            <a:r>
              <a:rPr lang="es-CL" dirty="0" err="1"/>
              <a:t>Crutón</a:t>
            </a:r>
            <a:r>
              <a:rPr lang="es-CL" dirty="0"/>
              <a:t>”</a:t>
            </a:r>
          </a:p>
        </p:txBody>
      </p:sp>
      <p:sp>
        <p:nvSpPr>
          <p:cNvPr id="8" name="Rectángulo 7"/>
          <p:cNvSpPr/>
          <p:nvPr/>
        </p:nvSpPr>
        <p:spPr>
          <a:xfrm>
            <a:off x="1573426" y="3995351"/>
            <a:ext cx="3361039" cy="2842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p:cNvSpPr/>
          <p:nvPr/>
        </p:nvSpPr>
        <p:spPr>
          <a:xfrm>
            <a:off x="5354595" y="3995351"/>
            <a:ext cx="3554627" cy="2842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CuadroTexto 9"/>
          <p:cNvSpPr txBox="1"/>
          <p:nvPr/>
        </p:nvSpPr>
        <p:spPr>
          <a:xfrm>
            <a:off x="5486396" y="4268386"/>
            <a:ext cx="1252152" cy="523220"/>
          </a:xfrm>
          <a:prstGeom prst="rect">
            <a:avLst/>
          </a:prstGeom>
          <a:noFill/>
        </p:spPr>
        <p:txBody>
          <a:bodyPr wrap="square" rtlCol="0">
            <a:spAutoFit/>
          </a:bodyPr>
          <a:lstStyle/>
          <a:p>
            <a:r>
              <a:rPr lang="es-CL" dirty="0"/>
              <a:t>Estado=top:</a:t>
            </a:r>
          </a:p>
          <a:p>
            <a:r>
              <a:rPr lang="es-CL" dirty="0"/>
              <a:t>Operador=?</a:t>
            </a:r>
          </a:p>
        </p:txBody>
      </p:sp>
      <p:sp>
        <p:nvSpPr>
          <p:cNvPr id="11" name="CuadroTexto 10"/>
          <p:cNvSpPr txBox="1"/>
          <p:nvPr/>
        </p:nvSpPr>
        <p:spPr>
          <a:xfrm>
            <a:off x="5914762" y="4839777"/>
            <a:ext cx="1342767" cy="307777"/>
          </a:xfrm>
          <a:prstGeom prst="rect">
            <a:avLst/>
          </a:prstGeom>
          <a:noFill/>
        </p:spPr>
        <p:txBody>
          <a:bodyPr wrap="square" rtlCol="0">
            <a:spAutoFit/>
          </a:bodyPr>
          <a:lstStyle/>
          <a:p>
            <a:r>
              <a:rPr lang="es-CL" dirty="0"/>
              <a:t>Hora=13 </a:t>
            </a:r>
            <a:r>
              <a:rPr lang="es-CL" dirty="0" err="1"/>
              <a:t>hrs</a:t>
            </a:r>
            <a:r>
              <a:rPr lang="es-CL" dirty="0"/>
              <a:t>.</a:t>
            </a:r>
          </a:p>
        </p:txBody>
      </p:sp>
      <p:sp>
        <p:nvSpPr>
          <p:cNvPr id="12" name="CuadroTexto 11"/>
          <p:cNvSpPr txBox="1"/>
          <p:nvPr/>
        </p:nvSpPr>
        <p:spPr>
          <a:xfrm>
            <a:off x="5906532" y="5090985"/>
            <a:ext cx="1252151" cy="307777"/>
          </a:xfrm>
          <a:prstGeom prst="rect">
            <a:avLst/>
          </a:prstGeom>
          <a:noFill/>
        </p:spPr>
        <p:txBody>
          <a:bodyPr wrap="square" rtlCol="0">
            <a:spAutoFit/>
          </a:bodyPr>
          <a:lstStyle/>
          <a:p>
            <a:r>
              <a:rPr lang="es-CL" dirty="0"/>
              <a:t>Día=viernes</a:t>
            </a:r>
          </a:p>
        </p:txBody>
      </p:sp>
      <p:sp>
        <p:nvSpPr>
          <p:cNvPr id="13" name="CuadroTexto 12"/>
          <p:cNvSpPr txBox="1"/>
          <p:nvPr/>
        </p:nvSpPr>
        <p:spPr>
          <a:xfrm>
            <a:off x="5906526" y="5329885"/>
            <a:ext cx="1869989" cy="307777"/>
          </a:xfrm>
          <a:prstGeom prst="rect">
            <a:avLst/>
          </a:prstGeom>
          <a:noFill/>
        </p:spPr>
        <p:txBody>
          <a:bodyPr wrap="square" rtlCol="0">
            <a:spAutoFit/>
          </a:bodyPr>
          <a:lstStyle/>
          <a:p>
            <a:r>
              <a:rPr lang="es-CL" dirty="0"/>
              <a:t>Tipo-de-día=pago</a:t>
            </a:r>
          </a:p>
        </p:txBody>
      </p:sp>
      <p:sp>
        <p:nvSpPr>
          <p:cNvPr id="14" name="CuadroTexto 13"/>
          <p:cNvSpPr txBox="1"/>
          <p:nvPr/>
        </p:nvSpPr>
        <p:spPr>
          <a:xfrm>
            <a:off x="504000" y="1980058"/>
            <a:ext cx="830530" cy="307777"/>
          </a:xfrm>
          <a:prstGeom prst="rect">
            <a:avLst/>
          </a:prstGeom>
          <a:noFill/>
        </p:spPr>
        <p:txBody>
          <a:bodyPr wrap="square" rtlCol="0">
            <a:spAutoFit/>
          </a:bodyPr>
          <a:lstStyle/>
          <a:p>
            <a:r>
              <a:rPr lang="es-CL" dirty="0"/>
              <a:t>MLP</a:t>
            </a:r>
          </a:p>
        </p:txBody>
      </p:sp>
      <p:sp>
        <p:nvSpPr>
          <p:cNvPr id="15" name="CuadroTexto 14"/>
          <p:cNvSpPr txBox="1"/>
          <p:nvPr/>
        </p:nvSpPr>
        <p:spPr>
          <a:xfrm>
            <a:off x="370703" y="5108601"/>
            <a:ext cx="1112107" cy="738664"/>
          </a:xfrm>
          <a:prstGeom prst="rect">
            <a:avLst/>
          </a:prstGeom>
          <a:noFill/>
        </p:spPr>
        <p:txBody>
          <a:bodyPr wrap="square" rtlCol="0">
            <a:spAutoFit/>
          </a:bodyPr>
          <a:lstStyle/>
          <a:p>
            <a:pPr algn="ctr"/>
            <a:r>
              <a:rPr lang="es-CL" dirty="0"/>
              <a:t>Memoria de Preferencia</a:t>
            </a:r>
          </a:p>
        </p:txBody>
      </p:sp>
      <p:sp>
        <p:nvSpPr>
          <p:cNvPr id="16" name="CuadroTexto 15"/>
          <p:cNvSpPr txBox="1"/>
          <p:nvPr/>
        </p:nvSpPr>
        <p:spPr>
          <a:xfrm>
            <a:off x="9107675" y="5191279"/>
            <a:ext cx="830530" cy="307777"/>
          </a:xfrm>
          <a:prstGeom prst="rect">
            <a:avLst/>
          </a:prstGeom>
          <a:noFill/>
        </p:spPr>
        <p:txBody>
          <a:bodyPr wrap="square" rtlCol="0">
            <a:spAutoFit/>
          </a:bodyPr>
          <a:lstStyle/>
          <a:p>
            <a:r>
              <a:rPr lang="es-CL" dirty="0"/>
              <a:t>MT</a:t>
            </a:r>
          </a:p>
        </p:txBody>
      </p:sp>
      <p:sp>
        <p:nvSpPr>
          <p:cNvPr id="19" name="CuadroTexto 18"/>
          <p:cNvSpPr txBox="1"/>
          <p:nvPr/>
        </p:nvSpPr>
        <p:spPr>
          <a:xfrm>
            <a:off x="1935891" y="4268386"/>
            <a:ext cx="2421925" cy="307777"/>
          </a:xfrm>
          <a:prstGeom prst="rect">
            <a:avLst/>
          </a:prstGeom>
          <a:noFill/>
        </p:spPr>
        <p:txBody>
          <a:bodyPr wrap="square" rtlCol="0">
            <a:spAutoFit/>
          </a:bodyPr>
          <a:lstStyle/>
          <a:p>
            <a:r>
              <a:rPr lang="es-CL" dirty="0"/>
              <a:t>[agenda=almorzar +]</a:t>
            </a:r>
          </a:p>
        </p:txBody>
      </p:sp>
      <p:sp>
        <p:nvSpPr>
          <p:cNvPr id="20" name="CuadroTexto 19"/>
          <p:cNvSpPr txBox="1"/>
          <p:nvPr/>
        </p:nvSpPr>
        <p:spPr>
          <a:xfrm>
            <a:off x="5923002" y="5580083"/>
            <a:ext cx="1820562" cy="307777"/>
          </a:xfrm>
          <a:prstGeom prst="rect">
            <a:avLst/>
          </a:prstGeom>
          <a:noFill/>
        </p:spPr>
        <p:txBody>
          <a:bodyPr wrap="square" rtlCol="0">
            <a:spAutoFit/>
          </a:bodyPr>
          <a:lstStyle/>
          <a:p>
            <a:r>
              <a:rPr lang="es-CL" dirty="0"/>
              <a:t>agenda=almorzar +</a:t>
            </a:r>
          </a:p>
        </p:txBody>
      </p:sp>
      <p:sp>
        <p:nvSpPr>
          <p:cNvPr id="25" name="CuadroTexto 24"/>
          <p:cNvSpPr txBox="1"/>
          <p:nvPr/>
        </p:nvSpPr>
        <p:spPr>
          <a:xfrm>
            <a:off x="1935887" y="5445642"/>
            <a:ext cx="1977085" cy="307777"/>
          </a:xfrm>
          <a:prstGeom prst="rect">
            <a:avLst/>
          </a:prstGeom>
          <a:noFill/>
        </p:spPr>
        <p:txBody>
          <a:bodyPr wrap="square" rtlCol="0">
            <a:spAutoFit/>
          </a:bodyPr>
          <a:lstStyle/>
          <a:p>
            <a:r>
              <a:rPr lang="es-CL" dirty="0"/>
              <a:t>[operador=gimnasio +]</a:t>
            </a:r>
          </a:p>
        </p:txBody>
      </p:sp>
      <p:sp>
        <p:nvSpPr>
          <p:cNvPr id="27" name="CuadroTexto 26"/>
          <p:cNvSpPr txBox="1"/>
          <p:nvPr/>
        </p:nvSpPr>
        <p:spPr>
          <a:xfrm>
            <a:off x="1935887" y="5748409"/>
            <a:ext cx="2907961" cy="307777"/>
          </a:xfrm>
          <a:prstGeom prst="rect">
            <a:avLst/>
          </a:prstGeom>
          <a:noFill/>
        </p:spPr>
        <p:txBody>
          <a:bodyPr wrap="square" rtlCol="0">
            <a:spAutoFit/>
          </a:bodyPr>
          <a:lstStyle/>
          <a:p>
            <a:r>
              <a:rPr lang="es-CL" dirty="0"/>
              <a:t>[operador=comer… +]</a:t>
            </a:r>
          </a:p>
        </p:txBody>
      </p:sp>
      <p:sp>
        <p:nvSpPr>
          <p:cNvPr id="28" name="CuadroTexto 27"/>
          <p:cNvSpPr txBox="1"/>
          <p:nvPr/>
        </p:nvSpPr>
        <p:spPr>
          <a:xfrm>
            <a:off x="5931239" y="5863747"/>
            <a:ext cx="2018270" cy="307777"/>
          </a:xfrm>
          <a:prstGeom prst="rect">
            <a:avLst/>
          </a:prstGeom>
          <a:noFill/>
        </p:spPr>
        <p:txBody>
          <a:bodyPr wrap="square" rtlCol="0">
            <a:spAutoFit/>
          </a:bodyPr>
          <a:lstStyle/>
          <a:p>
            <a:r>
              <a:rPr lang="es-CL" dirty="0"/>
              <a:t>[operador=gimnasio +]</a:t>
            </a:r>
          </a:p>
        </p:txBody>
      </p:sp>
      <p:sp>
        <p:nvSpPr>
          <p:cNvPr id="29" name="CuadroTexto 28"/>
          <p:cNvSpPr txBox="1"/>
          <p:nvPr/>
        </p:nvSpPr>
        <p:spPr>
          <a:xfrm>
            <a:off x="5931243" y="6138570"/>
            <a:ext cx="2998572" cy="307777"/>
          </a:xfrm>
          <a:prstGeom prst="rect">
            <a:avLst/>
          </a:prstGeom>
          <a:noFill/>
        </p:spPr>
        <p:txBody>
          <a:bodyPr wrap="square" rtlCol="0">
            <a:spAutoFit/>
          </a:bodyPr>
          <a:lstStyle/>
          <a:p>
            <a:r>
              <a:rPr lang="es-CL" dirty="0"/>
              <a:t>[operador=comer… +]</a:t>
            </a:r>
          </a:p>
        </p:txBody>
      </p:sp>
    </p:spTree>
    <p:extLst>
      <p:ext uri="{BB962C8B-B14F-4D97-AF65-F5344CB8AC3E}">
        <p14:creationId xmlns:p14="http://schemas.microsoft.com/office/powerpoint/2010/main" val="1295656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Resolución de conflictos a través de </a:t>
            </a:r>
            <a:r>
              <a:rPr lang="es-CL" sz="3200" b="1" dirty="0" err="1"/>
              <a:t>submetas</a:t>
            </a:r>
            <a:endParaRPr lang="es-CL" sz="1400" b="1" dirty="0"/>
          </a:p>
        </p:txBody>
      </p:sp>
      <p:sp>
        <p:nvSpPr>
          <p:cNvPr id="3" name="Rectángulo 2"/>
          <p:cNvSpPr/>
          <p:nvPr/>
        </p:nvSpPr>
        <p:spPr>
          <a:xfrm>
            <a:off x="1573426" y="1414189"/>
            <a:ext cx="7414055" cy="1790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CuadroTexto 3"/>
          <p:cNvSpPr txBox="1"/>
          <p:nvPr/>
        </p:nvSpPr>
        <p:spPr>
          <a:xfrm>
            <a:off x="1631087" y="1672281"/>
            <a:ext cx="5107459" cy="307777"/>
          </a:xfrm>
          <a:prstGeom prst="rect">
            <a:avLst/>
          </a:prstGeom>
          <a:noFill/>
        </p:spPr>
        <p:txBody>
          <a:bodyPr wrap="square" rtlCol="0">
            <a:spAutoFit/>
          </a:bodyPr>
          <a:lstStyle/>
          <a:p>
            <a:r>
              <a:rPr lang="es-CL" dirty="0"/>
              <a:t>……</a:t>
            </a:r>
          </a:p>
        </p:txBody>
      </p:sp>
      <p:sp>
        <p:nvSpPr>
          <p:cNvPr id="6" name="CuadroTexto 5"/>
          <p:cNvSpPr txBox="1"/>
          <p:nvPr/>
        </p:nvSpPr>
        <p:spPr>
          <a:xfrm>
            <a:off x="1622848" y="2084261"/>
            <a:ext cx="5568778" cy="307777"/>
          </a:xfrm>
          <a:prstGeom prst="rect">
            <a:avLst/>
          </a:prstGeom>
          <a:noFill/>
        </p:spPr>
        <p:txBody>
          <a:bodyPr wrap="square" rtlCol="0">
            <a:spAutoFit/>
          </a:bodyPr>
          <a:lstStyle/>
          <a:p>
            <a:r>
              <a:rPr lang="es-CL" dirty="0"/>
              <a:t>……</a:t>
            </a:r>
          </a:p>
        </p:txBody>
      </p:sp>
      <p:sp>
        <p:nvSpPr>
          <p:cNvPr id="7" name="CuadroTexto 6"/>
          <p:cNvSpPr txBox="1"/>
          <p:nvPr/>
        </p:nvSpPr>
        <p:spPr>
          <a:xfrm>
            <a:off x="1606371" y="2478056"/>
            <a:ext cx="7501304" cy="307777"/>
          </a:xfrm>
          <a:prstGeom prst="rect">
            <a:avLst/>
          </a:prstGeom>
          <a:noFill/>
        </p:spPr>
        <p:txBody>
          <a:bodyPr wrap="square" rtlCol="0">
            <a:spAutoFit/>
          </a:bodyPr>
          <a:lstStyle/>
          <a:p>
            <a:r>
              <a:rPr lang="es-CL" dirty="0"/>
              <a:t>SI [operador=gimnasio +] y [operador=comer… +] ENTONCES operador=gimnasio &gt;</a:t>
            </a:r>
          </a:p>
        </p:txBody>
      </p:sp>
      <p:sp>
        <p:nvSpPr>
          <p:cNvPr id="8" name="Rectángulo 7"/>
          <p:cNvSpPr/>
          <p:nvPr/>
        </p:nvSpPr>
        <p:spPr>
          <a:xfrm>
            <a:off x="1573426" y="3995351"/>
            <a:ext cx="3361039" cy="2842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p:cNvSpPr/>
          <p:nvPr/>
        </p:nvSpPr>
        <p:spPr>
          <a:xfrm>
            <a:off x="5354595" y="3995351"/>
            <a:ext cx="3554627" cy="2842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CuadroTexto 9"/>
          <p:cNvSpPr txBox="1"/>
          <p:nvPr/>
        </p:nvSpPr>
        <p:spPr>
          <a:xfrm>
            <a:off x="5486394" y="4104988"/>
            <a:ext cx="1252152" cy="523220"/>
          </a:xfrm>
          <a:prstGeom prst="rect">
            <a:avLst/>
          </a:prstGeom>
          <a:noFill/>
        </p:spPr>
        <p:txBody>
          <a:bodyPr wrap="square" rtlCol="0">
            <a:spAutoFit/>
          </a:bodyPr>
          <a:lstStyle/>
          <a:p>
            <a:r>
              <a:rPr lang="es-CL" dirty="0"/>
              <a:t>Estado=top:</a:t>
            </a:r>
          </a:p>
          <a:p>
            <a:r>
              <a:rPr lang="es-CL" dirty="0"/>
              <a:t>Operador=?</a:t>
            </a:r>
          </a:p>
        </p:txBody>
      </p:sp>
      <p:sp>
        <p:nvSpPr>
          <p:cNvPr id="14" name="CuadroTexto 13"/>
          <p:cNvSpPr txBox="1"/>
          <p:nvPr/>
        </p:nvSpPr>
        <p:spPr>
          <a:xfrm>
            <a:off x="504000" y="1980058"/>
            <a:ext cx="830530" cy="307777"/>
          </a:xfrm>
          <a:prstGeom prst="rect">
            <a:avLst/>
          </a:prstGeom>
          <a:noFill/>
        </p:spPr>
        <p:txBody>
          <a:bodyPr wrap="square" rtlCol="0">
            <a:spAutoFit/>
          </a:bodyPr>
          <a:lstStyle/>
          <a:p>
            <a:r>
              <a:rPr lang="es-CL" dirty="0"/>
              <a:t>MLP</a:t>
            </a:r>
          </a:p>
        </p:txBody>
      </p:sp>
      <p:sp>
        <p:nvSpPr>
          <p:cNvPr id="15" name="CuadroTexto 14"/>
          <p:cNvSpPr txBox="1"/>
          <p:nvPr/>
        </p:nvSpPr>
        <p:spPr>
          <a:xfrm>
            <a:off x="370703" y="5108601"/>
            <a:ext cx="1112107" cy="738664"/>
          </a:xfrm>
          <a:prstGeom prst="rect">
            <a:avLst/>
          </a:prstGeom>
          <a:noFill/>
        </p:spPr>
        <p:txBody>
          <a:bodyPr wrap="square" rtlCol="0">
            <a:spAutoFit/>
          </a:bodyPr>
          <a:lstStyle/>
          <a:p>
            <a:pPr algn="ctr"/>
            <a:r>
              <a:rPr lang="es-CL" dirty="0"/>
              <a:t>Memoria de Preferencia</a:t>
            </a:r>
          </a:p>
        </p:txBody>
      </p:sp>
      <p:sp>
        <p:nvSpPr>
          <p:cNvPr id="16" name="CuadroTexto 15"/>
          <p:cNvSpPr txBox="1"/>
          <p:nvPr/>
        </p:nvSpPr>
        <p:spPr>
          <a:xfrm>
            <a:off x="9107675" y="5191279"/>
            <a:ext cx="830530" cy="307777"/>
          </a:xfrm>
          <a:prstGeom prst="rect">
            <a:avLst/>
          </a:prstGeom>
          <a:noFill/>
        </p:spPr>
        <p:txBody>
          <a:bodyPr wrap="square" rtlCol="0">
            <a:spAutoFit/>
          </a:bodyPr>
          <a:lstStyle/>
          <a:p>
            <a:r>
              <a:rPr lang="es-CL" dirty="0"/>
              <a:t>MT</a:t>
            </a:r>
          </a:p>
        </p:txBody>
      </p:sp>
      <p:sp>
        <p:nvSpPr>
          <p:cNvPr id="19" name="CuadroTexto 18"/>
          <p:cNvSpPr txBox="1"/>
          <p:nvPr/>
        </p:nvSpPr>
        <p:spPr>
          <a:xfrm>
            <a:off x="1935891" y="4268386"/>
            <a:ext cx="2421925" cy="307777"/>
          </a:xfrm>
          <a:prstGeom prst="rect">
            <a:avLst/>
          </a:prstGeom>
          <a:noFill/>
        </p:spPr>
        <p:txBody>
          <a:bodyPr wrap="square" rtlCol="0">
            <a:spAutoFit/>
          </a:bodyPr>
          <a:lstStyle/>
          <a:p>
            <a:r>
              <a:rPr lang="es-CL" dirty="0"/>
              <a:t>[agenda=almorzar +]</a:t>
            </a:r>
          </a:p>
        </p:txBody>
      </p:sp>
      <p:sp>
        <p:nvSpPr>
          <p:cNvPr id="25" name="CuadroTexto 24"/>
          <p:cNvSpPr txBox="1"/>
          <p:nvPr/>
        </p:nvSpPr>
        <p:spPr>
          <a:xfrm>
            <a:off x="1935887" y="5445642"/>
            <a:ext cx="1977085" cy="307777"/>
          </a:xfrm>
          <a:prstGeom prst="rect">
            <a:avLst/>
          </a:prstGeom>
          <a:noFill/>
        </p:spPr>
        <p:txBody>
          <a:bodyPr wrap="square" rtlCol="0">
            <a:spAutoFit/>
          </a:bodyPr>
          <a:lstStyle/>
          <a:p>
            <a:r>
              <a:rPr lang="es-CL" dirty="0"/>
              <a:t>[operador=gimnasio +]</a:t>
            </a:r>
          </a:p>
        </p:txBody>
      </p:sp>
      <p:sp>
        <p:nvSpPr>
          <p:cNvPr id="27" name="CuadroTexto 26"/>
          <p:cNvSpPr txBox="1"/>
          <p:nvPr/>
        </p:nvSpPr>
        <p:spPr>
          <a:xfrm>
            <a:off x="1935887" y="5748409"/>
            <a:ext cx="2907961" cy="307777"/>
          </a:xfrm>
          <a:prstGeom prst="rect">
            <a:avLst/>
          </a:prstGeom>
          <a:noFill/>
        </p:spPr>
        <p:txBody>
          <a:bodyPr wrap="square" rtlCol="0">
            <a:spAutoFit/>
          </a:bodyPr>
          <a:lstStyle/>
          <a:p>
            <a:r>
              <a:rPr lang="es-CL" dirty="0"/>
              <a:t>[operador=comer… +]</a:t>
            </a:r>
          </a:p>
        </p:txBody>
      </p:sp>
      <p:sp>
        <p:nvSpPr>
          <p:cNvPr id="28" name="CuadroTexto 27"/>
          <p:cNvSpPr txBox="1"/>
          <p:nvPr/>
        </p:nvSpPr>
        <p:spPr>
          <a:xfrm>
            <a:off x="5931239" y="4771189"/>
            <a:ext cx="2018270" cy="307777"/>
          </a:xfrm>
          <a:prstGeom prst="rect">
            <a:avLst/>
          </a:prstGeom>
          <a:noFill/>
        </p:spPr>
        <p:txBody>
          <a:bodyPr wrap="square" rtlCol="0">
            <a:spAutoFit/>
          </a:bodyPr>
          <a:lstStyle/>
          <a:p>
            <a:r>
              <a:rPr lang="es-CL" dirty="0"/>
              <a:t>[operador=gimnasio +]</a:t>
            </a:r>
          </a:p>
        </p:txBody>
      </p:sp>
      <p:sp>
        <p:nvSpPr>
          <p:cNvPr id="29" name="CuadroTexto 28"/>
          <p:cNvSpPr txBox="1"/>
          <p:nvPr/>
        </p:nvSpPr>
        <p:spPr>
          <a:xfrm>
            <a:off x="5931239" y="5043570"/>
            <a:ext cx="2998572" cy="307777"/>
          </a:xfrm>
          <a:prstGeom prst="rect">
            <a:avLst/>
          </a:prstGeom>
          <a:noFill/>
        </p:spPr>
        <p:txBody>
          <a:bodyPr wrap="square" rtlCol="0">
            <a:spAutoFit/>
          </a:bodyPr>
          <a:lstStyle/>
          <a:p>
            <a:r>
              <a:rPr lang="es-CL" dirty="0"/>
              <a:t>[operador=comer… +]</a:t>
            </a:r>
          </a:p>
        </p:txBody>
      </p:sp>
      <p:sp>
        <p:nvSpPr>
          <p:cNvPr id="5" name="CuadroTexto 4"/>
          <p:cNvSpPr txBox="1"/>
          <p:nvPr/>
        </p:nvSpPr>
        <p:spPr>
          <a:xfrm>
            <a:off x="5931239" y="4511414"/>
            <a:ext cx="1499291" cy="307777"/>
          </a:xfrm>
          <a:prstGeom prst="rect">
            <a:avLst/>
          </a:prstGeom>
          <a:noFill/>
        </p:spPr>
        <p:txBody>
          <a:bodyPr wrap="square" rtlCol="0">
            <a:spAutoFit/>
          </a:bodyPr>
          <a:lstStyle/>
          <a:p>
            <a:r>
              <a:rPr lang="es-CL" dirty="0"/>
              <a:t>……</a:t>
            </a:r>
          </a:p>
        </p:txBody>
      </p:sp>
      <p:sp>
        <p:nvSpPr>
          <p:cNvPr id="26" name="CuadroTexto 25"/>
          <p:cNvSpPr txBox="1"/>
          <p:nvPr/>
        </p:nvSpPr>
        <p:spPr>
          <a:xfrm>
            <a:off x="5486393" y="5344190"/>
            <a:ext cx="1886471" cy="307777"/>
          </a:xfrm>
          <a:prstGeom prst="rect">
            <a:avLst/>
          </a:prstGeom>
          <a:noFill/>
        </p:spPr>
        <p:txBody>
          <a:bodyPr wrap="square" rtlCol="0">
            <a:spAutoFit/>
          </a:bodyPr>
          <a:lstStyle/>
          <a:p>
            <a:r>
              <a:rPr lang="es-CL" dirty="0"/>
              <a:t>Estado=subestado-1:</a:t>
            </a:r>
          </a:p>
        </p:txBody>
      </p:sp>
      <p:sp>
        <p:nvSpPr>
          <p:cNvPr id="18" name="CuadroTexto 17"/>
          <p:cNvSpPr txBox="1"/>
          <p:nvPr/>
        </p:nvSpPr>
        <p:spPr>
          <a:xfrm>
            <a:off x="5931239" y="5623728"/>
            <a:ext cx="2504312" cy="307777"/>
          </a:xfrm>
          <a:prstGeom prst="rect">
            <a:avLst/>
          </a:prstGeom>
          <a:noFill/>
        </p:spPr>
        <p:txBody>
          <a:bodyPr wrap="square" rtlCol="0">
            <a:spAutoFit/>
          </a:bodyPr>
          <a:lstStyle/>
          <a:p>
            <a:r>
              <a:rPr lang="es-CL" dirty="0"/>
              <a:t>Problema=ítems empatados</a:t>
            </a:r>
          </a:p>
        </p:txBody>
      </p:sp>
      <p:sp>
        <p:nvSpPr>
          <p:cNvPr id="31" name="CuadroTexto 30"/>
          <p:cNvSpPr txBox="1"/>
          <p:nvPr/>
        </p:nvSpPr>
        <p:spPr>
          <a:xfrm>
            <a:off x="5931239" y="5860253"/>
            <a:ext cx="2430167" cy="307777"/>
          </a:xfrm>
          <a:prstGeom prst="rect">
            <a:avLst/>
          </a:prstGeom>
          <a:noFill/>
        </p:spPr>
        <p:txBody>
          <a:bodyPr wrap="square" rtlCol="0">
            <a:spAutoFit/>
          </a:bodyPr>
          <a:lstStyle/>
          <a:p>
            <a:r>
              <a:rPr lang="es-CL" dirty="0"/>
              <a:t>Ítem-empatado-1=gimnasio</a:t>
            </a:r>
          </a:p>
        </p:txBody>
      </p:sp>
      <p:sp>
        <p:nvSpPr>
          <p:cNvPr id="32" name="CuadroTexto 31"/>
          <p:cNvSpPr txBox="1"/>
          <p:nvPr/>
        </p:nvSpPr>
        <p:spPr>
          <a:xfrm>
            <a:off x="5941533" y="6120028"/>
            <a:ext cx="2430167" cy="307777"/>
          </a:xfrm>
          <a:prstGeom prst="rect">
            <a:avLst/>
          </a:prstGeom>
          <a:noFill/>
        </p:spPr>
        <p:txBody>
          <a:bodyPr wrap="square" rtlCol="0">
            <a:spAutoFit/>
          </a:bodyPr>
          <a:lstStyle/>
          <a:p>
            <a:r>
              <a:rPr lang="es-CL" dirty="0"/>
              <a:t>Ítem-empatado-1=comer…</a:t>
            </a:r>
          </a:p>
        </p:txBody>
      </p:sp>
      <p:sp>
        <p:nvSpPr>
          <p:cNvPr id="33" name="CuadroTexto 32"/>
          <p:cNvSpPr txBox="1"/>
          <p:nvPr/>
        </p:nvSpPr>
        <p:spPr>
          <a:xfrm>
            <a:off x="5955952" y="6367949"/>
            <a:ext cx="2430167" cy="307777"/>
          </a:xfrm>
          <a:prstGeom prst="rect">
            <a:avLst/>
          </a:prstGeom>
          <a:noFill/>
        </p:spPr>
        <p:txBody>
          <a:bodyPr wrap="square" rtlCol="0">
            <a:spAutoFit/>
          </a:bodyPr>
          <a:lstStyle/>
          <a:p>
            <a:r>
              <a:rPr lang="es-CL" dirty="0" err="1"/>
              <a:t>superestado</a:t>
            </a:r>
            <a:r>
              <a:rPr lang="es-CL" dirty="0"/>
              <a:t>=top</a:t>
            </a:r>
          </a:p>
        </p:txBody>
      </p:sp>
      <p:sp>
        <p:nvSpPr>
          <p:cNvPr id="34" name="CuadroTexto 33"/>
          <p:cNvSpPr txBox="1"/>
          <p:nvPr/>
        </p:nvSpPr>
        <p:spPr>
          <a:xfrm>
            <a:off x="1935886" y="6040828"/>
            <a:ext cx="2907961" cy="307777"/>
          </a:xfrm>
          <a:prstGeom prst="rect">
            <a:avLst/>
          </a:prstGeom>
          <a:noFill/>
        </p:spPr>
        <p:txBody>
          <a:bodyPr wrap="square" rtlCol="0">
            <a:spAutoFit/>
          </a:bodyPr>
          <a:lstStyle/>
          <a:p>
            <a:r>
              <a:rPr lang="es-CL" dirty="0"/>
              <a:t>[operador=gimnasio &gt;]</a:t>
            </a:r>
          </a:p>
        </p:txBody>
      </p:sp>
      <mc:AlternateContent xmlns:mc="http://schemas.openxmlformats.org/markup-compatibility/2006" xmlns:p14="http://schemas.microsoft.com/office/powerpoint/2010/main">
        <mc:Choice Requires="p14">
          <p:contentPart p14:bwMode="auto" r:id="rId3">
            <p14:nvContentPartPr>
              <p14:cNvPr id="11" name="Entrada de lápiz 10">
                <a:extLst>
                  <a:ext uri="{FF2B5EF4-FFF2-40B4-BE49-F238E27FC236}">
                    <a16:creationId xmlns:a16="http://schemas.microsoft.com/office/drawing/2014/main" id="{8413ABA5-FB83-451D-42D6-C1EADE395A82}"/>
                  </a:ext>
                </a:extLst>
              </p14:cNvPr>
              <p14:cNvContentPartPr/>
              <p14:nvPr/>
            </p14:nvContentPartPr>
            <p14:xfrm>
              <a:off x="7846642" y="4791082"/>
              <a:ext cx="219960" cy="606240"/>
            </p14:xfrm>
          </p:contentPart>
        </mc:Choice>
        <mc:Fallback xmlns="">
          <p:pic>
            <p:nvPicPr>
              <p:cNvPr id="11" name="Entrada de lápiz 10">
                <a:extLst>
                  <a:ext uri="{FF2B5EF4-FFF2-40B4-BE49-F238E27FC236}">
                    <a16:creationId xmlns:a16="http://schemas.microsoft.com/office/drawing/2014/main" id="{8413ABA5-FB83-451D-42D6-C1EADE395A82}"/>
                  </a:ext>
                </a:extLst>
              </p:cNvPr>
              <p:cNvPicPr/>
              <p:nvPr/>
            </p:nvPicPr>
            <p:blipFill>
              <a:blip r:embed="rId4"/>
              <a:stretch>
                <a:fillRect/>
              </a:stretch>
            </p:blipFill>
            <p:spPr>
              <a:xfrm>
                <a:off x="7838002" y="4782082"/>
                <a:ext cx="237600" cy="623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Entrada de lápiz 11">
                <a:extLst>
                  <a:ext uri="{FF2B5EF4-FFF2-40B4-BE49-F238E27FC236}">
                    <a16:creationId xmlns:a16="http://schemas.microsoft.com/office/drawing/2014/main" id="{EE16C01A-1F5B-5165-CB68-1B3F9DC3395D}"/>
                  </a:ext>
                </a:extLst>
              </p14:cNvPr>
              <p14:cNvContentPartPr/>
              <p14:nvPr/>
            </p14:nvContentPartPr>
            <p14:xfrm>
              <a:off x="8205922" y="5095642"/>
              <a:ext cx="267120" cy="420120"/>
            </p14:xfrm>
          </p:contentPart>
        </mc:Choice>
        <mc:Fallback xmlns="">
          <p:pic>
            <p:nvPicPr>
              <p:cNvPr id="12" name="Entrada de lápiz 11">
                <a:extLst>
                  <a:ext uri="{FF2B5EF4-FFF2-40B4-BE49-F238E27FC236}">
                    <a16:creationId xmlns:a16="http://schemas.microsoft.com/office/drawing/2014/main" id="{EE16C01A-1F5B-5165-CB68-1B3F9DC3395D}"/>
                  </a:ext>
                </a:extLst>
              </p:cNvPr>
              <p:cNvPicPr/>
              <p:nvPr/>
            </p:nvPicPr>
            <p:blipFill>
              <a:blip r:embed="rId6"/>
              <a:stretch>
                <a:fillRect/>
              </a:stretch>
            </p:blipFill>
            <p:spPr>
              <a:xfrm>
                <a:off x="8196922" y="5087002"/>
                <a:ext cx="284760" cy="437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Entrada de lápiz 12">
                <a:extLst>
                  <a:ext uri="{FF2B5EF4-FFF2-40B4-BE49-F238E27FC236}">
                    <a16:creationId xmlns:a16="http://schemas.microsoft.com/office/drawing/2014/main" id="{DD655751-0B78-C1FC-5A96-E564818A7CE6}"/>
                  </a:ext>
                </a:extLst>
              </p14:cNvPr>
              <p14:cNvContentPartPr/>
              <p14:nvPr/>
            </p14:nvContentPartPr>
            <p14:xfrm>
              <a:off x="8315002" y="5409922"/>
              <a:ext cx="186120" cy="200880"/>
            </p14:xfrm>
          </p:contentPart>
        </mc:Choice>
        <mc:Fallback xmlns="">
          <p:pic>
            <p:nvPicPr>
              <p:cNvPr id="13" name="Entrada de lápiz 12">
                <a:extLst>
                  <a:ext uri="{FF2B5EF4-FFF2-40B4-BE49-F238E27FC236}">
                    <a16:creationId xmlns:a16="http://schemas.microsoft.com/office/drawing/2014/main" id="{DD655751-0B78-C1FC-5A96-E564818A7CE6}"/>
                  </a:ext>
                </a:extLst>
              </p:cNvPr>
              <p:cNvPicPr/>
              <p:nvPr/>
            </p:nvPicPr>
            <p:blipFill>
              <a:blip r:embed="rId8"/>
              <a:stretch>
                <a:fillRect/>
              </a:stretch>
            </p:blipFill>
            <p:spPr>
              <a:xfrm>
                <a:off x="8306362" y="5400922"/>
                <a:ext cx="203760" cy="218520"/>
              </a:xfrm>
              <a:prstGeom prst="rect">
                <a:avLst/>
              </a:prstGeom>
            </p:spPr>
          </p:pic>
        </mc:Fallback>
      </mc:AlternateContent>
    </p:spTree>
    <p:extLst>
      <p:ext uri="{BB962C8B-B14F-4D97-AF65-F5344CB8AC3E}">
        <p14:creationId xmlns:p14="http://schemas.microsoft.com/office/powerpoint/2010/main" val="205629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6" grpId="0"/>
      <p:bldP spid="18" grpId="0"/>
      <p:bldP spid="31" grpId="0"/>
      <p:bldP spid="32" grpId="0"/>
      <p:bldP spid="33" grpId="0"/>
      <p:bldP spid="3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Resolución de conflictos a través de </a:t>
            </a:r>
            <a:r>
              <a:rPr lang="es-CL" sz="3200" b="1" dirty="0" err="1"/>
              <a:t>submetas</a:t>
            </a:r>
            <a:endParaRPr lang="es-CL" sz="1400" b="1" dirty="0"/>
          </a:p>
        </p:txBody>
      </p:sp>
      <p:sp>
        <p:nvSpPr>
          <p:cNvPr id="3" name="Rectángulo 2"/>
          <p:cNvSpPr/>
          <p:nvPr/>
        </p:nvSpPr>
        <p:spPr>
          <a:xfrm>
            <a:off x="1573426" y="1414189"/>
            <a:ext cx="7414055" cy="1790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CuadroTexto 3"/>
          <p:cNvSpPr txBox="1"/>
          <p:nvPr/>
        </p:nvSpPr>
        <p:spPr>
          <a:xfrm>
            <a:off x="1631087" y="1672281"/>
            <a:ext cx="5107459" cy="307777"/>
          </a:xfrm>
          <a:prstGeom prst="rect">
            <a:avLst/>
          </a:prstGeom>
          <a:noFill/>
        </p:spPr>
        <p:txBody>
          <a:bodyPr wrap="square" rtlCol="0">
            <a:spAutoFit/>
          </a:bodyPr>
          <a:lstStyle/>
          <a:p>
            <a:r>
              <a:rPr lang="es-CL" dirty="0"/>
              <a:t>……</a:t>
            </a:r>
          </a:p>
        </p:txBody>
      </p:sp>
      <p:sp>
        <p:nvSpPr>
          <p:cNvPr id="6" name="CuadroTexto 5"/>
          <p:cNvSpPr txBox="1"/>
          <p:nvPr/>
        </p:nvSpPr>
        <p:spPr>
          <a:xfrm>
            <a:off x="1622848" y="2084261"/>
            <a:ext cx="5568778" cy="307777"/>
          </a:xfrm>
          <a:prstGeom prst="rect">
            <a:avLst/>
          </a:prstGeom>
          <a:noFill/>
        </p:spPr>
        <p:txBody>
          <a:bodyPr wrap="square" rtlCol="0">
            <a:spAutoFit/>
          </a:bodyPr>
          <a:lstStyle/>
          <a:p>
            <a:r>
              <a:rPr lang="es-CL" dirty="0"/>
              <a:t>……</a:t>
            </a:r>
          </a:p>
        </p:txBody>
      </p:sp>
      <p:sp>
        <p:nvSpPr>
          <p:cNvPr id="7" name="CuadroTexto 6"/>
          <p:cNvSpPr txBox="1"/>
          <p:nvPr/>
        </p:nvSpPr>
        <p:spPr>
          <a:xfrm>
            <a:off x="1606371" y="2478056"/>
            <a:ext cx="7501304" cy="307777"/>
          </a:xfrm>
          <a:prstGeom prst="rect">
            <a:avLst/>
          </a:prstGeom>
          <a:noFill/>
        </p:spPr>
        <p:txBody>
          <a:bodyPr wrap="square" rtlCol="0">
            <a:spAutoFit/>
          </a:bodyPr>
          <a:lstStyle/>
          <a:p>
            <a:r>
              <a:rPr lang="es-CL" dirty="0"/>
              <a:t>SI [operador=gimnasio +] y [operador=comer… +] ENTONCES operador=gimnasio &gt;</a:t>
            </a:r>
          </a:p>
        </p:txBody>
      </p:sp>
      <p:sp>
        <p:nvSpPr>
          <p:cNvPr id="8" name="Rectángulo 7"/>
          <p:cNvSpPr/>
          <p:nvPr/>
        </p:nvSpPr>
        <p:spPr>
          <a:xfrm>
            <a:off x="1573426" y="3995351"/>
            <a:ext cx="3361039" cy="2842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p:cNvSpPr/>
          <p:nvPr/>
        </p:nvSpPr>
        <p:spPr>
          <a:xfrm>
            <a:off x="5354595" y="3995351"/>
            <a:ext cx="3554627" cy="28420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4" name="CuadroTexto 13"/>
          <p:cNvSpPr txBox="1"/>
          <p:nvPr/>
        </p:nvSpPr>
        <p:spPr>
          <a:xfrm>
            <a:off x="504000" y="1980058"/>
            <a:ext cx="830530" cy="307777"/>
          </a:xfrm>
          <a:prstGeom prst="rect">
            <a:avLst/>
          </a:prstGeom>
          <a:noFill/>
        </p:spPr>
        <p:txBody>
          <a:bodyPr wrap="square" rtlCol="0">
            <a:spAutoFit/>
          </a:bodyPr>
          <a:lstStyle/>
          <a:p>
            <a:r>
              <a:rPr lang="es-CL" dirty="0"/>
              <a:t>MLP</a:t>
            </a:r>
          </a:p>
        </p:txBody>
      </p:sp>
      <p:sp>
        <p:nvSpPr>
          <p:cNvPr id="15" name="CuadroTexto 14"/>
          <p:cNvSpPr txBox="1"/>
          <p:nvPr/>
        </p:nvSpPr>
        <p:spPr>
          <a:xfrm>
            <a:off x="370703" y="5108601"/>
            <a:ext cx="1112107" cy="738664"/>
          </a:xfrm>
          <a:prstGeom prst="rect">
            <a:avLst/>
          </a:prstGeom>
          <a:noFill/>
        </p:spPr>
        <p:txBody>
          <a:bodyPr wrap="square" rtlCol="0">
            <a:spAutoFit/>
          </a:bodyPr>
          <a:lstStyle/>
          <a:p>
            <a:pPr algn="ctr"/>
            <a:r>
              <a:rPr lang="es-CL" dirty="0"/>
              <a:t>Memoria de Preferencia</a:t>
            </a:r>
          </a:p>
        </p:txBody>
      </p:sp>
      <p:sp>
        <p:nvSpPr>
          <p:cNvPr id="16" name="CuadroTexto 15"/>
          <p:cNvSpPr txBox="1"/>
          <p:nvPr/>
        </p:nvSpPr>
        <p:spPr>
          <a:xfrm>
            <a:off x="9107675" y="5191279"/>
            <a:ext cx="830530" cy="307777"/>
          </a:xfrm>
          <a:prstGeom prst="rect">
            <a:avLst/>
          </a:prstGeom>
          <a:noFill/>
        </p:spPr>
        <p:txBody>
          <a:bodyPr wrap="square" rtlCol="0">
            <a:spAutoFit/>
          </a:bodyPr>
          <a:lstStyle/>
          <a:p>
            <a:r>
              <a:rPr lang="es-CL" dirty="0"/>
              <a:t>MT</a:t>
            </a:r>
          </a:p>
        </p:txBody>
      </p:sp>
      <p:sp>
        <p:nvSpPr>
          <p:cNvPr id="19" name="CuadroTexto 18"/>
          <p:cNvSpPr txBox="1"/>
          <p:nvPr/>
        </p:nvSpPr>
        <p:spPr>
          <a:xfrm>
            <a:off x="1935891" y="4268386"/>
            <a:ext cx="2421925" cy="307777"/>
          </a:xfrm>
          <a:prstGeom prst="rect">
            <a:avLst/>
          </a:prstGeom>
          <a:noFill/>
        </p:spPr>
        <p:txBody>
          <a:bodyPr wrap="square" rtlCol="0">
            <a:spAutoFit/>
          </a:bodyPr>
          <a:lstStyle/>
          <a:p>
            <a:r>
              <a:rPr lang="es-CL" dirty="0"/>
              <a:t>[agenda=almorzar +]</a:t>
            </a:r>
          </a:p>
        </p:txBody>
      </p:sp>
      <p:sp>
        <p:nvSpPr>
          <p:cNvPr id="25" name="CuadroTexto 24"/>
          <p:cNvSpPr txBox="1"/>
          <p:nvPr/>
        </p:nvSpPr>
        <p:spPr>
          <a:xfrm>
            <a:off x="1935887" y="5445642"/>
            <a:ext cx="1977085" cy="307777"/>
          </a:xfrm>
          <a:prstGeom prst="rect">
            <a:avLst/>
          </a:prstGeom>
          <a:noFill/>
        </p:spPr>
        <p:txBody>
          <a:bodyPr wrap="square" rtlCol="0">
            <a:spAutoFit/>
          </a:bodyPr>
          <a:lstStyle/>
          <a:p>
            <a:r>
              <a:rPr lang="es-CL" dirty="0"/>
              <a:t>[operador=gimnasio +]</a:t>
            </a:r>
          </a:p>
        </p:txBody>
      </p:sp>
      <p:sp>
        <p:nvSpPr>
          <p:cNvPr id="27" name="CuadroTexto 26"/>
          <p:cNvSpPr txBox="1"/>
          <p:nvPr/>
        </p:nvSpPr>
        <p:spPr>
          <a:xfrm>
            <a:off x="1935887" y="5748409"/>
            <a:ext cx="2907961" cy="307777"/>
          </a:xfrm>
          <a:prstGeom prst="rect">
            <a:avLst/>
          </a:prstGeom>
          <a:noFill/>
        </p:spPr>
        <p:txBody>
          <a:bodyPr wrap="square" rtlCol="0">
            <a:spAutoFit/>
          </a:bodyPr>
          <a:lstStyle/>
          <a:p>
            <a:r>
              <a:rPr lang="es-CL" dirty="0"/>
              <a:t>[operador=comer… +]</a:t>
            </a:r>
          </a:p>
        </p:txBody>
      </p:sp>
      <p:sp>
        <p:nvSpPr>
          <p:cNvPr id="28" name="CuadroTexto 27"/>
          <p:cNvSpPr txBox="1"/>
          <p:nvPr/>
        </p:nvSpPr>
        <p:spPr>
          <a:xfrm>
            <a:off x="5931239" y="4771189"/>
            <a:ext cx="2018270" cy="307777"/>
          </a:xfrm>
          <a:prstGeom prst="rect">
            <a:avLst/>
          </a:prstGeom>
          <a:noFill/>
        </p:spPr>
        <p:txBody>
          <a:bodyPr wrap="square" rtlCol="0">
            <a:spAutoFit/>
          </a:bodyPr>
          <a:lstStyle/>
          <a:p>
            <a:r>
              <a:rPr lang="es-CL" dirty="0"/>
              <a:t>[operador=gimnasio +]</a:t>
            </a:r>
          </a:p>
        </p:txBody>
      </p:sp>
      <p:sp>
        <p:nvSpPr>
          <p:cNvPr id="29" name="CuadroTexto 28"/>
          <p:cNvSpPr txBox="1"/>
          <p:nvPr/>
        </p:nvSpPr>
        <p:spPr>
          <a:xfrm>
            <a:off x="5931239" y="5043570"/>
            <a:ext cx="2998572" cy="307777"/>
          </a:xfrm>
          <a:prstGeom prst="rect">
            <a:avLst/>
          </a:prstGeom>
          <a:noFill/>
        </p:spPr>
        <p:txBody>
          <a:bodyPr wrap="square" rtlCol="0">
            <a:spAutoFit/>
          </a:bodyPr>
          <a:lstStyle/>
          <a:p>
            <a:r>
              <a:rPr lang="es-CL" dirty="0"/>
              <a:t>[operador=comer… +]</a:t>
            </a:r>
          </a:p>
        </p:txBody>
      </p:sp>
      <p:sp>
        <p:nvSpPr>
          <p:cNvPr id="5" name="CuadroTexto 4"/>
          <p:cNvSpPr txBox="1"/>
          <p:nvPr/>
        </p:nvSpPr>
        <p:spPr>
          <a:xfrm>
            <a:off x="5931239" y="4511414"/>
            <a:ext cx="1499291" cy="307777"/>
          </a:xfrm>
          <a:prstGeom prst="rect">
            <a:avLst/>
          </a:prstGeom>
          <a:noFill/>
        </p:spPr>
        <p:txBody>
          <a:bodyPr wrap="square" rtlCol="0">
            <a:spAutoFit/>
          </a:bodyPr>
          <a:lstStyle/>
          <a:p>
            <a:r>
              <a:rPr lang="es-CL" dirty="0"/>
              <a:t>……</a:t>
            </a:r>
          </a:p>
        </p:txBody>
      </p:sp>
      <p:sp>
        <p:nvSpPr>
          <p:cNvPr id="26" name="CuadroTexto 25"/>
          <p:cNvSpPr txBox="1"/>
          <p:nvPr/>
        </p:nvSpPr>
        <p:spPr>
          <a:xfrm>
            <a:off x="5486393" y="5344190"/>
            <a:ext cx="1886471" cy="307777"/>
          </a:xfrm>
          <a:prstGeom prst="rect">
            <a:avLst/>
          </a:prstGeom>
          <a:noFill/>
        </p:spPr>
        <p:txBody>
          <a:bodyPr wrap="square" rtlCol="0">
            <a:spAutoFit/>
          </a:bodyPr>
          <a:lstStyle/>
          <a:p>
            <a:r>
              <a:rPr lang="es-CL" dirty="0"/>
              <a:t>Estado=subestado-1:</a:t>
            </a:r>
          </a:p>
        </p:txBody>
      </p:sp>
      <p:sp>
        <p:nvSpPr>
          <p:cNvPr id="18" name="CuadroTexto 17"/>
          <p:cNvSpPr txBox="1"/>
          <p:nvPr/>
        </p:nvSpPr>
        <p:spPr>
          <a:xfrm>
            <a:off x="5931239" y="5623728"/>
            <a:ext cx="2504312" cy="307777"/>
          </a:xfrm>
          <a:prstGeom prst="rect">
            <a:avLst/>
          </a:prstGeom>
          <a:noFill/>
        </p:spPr>
        <p:txBody>
          <a:bodyPr wrap="square" rtlCol="0">
            <a:spAutoFit/>
          </a:bodyPr>
          <a:lstStyle/>
          <a:p>
            <a:r>
              <a:rPr lang="es-CL" dirty="0"/>
              <a:t>Problema=ítems empatados</a:t>
            </a:r>
          </a:p>
        </p:txBody>
      </p:sp>
      <p:sp>
        <p:nvSpPr>
          <p:cNvPr id="31" name="CuadroTexto 30"/>
          <p:cNvSpPr txBox="1"/>
          <p:nvPr/>
        </p:nvSpPr>
        <p:spPr>
          <a:xfrm>
            <a:off x="5931239" y="5860253"/>
            <a:ext cx="2430167" cy="307777"/>
          </a:xfrm>
          <a:prstGeom prst="rect">
            <a:avLst/>
          </a:prstGeom>
          <a:noFill/>
        </p:spPr>
        <p:txBody>
          <a:bodyPr wrap="square" rtlCol="0">
            <a:spAutoFit/>
          </a:bodyPr>
          <a:lstStyle/>
          <a:p>
            <a:r>
              <a:rPr lang="es-CL" dirty="0"/>
              <a:t>Ítem-empatado-1=gimnasio</a:t>
            </a:r>
          </a:p>
        </p:txBody>
      </p:sp>
      <p:sp>
        <p:nvSpPr>
          <p:cNvPr id="32" name="CuadroTexto 31"/>
          <p:cNvSpPr txBox="1"/>
          <p:nvPr/>
        </p:nvSpPr>
        <p:spPr>
          <a:xfrm>
            <a:off x="5941533" y="6120028"/>
            <a:ext cx="2430167" cy="307777"/>
          </a:xfrm>
          <a:prstGeom prst="rect">
            <a:avLst/>
          </a:prstGeom>
          <a:noFill/>
        </p:spPr>
        <p:txBody>
          <a:bodyPr wrap="square" rtlCol="0">
            <a:spAutoFit/>
          </a:bodyPr>
          <a:lstStyle/>
          <a:p>
            <a:r>
              <a:rPr lang="es-CL" dirty="0"/>
              <a:t>Ítem-empatado-1=comer…</a:t>
            </a:r>
          </a:p>
        </p:txBody>
      </p:sp>
      <p:sp>
        <p:nvSpPr>
          <p:cNvPr id="33" name="CuadroTexto 32"/>
          <p:cNvSpPr txBox="1"/>
          <p:nvPr/>
        </p:nvSpPr>
        <p:spPr>
          <a:xfrm>
            <a:off x="5955952" y="6367949"/>
            <a:ext cx="2430167" cy="307777"/>
          </a:xfrm>
          <a:prstGeom prst="rect">
            <a:avLst/>
          </a:prstGeom>
          <a:noFill/>
        </p:spPr>
        <p:txBody>
          <a:bodyPr wrap="square" rtlCol="0">
            <a:spAutoFit/>
          </a:bodyPr>
          <a:lstStyle/>
          <a:p>
            <a:r>
              <a:rPr lang="es-CL" dirty="0" err="1"/>
              <a:t>superestado</a:t>
            </a:r>
            <a:r>
              <a:rPr lang="es-CL" dirty="0"/>
              <a:t>=top</a:t>
            </a:r>
          </a:p>
        </p:txBody>
      </p:sp>
      <p:sp>
        <p:nvSpPr>
          <p:cNvPr id="34" name="CuadroTexto 33"/>
          <p:cNvSpPr txBox="1"/>
          <p:nvPr/>
        </p:nvSpPr>
        <p:spPr>
          <a:xfrm>
            <a:off x="1935886" y="6040828"/>
            <a:ext cx="2907961" cy="307777"/>
          </a:xfrm>
          <a:prstGeom prst="rect">
            <a:avLst/>
          </a:prstGeom>
          <a:noFill/>
        </p:spPr>
        <p:txBody>
          <a:bodyPr wrap="square" rtlCol="0">
            <a:spAutoFit/>
          </a:bodyPr>
          <a:lstStyle/>
          <a:p>
            <a:r>
              <a:rPr lang="es-CL" dirty="0"/>
              <a:t>[operador=gimnasio &gt;]</a:t>
            </a:r>
          </a:p>
        </p:txBody>
      </p:sp>
      <p:sp>
        <p:nvSpPr>
          <p:cNvPr id="36" name="CuadroTexto 35"/>
          <p:cNvSpPr txBox="1"/>
          <p:nvPr/>
        </p:nvSpPr>
        <p:spPr>
          <a:xfrm>
            <a:off x="5490509" y="4100866"/>
            <a:ext cx="2195393" cy="523220"/>
          </a:xfrm>
          <a:prstGeom prst="rect">
            <a:avLst/>
          </a:prstGeom>
          <a:noFill/>
        </p:spPr>
        <p:txBody>
          <a:bodyPr wrap="square" rtlCol="0">
            <a:spAutoFit/>
          </a:bodyPr>
          <a:lstStyle/>
          <a:p>
            <a:r>
              <a:rPr lang="es-CL" dirty="0"/>
              <a:t>Estado=top:</a:t>
            </a:r>
          </a:p>
          <a:p>
            <a:r>
              <a:rPr lang="es-CL" dirty="0"/>
              <a:t>Operador=gimnasio</a:t>
            </a:r>
          </a:p>
        </p:txBody>
      </p:sp>
    </p:spTree>
    <p:extLst>
      <p:ext uri="{BB962C8B-B14F-4D97-AF65-F5344CB8AC3E}">
        <p14:creationId xmlns:p14="http://schemas.microsoft.com/office/powerpoint/2010/main" val="603522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Preferencias en SOAR</a:t>
            </a:r>
          </a:p>
        </p:txBody>
      </p:sp>
      <p:pic>
        <p:nvPicPr>
          <p:cNvPr id="3" name="Imagen 2"/>
          <p:cNvPicPr>
            <a:picLocks noChangeAspect="1"/>
          </p:cNvPicPr>
          <p:nvPr/>
        </p:nvPicPr>
        <p:blipFill>
          <a:blip r:embed="rId2"/>
          <a:stretch>
            <a:fillRect/>
          </a:stretch>
        </p:blipFill>
        <p:spPr>
          <a:xfrm>
            <a:off x="161587" y="1638896"/>
            <a:ext cx="9756465" cy="4219194"/>
          </a:xfrm>
          <a:prstGeom prst="rect">
            <a:avLst/>
          </a:prstGeom>
        </p:spPr>
      </p:pic>
    </p:spTree>
    <p:extLst>
      <p:ext uri="{BB962C8B-B14F-4D97-AF65-F5344CB8AC3E}">
        <p14:creationId xmlns:p14="http://schemas.microsoft.com/office/powerpoint/2010/main" val="905618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Arquitectura</a:t>
            </a:r>
            <a:r>
              <a:rPr lang="es-CL" dirty="0"/>
              <a:t> </a:t>
            </a:r>
            <a:r>
              <a:rPr lang="es-CL" sz="3200" b="1" dirty="0"/>
              <a:t>SOAR, función Look-</a:t>
            </a:r>
            <a:r>
              <a:rPr lang="es-CL" sz="3200" b="1" dirty="0" err="1"/>
              <a:t>Ahead</a:t>
            </a:r>
            <a:endParaRPr lang="es-CL" sz="3200" b="1" dirty="0"/>
          </a:p>
        </p:txBody>
      </p:sp>
      <p:sp>
        <p:nvSpPr>
          <p:cNvPr id="4" name="CuadroTexto 3"/>
          <p:cNvSpPr txBox="1"/>
          <p:nvPr/>
        </p:nvSpPr>
        <p:spPr>
          <a:xfrm>
            <a:off x="724929" y="3772930"/>
            <a:ext cx="535459" cy="400110"/>
          </a:xfrm>
          <a:prstGeom prst="rect">
            <a:avLst/>
          </a:prstGeom>
          <a:noFill/>
        </p:spPr>
        <p:txBody>
          <a:bodyPr wrap="square" rtlCol="0">
            <a:spAutoFit/>
          </a:bodyPr>
          <a:lstStyle/>
          <a:p>
            <a:r>
              <a:rPr lang="es-CL" sz="2000" dirty="0"/>
              <a:t>E1</a:t>
            </a:r>
          </a:p>
        </p:txBody>
      </p:sp>
      <p:sp>
        <p:nvSpPr>
          <p:cNvPr id="5" name="CuadroTexto 4"/>
          <p:cNvSpPr txBox="1"/>
          <p:nvPr/>
        </p:nvSpPr>
        <p:spPr>
          <a:xfrm>
            <a:off x="2220093" y="3134496"/>
            <a:ext cx="535459" cy="400110"/>
          </a:xfrm>
          <a:prstGeom prst="rect">
            <a:avLst/>
          </a:prstGeom>
          <a:noFill/>
        </p:spPr>
        <p:txBody>
          <a:bodyPr wrap="square" rtlCol="0">
            <a:spAutoFit/>
          </a:bodyPr>
          <a:lstStyle/>
          <a:p>
            <a:r>
              <a:rPr lang="es-CL" sz="2000" dirty="0"/>
              <a:t>E2</a:t>
            </a:r>
          </a:p>
        </p:txBody>
      </p:sp>
      <p:sp>
        <p:nvSpPr>
          <p:cNvPr id="6" name="CuadroTexto 5"/>
          <p:cNvSpPr txBox="1"/>
          <p:nvPr/>
        </p:nvSpPr>
        <p:spPr>
          <a:xfrm>
            <a:off x="2220092" y="4851259"/>
            <a:ext cx="535459" cy="400110"/>
          </a:xfrm>
          <a:prstGeom prst="rect">
            <a:avLst/>
          </a:prstGeom>
          <a:noFill/>
        </p:spPr>
        <p:txBody>
          <a:bodyPr wrap="square" rtlCol="0">
            <a:spAutoFit/>
          </a:bodyPr>
          <a:lstStyle/>
          <a:p>
            <a:r>
              <a:rPr lang="es-CL" sz="2000" dirty="0"/>
              <a:t>E3</a:t>
            </a:r>
          </a:p>
        </p:txBody>
      </p:sp>
      <p:sp>
        <p:nvSpPr>
          <p:cNvPr id="7" name="CuadroTexto 6"/>
          <p:cNvSpPr txBox="1"/>
          <p:nvPr/>
        </p:nvSpPr>
        <p:spPr>
          <a:xfrm>
            <a:off x="3727621" y="2445278"/>
            <a:ext cx="535459" cy="400110"/>
          </a:xfrm>
          <a:prstGeom prst="rect">
            <a:avLst/>
          </a:prstGeom>
          <a:noFill/>
        </p:spPr>
        <p:txBody>
          <a:bodyPr wrap="square" rtlCol="0">
            <a:spAutoFit/>
          </a:bodyPr>
          <a:lstStyle/>
          <a:p>
            <a:r>
              <a:rPr lang="es-CL" sz="2000" dirty="0"/>
              <a:t>E1</a:t>
            </a:r>
          </a:p>
        </p:txBody>
      </p:sp>
      <p:sp>
        <p:nvSpPr>
          <p:cNvPr id="8" name="CuadroTexto 7"/>
          <p:cNvSpPr txBox="1"/>
          <p:nvPr/>
        </p:nvSpPr>
        <p:spPr>
          <a:xfrm>
            <a:off x="3715259" y="3534606"/>
            <a:ext cx="535459" cy="400110"/>
          </a:xfrm>
          <a:prstGeom prst="rect">
            <a:avLst/>
          </a:prstGeom>
          <a:noFill/>
        </p:spPr>
        <p:txBody>
          <a:bodyPr wrap="square" rtlCol="0">
            <a:spAutoFit/>
          </a:bodyPr>
          <a:lstStyle/>
          <a:p>
            <a:r>
              <a:rPr lang="es-CL" sz="2000" dirty="0"/>
              <a:t>E4</a:t>
            </a:r>
          </a:p>
        </p:txBody>
      </p:sp>
      <p:sp>
        <p:nvSpPr>
          <p:cNvPr id="9" name="CuadroTexto 8"/>
          <p:cNvSpPr txBox="1"/>
          <p:nvPr/>
        </p:nvSpPr>
        <p:spPr>
          <a:xfrm>
            <a:off x="3682306" y="4421372"/>
            <a:ext cx="535459" cy="400110"/>
          </a:xfrm>
          <a:prstGeom prst="rect">
            <a:avLst/>
          </a:prstGeom>
          <a:noFill/>
        </p:spPr>
        <p:txBody>
          <a:bodyPr wrap="square" rtlCol="0">
            <a:spAutoFit/>
          </a:bodyPr>
          <a:lstStyle/>
          <a:p>
            <a:r>
              <a:rPr lang="es-CL" sz="2000" dirty="0"/>
              <a:t>E1</a:t>
            </a:r>
          </a:p>
        </p:txBody>
      </p:sp>
      <p:sp>
        <p:nvSpPr>
          <p:cNvPr id="10" name="CuadroTexto 9"/>
          <p:cNvSpPr txBox="1"/>
          <p:nvPr/>
        </p:nvSpPr>
        <p:spPr>
          <a:xfrm>
            <a:off x="3682300" y="5442612"/>
            <a:ext cx="535459" cy="400110"/>
          </a:xfrm>
          <a:prstGeom prst="rect">
            <a:avLst/>
          </a:prstGeom>
          <a:noFill/>
        </p:spPr>
        <p:txBody>
          <a:bodyPr wrap="square" rtlCol="0">
            <a:spAutoFit/>
          </a:bodyPr>
          <a:lstStyle/>
          <a:p>
            <a:r>
              <a:rPr lang="es-CL" sz="2000" dirty="0"/>
              <a:t>E5</a:t>
            </a:r>
          </a:p>
        </p:txBody>
      </p:sp>
      <p:cxnSp>
        <p:nvCxnSpPr>
          <p:cNvPr id="12" name="Conector recto 11"/>
          <p:cNvCxnSpPr/>
          <p:nvPr/>
        </p:nvCxnSpPr>
        <p:spPr>
          <a:xfrm flipV="1">
            <a:off x="1334530" y="3459892"/>
            <a:ext cx="885563" cy="411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p:cNvCxnSpPr/>
          <p:nvPr/>
        </p:nvCxnSpPr>
        <p:spPr>
          <a:xfrm flipV="1">
            <a:off x="2796737" y="2722604"/>
            <a:ext cx="885563" cy="411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p:cNvCxnSpPr/>
          <p:nvPr/>
        </p:nvCxnSpPr>
        <p:spPr>
          <a:xfrm flipV="1">
            <a:off x="2796737" y="4609645"/>
            <a:ext cx="885563" cy="411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a:xfrm>
            <a:off x="1334530" y="4173040"/>
            <a:ext cx="913364" cy="7443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p:cNvCxnSpPr>
            <a:endCxn id="8" idx="1"/>
          </p:cNvCxnSpPr>
          <p:nvPr/>
        </p:nvCxnSpPr>
        <p:spPr>
          <a:xfrm>
            <a:off x="2755551" y="3410280"/>
            <a:ext cx="959708" cy="324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p:cNvCxnSpPr/>
          <p:nvPr/>
        </p:nvCxnSpPr>
        <p:spPr>
          <a:xfrm>
            <a:off x="2722592" y="5251369"/>
            <a:ext cx="959708" cy="324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CuadroTexto 19"/>
          <p:cNvSpPr txBox="1"/>
          <p:nvPr/>
        </p:nvSpPr>
        <p:spPr>
          <a:xfrm>
            <a:off x="1433384" y="3334551"/>
            <a:ext cx="477794" cy="307777"/>
          </a:xfrm>
          <a:prstGeom prst="rect">
            <a:avLst/>
          </a:prstGeom>
          <a:noFill/>
        </p:spPr>
        <p:txBody>
          <a:bodyPr wrap="square" rtlCol="0">
            <a:spAutoFit/>
          </a:bodyPr>
          <a:lstStyle/>
          <a:p>
            <a:r>
              <a:rPr lang="es-CL" dirty="0"/>
              <a:t>O1</a:t>
            </a:r>
          </a:p>
        </p:txBody>
      </p:sp>
      <p:sp>
        <p:nvSpPr>
          <p:cNvPr id="21" name="CuadroTexto 20"/>
          <p:cNvSpPr txBox="1"/>
          <p:nvPr/>
        </p:nvSpPr>
        <p:spPr>
          <a:xfrm>
            <a:off x="1433384" y="4609645"/>
            <a:ext cx="477794" cy="307777"/>
          </a:xfrm>
          <a:prstGeom prst="rect">
            <a:avLst/>
          </a:prstGeom>
          <a:noFill/>
        </p:spPr>
        <p:txBody>
          <a:bodyPr wrap="square" rtlCol="0">
            <a:spAutoFit/>
          </a:bodyPr>
          <a:lstStyle/>
          <a:p>
            <a:r>
              <a:rPr lang="es-CL" dirty="0"/>
              <a:t>O2</a:t>
            </a:r>
          </a:p>
        </p:txBody>
      </p:sp>
      <p:sp>
        <p:nvSpPr>
          <p:cNvPr id="22" name="CuadroTexto 21"/>
          <p:cNvSpPr txBox="1"/>
          <p:nvPr/>
        </p:nvSpPr>
        <p:spPr>
          <a:xfrm>
            <a:off x="2988270" y="2568715"/>
            <a:ext cx="477794" cy="307777"/>
          </a:xfrm>
          <a:prstGeom prst="rect">
            <a:avLst/>
          </a:prstGeom>
          <a:noFill/>
        </p:spPr>
        <p:txBody>
          <a:bodyPr wrap="square" rtlCol="0">
            <a:spAutoFit/>
          </a:bodyPr>
          <a:lstStyle/>
          <a:p>
            <a:r>
              <a:rPr lang="es-CL" dirty="0"/>
              <a:t>O3</a:t>
            </a:r>
          </a:p>
        </p:txBody>
      </p:sp>
      <p:sp>
        <p:nvSpPr>
          <p:cNvPr id="23" name="CuadroTexto 22"/>
          <p:cNvSpPr txBox="1"/>
          <p:nvPr/>
        </p:nvSpPr>
        <p:spPr>
          <a:xfrm>
            <a:off x="2992388" y="5480802"/>
            <a:ext cx="477794" cy="307777"/>
          </a:xfrm>
          <a:prstGeom prst="rect">
            <a:avLst/>
          </a:prstGeom>
          <a:noFill/>
        </p:spPr>
        <p:txBody>
          <a:bodyPr wrap="square" rtlCol="0">
            <a:spAutoFit/>
          </a:bodyPr>
          <a:lstStyle/>
          <a:p>
            <a:r>
              <a:rPr lang="es-CL" dirty="0"/>
              <a:t>O5</a:t>
            </a:r>
          </a:p>
        </p:txBody>
      </p:sp>
      <p:sp>
        <p:nvSpPr>
          <p:cNvPr id="24" name="CuadroTexto 23"/>
          <p:cNvSpPr txBox="1"/>
          <p:nvPr/>
        </p:nvSpPr>
        <p:spPr>
          <a:xfrm>
            <a:off x="3004743" y="3581971"/>
            <a:ext cx="477794" cy="307777"/>
          </a:xfrm>
          <a:prstGeom prst="rect">
            <a:avLst/>
          </a:prstGeom>
          <a:noFill/>
        </p:spPr>
        <p:txBody>
          <a:bodyPr wrap="square" rtlCol="0">
            <a:spAutoFit/>
          </a:bodyPr>
          <a:lstStyle/>
          <a:p>
            <a:r>
              <a:rPr lang="es-CL" dirty="0"/>
              <a:t>O4</a:t>
            </a:r>
          </a:p>
        </p:txBody>
      </p:sp>
      <p:sp>
        <p:nvSpPr>
          <p:cNvPr id="27" name="Elipse 26"/>
          <p:cNvSpPr/>
          <p:nvPr/>
        </p:nvSpPr>
        <p:spPr>
          <a:xfrm>
            <a:off x="1408670" y="3260409"/>
            <a:ext cx="477794" cy="171676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9" name="CuadroTexto 28"/>
          <p:cNvSpPr txBox="1"/>
          <p:nvPr/>
        </p:nvSpPr>
        <p:spPr>
          <a:xfrm>
            <a:off x="815546" y="2568715"/>
            <a:ext cx="1169773" cy="307777"/>
          </a:xfrm>
          <a:prstGeom prst="rect">
            <a:avLst/>
          </a:prstGeom>
          <a:noFill/>
        </p:spPr>
        <p:txBody>
          <a:bodyPr wrap="square" rtlCol="0">
            <a:spAutoFit/>
          </a:bodyPr>
          <a:lstStyle/>
          <a:p>
            <a:r>
              <a:rPr lang="es-CL" dirty="0"/>
              <a:t>Impasse1</a:t>
            </a:r>
          </a:p>
        </p:txBody>
      </p:sp>
      <p:sp>
        <p:nvSpPr>
          <p:cNvPr id="30" name="CuadroTexto 29"/>
          <p:cNvSpPr txBox="1"/>
          <p:nvPr/>
        </p:nvSpPr>
        <p:spPr>
          <a:xfrm>
            <a:off x="1985319" y="2257168"/>
            <a:ext cx="811418" cy="523220"/>
          </a:xfrm>
          <a:prstGeom prst="rect">
            <a:avLst/>
          </a:prstGeom>
          <a:noFill/>
        </p:spPr>
        <p:txBody>
          <a:bodyPr wrap="square" rtlCol="0">
            <a:spAutoFit/>
          </a:bodyPr>
          <a:lstStyle/>
          <a:p>
            <a:r>
              <a:rPr lang="es-CL" dirty="0"/>
              <a:t>Look-Ahead1</a:t>
            </a:r>
          </a:p>
        </p:txBody>
      </p:sp>
      <p:sp>
        <p:nvSpPr>
          <p:cNvPr id="31" name="Elipse 30"/>
          <p:cNvSpPr/>
          <p:nvPr/>
        </p:nvSpPr>
        <p:spPr>
          <a:xfrm>
            <a:off x="3004743" y="2445278"/>
            <a:ext cx="397484" cy="14894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2" name="CuadroTexto 31"/>
          <p:cNvSpPr txBox="1"/>
          <p:nvPr/>
        </p:nvSpPr>
        <p:spPr>
          <a:xfrm>
            <a:off x="2722593" y="1779373"/>
            <a:ext cx="1005028" cy="307777"/>
          </a:xfrm>
          <a:prstGeom prst="rect">
            <a:avLst/>
          </a:prstGeom>
          <a:noFill/>
        </p:spPr>
        <p:txBody>
          <a:bodyPr wrap="square" rtlCol="0">
            <a:spAutoFit/>
          </a:bodyPr>
          <a:lstStyle/>
          <a:p>
            <a:r>
              <a:rPr lang="es-CL" dirty="0"/>
              <a:t>Impasse2</a:t>
            </a:r>
          </a:p>
        </p:txBody>
      </p:sp>
      <p:sp>
        <p:nvSpPr>
          <p:cNvPr id="34" name="CuadroTexto 33"/>
          <p:cNvSpPr txBox="1"/>
          <p:nvPr/>
        </p:nvSpPr>
        <p:spPr>
          <a:xfrm>
            <a:off x="3863546" y="1573427"/>
            <a:ext cx="980303" cy="523220"/>
          </a:xfrm>
          <a:prstGeom prst="rect">
            <a:avLst/>
          </a:prstGeom>
          <a:noFill/>
        </p:spPr>
        <p:txBody>
          <a:bodyPr wrap="square" rtlCol="0">
            <a:spAutoFit/>
          </a:bodyPr>
          <a:lstStyle/>
          <a:p>
            <a:r>
              <a:rPr lang="es-CL" dirty="0"/>
              <a:t>Look-Ahead2</a:t>
            </a:r>
          </a:p>
        </p:txBody>
      </p:sp>
      <p:sp>
        <p:nvSpPr>
          <p:cNvPr id="36" name="CuadroTexto 35"/>
          <p:cNvSpPr txBox="1"/>
          <p:nvPr/>
        </p:nvSpPr>
        <p:spPr>
          <a:xfrm>
            <a:off x="2963549" y="4480914"/>
            <a:ext cx="477794" cy="307777"/>
          </a:xfrm>
          <a:prstGeom prst="rect">
            <a:avLst/>
          </a:prstGeom>
          <a:noFill/>
        </p:spPr>
        <p:txBody>
          <a:bodyPr wrap="square" rtlCol="0">
            <a:spAutoFit/>
          </a:bodyPr>
          <a:lstStyle/>
          <a:p>
            <a:r>
              <a:rPr lang="es-CL" dirty="0"/>
              <a:t>O3</a:t>
            </a:r>
          </a:p>
        </p:txBody>
      </p:sp>
      <p:sp>
        <p:nvSpPr>
          <p:cNvPr id="37" name="CuadroTexto 36"/>
          <p:cNvSpPr txBox="1"/>
          <p:nvPr/>
        </p:nvSpPr>
        <p:spPr>
          <a:xfrm>
            <a:off x="5263978" y="2096647"/>
            <a:ext cx="3550508" cy="1384995"/>
          </a:xfrm>
          <a:prstGeom prst="rect">
            <a:avLst/>
          </a:prstGeom>
          <a:noFill/>
          <a:ln>
            <a:solidFill>
              <a:schemeClr val="accent1">
                <a:shade val="50000"/>
              </a:schemeClr>
            </a:solidFill>
          </a:ln>
        </p:spPr>
        <p:txBody>
          <a:bodyPr wrap="square" rtlCol="0">
            <a:spAutoFit/>
          </a:bodyPr>
          <a:lstStyle/>
          <a:p>
            <a:r>
              <a:rPr lang="es-CL" dirty="0" err="1"/>
              <a:t>Chunking</a:t>
            </a:r>
            <a:r>
              <a:rPr lang="es-CL" dirty="0"/>
              <a:t>:</a:t>
            </a:r>
          </a:p>
          <a:p>
            <a:endParaRPr lang="es-CL" dirty="0"/>
          </a:p>
          <a:p>
            <a:r>
              <a:rPr lang="es-CL" dirty="0"/>
              <a:t>SI estado={cualquiera} ENTONCES O3~</a:t>
            </a:r>
          </a:p>
          <a:p>
            <a:endParaRPr lang="es-CL" dirty="0"/>
          </a:p>
          <a:p>
            <a:r>
              <a:rPr lang="es-CL" dirty="0">
                <a:solidFill>
                  <a:srgbClr val="FF0000"/>
                </a:solidFill>
              </a:rPr>
              <a:t>Explicación: el operador O3 lleva al estado E1 y se produce un </a:t>
            </a:r>
            <a:r>
              <a:rPr lang="es-CL" dirty="0" err="1">
                <a:solidFill>
                  <a:srgbClr val="FF0000"/>
                </a:solidFill>
              </a:rPr>
              <a:t>loop</a:t>
            </a:r>
            <a:endParaRPr lang="es-CL" dirty="0">
              <a:solidFill>
                <a:srgbClr val="FF0000"/>
              </a:solidFill>
            </a:endParaRPr>
          </a:p>
        </p:txBody>
      </p:sp>
    </p:spTree>
    <p:extLst>
      <p:ext uri="{BB962C8B-B14F-4D97-AF65-F5344CB8AC3E}">
        <p14:creationId xmlns:p14="http://schemas.microsoft.com/office/powerpoint/2010/main" val="175294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p:bldP spid="30" grpId="0"/>
      <p:bldP spid="31" grpId="0" animBg="1"/>
      <p:bldP spid="32" grpId="0"/>
      <p:bldP spid="34" grpId="0"/>
      <p:bldP spid="3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Arquitectura</a:t>
            </a:r>
            <a:r>
              <a:rPr lang="es-CL" dirty="0"/>
              <a:t> </a:t>
            </a:r>
            <a:r>
              <a:rPr lang="es-CL" sz="3200" b="1" dirty="0"/>
              <a:t>SOAR, función Look-</a:t>
            </a:r>
            <a:r>
              <a:rPr lang="es-CL" sz="3200" b="1" dirty="0" err="1"/>
              <a:t>Ahead</a:t>
            </a:r>
            <a:endParaRPr lang="es-CL" sz="3200" b="1" dirty="0"/>
          </a:p>
        </p:txBody>
      </p:sp>
      <p:sp>
        <p:nvSpPr>
          <p:cNvPr id="4" name="CuadroTexto 3"/>
          <p:cNvSpPr txBox="1"/>
          <p:nvPr/>
        </p:nvSpPr>
        <p:spPr>
          <a:xfrm>
            <a:off x="724929" y="3772930"/>
            <a:ext cx="535459" cy="400110"/>
          </a:xfrm>
          <a:prstGeom prst="rect">
            <a:avLst/>
          </a:prstGeom>
          <a:noFill/>
        </p:spPr>
        <p:txBody>
          <a:bodyPr wrap="square" rtlCol="0">
            <a:spAutoFit/>
          </a:bodyPr>
          <a:lstStyle/>
          <a:p>
            <a:r>
              <a:rPr lang="es-CL" sz="2000" dirty="0"/>
              <a:t>E1</a:t>
            </a:r>
          </a:p>
        </p:txBody>
      </p:sp>
      <p:sp>
        <p:nvSpPr>
          <p:cNvPr id="5" name="CuadroTexto 4"/>
          <p:cNvSpPr txBox="1"/>
          <p:nvPr/>
        </p:nvSpPr>
        <p:spPr>
          <a:xfrm>
            <a:off x="2220093" y="3134496"/>
            <a:ext cx="535459" cy="400110"/>
          </a:xfrm>
          <a:prstGeom prst="rect">
            <a:avLst/>
          </a:prstGeom>
          <a:noFill/>
        </p:spPr>
        <p:txBody>
          <a:bodyPr wrap="square" rtlCol="0">
            <a:spAutoFit/>
          </a:bodyPr>
          <a:lstStyle/>
          <a:p>
            <a:r>
              <a:rPr lang="es-CL" sz="2000" dirty="0"/>
              <a:t>E2</a:t>
            </a:r>
          </a:p>
        </p:txBody>
      </p:sp>
      <p:sp>
        <p:nvSpPr>
          <p:cNvPr id="6" name="CuadroTexto 5"/>
          <p:cNvSpPr txBox="1"/>
          <p:nvPr/>
        </p:nvSpPr>
        <p:spPr>
          <a:xfrm>
            <a:off x="2220092" y="4851259"/>
            <a:ext cx="535459" cy="400110"/>
          </a:xfrm>
          <a:prstGeom prst="rect">
            <a:avLst/>
          </a:prstGeom>
          <a:noFill/>
        </p:spPr>
        <p:txBody>
          <a:bodyPr wrap="square" rtlCol="0">
            <a:spAutoFit/>
          </a:bodyPr>
          <a:lstStyle/>
          <a:p>
            <a:r>
              <a:rPr lang="es-CL" sz="2000" dirty="0"/>
              <a:t>E3</a:t>
            </a:r>
          </a:p>
        </p:txBody>
      </p:sp>
      <p:sp>
        <p:nvSpPr>
          <p:cNvPr id="8" name="CuadroTexto 7"/>
          <p:cNvSpPr txBox="1"/>
          <p:nvPr/>
        </p:nvSpPr>
        <p:spPr>
          <a:xfrm>
            <a:off x="3715259" y="3534606"/>
            <a:ext cx="535459" cy="400110"/>
          </a:xfrm>
          <a:prstGeom prst="rect">
            <a:avLst/>
          </a:prstGeom>
          <a:noFill/>
        </p:spPr>
        <p:txBody>
          <a:bodyPr wrap="square" rtlCol="0">
            <a:spAutoFit/>
          </a:bodyPr>
          <a:lstStyle/>
          <a:p>
            <a:r>
              <a:rPr lang="es-CL" sz="2000" dirty="0"/>
              <a:t>E4</a:t>
            </a:r>
          </a:p>
        </p:txBody>
      </p:sp>
      <p:sp>
        <p:nvSpPr>
          <p:cNvPr id="10" name="CuadroTexto 9"/>
          <p:cNvSpPr txBox="1"/>
          <p:nvPr/>
        </p:nvSpPr>
        <p:spPr>
          <a:xfrm>
            <a:off x="3682300" y="5442612"/>
            <a:ext cx="535459" cy="400110"/>
          </a:xfrm>
          <a:prstGeom prst="rect">
            <a:avLst/>
          </a:prstGeom>
          <a:noFill/>
        </p:spPr>
        <p:txBody>
          <a:bodyPr wrap="square" rtlCol="0">
            <a:spAutoFit/>
          </a:bodyPr>
          <a:lstStyle/>
          <a:p>
            <a:r>
              <a:rPr lang="es-CL" sz="2000" dirty="0"/>
              <a:t>E5</a:t>
            </a:r>
          </a:p>
        </p:txBody>
      </p:sp>
      <p:cxnSp>
        <p:nvCxnSpPr>
          <p:cNvPr id="12" name="Conector recto 11"/>
          <p:cNvCxnSpPr/>
          <p:nvPr/>
        </p:nvCxnSpPr>
        <p:spPr>
          <a:xfrm flipV="1">
            <a:off x="1334530" y="3459892"/>
            <a:ext cx="885563" cy="411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ector recto 12"/>
          <p:cNvCxnSpPr/>
          <p:nvPr/>
        </p:nvCxnSpPr>
        <p:spPr>
          <a:xfrm flipV="1">
            <a:off x="2796737" y="2722604"/>
            <a:ext cx="885563" cy="411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ector recto 13"/>
          <p:cNvCxnSpPr/>
          <p:nvPr/>
        </p:nvCxnSpPr>
        <p:spPr>
          <a:xfrm flipV="1">
            <a:off x="2796737" y="4609645"/>
            <a:ext cx="885563" cy="411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a:xfrm>
            <a:off x="1334530" y="4173040"/>
            <a:ext cx="913364" cy="7443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p:cNvCxnSpPr>
            <a:endCxn id="8" idx="1"/>
          </p:cNvCxnSpPr>
          <p:nvPr/>
        </p:nvCxnSpPr>
        <p:spPr>
          <a:xfrm>
            <a:off x="2755551" y="3410280"/>
            <a:ext cx="959708" cy="324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p:cNvCxnSpPr/>
          <p:nvPr/>
        </p:nvCxnSpPr>
        <p:spPr>
          <a:xfrm>
            <a:off x="2722592" y="5251369"/>
            <a:ext cx="959708" cy="324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CuadroTexto 19"/>
          <p:cNvSpPr txBox="1"/>
          <p:nvPr/>
        </p:nvSpPr>
        <p:spPr>
          <a:xfrm>
            <a:off x="1433384" y="3334551"/>
            <a:ext cx="477794" cy="307777"/>
          </a:xfrm>
          <a:prstGeom prst="rect">
            <a:avLst/>
          </a:prstGeom>
          <a:noFill/>
        </p:spPr>
        <p:txBody>
          <a:bodyPr wrap="square" rtlCol="0">
            <a:spAutoFit/>
          </a:bodyPr>
          <a:lstStyle/>
          <a:p>
            <a:r>
              <a:rPr lang="es-CL" dirty="0"/>
              <a:t>O1</a:t>
            </a:r>
          </a:p>
        </p:txBody>
      </p:sp>
      <p:sp>
        <p:nvSpPr>
          <p:cNvPr id="21" name="CuadroTexto 20"/>
          <p:cNvSpPr txBox="1"/>
          <p:nvPr/>
        </p:nvSpPr>
        <p:spPr>
          <a:xfrm>
            <a:off x="1433384" y="4609645"/>
            <a:ext cx="477794" cy="307777"/>
          </a:xfrm>
          <a:prstGeom prst="rect">
            <a:avLst/>
          </a:prstGeom>
          <a:noFill/>
        </p:spPr>
        <p:txBody>
          <a:bodyPr wrap="square" rtlCol="0">
            <a:spAutoFit/>
          </a:bodyPr>
          <a:lstStyle/>
          <a:p>
            <a:r>
              <a:rPr lang="es-CL" dirty="0"/>
              <a:t>O2</a:t>
            </a:r>
          </a:p>
        </p:txBody>
      </p:sp>
      <p:sp>
        <p:nvSpPr>
          <p:cNvPr id="22" name="CuadroTexto 21"/>
          <p:cNvSpPr txBox="1"/>
          <p:nvPr/>
        </p:nvSpPr>
        <p:spPr>
          <a:xfrm>
            <a:off x="2988270" y="2568715"/>
            <a:ext cx="477794" cy="307777"/>
          </a:xfrm>
          <a:prstGeom prst="rect">
            <a:avLst/>
          </a:prstGeom>
          <a:noFill/>
        </p:spPr>
        <p:txBody>
          <a:bodyPr wrap="square" rtlCol="0">
            <a:spAutoFit/>
          </a:bodyPr>
          <a:lstStyle/>
          <a:p>
            <a:r>
              <a:rPr lang="es-CL" dirty="0"/>
              <a:t>O3</a:t>
            </a:r>
          </a:p>
        </p:txBody>
      </p:sp>
      <p:sp>
        <p:nvSpPr>
          <p:cNvPr id="23" name="CuadroTexto 22"/>
          <p:cNvSpPr txBox="1"/>
          <p:nvPr/>
        </p:nvSpPr>
        <p:spPr>
          <a:xfrm>
            <a:off x="2992388" y="5480802"/>
            <a:ext cx="477794" cy="307777"/>
          </a:xfrm>
          <a:prstGeom prst="rect">
            <a:avLst/>
          </a:prstGeom>
          <a:noFill/>
        </p:spPr>
        <p:txBody>
          <a:bodyPr wrap="square" rtlCol="0">
            <a:spAutoFit/>
          </a:bodyPr>
          <a:lstStyle/>
          <a:p>
            <a:r>
              <a:rPr lang="es-CL" dirty="0"/>
              <a:t>O5</a:t>
            </a:r>
          </a:p>
        </p:txBody>
      </p:sp>
      <p:sp>
        <p:nvSpPr>
          <p:cNvPr id="24" name="CuadroTexto 23"/>
          <p:cNvSpPr txBox="1"/>
          <p:nvPr/>
        </p:nvSpPr>
        <p:spPr>
          <a:xfrm>
            <a:off x="3004743" y="3581971"/>
            <a:ext cx="477794" cy="307777"/>
          </a:xfrm>
          <a:prstGeom prst="rect">
            <a:avLst/>
          </a:prstGeom>
          <a:noFill/>
        </p:spPr>
        <p:txBody>
          <a:bodyPr wrap="square" rtlCol="0">
            <a:spAutoFit/>
          </a:bodyPr>
          <a:lstStyle/>
          <a:p>
            <a:r>
              <a:rPr lang="es-CL" dirty="0"/>
              <a:t>O4</a:t>
            </a:r>
          </a:p>
        </p:txBody>
      </p:sp>
      <p:sp>
        <p:nvSpPr>
          <p:cNvPr id="36" name="CuadroTexto 35"/>
          <p:cNvSpPr txBox="1"/>
          <p:nvPr/>
        </p:nvSpPr>
        <p:spPr>
          <a:xfrm>
            <a:off x="2963549" y="4480914"/>
            <a:ext cx="477794" cy="307777"/>
          </a:xfrm>
          <a:prstGeom prst="rect">
            <a:avLst/>
          </a:prstGeom>
          <a:noFill/>
        </p:spPr>
        <p:txBody>
          <a:bodyPr wrap="square" rtlCol="0">
            <a:spAutoFit/>
          </a:bodyPr>
          <a:lstStyle/>
          <a:p>
            <a:r>
              <a:rPr lang="es-CL" dirty="0"/>
              <a:t>O3</a:t>
            </a:r>
          </a:p>
        </p:txBody>
      </p:sp>
      <p:sp>
        <p:nvSpPr>
          <p:cNvPr id="37" name="CuadroTexto 36"/>
          <p:cNvSpPr txBox="1"/>
          <p:nvPr/>
        </p:nvSpPr>
        <p:spPr>
          <a:xfrm>
            <a:off x="5263978" y="2096647"/>
            <a:ext cx="3550508" cy="1384995"/>
          </a:xfrm>
          <a:prstGeom prst="rect">
            <a:avLst/>
          </a:prstGeom>
          <a:noFill/>
          <a:ln>
            <a:solidFill>
              <a:schemeClr val="accent1">
                <a:shade val="50000"/>
              </a:schemeClr>
            </a:solidFill>
          </a:ln>
        </p:spPr>
        <p:txBody>
          <a:bodyPr wrap="square" rtlCol="0">
            <a:spAutoFit/>
          </a:bodyPr>
          <a:lstStyle/>
          <a:p>
            <a:r>
              <a:rPr lang="es-CL" dirty="0" err="1"/>
              <a:t>Chunking</a:t>
            </a:r>
            <a:r>
              <a:rPr lang="es-CL" dirty="0"/>
              <a:t>:</a:t>
            </a:r>
          </a:p>
          <a:p>
            <a:endParaRPr lang="es-CL" dirty="0"/>
          </a:p>
          <a:p>
            <a:r>
              <a:rPr lang="es-CL" dirty="0"/>
              <a:t>SI estado={cualquiera} ENTONCES O3~</a:t>
            </a:r>
          </a:p>
          <a:p>
            <a:endParaRPr lang="es-CL" dirty="0"/>
          </a:p>
          <a:p>
            <a:endParaRPr lang="es-CL" dirty="0"/>
          </a:p>
          <a:p>
            <a:r>
              <a:rPr lang="es-CL" dirty="0">
                <a:solidFill>
                  <a:srgbClr val="FF0000"/>
                </a:solidFill>
              </a:rPr>
              <a:t>Ahora asumimos que O4 &gt; O5</a:t>
            </a:r>
          </a:p>
        </p:txBody>
      </p:sp>
      <p:sp>
        <p:nvSpPr>
          <p:cNvPr id="3" name="Elipse 2"/>
          <p:cNvSpPr/>
          <p:nvPr/>
        </p:nvSpPr>
        <p:spPr>
          <a:xfrm>
            <a:off x="1433384" y="3260409"/>
            <a:ext cx="411892" cy="178114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939454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2"/>
                                        </p:tgtEl>
                                      </p:cBhvr>
                                    </p:animEffect>
                                    <p:set>
                                      <p:cBhvr>
                                        <p:cTn id="7" dur="1" fill="hold">
                                          <p:stCondLst>
                                            <p:cond delay="499"/>
                                          </p:stCondLst>
                                        </p:cTn>
                                        <p:tgtEl>
                                          <p:spTgt spid="2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36"/>
                                        </p:tgtEl>
                                      </p:cBhvr>
                                    </p:animEffect>
                                    <p:set>
                                      <p:cBhvr>
                                        <p:cTn id="17" dur="1" fill="hold">
                                          <p:stCondLst>
                                            <p:cond delay="499"/>
                                          </p:stCondLst>
                                        </p:cTn>
                                        <p:tgtEl>
                                          <p:spTgt spid="3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Arquitectura</a:t>
            </a:r>
            <a:r>
              <a:rPr lang="es-CL" dirty="0"/>
              <a:t> </a:t>
            </a:r>
            <a:r>
              <a:rPr lang="es-CL" sz="3200" b="1" dirty="0"/>
              <a:t>SOAR, función Look-</a:t>
            </a:r>
            <a:r>
              <a:rPr lang="es-CL" sz="3200" b="1" dirty="0" err="1"/>
              <a:t>Ahead</a:t>
            </a:r>
            <a:endParaRPr lang="es-CL" sz="3200" b="1" dirty="0"/>
          </a:p>
        </p:txBody>
      </p:sp>
      <p:sp>
        <p:nvSpPr>
          <p:cNvPr id="4" name="CuadroTexto 3"/>
          <p:cNvSpPr txBox="1"/>
          <p:nvPr/>
        </p:nvSpPr>
        <p:spPr>
          <a:xfrm>
            <a:off x="724929" y="3772930"/>
            <a:ext cx="535459" cy="400110"/>
          </a:xfrm>
          <a:prstGeom prst="rect">
            <a:avLst/>
          </a:prstGeom>
          <a:noFill/>
        </p:spPr>
        <p:txBody>
          <a:bodyPr wrap="square" rtlCol="0">
            <a:spAutoFit/>
          </a:bodyPr>
          <a:lstStyle/>
          <a:p>
            <a:r>
              <a:rPr lang="es-CL" sz="2000" dirty="0"/>
              <a:t>E1</a:t>
            </a:r>
          </a:p>
        </p:txBody>
      </p:sp>
      <p:sp>
        <p:nvSpPr>
          <p:cNvPr id="5" name="CuadroTexto 4"/>
          <p:cNvSpPr txBox="1"/>
          <p:nvPr/>
        </p:nvSpPr>
        <p:spPr>
          <a:xfrm>
            <a:off x="2220093" y="3134496"/>
            <a:ext cx="535459" cy="400110"/>
          </a:xfrm>
          <a:prstGeom prst="rect">
            <a:avLst/>
          </a:prstGeom>
          <a:noFill/>
        </p:spPr>
        <p:txBody>
          <a:bodyPr wrap="square" rtlCol="0">
            <a:spAutoFit/>
          </a:bodyPr>
          <a:lstStyle/>
          <a:p>
            <a:r>
              <a:rPr lang="es-CL" sz="2000" dirty="0"/>
              <a:t>E2</a:t>
            </a:r>
          </a:p>
        </p:txBody>
      </p:sp>
      <p:sp>
        <p:nvSpPr>
          <p:cNvPr id="6" name="CuadroTexto 5"/>
          <p:cNvSpPr txBox="1"/>
          <p:nvPr/>
        </p:nvSpPr>
        <p:spPr>
          <a:xfrm>
            <a:off x="2220092" y="4851259"/>
            <a:ext cx="535459" cy="400110"/>
          </a:xfrm>
          <a:prstGeom prst="rect">
            <a:avLst/>
          </a:prstGeom>
          <a:noFill/>
        </p:spPr>
        <p:txBody>
          <a:bodyPr wrap="square" rtlCol="0">
            <a:spAutoFit/>
          </a:bodyPr>
          <a:lstStyle/>
          <a:p>
            <a:r>
              <a:rPr lang="es-CL" sz="2000" dirty="0"/>
              <a:t>E3</a:t>
            </a:r>
          </a:p>
        </p:txBody>
      </p:sp>
      <p:sp>
        <p:nvSpPr>
          <p:cNvPr id="8" name="CuadroTexto 7"/>
          <p:cNvSpPr txBox="1"/>
          <p:nvPr/>
        </p:nvSpPr>
        <p:spPr>
          <a:xfrm>
            <a:off x="3715259" y="3534606"/>
            <a:ext cx="535459" cy="400110"/>
          </a:xfrm>
          <a:prstGeom prst="rect">
            <a:avLst/>
          </a:prstGeom>
          <a:noFill/>
        </p:spPr>
        <p:txBody>
          <a:bodyPr wrap="square" rtlCol="0">
            <a:spAutoFit/>
          </a:bodyPr>
          <a:lstStyle/>
          <a:p>
            <a:r>
              <a:rPr lang="es-CL" sz="2000" dirty="0"/>
              <a:t>E4</a:t>
            </a:r>
          </a:p>
        </p:txBody>
      </p:sp>
      <p:cxnSp>
        <p:nvCxnSpPr>
          <p:cNvPr id="12" name="Conector recto 11"/>
          <p:cNvCxnSpPr/>
          <p:nvPr/>
        </p:nvCxnSpPr>
        <p:spPr>
          <a:xfrm flipV="1">
            <a:off x="1334530" y="3459892"/>
            <a:ext cx="885563" cy="411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a:xfrm>
            <a:off x="1334530" y="4173040"/>
            <a:ext cx="913364" cy="7443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p:cNvCxnSpPr>
            <a:endCxn id="8" idx="1"/>
          </p:cNvCxnSpPr>
          <p:nvPr/>
        </p:nvCxnSpPr>
        <p:spPr>
          <a:xfrm>
            <a:off x="2755551" y="3410280"/>
            <a:ext cx="959708" cy="32438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cto 18"/>
          <p:cNvCxnSpPr/>
          <p:nvPr/>
        </p:nvCxnSpPr>
        <p:spPr>
          <a:xfrm>
            <a:off x="2722592" y="5251369"/>
            <a:ext cx="959708" cy="324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CuadroTexto 19"/>
          <p:cNvSpPr txBox="1"/>
          <p:nvPr/>
        </p:nvSpPr>
        <p:spPr>
          <a:xfrm>
            <a:off x="1433384" y="3334551"/>
            <a:ext cx="477794" cy="307777"/>
          </a:xfrm>
          <a:prstGeom prst="rect">
            <a:avLst/>
          </a:prstGeom>
          <a:noFill/>
        </p:spPr>
        <p:txBody>
          <a:bodyPr wrap="square" rtlCol="0">
            <a:spAutoFit/>
          </a:bodyPr>
          <a:lstStyle/>
          <a:p>
            <a:r>
              <a:rPr lang="es-CL" dirty="0"/>
              <a:t>O1</a:t>
            </a:r>
          </a:p>
        </p:txBody>
      </p:sp>
      <p:sp>
        <p:nvSpPr>
          <p:cNvPr id="21" name="CuadroTexto 20"/>
          <p:cNvSpPr txBox="1"/>
          <p:nvPr/>
        </p:nvSpPr>
        <p:spPr>
          <a:xfrm>
            <a:off x="1433384" y="4609645"/>
            <a:ext cx="477794" cy="307777"/>
          </a:xfrm>
          <a:prstGeom prst="rect">
            <a:avLst/>
          </a:prstGeom>
          <a:noFill/>
        </p:spPr>
        <p:txBody>
          <a:bodyPr wrap="square" rtlCol="0">
            <a:spAutoFit/>
          </a:bodyPr>
          <a:lstStyle/>
          <a:p>
            <a:r>
              <a:rPr lang="es-CL" dirty="0"/>
              <a:t>O2</a:t>
            </a:r>
          </a:p>
        </p:txBody>
      </p:sp>
      <p:sp>
        <p:nvSpPr>
          <p:cNvPr id="23" name="CuadroTexto 22"/>
          <p:cNvSpPr txBox="1"/>
          <p:nvPr/>
        </p:nvSpPr>
        <p:spPr>
          <a:xfrm>
            <a:off x="2992388" y="5480802"/>
            <a:ext cx="477794" cy="307777"/>
          </a:xfrm>
          <a:prstGeom prst="rect">
            <a:avLst/>
          </a:prstGeom>
          <a:noFill/>
        </p:spPr>
        <p:txBody>
          <a:bodyPr wrap="square" rtlCol="0">
            <a:spAutoFit/>
          </a:bodyPr>
          <a:lstStyle/>
          <a:p>
            <a:r>
              <a:rPr lang="es-CL" dirty="0"/>
              <a:t>O5</a:t>
            </a:r>
          </a:p>
        </p:txBody>
      </p:sp>
      <p:sp>
        <p:nvSpPr>
          <p:cNvPr id="24" name="CuadroTexto 23"/>
          <p:cNvSpPr txBox="1"/>
          <p:nvPr/>
        </p:nvSpPr>
        <p:spPr>
          <a:xfrm>
            <a:off x="3004743" y="3581971"/>
            <a:ext cx="477794" cy="307777"/>
          </a:xfrm>
          <a:prstGeom prst="rect">
            <a:avLst/>
          </a:prstGeom>
          <a:noFill/>
        </p:spPr>
        <p:txBody>
          <a:bodyPr wrap="square" rtlCol="0">
            <a:spAutoFit/>
          </a:bodyPr>
          <a:lstStyle/>
          <a:p>
            <a:r>
              <a:rPr lang="es-CL" dirty="0"/>
              <a:t>O4</a:t>
            </a:r>
          </a:p>
        </p:txBody>
      </p:sp>
      <p:sp>
        <p:nvSpPr>
          <p:cNvPr id="37" name="CuadroTexto 36"/>
          <p:cNvSpPr txBox="1"/>
          <p:nvPr/>
        </p:nvSpPr>
        <p:spPr>
          <a:xfrm>
            <a:off x="5263978" y="2096647"/>
            <a:ext cx="3550508" cy="738664"/>
          </a:xfrm>
          <a:prstGeom prst="rect">
            <a:avLst/>
          </a:prstGeom>
          <a:noFill/>
          <a:ln>
            <a:solidFill>
              <a:schemeClr val="accent1">
                <a:shade val="50000"/>
              </a:schemeClr>
            </a:solidFill>
          </a:ln>
        </p:spPr>
        <p:txBody>
          <a:bodyPr wrap="square" rtlCol="0">
            <a:spAutoFit/>
          </a:bodyPr>
          <a:lstStyle/>
          <a:p>
            <a:r>
              <a:rPr lang="es-CL" dirty="0" err="1"/>
              <a:t>Chunking</a:t>
            </a:r>
            <a:r>
              <a:rPr lang="es-CL" dirty="0"/>
              <a:t>:</a:t>
            </a:r>
          </a:p>
          <a:p>
            <a:endParaRPr lang="es-CL" dirty="0"/>
          </a:p>
          <a:p>
            <a:r>
              <a:rPr lang="es-CL" dirty="0"/>
              <a:t>SI estado={cualquiera} ENTONCES O3~</a:t>
            </a:r>
          </a:p>
        </p:txBody>
      </p:sp>
      <p:sp>
        <p:nvSpPr>
          <p:cNvPr id="25" name="Elipse 24"/>
          <p:cNvSpPr/>
          <p:nvPr/>
        </p:nvSpPr>
        <p:spPr>
          <a:xfrm>
            <a:off x="1433384" y="3260409"/>
            <a:ext cx="411892" cy="178114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10362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5"/>
                                        </p:tgtEl>
                                      </p:cBhvr>
                                    </p:animEffect>
                                    <p:set>
                                      <p:cBhvr>
                                        <p:cTn id="7"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22587ECF-85E9-4393-9D87-8EB6F3F6C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78104"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93042" y="592916"/>
            <a:ext cx="3955270" cy="1072292"/>
          </a:xfrm>
        </p:spPr>
        <p:txBody>
          <a:bodyPr vert="horz" lIns="91440" tIns="45720" rIns="91440" bIns="45720" rtlCol="0" anchor="b">
            <a:normAutofit fontScale="90000"/>
          </a:bodyPr>
          <a:lstStyle/>
          <a:p>
            <a:pPr>
              <a:lnSpc>
                <a:spcPct val="90000"/>
              </a:lnSpc>
              <a:spcBef>
                <a:spcPct val="0"/>
              </a:spcBef>
            </a:pPr>
            <a:r>
              <a:rPr lang="en-US" sz="3800" b="1" kern="1200">
                <a:solidFill>
                  <a:schemeClr val="tx1"/>
                </a:solidFill>
                <a:latin typeface="+mj-lt"/>
                <a:ea typeface="+mj-ea"/>
                <a:cs typeface="+mj-cs"/>
              </a:rPr>
              <a:t>Aplicaciones de SOAR</a:t>
            </a:r>
          </a:p>
        </p:txBody>
      </p:sp>
      <p:sp>
        <p:nvSpPr>
          <p:cNvPr id="3" name="Subtítulo 2"/>
          <p:cNvSpPr>
            <a:spLocks noGrp="1"/>
          </p:cNvSpPr>
          <p:nvPr>
            <p:ph type="subTitle" idx="1"/>
          </p:nvPr>
        </p:nvSpPr>
        <p:spPr>
          <a:xfrm>
            <a:off x="628445" y="1778481"/>
            <a:ext cx="3955270" cy="3784890"/>
          </a:xfrm>
        </p:spPr>
        <p:txBody>
          <a:bodyPr vert="horz" lIns="91440" tIns="45720" rIns="91440" bIns="45720" rtlCol="0">
            <a:normAutofit/>
          </a:bodyPr>
          <a:lstStyle/>
          <a:p>
            <a:pPr marL="457200" indent="-228600">
              <a:lnSpc>
                <a:spcPct val="90000"/>
              </a:lnSpc>
              <a:spcAft>
                <a:spcPts val="600"/>
              </a:spcAft>
              <a:buFont typeface="Arial" panose="020B0604020202020204" pitchFamily="34" charset="0"/>
              <a:buChar char="•"/>
            </a:pPr>
            <a:r>
              <a:rPr lang="en-US" sz="1500" kern="1200">
                <a:solidFill>
                  <a:schemeClr val="tx1"/>
                </a:solidFill>
                <a:latin typeface="+mn-lt"/>
                <a:ea typeface="+mn-ea"/>
                <a:cs typeface="+mn-cs"/>
              </a:rPr>
              <a:t>Simulaciones militares</a:t>
            </a:r>
          </a:p>
          <a:p>
            <a:pPr marL="914400" lvl="1" indent="-228600">
              <a:lnSpc>
                <a:spcPct val="90000"/>
              </a:lnSpc>
              <a:spcAft>
                <a:spcPts val="600"/>
              </a:spcAft>
              <a:buFont typeface="Arial" panose="020B0604020202020204" pitchFamily="34" charset="0"/>
              <a:buChar char="•"/>
            </a:pPr>
            <a:r>
              <a:rPr lang="en-US" sz="1500" kern="1200">
                <a:solidFill>
                  <a:schemeClr val="tx1"/>
                </a:solidFill>
                <a:latin typeface="+mn-lt"/>
                <a:ea typeface="+mn-ea"/>
                <a:cs typeface="+mn-cs"/>
              </a:rPr>
              <a:t>Entrenamiento en situaciones de guerra</a:t>
            </a:r>
          </a:p>
          <a:p>
            <a:pPr marL="914400" lvl="1" indent="-228600">
              <a:lnSpc>
                <a:spcPct val="90000"/>
              </a:lnSpc>
              <a:spcAft>
                <a:spcPts val="600"/>
              </a:spcAft>
              <a:buFont typeface="Arial" panose="020B0604020202020204" pitchFamily="34" charset="0"/>
              <a:buChar char="•"/>
            </a:pPr>
            <a:r>
              <a:rPr lang="en-US" sz="1500" kern="1200">
                <a:solidFill>
                  <a:schemeClr val="tx1"/>
                </a:solidFill>
                <a:latin typeface="+mn-lt"/>
                <a:ea typeface="+mn-ea"/>
                <a:cs typeface="+mn-cs"/>
              </a:rPr>
              <a:t>Asignación de blancos y coordinación de equipos</a:t>
            </a:r>
          </a:p>
          <a:p>
            <a:pPr marL="914400" lvl="1" indent="-228600">
              <a:lnSpc>
                <a:spcPct val="90000"/>
              </a:lnSpc>
              <a:spcAft>
                <a:spcPts val="600"/>
              </a:spcAft>
              <a:buFont typeface="Arial" panose="020B0604020202020204" pitchFamily="34" charset="0"/>
              <a:buChar char="•"/>
            </a:pPr>
            <a:r>
              <a:rPr lang="en-US" sz="1500" kern="1200">
                <a:solidFill>
                  <a:schemeClr val="tx1"/>
                </a:solidFill>
                <a:latin typeface="+mn-lt"/>
                <a:ea typeface="+mn-ea"/>
                <a:cs typeface="+mn-cs"/>
              </a:rPr>
              <a:t>Apoyo a la toma de decisiones</a:t>
            </a:r>
          </a:p>
          <a:p>
            <a:pPr marL="914400" lvl="1" indent="-228600">
              <a:lnSpc>
                <a:spcPct val="90000"/>
              </a:lnSpc>
              <a:spcAft>
                <a:spcPts val="600"/>
              </a:spcAft>
              <a:buFont typeface="Arial" panose="020B0604020202020204" pitchFamily="34" charset="0"/>
              <a:buChar char="•"/>
            </a:pPr>
            <a:r>
              <a:rPr lang="en-US" sz="1500" kern="1200">
                <a:solidFill>
                  <a:schemeClr val="tx1"/>
                </a:solidFill>
                <a:latin typeface="+mn-lt"/>
                <a:ea typeface="+mn-ea"/>
                <a:cs typeface="+mn-cs"/>
              </a:rPr>
              <a:t>Entrenamiento en ciberseguridad</a:t>
            </a:r>
          </a:p>
          <a:p>
            <a:pPr marL="914400" lvl="1" indent="-228600">
              <a:lnSpc>
                <a:spcPct val="90000"/>
              </a:lnSpc>
              <a:spcAft>
                <a:spcPts val="600"/>
              </a:spcAft>
              <a:buFont typeface="Arial" panose="020B0604020202020204" pitchFamily="34" charset="0"/>
              <a:buChar char="•"/>
            </a:pPr>
            <a:r>
              <a:rPr lang="en-US" sz="1500" kern="1200">
                <a:solidFill>
                  <a:schemeClr val="tx1"/>
                </a:solidFill>
                <a:latin typeface="+mn-lt"/>
                <a:ea typeface="+mn-ea"/>
                <a:cs typeface="+mn-cs"/>
              </a:rPr>
              <a:t>Tour de base militar</a:t>
            </a:r>
          </a:p>
          <a:p>
            <a:pPr marL="914400" lvl="1" indent="-228600">
              <a:lnSpc>
                <a:spcPct val="90000"/>
              </a:lnSpc>
              <a:spcAft>
                <a:spcPts val="600"/>
              </a:spcAft>
              <a:buFont typeface="Arial" panose="020B0604020202020204" pitchFamily="34" charset="0"/>
              <a:buChar char="•"/>
            </a:pPr>
            <a:r>
              <a:rPr lang="en-US" sz="1500" kern="1200">
                <a:solidFill>
                  <a:schemeClr val="tx1"/>
                </a:solidFill>
                <a:latin typeface="+mn-lt"/>
                <a:ea typeface="+mn-ea"/>
                <a:cs typeface="+mn-cs"/>
              </a:rPr>
              <a:t>Entrenamiento de grupos aéreos embarcados</a:t>
            </a:r>
          </a:p>
          <a:p>
            <a:pPr marL="914400" lvl="1" indent="-228600">
              <a:lnSpc>
                <a:spcPct val="90000"/>
              </a:lnSpc>
              <a:spcAft>
                <a:spcPts val="600"/>
              </a:spcAft>
              <a:buFont typeface="Arial" panose="020B0604020202020204" pitchFamily="34" charset="0"/>
              <a:buChar char="•"/>
            </a:pPr>
            <a:r>
              <a:rPr lang="en-US" sz="1500" kern="1200">
                <a:solidFill>
                  <a:schemeClr val="tx1"/>
                </a:solidFill>
                <a:latin typeface="+mn-lt"/>
                <a:ea typeface="+mn-ea"/>
                <a:cs typeface="+mn-cs"/>
              </a:rPr>
              <a:t>Entrenamiento de controladores aéreos</a:t>
            </a:r>
          </a:p>
          <a:p>
            <a:pPr marL="457200" indent="-228600">
              <a:lnSpc>
                <a:spcPct val="90000"/>
              </a:lnSpc>
              <a:spcAft>
                <a:spcPts val="600"/>
              </a:spcAft>
              <a:buFont typeface="Arial" panose="020B0604020202020204" pitchFamily="34" charset="0"/>
              <a:buChar char="•"/>
            </a:pPr>
            <a:endParaRPr lang="en-US" sz="1500" kern="120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sz="1500" kern="1200">
                <a:solidFill>
                  <a:schemeClr val="tx1"/>
                </a:solidFill>
                <a:latin typeface="+mn-lt"/>
                <a:ea typeface="+mn-ea"/>
                <a:cs typeface="+mn-cs"/>
              </a:rPr>
              <a:t>Juegos de computador</a:t>
            </a: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1366" y="2432893"/>
            <a:ext cx="4436215" cy="2473189"/>
          </a:xfrm>
          <a:prstGeom prst="rect">
            <a:avLst/>
          </a:prstGeom>
        </p:spPr>
      </p:pic>
      <p:sp>
        <p:nvSpPr>
          <p:cNvPr id="5" name="CuadroTexto 4"/>
          <p:cNvSpPr txBox="1"/>
          <p:nvPr/>
        </p:nvSpPr>
        <p:spPr>
          <a:xfrm>
            <a:off x="354228" y="6227805"/>
            <a:ext cx="3937686" cy="738664"/>
          </a:xfrm>
          <a:prstGeom prst="rect">
            <a:avLst/>
          </a:prstGeom>
          <a:noFill/>
        </p:spPr>
        <p:txBody>
          <a:bodyPr wrap="square" rtlCol="0">
            <a:spAutoFit/>
          </a:bodyPr>
          <a:lstStyle/>
          <a:p>
            <a:pPr>
              <a:spcAft>
                <a:spcPts val="600"/>
              </a:spcAft>
            </a:pPr>
            <a:r>
              <a:rPr lang="es-CL" b="1" dirty="0">
                <a:hlinkClick r:id="rId4"/>
              </a:rPr>
              <a:t>www.soartech.com</a:t>
            </a:r>
            <a:r>
              <a:rPr lang="es-CL" b="1" dirty="0"/>
              <a:t>, un </a:t>
            </a:r>
            <a:r>
              <a:rPr lang="en-US" b="1" dirty="0"/>
              <a:t>spin-off del Artificial Intelligence Laboratory de la U de Michigan (John E. Laird).</a:t>
            </a:r>
            <a:endParaRPr lang="es-CL"/>
          </a:p>
        </p:txBody>
      </p:sp>
    </p:spTree>
    <p:extLst>
      <p:ext uri="{BB962C8B-B14F-4D97-AF65-F5344CB8AC3E}">
        <p14:creationId xmlns:p14="http://schemas.microsoft.com/office/powerpoint/2010/main" val="1642824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upa resalta un rendimiento económico decreciente">
            <a:extLst>
              <a:ext uri="{FF2B5EF4-FFF2-40B4-BE49-F238E27FC236}">
                <a16:creationId xmlns:a16="http://schemas.microsoft.com/office/drawing/2014/main" id="{ADAAE684-D4F6-FEB1-08DB-05E328F1D360}"/>
              </a:ext>
            </a:extLst>
          </p:cNvPr>
          <p:cNvPicPr>
            <a:picLocks noChangeAspect="1"/>
          </p:cNvPicPr>
          <p:nvPr/>
        </p:nvPicPr>
        <p:blipFill rotWithShape="1">
          <a:blip r:embed="rId3"/>
          <a:srcRect r="19203" b="9090"/>
          <a:stretch/>
        </p:blipFill>
        <p:spPr>
          <a:xfrm>
            <a:off x="20" y="10"/>
            <a:ext cx="10080605" cy="7559665"/>
          </a:xfrm>
          <a:prstGeom prst="rect">
            <a:avLst/>
          </a:prstGeom>
        </p:spPr>
      </p:pic>
      <p:sp>
        <p:nvSpPr>
          <p:cNvPr id="9" name="Rectangle 8">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4595" cy="7559675"/>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693042" y="402482"/>
            <a:ext cx="8694540" cy="1461188"/>
          </a:xfrm>
        </p:spPr>
        <p:txBody>
          <a:bodyPr vert="horz" lIns="91440" tIns="45720" rIns="91440" bIns="45720" rtlCol="0" anchor="ctr">
            <a:normAutofit/>
          </a:bodyPr>
          <a:lstStyle/>
          <a:p>
            <a:pPr>
              <a:lnSpc>
                <a:spcPct val="90000"/>
              </a:lnSpc>
              <a:spcBef>
                <a:spcPct val="0"/>
              </a:spcBef>
            </a:pPr>
            <a:r>
              <a:rPr lang="en-US" sz="4400" b="1" kern="1200">
                <a:solidFill>
                  <a:schemeClr val="tx1"/>
                </a:solidFill>
                <a:latin typeface="+mj-lt"/>
                <a:ea typeface="+mj-ea"/>
                <a:cs typeface="+mj-cs"/>
              </a:rPr>
              <a:t>Críticas a las implementaciones originales de SOAR</a:t>
            </a:r>
          </a:p>
        </p:txBody>
      </p:sp>
      <p:sp>
        <p:nvSpPr>
          <p:cNvPr id="3" name="Subtítulo 2"/>
          <p:cNvSpPr>
            <a:spLocks noGrp="1"/>
          </p:cNvSpPr>
          <p:nvPr>
            <p:ph type="subTitle" idx="1"/>
          </p:nvPr>
        </p:nvSpPr>
        <p:spPr>
          <a:xfrm>
            <a:off x="693042" y="2012413"/>
            <a:ext cx="8694540" cy="4796544"/>
          </a:xfrm>
        </p:spPr>
        <p:txBody>
          <a:bodyPr vert="horz" lIns="91440" tIns="45720" rIns="91440" bIns="45720" rtlCol="0">
            <a:normAutofit/>
          </a:bodyPr>
          <a:lstStyle/>
          <a:p>
            <a:pPr marL="45720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Resistencia de la “</a:t>
            </a:r>
            <a:r>
              <a:rPr lang="en-US" kern="1200" dirty="0" err="1">
                <a:solidFill>
                  <a:schemeClr val="tx1"/>
                </a:solidFill>
                <a:latin typeface="+mn-lt"/>
                <a:ea typeface="+mn-ea"/>
                <a:cs typeface="+mn-cs"/>
              </a:rPr>
              <a:t>comunidad</a:t>
            </a:r>
            <a:r>
              <a:rPr lang="en-US" kern="1200" dirty="0">
                <a:solidFill>
                  <a:schemeClr val="tx1"/>
                </a:solidFill>
                <a:latin typeface="+mn-lt"/>
                <a:ea typeface="+mn-ea"/>
                <a:cs typeface="+mn-cs"/>
              </a:rPr>
              <a:t> SOAR” a </a:t>
            </a:r>
            <a:r>
              <a:rPr lang="en-US" kern="1200" dirty="0" err="1">
                <a:solidFill>
                  <a:schemeClr val="tx1"/>
                </a:solidFill>
                <a:latin typeface="+mn-lt"/>
                <a:ea typeface="+mn-ea"/>
                <a:cs typeface="+mn-cs"/>
              </a:rPr>
              <a:t>incorporar</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otras</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características</a:t>
            </a:r>
            <a:r>
              <a:rPr lang="en-US" kern="1200" dirty="0">
                <a:solidFill>
                  <a:schemeClr val="tx1"/>
                </a:solidFill>
                <a:latin typeface="+mn-lt"/>
                <a:ea typeface="+mn-ea"/>
                <a:cs typeface="+mn-cs"/>
              </a:rPr>
              <a:t> de </a:t>
            </a:r>
            <a:r>
              <a:rPr lang="en-US" kern="1200" dirty="0" err="1">
                <a:solidFill>
                  <a:schemeClr val="tx1"/>
                </a:solidFill>
                <a:latin typeface="+mn-lt"/>
                <a:ea typeface="+mn-ea"/>
                <a:cs typeface="+mn-cs"/>
              </a:rPr>
              <a:t>arquitectura</a:t>
            </a:r>
            <a:endParaRPr lang="en-US" kern="1200" dirty="0">
              <a:solidFill>
                <a:schemeClr val="tx1"/>
              </a:solidFill>
              <a:latin typeface="+mn-lt"/>
              <a:ea typeface="+mn-ea"/>
              <a:cs typeface="+mn-cs"/>
            </a:endParaRPr>
          </a:p>
          <a:p>
            <a:pPr marL="914400" lvl="1"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a:t>
            </a:r>
            <a:r>
              <a:rPr lang="en-US" kern="1200" dirty="0" err="1">
                <a:solidFill>
                  <a:schemeClr val="tx1"/>
                </a:solidFill>
                <a:latin typeface="+mn-lt"/>
                <a:ea typeface="+mn-ea"/>
                <a:cs typeface="+mn-cs"/>
              </a:rPr>
              <a:t>Qué</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características</a:t>
            </a:r>
            <a:r>
              <a:rPr lang="en-US" kern="1200" dirty="0">
                <a:solidFill>
                  <a:schemeClr val="tx1"/>
                </a:solidFill>
                <a:latin typeface="+mn-lt"/>
                <a:ea typeface="+mn-ea"/>
                <a:cs typeface="+mn-cs"/>
              </a:rPr>
              <a:t> de la </a:t>
            </a:r>
            <a:r>
              <a:rPr lang="en-US" kern="1200" dirty="0" err="1">
                <a:solidFill>
                  <a:schemeClr val="tx1"/>
                </a:solidFill>
                <a:latin typeface="+mn-lt"/>
                <a:ea typeface="+mn-ea"/>
                <a:cs typeface="+mn-cs"/>
              </a:rPr>
              <a:t>inteligencia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humana</a:t>
            </a:r>
            <a:r>
              <a:rPr lang="en-US" kern="1200" dirty="0">
                <a:solidFill>
                  <a:schemeClr val="tx1"/>
                </a:solidFill>
                <a:latin typeface="+mn-lt"/>
                <a:ea typeface="+mn-ea"/>
                <a:cs typeface="+mn-cs"/>
              </a:rPr>
              <a:t> son </a:t>
            </a:r>
            <a:r>
              <a:rPr lang="en-US" kern="1200" dirty="0" err="1">
                <a:solidFill>
                  <a:schemeClr val="tx1"/>
                </a:solidFill>
                <a:latin typeface="+mn-lt"/>
                <a:ea typeface="+mn-ea"/>
                <a:cs typeface="+mn-cs"/>
              </a:rPr>
              <a:t>consecuencias</a:t>
            </a:r>
            <a:r>
              <a:rPr lang="en-US" kern="1200" dirty="0">
                <a:solidFill>
                  <a:schemeClr val="tx1"/>
                </a:solidFill>
                <a:latin typeface="+mn-lt"/>
                <a:ea typeface="+mn-ea"/>
                <a:cs typeface="+mn-cs"/>
              </a:rPr>
              <a:t> del hardware (la </a:t>
            </a:r>
            <a:r>
              <a:rPr lang="en-US" kern="1200" dirty="0" err="1">
                <a:solidFill>
                  <a:schemeClr val="tx1"/>
                </a:solidFill>
                <a:latin typeface="+mn-lt"/>
                <a:ea typeface="+mn-ea"/>
                <a:cs typeface="+mn-cs"/>
              </a:rPr>
              <a:t>arquitectura</a:t>
            </a:r>
            <a:r>
              <a:rPr lang="en-US" kern="1200" dirty="0">
                <a:solidFill>
                  <a:schemeClr val="tx1"/>
                </a:solidFill>
                <a:latin typeface="+mn-lt"/>
                <a:ea typeface="+mn-ea"/>
                <a:cs typeface="+mn-cs"/>
              </a:rPr>
              <a:t>), y </a:t>
            </a:r>
            <a:r>
              <a:rPr lang="en-US" kern="1200" dirty="0" err="1">
                <a:solidFill>
                  <a:schemeClr val="tx1"/>
                </a:solidFill>
                <a:latin typeface="+mn-lt"/>
                <a:ea typeface="+mn-ea"/>
                <a:cs typeface="+mn-cs"/>
              </a:rPr>
              <a:t>cuáles</a:t>
            </a:r>
            <a:r>
              <a:rPr lang="en-US" kern="1200" dirty="0">
                <a:solidFill>
                  <a:schemeClr val="tx1"/>
                </a:solidFill>
                <a:latin typeface="+mn-lt"/>
                <a:ea typeface="+mn-ea"/>
                <a:cs typeface="+mn-cs"/>
              </a:rPr>
              <a:t> del software?</a:t>
            </a:r>
          </a:p>
          <a:p>
            <a:pPr marL="914400" lvl="1"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Nota: </a:t>
            </a:r>
            <a:r>
              <a:rPr lang="en-US" kern="1200" dirty="0" err="1">
                <a:solidFill>
                  <a:schemeClr val="tx1"/>
                </a:solidFill>
                <a:latin typeface="+mn-lt"/>
                <a:ea typeface="+mn-ea"/>
                <a:cs typeface="+mn-cs"/>
              </a:rPr>
              <a:t>en</a:t>
            </a:r>
            <a:r>
              <a:rPr lang="en-US" kern="1200" dirty="0">
                <a:solidFill>
                  <a:schemeClr val="tx1"/>
                </a:solidFill>
                <a:latin typeface="+mn-lt"/>
                <a:ea typeface="+mn-ea"/>
                <a:cs typeface="+mn-cs"/>
              </a:rPr>
              <a:t> ChatGPT </a:t>
            </a:r>
            <a:r>
              <a:rPr lang="en-US" kern="1200" dirty="0" err="1">
                <a:solidFill>
                  <a:schemeClr val="tx1"/>
                </a:solidFill>
                <a:latin typeface="+mn-lt"/>
                <a:ea typeface="+mn-ea"/>
                <a:cs typeface="+mn-cs"/>
              </a:rPr>
              <a:t>toda</a:t>
            </a:r>
            <a:r>
              <a:rPr lang="en-US" kern="1200" dirty="0">
                <a:solidFill>
                  <a:schemeClr val="tx1"/>
                </a:solidFill>
                <a:latin typeface="+mn-lt"/>
                <a:ea typeface="+mn-ea"/>
                <a:cs typeface="+mn-cs"/>
              </a:rPr>
              <a:t> la </a:t>
            </a:r>
            <a:r>
              <a:rPr lang="en-US" kern="1200" dirty="0" err="1">
                <a:solidFill>
                  <a:schemeClr val="tx1"/>
                </a:solidFill>
                <a:latin typeface="+mn-lt"/>
                <a:ea typeface="+mn-ea"/>
                <a:cs typeface="+mn-cs"/>
              </a:rPr>
              <a:t>inteligencia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está</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en</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el</a:t>
            </a:r>
            <a:r>
              <a:rPr lang="en-US" kern="1200" dirty="0">
                <a:solidFill>
                  <a:schemeClr val="tx1"/>
                </a:solidFill>
                <a:latin typeface="+mn-lt"/>
                <a:ea typeface="+mn-ea"/>
                <a:cs typeface="+mn-cs"/>
              </a:rPr>
              <a:t> dataset de </a:t>
            </a:r>
            <a:r>
              <a:rPr lang="en-US" kern="1200" dirty="0" err="1">
                <a:solidFill>
                  <a:schemeClr val="tx1"/>
                </a:solidFill>
                <a:latin typeface="+mn-lt"/>
                <a:ea typeface="+mn-ea"/>
                <a:cs typeface="+mn-cs"/>
              </a:rPr>
              <a:t>entrenamiento</a:t>
            </a:r>
            <a:r>
              <a:rPr lang="en-US" kern="1200" dirty="0">
                <a:solidFill>
                  <a:schemeClr val="tx1"/>
                </a:solidFill>
                <a:latin typeface="+mn-lt"/>
                <a:ea typeface="+mn-ea"/>
                <a:cs typeface="+mn-cs"/>
              </a:rPr>
              <a:t>.</a:t>
            </a:r>
          </a:p>
          <a:p>
            <a:pPr marL="45720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No hay </a:t>
            </a:r>
            <a:r>
              <a:rPr lang="en-US" kern="1200" dirty="0" err="1">
                <a:solidFill>
                  <a:schemeClr val="tx1"/>
                </a:solidFill>
                <a:latin typeface="+mn-lt"/>
                <a:ea typeface="+mn-ea"/>
                <a:cs typeface="+mn-cs"/>
              </a:rPr>
              <a:t>una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aceptación</a:t>
            </a:r>
            <a:r>
              <a:rPr lang="en-US" kern="1200" dirty="0">
                <a:solidFill>
                  <a:schemeClr val="tx1"/>
                </a:solidFill>
                <a:latin typeface="+mn-lt"/>
                <a:ea typeface="+mn-ea"/>
                <a:cs typeface="+mn-cs"/>
              </a:rPr>
              <a:t> general </a:t>
            </a:r>
            <a:r>
              <a:rPr lang="en-US" kern="1200" dirty="0" err="1">
                <a:solidFill>
                  <a:schemeClr val="tx1"/>
                </a:solidFill>
                <a:latin typeface="+mn-lt"/>
                <a:ea typeface="+mn-ea"/>
                <a:cs typeface="+mn-cs"/>
              </a:rPr>
              <a:t>en</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Ciencias</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Cognitivas</a:t>
            </a:r>
            <a:r>
              <a:rPr lang="en-US" kern="1200" dirty="0">
                <a:solidFill>
                  <a:schemeClr val="tx1"/>
                </a:solidFill>
                <a:latin typeface="+mn-lt"/>
                <a:ea typeface="+mn-ea"/>
                <a:cs typeface="+mn-cs"/>
              </a:rPr>
              <a:t> de la idea de que las </a:t>
            </a:r>
            <a:r>
              <a:rPr lang="en-US" kern="1200" dirty="0" err="1">
                <a:solidFill>
                  <a:schemeClr val="tx1"/>
                </a:solidFill>
                <a:latin typeface="+mn-lt"/>
                <a:ea typeface="+mn-ea"/>
                <a:cs typeface="+mn-cs"/>
              </a:rPr>
              <a:t>arquitecturas</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tipo</a:t>
            </a:r>
            <a:r>
              <a:rPr lang="en-US" kern="1200" dirty="0">
                <a:solidFill>
                  <a:schemeClr val="tx1"/>
                </a:solidFill>
                <a:latin typeface="+mn-lt"/>
                <a:ea typeface="+mn-ea"/>
                <a:cs typeface="+mn-cs"/>
              </a:rPr>
              <a:t> SOAR (ACT-R y </a:t>
            </a:r>
            <a:r>
              <a:rPr lang="en-US" kern="1200" dirty="0" err="1">
                <a:solidFill>
                  <a:schemeClr val="tx1"/>
                </a:solidFill>
                <a:latin typeface="+mn-lt"/>
                <a:ea typeface="+mn-ea"/>
                <a:cs typeface="+mn-cs"/>
              </a:rPr>
              <a:t>otras</a:t>
            </a:r>
            <a:r>
              <a:rPr lang="en-US" kern="1200" dirty="0">
                <a:solidFill>
                  <a:schemeClr val="tx1"/>
                </a:solidFill>
                <a:latin typeface="+mn-lt"/>
                <a:ea typeface="+mn-ea"/>
                <a:cs typeface="+mn-cs"/>
              </a:rPr>
              <a:t>) son </a:t>
            </a:r>
            <a:r>
              <a:rPr lang="en-US" kern="1200" dirty="0" err="1">
                <a:solidFill>
                  <a:schemeClr val="tx1"/>
                </a:solidFill>
                <a:latin typeface="+mn-lt"/>
                <a:ea typeface="+mn-ea"/>
                <a:cs typeface="+mn-cs"/>
              </a:rPr>
              <a:t>una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teoría</a:t>
            </a:r>
            <a:r>
              <a:rPr lang="en-US" kern="1200" dirty="0">
                <a:solidFill>
                  <a:schemeClr val="tx1"/>
                </a:solidFill>
                <a:latin typeface="+mn-lt"/>
                <a:ea typeface="+mn-ea"/>
                <a:cs typeface="+mn-cs"/>
              </a:rPr>
              <a:t> general de la </a:t>
            </a:r>
            <a:r>
              <a:rPr lang="en-US" kern="1200" dirty="0" err="1">
                <a:solidFill>
                  <a:schemeClr val="tx1"/>
                </a:solidFill>
                <a:latin typeface="+mn-lt"/>
                <a:ea typeface="+mn-ea"/>
                <a:cs typeface="+mn-cs"/>
              </a:rPr>
              <a:t>inteligencia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humana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como</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esperaba</a:t>
            </a:r>
            <a:r>
              <a:rPr lang="en-US" kern="1200" dirty="0">
                <a:solidFill>
                  <a:schemeClr val="tx1"/>
                </a:solidFill>
                <a:latin typeface="+mn-lt"/>
                <a:ea typeface="+mn-ea"/>
                <a:cs typeface="+mn-cs"/>
              </a:rPr>
              <a:t> Newell)</a:t>
            </a:r>
          </a:p>
          <a:p>
            <a:pPr marL="45720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Ha </a:t>
            </a:r>
            <a:r>
              <a:rPr lang="en-US" kern="1200" dirty="0" err="1">
                <a:solidFill>
                  <a:schemeClr val="tx1"/>
                </a:solidFill>
                <a:latin typeface="+mn-lt"/>
                <a:ea typeface="+mn-ea"/>
                <a:cs typeface="+mn-cs"/>
              </a:rPr>
              <a:t>tenido</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éxito</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en</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aplicaciones</a:t>
            </a:r>
            <a:r>
              <a:rPr lang="en-US" kern="1200" dirty="0">
                <a:solidFill>
                  <a:schemeClr val="tx1"/>
                </a:solidFill>
                <a:latin typeface="+mn-lt"/>
                <a:ea typeface="+mn-ea"/>
                <a:cs typeface="+mn-cs"/>
              </a:rPr>
              <a:t> de </a:t>
            </a:r>
            <a:r>
              <a:rPr lang="en-US" kern="1200" dirty="0" err="1">
                <a:solidFill>
                  <a:schemeClr val="tx1"/>
                </a:solidFill>
                <a:latin typeface="+mn-lt"/>
                <a:ea typeface="+mn-ea"/>
                <a:cs typeface="+mn-cs"/>
              </a:rPr>
              <a:t>nicho</a:t>
            </a:r>
            <a:endParaRPr lang="en-US"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kern="1200" dirty="0" err="1">
                <a:solidFill>
                  <a:schemeClr val="tx1"/>
                </a:solidFill>
                <a:latin typeface="+mn-lt"/>
                <a:ea typeface="+mn-ea"/>
                <a:cs typeface="+mn-cs"/>
              </a:rPr>
              <a:t>Dificultad</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en</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encontrar</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aplicaciones</a:t>
            </a:r>
            <a:r>
              <a:rPr lang="en-US" kern="1200" dirty="0">
                <a:solidFill>
                  <a:schemeClr val="tx1"/>
                </a:solidFill>
                <a:latin typeface="+mn-lt"/>
                <a:ea typeface="+mn-ea"/>
                <a:cs typeface="+mn-cs"/>
              </a:rPr>
              <a:t> que </a:t>
            </a:r>
            <a:r>
              <a:rPr lang="en-US" kern="1200" dirty="0" err="1">
                <a:solidFill>
                  <a:schemeClr val="tx1"/>
                </a:solidFill>
                <a:latin typeface="+mn-lt"/>
                <a:ea typeface="+mn-ea"/>
                <a:cs typeface="+mn-cs"/>
              </a:rPr>
              <a:t>requieran</a:t>
            </a:r>
            <a:r>
              <a:rPr lang="en-US" kern="1200" dirty="0">
                <a:solidFill>
                  <a:schemeClr val="tx1"/>
                </a:solidFill>
                <a:latin typeface="+mn-lt"/>
                <a:ea typeface="+mn-ea"/>
                <a:cs typeface="+mn-cs"/>
              </a:rPr>
              <a:t> IA de </a:t>
            </a:r>
            <a:r>
              <a:rPr lang="en-US" kern="1200" dirty="0" err="1">
                <a:solidFill>
                  <a:schemeClr val="tx1"/>
                </a:solidFill>
                <a:latin typeface="+mn-lt"/>
                <a:ea typeface="+mn-ea"/>
                <a:cs typeface="+mn-cs"/>
              </a:rPr>
              <a:t>nivel</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humano</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teóricamente</a:t>
            </a:r>
            <a:r>
              <a:rPr lang="en-US" kern="1200" dirty="0">
                <a:solidFill>
                  <a:schemeClr val="tx1"/>
                </a:solidFill>
                <a:latin typeface="+mn-lt"/>
                <a:ea typeface="+mn-ea"/>
                <a:cs typeface="+mn-cs"/>
              </a:rPr>
              <a:t>, SOAR no es </a:t>
            </a:r>
            <a:r>
              <a:rPr lang="en-US" kern="1200" dirty="0" err="1">
                <a:solidFill>
                  <a:schemeClr val="tx1"/>
                </a:solidFill>
                <a:latin typeface="+mn-lt"/>
                <a:ea typeface="+mn-ea"/>
                <a:cs typeface="+mn-cs"/>
              </a:rPr>
              <a:t>más</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inteligente</a:t>
            </a:r>
            <a:r>
              <a:rPr lang="en-US" kern="1200" dirty="0">
                <a:solidFill>
                  <a:schemeClr val="tx1"/>
                </a:solidFill>
                <a:latin typeface="+mn-lt"/>
                <a:ea typeface="+mn-ea"/>
                <a:cs typeface="+mn-cs"/>
              </a:rPr>
              <a:t> que </a:t>
            </a:r>
            <a:r>
              <a:rPr lang="en-US" kern="1200" dirty="0" err="1">
                <a:solidFill>
                  <a:schemeClr val="tx1"/>
                </a:solidFill>
                <a:latin typeface="+mn-lt"/>
                <a:ea typeface="+mn-ea"/>
                <a:cs typeface="+mn-cs"/>
              </a:rPr>
              <a:t>una</a:t>
            </a:r>
            <a:r>
              <a:rPr lang="en-US" kern="1200" dirty="0">
                <a:solidFill>
                  <a:schemeClr val="tx1"/>
                </a:solidFill>
                <a:latin typeface="+mn-lt"/>
                <a:ea typeface="+mn-ea"/>
                <a:cs typeface="+mn-cs"/>
              </a:rPr>
              <a:t> persona), </a:t>
            </a:r>
            <a:r>
              <a:rPr lang="en-US" kern="1200" dirty="0" err="1">
                <a:solidFill>
                  <a:schemeClr val="tx1"/>
                </a:solidFill>
                <a:latin typeface="+mn-lt"/>
                <a:ea typeface="+mn-ea"/>
                <a:cs typeface="+mn-cs"/>
              </a:rPr>
              <a:t>aunque</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esto</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puede</a:t>
            </a:r>
            <a:r>
              <a:rPr lang="en-US" kern="1200" dirty="0">
                <a:solidFill>
                  <a:schemeClr val="tx1"/>
                </a:solidFill>
                <a:latin typeface="+mn-lt"/>
                <a:ea typeface="+mn-ea"/>
                <a:cs typeface="+mn-cs"/>
              </a:rPr>
              <a:t> ser </a:t>
            </a:r>
            <a:r>
              <a:rPr lang="en-US" kern="1200" dirty="0" err="1">
                <a:solidFill>
                  <a:schemeClr val="tx1"/>
                </a:solidFill>
                <a:latin typeface="+mn-lt"/>
                <a:ea typeface="+mn-ea"/>
                <a:cs typeface="+mn-cs"/>
              </a:rPr>
              <a:t>ventajoso</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por</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ej</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en</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interacciones</a:t>
            </a:r>
            <a:r>
              <a:rPr lang="en-US" kern="1200" dirty="0">
                <a:solidFill>
                  <a:schemeClr val="tx1"/>
                </a:solidFill>
                <a:latin typeface="+mn-lt"/>
                <a:ea typeface="+mn-ea"/>
                <a:cs typeface="+mn-cs"/>
              </a:rPr>
              <a:t>)</a:t>
            </a:r>
          </a:p>
          <a:p>
            <a:pPr marL="45720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Es </a:t>
            </a:r>
            <a:r>
              <a:rPr lang="en-US" kern="1200" dirty="0" err="1">
                <a:solidFill>
                  <a:schemeClr val="tx1"/>
                </a:solidFill>
                <a:latin typeface="+mn-lt"/>
                <a:ea typeface="+mn-ea"/>
                <a:cs typeface="+mn-cs"/>
              </a:rPr>
              <a:t>caro</a:t>
            </a:r>
            <a:r>
              <a:rPr lang="en-US" kern="1200" dirty="0">
                <a:solidFill>
                  <a:schemeClr val="tx1"/>
                </a:solidFill>
                <a:latin typeface="+mn-lt"/>
                <a:ea typeface="+mn-ea"/>
                <a:cs typeface="+mn-cs"/>
              </a:rPr>
              <a:t> de </a:t>
            </a:r>
            <a:r>
              <a:rPr lang="en-US" kern="1200" dirty="0" err="1">
                <a:solidFill>
                  <a:schemeClr val="tx1"/>
                </a:solidFill>
                <a:latin typeface="+mn-lt"/>
                <a:ea typeface="+mn-ea"/>
                <a:cs typeface="+mn-cs"/>
              </a:rPr>
              <a:t>implementar</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porque</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requiere</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el</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trabajo</a:t>
            </a:r>
            <a:r>
              <a:rPr lang="en-US" kern="1200" dirty="0">
                <a:solidFill>
                  <a:schemeClr val="tx1"/>
                </a:solidFill>
                <a:latin typeface="+mn-lt"/>
                <a:ea typeface="+mn-ea"/>
                <a:cs typeface="+mn-cs"/>
              </a:rPr>
              <a:t> de formular </a:t>
            </a:r>
            <a:r>
              <a:rPr lang="en-US" kern="1200" dirty="0" err="1">
                <a:solidFill>
                  <a:schemeClr val="tx1"/>
                </a:solidFill>
                <a:latin typeface="+mn-lt"/>
                <a:ea typeface="+mn-ea"/>
                <a:cs typeface="+mn-cs"/>
              </a:rPr>
              <a:t>el</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sistema</a:t>
            </a:r>
            <a:r>
              <a:rPr lang="en-US" kern="1200" dirty="0">
                <a:solidFill>
                  <a:schemeClr val="tx1"/>
                </a:solidFill>
                <a:latin typeface="+mn-lt"/>
                <a:ea typeface="+mn-ea"/>
                <a:cs typeface="+mn-cs"/>
              </a:rPr>
              <a:t> de </a:t>
            </a:r>
            <a:r>
              <a:rPr lang="en-US" kern="1200" dirty="0" err="1">
                <a:solidFill>
                  <a:schemeClr val="tx1"/>
                </a:solidFill>
                <a:latin typeface="+mn-lt"/>
                <a:ea typeface="+mn-ea"/>
                <a:cs typeface="+mn-cs"/>
              </a:rPr>
              <a:t>reglas</a:t>
            </a:r>
            <a:r>
              <a:rPr lang="en-US" kern="1200" dirty="0">
                <a:solidFill>
                  <a:schemeClr val="tx1"/>
                </a:solidFill>
                <a:latin typeface="+mn-lt"/>
                <a:ea typeface="+mn-ea"/>
                <a:cs typeface="+mn-cs"/>
              </a:rPr>
              <a:t> y </a:t>
            </a:r>
            <a:r>
              <a:rPr lang="en-US" kern="1200" dirty="0" err="1">
                <a:solidFill>
                  <a:schemeClr val="tx1"/>
                </a:solidFill>
                <a:latin typeface="+mn-lt"/>
                <a:ea typeface="+mn-ea"/>
                <a:cs typeface="+mn-cs"/>
              </a:rPr>
              <a:t>cualquier</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problema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realista</a:t>
            </a:r>
            <a:r>
              <a:rPr lang="en-US" kern="1200" dirty="0">
                <a:solidFill>
                  <a:schemeClr val="tx1"/>
                </a:solidFill>
                <a:latin typeface="+mn-lt"/>
                <a:ea typeface="+mn-ea"/>
                <a:cs typeface="+mn-cs"/>
              </a:rPr>
              <a:t> es </a:t>
            </a:r>
            <a:r>
              <a:rPr lang="en-US" kern="1200" dirty="0" err="1">
                <a:solidFill>
                  <a:schemeClr val="tx1"/>
                </a:solidFill>
                <a:latin typeface="+mn-lt"/>
                <a:ea typeface="+mn-ea"/>
                <a:cs typeface="+mn-cs"/>
              </a:rPr>
              <a:t>complejo</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implica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muchas</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reglas</a:t>
            </a:r>
            <a:r>
              <a:rPr lang="en-US" kern="1200" dirty="0">
                <a:solidFill>
                  <a:schemeClr val="tx1"/>
                </a:solidFill>
                <a:latin typeface="+mn-lt"/>
                <a:ea typeface="+mn-ea"/>
                <a:cs typeface="+mn-cs"/>
              </a:rPr>
              <a:t>)</a:t>
            </a:r>
          </a:p>
        </p:txBody>
      </p:sp>
    </p:spTree>
    <p:extLst>
      <p:ext uri="{BB962C8B-B14F-4D97-AF65-F5344CB8AC3E}">
        <p14:creationId xmlns:p14="http://schemas.microsoft.com/office/powerpoint/2010/main" val="399485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Gráfico en un documento con un bolígrafo">
            <a:extLst>
              <a:ext uri="{FF2B5EF4-FFF2-40B4-BE49-F238E27FC236}">
                <a16:creationId xmlns:a16="http://schemas.microsoft.com/office/drawing/2014/main" id="{EA3BE8CB-1D0D-7106-E418-19CCDF9E5905}"/>
              </a:ext>
            </a:extLst>
          </p:cNvPr>
          <p:cNvPicPr>
            <a:picLocks noChangeAspect="1"/>
          </p:cNvPicPr>
          <p:nvPr/>
        </p:nvPicPr>
        <p:blipFill rotWithShape="1">
          <a:blip r:embed="rId3"/>
          <a:srcRect r="19203" b="9090"/>
          <a:stretch/>
        </p:blipFill>
        <p:spPr>
          <a:xfrm>
            <a:off x="20" y="10"/>
            <a:ext cx="10080605" cy="7559665"/>
          </a:xfrm>
          <a:prstGeom prst="rect">
            <a:avLst/>
          </a:prstGeom>
        </p:spPr>
      </p:pic>
      <p:sp>
        <p:nvSpPr>
          <p:cNvPr id="9" name="Rectangle 8">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4595" cy="7559675"/>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693042" y="402482"/>
            <a:ext cx="8694540" cy="1461188"/>
          </a:xfrm>
        </p:spPr>
        <p:txBody>
          <a:bodyPr vert="horz" lIns="91440" tIns="45720" rIns="91440" bIns="45720" rtlCol="0" anchor="ctr">
            <a:normAutofit/>
          </a:bodyPr>
          <a:lstStyle/>
          <a:p>
            <a:pPr>
              <a:lnSpc>
                <a:spcPct val="90000"/>
              </a:lnSpc>
              <a:spcBef>
                <a:spcPct val="0"/>
              </a:spcBef>
            </a:pPr>
            <a:r>
              <a:rPr lang="en-US" sz="4400" b="1" kern="1200">
                <a:solidFill>
                  <a:schemeClr val="tx1"/>
                </a:solidFill>
                <a:latin typeface="+mj-lt"/>
                <a:ea typeface="+mj-ea"/>
                <a:cs typeface="+mj-cs"/>
              </a:rPr>
              <a:t>Avances actuales de SOAR</a:t>
            </a:r>
          </a:p>
        </p:txBody>
      </p:sp>
      <p:sp>
        <p:nvSpPr>
          <p:cNvPr id="3" name="Subtítulo 2"/>
          <p:cNvSpPr>
            <a:spLocks noGrp="1"/>
          </p:cNvSpPr>
          <p:nvPr>
            <p:ph type="subTitle" idx="1"/>
          </p:nvPr>
        </p:nvSpPr>
        <p:spPr>
          <a:xfrm>
            <a:off x="693042" y="2012413"/>
            <a:ext cx="8694540" cy="4796544"/>
          </a:xfrm>
        </p:spPr>
        <p:txBody>
          <a:bodyPr vert="horz" lIns="91440" tIns="45720" rIns="91440" bIns="45720" rtlCol="0">
            <a:normAutofit/>
          </a:bodyPr>
          <a:lstStyle/>
          <a:p>
            <a:pPr marL="342900" indent="-228600">
              <a:lnSpc>
                <a:spcPct val="90000"/>
              </a:lnSpc>
              <a:spcAft>
                <a:spcPts val="600"/>
              </a:spcAft>
              <a:buFont typeface="Arial" panose="020B0604020202020204" pitchFamily="34" charset="0"/>
              <a:buChar char="•"/>
            </a:pPr>
            <a:r>
              <a:rPr lang="en-US" kern="1200" dirty="0" err="1">
                <a:solidFill>
                  <a:schemeClr val="tx1"/>
                </a:solidFill>
                <a:latin typeface="+mn-lt"/>
                <a:ea typeface="+mn-ea"/>
                <a:cs typeface="+mn-cs"/>
              </a:rPr>
              <a:t>Enseñar</a:t>
            </a:r>
            <a:r>
              <a:rPr lang="en-US" kern="1200" dirty="0">
                <a:solidFill>
                  <a:schemeClr val="tx1"/>
                </a:solidFill>
                <a:latin typeface="+mn-lt"/>
                <a:ea typeface="+mn-ea"/>
                <a:cs typeface="+mn-cs"/>
              </a:rPr>
              <a:t> al </a:t>
            </a:r>
            <a:r>
              <a:rPr lang="en-US" kern="1200" dirty="0" err="1">
                <a:solidFill>
                  <a:schemeClr val="tx1"/>
                </a:solidFill>
                <a:latin typeface="+mn-lt"/>
                <a:ea typeface="+mn-ea"/>
                <a:cs typeface="+mn-cs"/>
              </a:rPr>
              <a:t>agente</a:t>
            </a:r>
            <a:r>
              <a:rPr lang="en-US" kern="1200" dirty="0">
                <a:solidFill>
                  <a:schemeClr val="tx1"/>
                </a:solidFill>
                <a:latin typeface="+mn-lt"/>
                <a:ea typeface="+mn-ea"/>
                <a:cs typeface="+mn-cs"/>
              </a:rPr>
              <a:t> de IA </a:t>
            </a:r>
            <a:r>
              <a:rPr lang="en-US" kern="1200" dirty="0" err="1">
                <a:solidFill>
                  <a:schemeClr val="tx1"/>
                </a:solidFill>
                <a:latin typeface="+mn-lt"/>
                <a:ea typeface="+mn-ea"/>
                <a:cs typeface="+mn-cs"/>
              </a:rPr>
              <a:t>interactivamente</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en</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tiempo</a:t>
            </a:r>
            <a:r>
              <a:rPr lang="en-US" kern="1200" dirty="0">
                <a:solidFill>
                  <a:schemeClr val="tx1"/>
                </a:solidFill>
                <a:latin typeface="+mn-lt"/>
                <a:ea typeface="+mn-ea"/>
                <a:cs typeface="+mn-cs"/>
              </a:rPr>
              <a:t> real y </a:t>
            </a:r>
            <a:r>
              <a:rPr lang="en-US" kern="1200" dirty="0" err="1">
                <a:solidFill>
                  <a:schemeClr val="tx1"/>
                </a:solidFill>
                <a:latin typeface="+mn-lt"/>
                <a:ea typeface="+mn-ea"/>
                <a:cs typeface="+mn-cs"/>
              </a:rPr>
              <a:t>usando</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lenguaje</a:t>
            </a:r>
            <a:r>
              <a:rPr lang="en-US" kern="1200" dirty="0">
                <a:solidFill>
                  <a:schemeClr val="tx1"/>
                </a:solidFill>
                <a:latin typeface="+mn-lt"/>
                <a:ea typeface="+mn-ea"/>
                <a:cs typeface="+mn-cs"/>
              </a:rPr>
              <a:t> natural (</a:t>
            </a:r>
            <a:r>
              <a:rPr lang="en-US" kern="1200" dirty="0" err="1">
                <a:solidFill>
                  <a:schemeClr val="tx1"/>
                </a:solidFill>
                <a:latin typeface="+mn-lt"/>
                <a:ea typeface="+mn-ea"/>
                <a:cs typeface="+mn-cs"/>
              </a:rPr>
              <a:t>usando</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técnicas</a:t>
            </a:r>
            <a:r>
              <a:rPr lang="en-US" kern="1200" dirty="0">
                <a:solidFill>
                  <a:schemeClr val="tx1"/>
                </a:solidFill>
                <a:latin typeface="+mn-lt"/>
                <a:ea typeface="+mn-ea"/>
                <a:cs typeface="+mn-cs"/>
              </a:rPr>
              <a:t> de NLP)</a:t>
            </a:r>
          </a:p>
          <a:p>
            <a:pPr marL="342900" indent="-228600">
              <a:lnSpc>
                <a:spcPct val="90000"/>
              </a:lnSpc>
              <a:spcAft>
                <a:spcPts val="600"/>
              </a:spcAft>
              <a:buFont typeface="Arial" panose="020B0604020202020204" pitchFamily="34" charset="0"/>
              <a:buChar char="•"/>
            </a:pPr>
            <a:r>
              <a:rPr lang="en-US" kern="1200" dirty="0" err="1">
                <a:solidFill>
                  <a:schemeClr val="tx1"/>
                </a:solidFill>
                <a:latin typeface="+mn-lt"/>
                <a:ea typeface="+mn-ea"/>
                <a:cs typeface="+mn-cs"/>
              </a:rPr>
              <a:t>Puede</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aprender</a:t>
            </a:r>
            <a:r>
              <a:rPr lang="en-US" kern="1200" dirty="0">
                <a:solidFill>
                  <a:schemeClr val="tx1"/>
                </a:solidFill>
                <a:latin typeface="+mn-lt"/>
                <a:ea typeface="+mn-ea"/>
                <a:cs typeface="+mn-cs"/>
              </a:rPr>
              <a:t> la </a:t>
            </a:r>
            <a:r>
              <a:rPr lang="en-US" kern="1200" dirty="0" err="1">
                <a:solidFill>
                  <a:schemeClr val="tx1"/>
                </a:solidFill>
                <a:latin typeface="+mn-lt"/>
                <a:ea typeface="+mn-ea"/>
                <a:cs typeface="+mn-cs"/>
              </a:rPr>
              <a:t>tarea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desde</a:t>
            </a:r>
            <a:r>
              <a:rPr lang="en-US" kern="1200" dirty="0">
                <a:solidFill>
                  <a:schemeClr val="tx1"/>
                </a:solidFill>
                <a:latin typeface="+mn-lt"/>
                <a:ea typeface="+mn-ea"/>
                <a:cs typeface="+mn-cs"/>
              </a:rPr>
              <a:t> cero (o </a:t>
            </a:r>
            <a:r>
              <a:rPr lang="en-US" kern="1200" dirty="0" err="1">
                <a:solidFill>
                  <a:schemeClr val="tx1"/>
                </a:solidFill>
                <a:latin typeface="+mn-lt"/>
                <a:ea typeface="+mn-ea"/>
                <a:cs typeface="+mn-cs"/>
              </a:rPr>
              <a:t>casi</a:t>
            </a:r>
            <a:r>
              <a:rPr lang="en-US" kern="1200" dirty="0">
                <a:solidFill>
                  <a:schemeClr val="tx1"/>
                </a:solidFill>
                <a:latin typeface="+mn-lt"/>
                <a:ea typeface="+mn-ea"/>
                <a:cs typeface="+mn-cs"/>
              </a:rPr>
              <a:t>)</a:t>
            </a:r>
          </a:p>
          <a:p>
            <a:pPr marL="342900" indent="-228600">
              <a:lnSpc>
                <a:spcPct val="90000"/>
              </a:lnSpc>
              <a:spcAft>
                <a:spcPts val="600"/>
              </a:spcAft>
              <a:buFont typeface="Arial" panose="020B0604020202020204" pitchFamily="34" charset="0"/>
              <a:buChar char="•"/>
            </a:pPr>
            <a:r>
              <a:rPr lang="en-US" kern="1200" dirty="0">
                <a:solidFill>
                  <a:schemeClr val="tx1"/>
                </a:solidFill>
                <a:latin typeface="+mn-lt"/>
                <a:ea typeface="+mn-ea"/>
                <a:cs typeface="+mn-cs"/>
              </a:rPr>
              <a:t>Usa </a:t>
            </a:r>
            <a:r>
              <a:rPr lang="en-US" kern="1200" dirty="0" err="1">
                <a:solidFill>
                  <a:schemeClr val="tx1"/>
                </a:solidFill>
                <a:latin typeface="+mn-lt"/>
                <a:ea typeface="+mn-ea"/>
                <a:cs typeface="+mn-cs"/>
              </a:rPr>
              <a:t>lenguaje</a:t>
            </a:r>
            <a:r>
              <a:rPr lang="en-US" kern="1200" dirty="0">
                <a:solidFill>
                  <a:schemeClr val="tx1"/>
                </a:solidFill>
                <a:latin typeface="+mn-lt"/>
                <a:ea typeface="+mn-ea"/>
                <a:cs typeface="+mn-cs"/>
              </a:rPr>
              <a:t> natural</a:t>
            </a:r>
          </a:p>
          <a:p>
            <a:pPr marL="342900" indent="-228600">
              <a:lnSpc>
                <a:spcPct val="90000"/>
              </a:lnSpc>
              <a:spcAft>
                <a:spcPts val="600"/>
              </a:spcAft>
              <a:buFont typeface="Arial" panose="020B0604020202020204" pitchFamily="34" charset="0"/>
              <a:buChar char="•"/>
            </a:pPr>
            <a:r>
              <a:rPr lang="en-US" kern="1200" dirty="0" err="1">
                <a:solidFill>
                  <a:schemeClr val="tx1"/>
                </a:solidFill>
                <a:latin typeface="+mn-lt"/>
                <a:ea typeface="+mn-ea"/>
                <a:cs typeface="+mn-cs"/>
              </a:rPr>
              <a:t>Puede</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aprender</a:t>
            </a:r>
            <a:r>
              <a:rPr lang="en-US" kern="1200" dirty="0">
                <a:solidFill>
                  <a:schemeClr val="tx1"/>
                </a:solidFill>
                <a:latin typeface="+mn-lt"/>
                <a:ea typeface="+mn-ea"/>
                <a:cs typeface="+mn-cs"/>
              </a:rPr>
              <a:t> con solo </a:t>
            </a:r>
            <a:r>
              <a:rPr lang="en-US" kern="1200" dirty="0" err="1">
                <a:solidFill>
                  <a:schemeClr val="tx1"/>
                </a:solidFill>
                <a:latin typeface="+mn-lt"/>
                <a:ea typeface="+mn-ea"/>
                <a:cs typeface="+mn-cs"/>
              </a:rPr>
              <a:t>una</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experiencia</a:t>
            </a:r>
            <a:r>
              <a:rPr lang="en-US" kern="1200" dirty="0">
                <a:solidFill>
                  <a:schemeClr val="tx1"/>
                </a:solidFill>
                <a:latin typeface="+mn-lt"/>
                <a:ea typeface="+mn-ea"/>
                <a:cs typeface="+mn-cs"/>
              </a:rPr>
              <a:t> de </a:t>
            </a:r>
            <a:r>
              <a:rPr lang="en-US" kern="1200" dirty="0" err="1">
                <a:solidFill>
                  <a:schemeClr val="tx1"/>
                </a:solidFill>
                <a:latin typeface="+mn-lt"/>
                <a:ea typeface="+mn-ea"/>
                <a:cs typeface="+mn-cs"/>
              </a:rPr>
              <a:t>aprendizaje</a:t>
            </a:r>
            <a:r>
              <a:rPr lang="en-US" kern="1200" dirty="0">
                <a:solidFill>
                  <a:schemeClr val="tx1"/>
                </a:solidFill>
                <a:latin typeface="+mn-lt"/>
                <a:ea typeface="+mn-ea"/>
                <a:cs typeface="+mn-cs"/>
              </a:rPr>
              <a:t> (one-shot learning, </a:t>
            </a:r>
            <a:r>
              <a:rPr lang="en-US" kern="1200" dirty="0" err="1">
                <a:solidFill>
                  <a:schemeClr val="tx1"/>
                </a:solidFill>
                <a:latin typeface="+mn-lt"/>
                <a:ea typeface="+mn-ea"/>
                <a:cs typeface="+mn-cs"/>
              </a:rPr>
              <a:t>por</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ejemplo</a:t>
            </a:r>
            <a:r>
              <a:rPr lang="en-US" kern="1200" dirty="0">
                <a:solidFill>
                  <a:schemeClr val="tx1"/>
                </a:solidFill>
                <a:latin typeface="+mn-lt"/>
                <a:ea typeface="+mn-ea"/>
                <a:cs typeface="+mn-cs"/>
              </a:rPr>
              <a:t>, con la </a:t>
            </a:r>
            <a:r>
              <a:rPr lang="en-US" kern="1200" dirty="0" err="1">
                <a:solidFill>
                  <a:schemeClr val="tx1"/>
                </a:solidFill>
                <a:latin typeface="+mn-lt"/>
                <a:ea typeface="+mn-ea"/>
                <a:cs typeface="+mn-cs"/>
              </a:rPr>
              <a:t>función</a:t>
            </a:r>
            <a:r>
              <a:rPr lang="en-US" kern="1200" dirty="0">
                <a:solidFill>
                  <a:schemeClr val="tx1"/>
                </a:solidFill>
                <a:latin typeface="+mn-lt"/>
                <a:ea typeface="+mn-ea"/>
                <a:cs typeface="+mn-cs"/>
              </a:rPr>
              <a:t> de look ahead y chunking)</a:t>
            </a:r>
          </a:p>
          <a:p>
            <a:pPr marL="342900" indent="-228600">
              <a:lnSpc>
                <a:spcPct val="90000"/>
              </a:lnSpc>
              <a:spcAft>
                <a:spcPts val="600"/>
              </a:spcAft>
              <a:buFont typeface="Arial" panose="020B0604020202020204" pitchFamily="34" charset="0"/>
              <a:buChar char="•"/>
            </a:pPr>
            <a:r>
              <a:rPr lang="en-US" kern="1200" dirty="0" err="1">
                <a:solidFill>
                  <a:schemeClr val="tx1"/>
                </a:solidFill>
                <a:latin typeface="+mn-lt"/>
                <a:ea typeface="+mn-ea"/>
                <a:cs typeface="+mn-cs"/>
              </a:rPr>
              <a:t>Puede</a:t>
            </a:r>
            <a:r>
              <a:rPr lang="en-US" kern="1200" dirty="0">
                <a:solidFill>
                  <a:schemeClr val="tx1"/>
                </a:solidFill>
                <a:latin typeface="+mn-lt"/>
                <a:ea typeface="+mn-ea"/>
                <a:cs typeface="+mn-cs"/>
              </a:rPr>
              <a:t> usar </a:t>
            </a:r>
            <a:r>
              <a:rPr lang="en-US" kern="1200" dirty="0" err="1">
                <a:solidFill>
                  <a:schemeClr val="tx1"/>
                </a:solidFill>
                <a:latin typeface="+mn-lt"/>
                <a:ea typeface="+mn-ea"/>
                <a:cs typeface="+mn-cs"/>
              </a:rPr>
              <a:t>los</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aprendizajes</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anteriores</a:t>
            </a:r>
            <a:r>
              <a:rPr lang="en-US" kern="1200" dirty="0">
                <a:solidFill>
                  <a:schemeClr val="tx1"/>
                </a:solidFill>
                <a:latin typeface="+mn-lt"/>
                <a:ea typeface="+mn-ea"/>
                <a:cs typeface="+mn-cs"/>
              </a:rPr>
              <a:t> para </a:t>
            </a:r>
            <a:r>
              <a:rPr lang="en-US" kern="1200" dirty="0" err="1">
                <a:solidFill>
                  <a:schemeClr val="tx1"/>
                </a:solidFill>
                <a:latin typeface="+mn-lt"/>
                <a:ea typeface="+mn-ea"/>
                <a:cs typeface="+mn-cs"/>
              </a:rPr>
              <a:t>enfrentar</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nuevas</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tareas</a:t>
            </a:r>
            <a:endParaRPr lang="en-US" kern="1200" dirty="0">
              <a:solidFill>
                <a:schemeClr val="tx1"/>
              </a:solidFill>
              <a:latin typeface="+mn-lt"/>
              <a:ea typeface="+mn-ea"/>
              <a:cs typeface="+mn-cs"/>
            </a:endParaRPr>
          </a:p>
          <a:p>
            <a:pPr marL="342900" indent="-228600">
              <a:lnSpc>
                <a:spcPct val="90000"/>
              </a:lnSpc>
              <a:spcAft>
                <a:spcPts val="600"/>
              </a:spcAft>
              <a:buFont typeface="Arial" panose="020B0604020202020204" pitchFamily="34" charset="0"/>
              <a:buChar char="•"/>
            </a:pPr>
            <a:r>
              <a:rPr lang="en-US" kern="1200" dirty="0" err="1">
                <a:solidFill>
                  <a:schemeClr val="tx1"/>
                </a:solidFill>
                <a:latin typeface="+mn-lt"/>
                <a:ea typeface="+mn-ea"/>
                <a:cs typeface="+mn-cs"/>
              </a:rPr>
              <a:t>Aprendizaje</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por</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refuerzo</a:t>
            </a:r>
            <a:endParaRPr lang="en-US" kern="1200" dirty="0">
              <a:solidFill>
                <a:schemeClr val="tx1"/>
              </a:solidFill>
              <a:latin typeface="+mn-lt"/>
              <a:ea typeface="+mn-ea"/>
              <a:cs typeface="+mn-cs"/>
            </a:endParaRPr>
          </a:p>
          <a:p>
            <a:pPr marL="342900" indent="-228600">
              <a:lnSpc>
                <a:spcPct val="90000"/>
              </a:lnSpc>
              <a:spcAft>
                <a:spcPts val="600"/>
              </a:spcAft>
              <a:buFont typeface="Arial" panose="020B0604020202020204" pitchFamily="34" charset="0"/>
              <a:buChar char="•"/>
            </a:pPr>
            <a:endParaRPr lang="en-US" kern="1200" dirty="0">
              <a:solidFill>
                <a:schemeClr val="tx1"/>
              </a:solidFill>
              <a:latin typeface="+mn-lt"/>
              <a:ea typeface="+mn-ea"/>
              <a:cs typeface="+mn-cs"/>
            </a:endParaRPr>
          </a:p>
        </p:txBody>
      </p:sp>
    </p:spTree>
    <p:extLst>
      <p:ext uri="{BB962C8B-B14F-4D97-AF65-F5344CB8AC3E}">
        <p14:creationId xmlns:p14="http://schemas.microsoft.com/office/powerpoint/2010/main" val="195267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174" y="1017202"/>
            <a:ext cx="8964276" cy="5525271"/>
          </a:xfrm>
          <a:prstGeom prst="rect">
            <a:avLst/>
          </a:prstGeom>
        </p:spPr>
      </p:pic>
    </p:spTree>
    <p:extLst>
      <p:ext uri="{BB962C8B-B14F-4D97-AF65-F5344CB8AC3E}">
        <p14:creationId xmlns:p14="http://schemas.microsoft.com/office/powerpoint/2010/main" val="605104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3" name="Shape 63"/>
          <p:cNvSpPr txBox="1"/>
          <p:nvPr/>
        </p:nvSpPr>
        <p:spPr>
          <a:xfrm>
            <a:off x="712694" y="1781736"/>
            <a:ext cx="9052481" cy="3879476"/>
          </a:xfrm>
          <a:prstGeom prst="rect">
            <a:avLst/>
          </a:prstGeom>
          <a:noFill/>
          <a:ln>
            <a:noFill/>
          </a:ln>
        </p:spPr>
        <p:txBody>
          <a:bodyPr lIns="91425" tIns="91425" rIns="91425" bIns="91425" anchor="ctr" anchorCtr="0">
            <a:noAutofit/>
          </a:bodyPr>
          <a:lstStyle/>
          <a:p>
            <a:pPr lvl="0" algn="ctr"/>
            <a:r>
              <a:rPr lang="en-US" sz="3200" dirty="0" err="1">
                <a:solidFill>
                  <a:schemeClr val="dk1"/>
                </a:solidFill>
              </a:rPr>
              <a:t>Una</a:t>
            </a:r>
            <a:r>
              <a:rPr lang="en-US" sz="3200" dirty="0">
                <a:solidFill>
                  <a:schemeClr val="dk1"/>
                </a:solidFill>
              </a:rPr>
              <a:t> </a:t>
            </a:r>
            <a:r>
              <a:rPr lang="en-US" sz="3200" dirty="0" err="1">
                <a:solidFill>
                  <a:schemeClr val="dk1"/>
                </a:solidFill>
              </a:rPr>
              <a:t>arquitectura</a:t>
            </a:r>
            <a:r>
              <a:rPr lang="en-US" sz="3200" dirty="0">
                <a:solidFill>
                  <a:schemeClr val="dk1"/>
                </a:solidFill>
              </a:rPr>
              <a:t> </a:t>
            </a:r>
            <a:r>
              <a:rPr lang="en-US" sz="3200" dirty="0" err="1">
                <a:solidFill>
                  <a:schemeClr val="dk1"/>
                </a:solidFill>
              </a:rPr>
              <a:t>cognitiva</a:t>
            </a:r>
            <a:endParaRPr lang="en-US" sz="3200" dirty="0">
              <a:solidFill>
                <a:schemeClr val="dk1"/>
              </a:solidFill>
            </a:endParaRPr>
          </a:p>
          <a:p>
            <a:pPr algn="ctr"/>
            <a:r>
              <a:rPr lang="en-US" sz="3200" dirty="0">
                <a:solidFill>
                  <a:schemeClr val="dk1"/>
                </a:solidFill>
              </a:rPr>
              <a:t>ACT-R </a:t>
            </a:r>
          </a:p>
          <a:p>
            <a:pPr algn="ctr"/>
            <a:r>
              <a:rPr lang="en-US" sz="3200" dirty="0">
                <a:solidFill>
                  <a:schemeClr val="dk1"/>
                </a:solidFill>
              </a:rPr>
              <a:t>(Adaptive Control of Thought – Rational)</a:t>
            </a:r>
          </a:p>
          <a:p>
            <a:pPr algn="ctr"/>
            <a:r>
              <a:rPr lang="en-US" sz="3200" dirty="0">
                <a:solidFill>
                  <a:schemeClr val="dk1"/>
                </a:solidFill>
              </a:rPr>
              <a:t>(John Anderson</a:t>
            </a:r>
            <a:r>
              <a:rPr lang="es-CL" sz="3200" dirty="0"/>
              <a:t>)</a:t>
            </a:r>
          </a:p>
          <a:p>
            <a:pPr lvl="0" algn="ctr"/>
            <a:endParaRPr lang="en-US" sz="3200" dirty="0">
              <a:solidFill>
                <a:schemeClr val="dk1"/>
              </a:solidFill>
            </a:endParaRPr>
          </a:p>
          <a:p>
            <a:pPr lvl="0" algn="ctr" rtl="0">
              <a:spcBef>
                <a:spcPts val="0"/>
              </a:spcBef>
              <a:buNone/>
            </a:pPr>
            <a:endParaRPr lang="en-US" sz="3200" dirty="0">
              <a:solidFill>
                <a:schemeClr val="dk1"/>
              </a:solidFill>
            </a:endParaRPr>
          </a:p>
        </p:txBody>
      </p:sp>
      <p:pic>
        <p:nvPicPr>
          <p:cNvPr id="8" name="Shape 62"/>
          <p:cNvPicPr preferRelativeResize="0"/>
          <p:nvPr/>
        </p:nvPicPr>
        <p:blipFill>
          <a:blip r:embed="rId3">
            <a:alphaModFix/>
          </a:blip>
          <a:stretch>
            <a:fillRect/>
          </a:stretch>
        </p:blipFill>
        <p:spPr>
          <a:xfrm>
            <a:off x="181836" y="223675"/>
            <a:ext cx="1781436" cy="415060"/>
          </a:xfrm>
          <a:prstGeom prst="rect">
            <a:avLst/>
          </a:prstGeom>
          <a:noFill/>
          <a:ln>
            <a:noFill/>
          </a:ln>
        </p:spPr>
      </p:pic>
    </p:spTree>
    <p:extLst>
      <p:ext uri="{BB962C8B-B14F-4D97-AF65-F5344CB8AC3E}">
        <p14:creationId xmlns:p14="http://schemas.microsoft.com/office/powerpoint/2010/main" val="3268015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Exclamation mark on a yellow background">
            <a:extLst>
              <a:ext uri="{FF2B5EF4-FFF2-40B4-BE49-F238E27FC236}">
                <a16:creationId xmlns:a16="http://schemas.microsoft.com/office/drawing/2014/main" id="{3D0074A0-7428-B85F-81A8-7AB476D4EFFD}"/>
              </a:ext>
            </a:extLst>
          </p:cNvPr>
          <p:cNvPicPr>
            <a:picLocks noChangeAspect="1"/>
          </p:cNvPicPr>
          <p:nvPr/>
        </p:nvPicPr>
        <p:blipFill rotWithShape="1">
          <a:blip r:embed="rId3"/>
          <a:srcRect t="9101" r="9084" b="-7"/>
          <a:stretch/>
        </p:blipFill>
        <p:spPr>
          <a:xfrm>
            <a:off x="20" y="10"/>
            <a:ext cx="10080605" cy="7559665"/>
          </a:xfrm>
          <a:prstGeom prst="rect">
            <a:avLst/>
          </a:prstGeom>
        </p:spPr>
      </p:pic>
      <p:sp>
        <p:nvSpPr>
          <p:cNvPr id="9" name="Rectangle 8">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4595" cy="7559675"/>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693042" y="402482"/>
            <a:ext cx="8694540" cy="1461188"/>
          </a:xfrm>
        </p:spPr>
        <p:txBody>
          <a:bodyPr vert="horz" lIns="91440" tIns="45720" rIns="91440" bIns="45720" rtlCol="0" anchor="ctr">
            <a:normAutofit/>
          </a:bodyPr>
          <a:lstStyle/>
          <a:p>
            <a:pPr>
              <a:lnSpc>
                <a:spcPct val="90000"/>
              </a:lnSpc>
              <a:spcBef>
                <a:spcPct val="0"/>
              </a:spcBef>
            </a:pPr>
            <a:r>
              <a:rPr lang="en-US" sz="3400" b="1" kern="1200">
                <a:solidFill>
                  <a:schemeClr val="tx1"/>
                </a:solidFill>
                <a:latin typeface="+mj-lt"/>
                <a:ea typeface="+mj-ea"/>
                <a:cs typeface="+mj-cs"/>
              </a:rPr>
              <a:t>Adaptive</a:t>
            </a:r>
            <a:r>
              <a:rPr lang="en-US" sz="3400" kern="1200">
                <a:solidFill>
                  <a:schemeClr val="tx1"/>
                </a:solidFill>
                <a:latin typeface="+mj-lt"/>
                <a:ea typeface="+mj-ea"/>
                <a:cs typeface="+mj-cs"/>
              </a:rPr>
              <a:t> </a:t>
            </a:r>
            <a:r>
              <a:rPr lang="en-US" sz="3400" b="1" kern="1200">
                <a:solidFill>
                  <a:schemeClr val="tx1"/>
                </a:solidFill>
                <a:latin typeface="+mj-lt"/>
                <a:ea typeface="+mj-ea"/>
                <a:cs typeface="+mj-cs"/>
              </a:rPr>
              <a:t>Control</a:t>
            </a:r>
            <a:r>
              <a:rPr lang="en-US" sz="3400" kern="1200">
                <a:solidFill>
                  <a:schemeClr val="tx1"/>
                </a:solidFill>
                <a:latin typeface="+mj-lt"/>
                <a:ea typeface="+mj-ea"/>
                <a:cs typeface="+mj-cs"/>
              </a:rPr>
              <a:t> </a:t>
            </a:r>
            <a:r>
              <a:rPr lang="en-US" sz="3400" b="1" kern="1200">
                <a:solidFill>
                  <a:schemeClr val="tx1"/>
                </a:solidFill>
                <a:latin typeface="+mj-lt"/>
                <a:ea typeface="+mj-ea"/>
                <a:cs typeface="+mj-cs"/>
              </a:rPr>
              <a:t>of</a:t>
            </a:r>
            <a:r>
              <a:rPr lang="en-US" sz="3400" kern="1200">
                <a:solidFill>
                  <a:schemeClr val="tx1"/>
                </a:solidFill>
                <a:latin typeface="+mj-lt"/>
                <a:ea typeface="+mj-ea"/>
                <a:cs typeface="+mj-cs"/>
              </a:rPr>
              <a:t> </a:t>
            </a:r>
            <a:r>
              <a:rPr lang="en-US" sz="3400" b="1" kern="1200">
                <a:solidFill>
                  <a:schemeClr val="tx1"/>
                </a:solidFill>
                <a:latin typeface="+mj-lt"/>
                <a:ea typeface="+mj-ea"/>
                <a:cs typeface="+mj-cs"/>
              </a:rPr>
              <a:t>Thought - Rational</a:t>
            </a:r>
            <a:r>
              <a:rPr lang="en-US" sz="3400" kern="1200">
                <a:solidFill>
                  <a:schemeClr val="tx1"/>
                </a:solidFill>
                <a:latin typeface="+mj-lt"/>
                <a:ea typeface="+mj-ea"/>
                <a:cs typeface="+mj-cs"/>
              </a:rPr>
              <a:t> </a:t>
            </a:r>
            <a:br>
              <a:rPr lang="en-US" sz="3400" kern="1200">
                <a:solidFill>
                  <a:schemeClr val="tx1"/>
                </a:solidFill>
                <a:latin typeface="+mj-lt"/>
                <a:ea typeface="+mj-ea"/>
                <a:cs typeface="+mj-cs"/>
              </a:rPr>
            </a:br>
            <a:r>
              <a:rPr lang="en-US" sz="3400" b="1" kern="1200">
                <a:solidFill>
                  <a:schemeClr val="tx1"/>
                </a:solidFill>
                <a:latin typeface="+mj-lt"/>
                <a:ea typeface="+mj-ea"/>
                <a:cs typeface="+mj-cs"/>
              </a:rPr>
              <a:t>(ACT-R)</a:t>
            </a:r>
          </a:p>
        </p:txBody>
      </p:sp>
      <p:sp>
        <p:nvSpPr>
          <p:cNvPr id="3" name="Subtítulo 2"/>
          <p:cNvSpPr>
            <a:spLocks noGrp="1"/>
          </p:cNvSpPr>
          <p:nvPr>
            <p:ph type="subTitle" idx="1"/>
          </p:nvPr>
        </p:nvSpPr>
        <p:spPr/>
        <p:txBody>
          <a:bodyPr/>
          <a:lstStyle/>
          <a:p>
            <a:pPr marL="457200" indent="-457200">
              <a:spcAft>
                <a:spcPts val="600"/>
              </a:spcAft>
              <a:buFont typeface="Arial" panose="020B0604020202020204" pitchFamily="34" charset="0"/>
              <a:buChar char="•"/>
            </a:pPr>
            <a:r>
              <a:rPr lang="es-CL" sz="2800" dirty="0"/>
              <a:t>Simplemente, la inteligencia es la acumulación y </a:t>
            </a:r>
            <a:r>
              <a:rPr lang="es-CL" sz="2800" dirty="0" err="1"/>
              <a:t>parametrización</a:t>
            </a:r>
            <a:r>
              <a:rPr lang="es-CL" sz="2800" dirty="0"/>
              <a:t> de múltiples unidades de conocimientos, las que en conjunto producen cognición compleja. El todo NO es más que la suma de las partes; solo que son muchas partes.</a:t>
            </a:r>
          </a:p>
          <a:p>
            <a:pPr marL="457200" indent="-457200">
              <a:spcAft>
                <a:spcPts val="600"/>
              </a:spcAft>
              <a:buFont typeface="Arial" panose="020B0604020202020204" pitchFamily="34" charset="0"/>
              <a:buChar char="•"/>
            </a:pPr>
            <a:endParaRPr lang="es-CL" sz="2800" dirty="0"/>
          </a:p>
          <a:p>
            <a:pPr marL="457200" indent="-457200">
              <a:spcAft>
                <a:spcPts val="600"/>
              </a:spcAft>
              <a:buFont typeface="Arial" panose="020B0604020202020204" pitchFamily="34" charset="0"/>
              <a:buChar char="•"/>
            </a:pPr>
            <a:r>
              <a:rPr lang="es-CL" sz="2800" dirty="0"/>
              <a:t>Las cosas representadas en la mente, adquieren la distribución de probabilidades de los eventos correspondientes en la realidad. En ese sentido, la cognición es racional (comparar esto con los LLM)</a:t>
            </a:r>
          </a:p>
        </p:txBody>
      </p:sp>
    </p:spTree>
    <p:extLst>
      <p:ext uri="{BB962C8B-B14F-4D97-AF65-F5344CB8AC3E}">
        <p14:creationId xmlns:p14="http://schemas.microsoft.com/office/powerpoint/2010/main" val="45628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CL" sz="3200" b="1" dirty="0" err="1"/>
              <a:t>Adaptive</a:t>
            </a:r>
            <a:r>
              <a:rPr lang="es-CL" dirty="0"/>
              <a:t> </a:t>
            </a:r>
            <a:r>
              <a:rPr lang="es-CL" sz="3200" b="1" dirty="0"/>
              <a:t>Control</a:t>
            </a:r>
            <a:r>
              <a:rPr lang="es-CL" dirty="0"/>
              <a:t> </a:t>
            </a:r>
            <a:r>
              <a:rPr lang="es-CL" sz="3200" b="1" dirty="0"/>
              <a:t>of</a:t>
            </a:r>
            <a:r>
              <a:rPr lang="es-CL" dirty="0"/>
              <a:t> </a:t>
            </a:r>
            <a:r>
              <a:rPr lang="es-CL" sz="3200" b="1" dirty="0" err="1"/>
              <a:t>Thought</a:t>
            </a:r>
            <a:r>
              <a:rPr lang="es-CL" dirty="0"/>
              <a:t> </a:t>
            </a:r>
            <a:r>
              <a:rPr lang="es-CL" sz="3200" b="1" dirty="0"/>
              <a:t>(ACT-R)</a:t>
            </a:r>
          </a:p>
        </p:txBody>
      </p:sp>
      <p:pic>
        <p:nvPicPr>
          <p:cNvPr id="4" name="Imagen 3"/>
          <p:cNvPicPr>
            <a:picLocks noChangeAspect="1"/>
          </p:cNvPicPr>
          <p:nvPr/>
        </p:nvPicPr>
        <p:blipFill>
          <a:blip r:embed="rId3"/>
          <a:stretch>
            <a:fillRect/>
          </a:stretch>
        </p:blipFill>
        <p:spPr>
          <a:xfrm>
            <a:off x="1806027" y="1622867"/>
            <a:ext cx="6316481" cy="5557867"/>
          </a:xfrm>
          <a:prstGeom prst="rect">
            <a:avLst/>
          </a:prstGeom>
        </p:spPr>
      </p:pic>
    </p:spTree>
    <p:extLst>
      <p:ext uri="{BB962C8B-B14F-4D97-AF65-F5344CB8AC3E}">
        <p14:creationId xmlns:p14="http://schemas.microsoft.com/office/powerpoint/2010/main" val="40692248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CL" sz="3200" b="1"/>
              <a:t>Producciones en ACT-R</a:t>
            </a:r>
            <a:endParaRPr lang="es-CL" sz="3200" b="1" dirty="0"/>
          </a:p>
        </p:txBody>
      </p:sp>
      <p:pic>
        <p:nvPicPr>
          <p:cNvPr id="4" name="Imagen 3"/>
          <p:cNvPicPr>
            <a:picLocks noChangeAspect="1"/>
          </p:cNvPicPr>
          <p:nvPr/>
        </p:nvPicPr>
        <p:blipFill>
          <a:blip r:embed="rId3"/>
          <a:stretch>
            <a:fillRect/>
          </a:stretch>
        </p:blipFill>
        <p:spPr>
          <a:xfrm>
            <a:off x="273399" y="2069432"/>
            <a:ext cx="4302691" cy="3785935"/>
          </a:xfrm>
          <a:prstGeom prst="rect">
            <a:avLst/>
          </a:prstGeom>
        </p:spPr>
      </p:pic>
      <p:sp>
        <p:nvSpPr>
          <p:cNvPr id="3" name="2 CuadroTexto"/>
          <p:cNvSpPr txBox="1"/>
          <p:nvPr/>
        </p:nvSpPr>
        <p:spPr>
          <a:xfrm>
            <a:off x="4706047" y="1803747"/>
            <a:ext cx="4914900" cy="2246769"/>
          </a:xfrm>
          <a:prstGeom prst="rect">
            <a:avLst/>
          </a:prstGeom>
          <a:noFill/>
        </p:spPr>
        <p:txBody>
          <a:bodyPr wrap="square" rtlCol="0">
            <a:spAutoFit/>
          </a:bodyPr>
          <a:lstStyle/>
          <a:p>
            <a:r>
              <a:rPr lang="es-CL" sz="2800" dirty="0"/>
              <a:t>Los contenidos de Memoria Declarativa son reglas </a:t>
            </a:r>
            <a:r>
              <a:rPr lang="es-CL" sz="2800" dirty="0" err="1"/>
              <a:t>if-then</a:t>
            </a:r>
            <a:r>
              <a:rPr lang="es-CL" sz="2800" dirty="0"/>
              <a:t>.</a:t>
            </a:r>
          </a:p>
          <a:p>
            <a:endParaRPr lang="es-CL" sz="2800" dirty="0"/>
          </a:p>
          <a:p>
            <a:r>
              <a:rPr lang="es-CL" sz="2800" dirty="0"/>
              <a:t>Se caracterizan porque pueden ser reportadas.</a:t>
            </a:r>
          </a:p>
        </p:txBody>
      </p:sp>
    </p:spTree>
    <p:extLst>
      <p:ext uri="{BB962C8B-B14F-4D97-AF65-F5344CB8AC3E}">
        <p14:creationId xmlns:p14="http://schemas.microsoft.com/office/powerpoint/2010/main" val="172433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7F7A7-AE03-44E1-9F97-D60CB6E861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D8BA7A-A351-A9EE-9BB7-5E851F647FFF}"/>
              </a:ext>
            </a:extLst>
          </p:cNvPr>
          <p:cNvSpPr>
            <a:spLocks noGrp="1"/>
          </p:cNvSpPr>
          <p:nvPr>
            <p:ph type="title"/>
          </p:nvPr>
        </p:nvSpPr>
        <p:spPr/>
        <p:txBody>
          <a:bodyPr/>
          <a:lstStyle/>
          <a:p>
            <a:pPr algn="ctr"/>
            <a:r>
              <a:rPr lang="es-CL" sz="3200" b="1"/>
              <a:t>Producciones en ACT-R</a:t>
            </a:r>
            <a:endParaRPr lang="es-CL" sz="3200" b="1" dirty="0"/>
          </a:p>
        </p:txBody>
      </p:sp>
      <p:pic>
        <p:nvPicPr>
          <p:cNvPr id="4" name="Imagen 3">
            <a:extLst>
              <a:ext uri="{FF2B5EF4-FFF2-40B4-BE49-F238E27FC236}">
                <a16:creationId xmlns:a16="http://schemas.microsoft.com/office/drawing/2014/main" id="{58A17B0B-B49D-A42E-3425-94D3A2B77C8D}"/>
              </a:ext>
            </a:extLst>
          </p:cNvPr>
          <p:cNvPicPr>
            <a:picLocks noChangeAspect="1"/>
          </p:cNvPicPr>
          <p:nvPr/>
        </p:nvPicPr>
        <p:blipFill>
          <a:blip r:embed="rId3"/>
          <a:stretch>
            <a:fillRect/>
          </a:stretch>
        </p:blipFill>
        <p:spPr>
          <a:xfrm>
            <a:off x="273399" y="2069432"/>
            <a:ext cx="4302691" cy="3785935"/>
          </a:xfrm>
          <a:prstGeom prst="rect">
            <a:avLst/>
          </a:prstGeom>
        </p:spPr>
      </p:pic>
      <p:sp>
        <p:nvSpPr>
          <p:cNvPr id="3" name="2 CuadroTexto">
            <a:extLst>
              <a:ext uri="{FF2B5EF4-FFF2-40B4-BE49-F238E27FC236}">
                <a16:creationId xmlns:a16="http://schemas.microsoft.com/office/drawing/2014/main" id="{9A1D2D28-E91A-85F3-3F06-0FAE486B04D2}"/>
              </a:ext>
            </a:extLst>
          </p:cNvPr>
          <p:cNvSpPr txBox="1"/>
          <p:nvPr/>
        </p:nvSpPr>
        <p:spPr>
          <a:xfrm>
            <a:off x="4620986" y="1527300"/>
            <a:ext cx="4914900" cy="3970318"/>
          </a:xfrm>
          <a:prstGeom prst="rect">
            <a:avLst/>
          </a:prstGeom>
          <a:noFill/>
        </p:spPr>
        <p:txBody>
          <a:bodyPr wrap="square" rtlCol="0">
            <a:spAutoFit/>
          </a:bodyPr>
          <a:lstStyle/>
          <a:p>
            <a:r>
              <a:rPr lang="es-CL" sz="2800" dirty="0"/>
              <a:t>Por contraste, las “producciones” son operaciones que se hacen sobre las condiciones “</a:t>
            </a:r>
            <a:r>
              <a:rPr lang="es-CL" sz="2800" dirty="0" err="1"/>
              <a:t>if</a:t>
            </a:r>
            <a:r>
              <a:rPr lang="es-CL" sz="2800" dirty="0"/>
              <a:t>”.</a:t>
            </a:r>
          </a:p>
          <a:p>
            <a:endParaRPr lang="es-CL" sz="2800" dirty="0"/>
          </a:p>
          <a:p>
            <a:r>
              <a:rPr lang="es-CL" sz="2800" dirty="0"/>
              <a:t>Una vez que las condiciones “</a:t>
            </a:r>
            <a:r>
              <a:rPr lang="es-CL" sz="2800" dirty="0" err="1"/>
              <a:t>if</a:t>
            </a:r>
            <a:r>
              <a:rPr lang="es-CL" sz="2800" dirty="0"/>
              <a:t>” se cumplen, el sistema produce acciones (las “</a:t>
            </a:r>
            <a:r>
              <a:rPr lang="es-CL" sz="2800" dirty="0" err="1"/>
              <a:t>then</a:t>
            </a:r>
            <a:r>
              <a:rPr lang="es-CL" sz="2800" dirty="0"/>
              <a:t>”) de las reglas.</a:t>
            </a:r>
          </a:p>
        </p:txBody>
      </p:sp>
    </p:spTree>
    <p:extLst>
      <p:ext uri="{BB962C8B-B14F-4D97-AF65-F5344CB8AC3E}">
        <p14:creationId xmlns:p14="http://schemas.microsoft.com/office/powerpoint/2010/main" val="1297309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2E36F-AB75-4F0C-996B-E54DF516317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564497-8D19-9672-CC1D-3E24E6D9982E}"/>
              </a:ext>
            </a:extLst>
          </p:cNvPr>
          <p:cNvSpPr>
            <a:spLocks noGrp="1"/>
          </p:cNvSpPr>
          <p:nvPr>
            <p:ph type="title"/>
          </p:nvPr>
        </p:nvSpPr>
        <p:spPr>
          <a:xfrm>
            <a:off x="504000" y="301319"/>
            <a:ext cx="9071640" cy="559918"/>
          </a:xfrm>
        </p:spPr>
        <p:txBody>
          <a:bodyPr/>
          <a:lstStyle/>
          <a:p>
            <a:pPr algn="ctr"/>
            <a:r>
              <a:rPr lang="es-CL" sz="3200" b="1" dirty="0"/>
              <a:t>Producciones en ACT-R</a:t>
            </a:r>
          </a:p>
        </p:txBody>
      </p:sp>
      <p:pic>
        <p:nvPicPr>
          <p:cNvPr id="4" name="Imagen 3">
            <a:extLst>
              <a:ext uri="{FF2B5EF4-FFF2-40B4-BE49-F238E27FC236}">
                <a16:creationId xmlns:a16="http://schemas.microsoft.com/office/drawing/2014/main" id="{CC01B495-E299-6B10-132B-1E701742FD81}"/>
              </a:ext>
            </a:extLst>
          </p:cNvPr>
          <p:cNvPicPr>
            <a:picLocks noChangeAspect="1"/>
          </p:cNvPicPr>
          <p:nvPr/>
        </p:nvPicPr>
        <p:blipFill>
          <a:blip r:embed="rId3"/>
          <a:stretch>
            <a:fillRect/>
          </a:stretch>
        </p:blipFill>
        <p:spPr>
          <a:xfrm>
            <a:off x="273399" y="2069432"/>
            <a:ext cx="4302691" cy="3785935"/>
          </a:xfrm>
          <a:prstGeom prst="rect">
            <a:avLst/>
          </a:prstGeom>
        </p:spPr>
      </p:pic>
      <p:sp>
        <p:nvSpPr>
          <p:cNvPr id="3" name="2 CuadroTexto">
            <a:extLst>
              <a:ext uri="{FF2B5EF4-FFF2-40B4-BE49-F238E27FC236}">
                <a16:creationId xmlns:a16="http://schemas.microsoft.com/office/drawing/2014/main" id="{9B2202EE-66D2-8B4D-8C51-4C0026BF7591}"/>
              </a:ext>
            </a:extLst>
          </p:cNvPr>
          <p:cNvSpPr txBox="1"/>
          <p:nvPr/>
        </p:nvSpPr>
        <p:spPr>
          <a:xfrm>
            <a:off x="4576090" y="900022"/>
            <a:ext cx="5184598" cy="5693866"/>
          </a:xfrm>
          <a:prstGeom prst="rect">
            <a:avLst/>
          </a:prstGeom>
          <a:noFill/>
        </p:spPr>
        <p:txBody>
          <a:bodyPr wrap="square" rtlCol="0">
            <a:spAutoFit/>
          </a:bodyPr>
          <a:lstStyle/>
          <a:p>
            <a:r>
              <a:rPr lang="es-CL" sz="2800" dirty="0"/>
              <a:t>La memoria declarativa está estructurada en “</a:t>
            </a:r>
            <a:r>
              <a:rPr lang="es-CL" sz="2800" dirty="0" err="1"/>
              <a:t>chunks</a:t>
            </a:r>
            <a:r>
              <a:rPr lang="es-CL" sz="2800" dirty="0"/>
              <a:t>” que se forman luego de procesos de solución de problemas (mecanismos de aprendizaje).</a:t>
            </a:r>
          </a:p>
          <a:p>
            <a:endParaRPr lang="es-CL" sz="2800" dirty="0"/>
          </a:p>
          <a:p>
            <a:r>
              <a:rPr lang="es-CL" sz="2800" dirty="0"/>
              <a:t>Si hay una regla “si A entonces B”, y una regla “si B entonces C”, y hay un procedimiento X que al ser usado iterativamente lleva de A </a:t>
            </a:r>
            <a:r>
              <a:rPr lang="es-CL" sz="2800" dirty="0" err="1"/>
              <a:t>a</a:t>
            </a:r>
            <a:r>
              <a:rPr lang="es-CL" sz="2800" dirty="0"/>
              <a:t> C, se puede crear un nuevo </a:t>
            </a:r>
            <a:r>
              <a:rPr lang="es-CL" sz="2800" dirty="0" err="1"/>
              <a:t>chunk</a:t>
            </a:r>
            <a:r>
              <a:rPr lang="es-CL" sz="2800" dirty="0"/>
              <a:t> de memoria “Si A entonces C”.</a:t>
            </a:r>
          </a:p>
        </p:txBody>
      </p:sp>
    </p:spTree>
    <p:extLst>
      <p:ext uri="{BB962C8B-B14F-4D97-AF65-F5344CB8AC3E}">
        <p14:creationId xmlns:p14="http://schemas.microsoft.com/office/powerpoint/2010/main" val="122543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CL" sz="3200" b="1"/>
              <a:t>Producciones en ACT-R</a:t>
            </a:r>
            <a:endParaRPr lang="es-CL" sz="3200" b="1" dirty="0"/>
          </a:p>
        </p:txBody>
      </p:sp>
      <p:pic>
        <p:nvPicPr>
          <p:cNvPr id="4" name="Imagen 3"/>
          <p:cNvPicPr>
            <a:picLocks noChangeAspect="1"/>
          </p:cNvPicPr>
          <p:nvPr/>
        </p:nvPicPr>
        <p:blipFill>
          <a:blip r:embed="rId2"/>
          <a:stretch>
            <a:fillRect/>
          </a:stretch>
        </p:blipFill>
        <p:spPr>
          <a:xfrm>
            <a:off x="240632" y="2181726"/>
            <a:ext cx="3867087" cy="3402647"/>
          </a:xfrm>
          <a:prstGeom prst="rect">
            <a:avLst/>
          </a:prstGeom>
        </p:spPr>
      </p:pic>
      <p:sp>
        <p:nvSpPr>
          <p:cNvPr id="3" name="2 CuadroTexto"/>
          <p:cNvSpPr txBox="1"/>
          <p:nvPr/>
        </p:nvSpPr>
        <p:spPr>
          <a:xfrm>
            <a:off x="4203540" y="1563479"/>
            <a:ext cx="5372100" cy="5693866"/>
          </a:xfrm>
          <a:prstGeom prst="rect">
            <a:avLst/>
          </a:prstGeom>
          <a:noFill/>
        </p:spPr>
        <p:txBody>
          <a:bodyPr wrap="square" rtlCol="0">
            <a:spAutoFit/>
          </a:bodyPr>
          <a:lstStyle/>
          <a:p>
            <a:r>
              <a:rPr lang="es-CL" sz="2800"/>
              <a:t>Meta: 	4 + 3 = x</a:t>
            </a:r>
          </a:p>
          <a:p>
            <a:endParaRPr lang="es-CL" sz="2800"/>
          </a:p>
          <a:p>
            <a:r>
              <a:rPr lang="es-CL" sz="2800"/>
              <a:t>Submeta: 	4 + 1 = 5</a:t>
            </a:r>
          </a:p>
          <a:p>
            <a:r>
              <a:rPr lang="es-CL" sz="2800"/>
              <a:t>		5 + 1 = 6	 iteración</a:t>
            </a:r>
          </a:p>
          <a:p>
            <a:r>
              <a:rPr lang="es-CL" sz="2800"/>
              <a:t>		6 + 1 = 7</a:t>
            </a:r>
          </a:p>
          <a:p>
            <a:endParaRPr lang="es-CL" sz="2800"/>
          </a:p>
          <a:p>
            <a:r>
              <a:rPr lang="es-CL" sz="2800"/>
              <a:t>Chunk:	“4 + 3 = 7”</a:t>
            </a:r>
          </a:p>
          <a:p>
            <a:endParaRPr lang="es-CL" sz="2800"/>
          </a:p>
          <a:p>
            <a:r>
              <a:rPr lang="es-CL" sz="2800"/>
              <a:t>Nueva Meta: x + 4 + 3  = 13</a:t>
            </a:r>
          </a:p>
          <a:p>
            <a:endParaRPr lang="es-CL" sz="2800"/>
          </a:p>
          <a:p>
            <a:r>
              <a:rPr lang="es-CL" sz="2800"/>
              <a:t>Retrieve: 	“4 + 3 = 7”</a:t>
            </a:r>
          </a:p>
          <a:p>
            <a:endParaRPr lang="es-CL" sz="2800"/>
          </a:p>
          <a:p>
            <a:r>
              <a:rPr lang="es-CL" sz="2800"/>
              <a:t>Meta: 	7 + x = 13</a:t>
            </a:r>
          </a:p>
        </p:txBody>
      </p:sp>
      <p:sp>
        <p:nvSpPr>
          <p:cNvPr id="5" name="4 Cerrar llave"/>
          <p:cNvSpPr/>
          <p:nvPr/>
        </p:nvSpPr>
        <p:spPr>
          <a:xfrm>
            <a:off x="7643973" y="2527802"/>
            <a:ext cx="326571" cy="1224643"/>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a:p>
        </p:txBody>
      </p:sp>
    </p:spTree>
    <p:extLst>
      <p:ext uri="{BB962C8B-B14F-4D97-AF65-F5344CB8AC3E}">
        <p14:creationId xmlns:p14="http://schemas.microsoft.com/office/powerpoint/2010/main" val="3614898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4000" y="152029"/>
            <a:ext cx="9071640" cy="1262160"/>
          </a:xfrm>
        </p:spPr>
        <p:txBody>
          <a:bodyPr/>
          <a:lstStyle/>
          <a:p>
            <a:pPr algn="ctr"/>
            <a:r>
              <a:rPr lang="es-CL" sz="3200" b="1" dirty="0"/>
              <a:t>Aplicaciones </a:t>
            </a:r>
            <a:r>
              <a:rPr lang="es-CL" sz="3200" b="1"/>
              <a:t>de ACT-R</a:t>
            </a:r>
            <a:endParaRPr lang="es-CL" sz="3200" b="1" dirty="0"/>
          </a:p>
        </p:txBody>
      </p:sp>
      <p:sp>
        <p:nvSpPr>
          <p:cNvPr id="3" name="Subtítulo 2"/>
          <p:cNvSpPr>
            <a:spLocks noGrp="1"/>
          </p:cNvSpPr>
          <p:nvPr>
            <p:ph type="subTitle" idx="1"/>
          </p:nvPr>
        </p:nvSpPr>
        <p:spPr>
          <a:xfrm>
            <a:off x="591256" y="1414189"/>
            <a:ext cx="9071640" cy="3781173"/>
          </a:xfrm>
        </p:spPr>
        <p:txBody>
          <a:bodyPr/>
          <a:lstStyle/>
          <a:p>
            <a:pPr marL="457200" indent="-457200">
              <a:buFont typeface="+mj-lt"/>
              <a:buAutoNum type="arabicPeriod"/>
            </a:pPr>
            <a:r>
              <a:rPr lang="es-CL" sz="2400" dirty="0"/>
              <a:t>Simulaciones militares</a:t>
            </a:r>
          </a:p>
          <a:p>
            <a:pPr marL="457200" indent="-457200">
              <a:buFont typeface="+mj-lt"/>
              <a:buAutoNum type="arabicPeriod"/>
            </a:pPr>
            <a:endParaRPr lang="es-CL" sz="2400" dirty="0"/>
          </a:p>
          <a:p>
            <a:pPr marL="457200" indent="-457200">
              <a:buFont typeface="+mj-lt"/>
              <a:buAutoNum type="arabicPeriod"/>
            </a:pPr>
            <a:r>
              <a:rPr lang="es-CL" sz="2400" dirty="0"/>
              <a:t>Aprendizaje de matemáticas (usos en experimentos y en enseñanza)</a:t>
            </a:r>
          </a:p>
          <a:p>
            <a:pPr marL="457200" indent="-457200">
              <a:buFont typeface="+mj-lt"/>
              <a:buAutoNum type="arabicPeriod"/>
            </a:pPr>
            <a:endParaRPr lang="es-CL" sz="2400" dirty="0"/>
          </a:p>
          <a:p>
            <a:pPr marL="457200" indent="-457200">
              <a:buFont typeface="+mj-lt"/>
              <a:buAutoNum type="arabicPeriod"/>
            </a:pPr>
            <a:r>
              <a:rPr lang="es-CL" sz="2400" dirty="0"/>
              <a:t>Puede ser “auditado”, lo que quiere decir que se puede usar para entrenar dando correcciones y explicando el proceso que sigue.</a:t>
            </a:r>
          </a:p>
        </p:txBody>
      </p:sp>
    </p:spTree>
    <p:extLst>
      <p:ext uri="{BB962C8B-B14F-4D97-AF65-F5344CB8AC3E}">
        <p14:creationId xmlns:p14="http://schemas.microsoft.com/office/powerpoint/2010/main" val="1857960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Bombilla en fondo amarillo con rayos de luz y cable pintados">
            <a:extLst>
              <a:ext uri="{FF2B5EF4-FFF2-40B4-BE49-F238E27FC236}">
                <a16:creationId xmlns:a16="http://schemas.microsoft.com/office/drawing/2014/main" id="{37C4B106-263F-D785-453E-9B7E0D099909}"/>
              </a:ext>
            </a:extLst>
          </p:cNvPr>
          <p:cNvPicPr>
            <a:picLocks noChangeAspect="1"/>
          </p:cNvPicPr>
          <p:nvPr/>
        </p:nvPicPr>
        <p:blipFill rotWithShape="1">
          <a:blip r:embed="rId3"/>
          <a:srcRect l="14097" r="11324" b="9095"/>
          <a:stretch/>
        </p:blipFill>
        <p:spPr>
          <a:xfrm>
            <a:off x="20" y="10"/>
            <a:ext cx="10080605" cy="7559665"/>
          </a:xfrm>
          <a:prstGeom prst="rect">
            <a:avLst/>
          </a:prstGeom>
        </p:spPr>
      </p:pic>
      <p:sp>
        <p:nvSpPr>
          <p:cNvPr id="9" name="Rectangle 8">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4595" cy="7559675"/>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693042" y="402482"/>
            <a:ext cx="8694540" cy="1461188"/>
          </a:xfrm>
        </p:spPr>
        <p:txBody>
          <a:bodyPr vert="horz" lIns="91440" tIns="45720" rIns="91440" bIns="45720" rtlCol="0" anchor="ctr">
            <a:normAutofit/>
          </a:bodyPr>
          <a:lstStyle/>
          <a:p>
            <a:pPr>
              <a:lnSpc>
                <a:spcPct val="90000"/>
              </a:lnSpc>
              <a:spcBef>
                <a:spcPct val="0"/>
              </a:spcBef>
            </a:pPr>
            <a:r>
              <a:rPr lang="en-US" sz="4400" b="1" kern="1200">
                <a:solidFill>
                  <a:schemeClr val="tx1"/>
                </a:solidFill>
                <a:latin typeface="+mj-lt"/>
                <a:ea typeface="+mj-ea"/>
                <a:cs typeface="+mj-cs"/>
              </a:rPr>
              <a:t>Evaluación de ACT-R</a:t>
            </a:r>
          </a:p>
        </p:txBody>
      </p:sp>
      <p:sp>
        <p:nvSpPr>
          <p:cNvPr id="3" name="Subtítulo 2"/>
          <p:cNvSpPr>
            <a:spLocks noGrp="1"/>
          </p:cNvSpPr>
          <p:nvPr>
            <p:ph type="subTitle" idx="1"/>
          </p:nvPr>
        </p:nvSpPr>
        <p:spPr>
          <a:xfrm>
            <a:off x="693042" y="2012413"/>
            <a:ext cx="8694540" cy="4796544"/>
          </a:xfrm>
        </p:spPr>
        <p:txBody>
          <a:bodyPr vert="horz" lIns="91440" tIns="45720" rIns="91440" bIns="45720" rtlCol="0">
            <a:normAutofit/>
          </a:bodyPr>
          <a:lstStyle/>
          <a:p>
            <a:pPr marL="457200"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No hay </a:t>
            </a:r>
            <a:r>
              <a:rPr lang="en-US" sz="2400" kern="1200" dirty="0" err="1">
                <a:solidFill>
                  <a:schemeClr val="tx1"/>
                </a:solidFill>
                <a:latin typeface="+mn-lt"/>
                <a:ea typeface="+mn-ea"/>
                <a:cs typeface="+mn-cs"/>
              </a:rPr>
              <a:t>una</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aceptación</a:t>
            </a:r>
            <a:r>
              <a:rPr lang="en-US" sz="2400" kern="1200" dirty="0">
                <a:solidFill>
                  <a:schemeClr val="tx1"/>
                </a:solidFill>
                <a:latin typeface="+mn-lt"/>
                <a:ea typeface="+mn-ea"/>
                <a:cs typeface="+mn-cs"/>
              </a:rPr>
              <a:t> general </a:t>
            </a:r>
            <a:r>
              <a:rPr lang="en-US" sz="2400" kern="1200" dirty="0" err="1">
                <a:solidFill>
                  <a:schemeClr val="tx1"/>
                </a:solidFill>
                <a:latin typeface="+mn-lt"/>
                <a:ea typeface="+mn-ea"/>
                <a:cs typeface="+mn-cs"/>
              </a:rPr>
              <a:t>en</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Ciencias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Cognitivas</a:t>
            </a:r>
            <a:r>
              <a:rPr lang="en-US" sz="2400" kern="1200" dirty="0">
                <a:solidFill>
                  <a:schemeClr val="tx1"/>
                </a:solidFill>
                <a:latin typeface="+mn-lt"/>
                <a:ea typeface="+mn-ea"/>
                <a:cs typeface="+mn-cs"/>
              </a:rPr>
              <a:t> de la idea de que la </a:t>
            </a:r>
            <a:r>
              <a:rPr lang="en-US" sz="2400" kern="1200" dirty="0" err="1">
                <a:solidFill>
                  <a:schemeClr val="tx1"/>
                </a:solidFill>
                <a:latin typeface="+mn-lt"/>
                <a:ea typeface="+mn-ea"/>
                <a:cs typeface="+mn-cs"/>
              </a:rPr>
              <a:t>arquitectura</a:t>
            </a:r>
            <a:r>
              <a:rPr lang="en-US" sz="2400" kern="1200" dirty="0">
                <a:solidFill>
                  <a:schemeClr val="tx1"/>
                </a:solidFill>
                <a:latin typeface="+mn-lt"/>
                <a:ea typeface="+mn-ea"/>
                <a:cs typeface="+mn-cs"/>
              </a:rPr>
              <a:t> ACT-R es </a:t>
            </a:r>
            <a:r>
              <a:rPr lang="en-US" sz="2400" kern="1200" dirty="0" err="1">
                <a:solidFill>
                  <a:schemeClr val="tx1"/>
                </a:solidFill>
                <a:latin typeface="+mn-lt"/>
                <a:ea typeface="+mn-ea"/>
                <a:cs typeface="+mn-cs"/>
              </a:rPr>
              <a:t>una</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teoría</a:t>
            </a:r>
            <a:r>
              <a:rPr lang="en-US" sz="2400" kern="1200" dirty="0">
                <a:solidFill>
                  <a:schemeClr val="tx1"/>
                </a:solidFill>
                <a:latin typeface="+mn-lt"/>
                <a:ea typeface="+mn-ea"/>
                <a:cs typeface="+mn-cs"/>
              </a:rPr>
              <a:t> general de la </a:t>
            </a:r>
            <a:r>
              <a:rPr lang="en-US" sz="2400" kern="1200" dirty="0" err="1">
                <a:solidFill>
                  <a:schemeClr val="tx1"/>
                </a:solidFill>
                <a:latin typeface="+mn-lt"/>
                <a:ea typeface="+mn-ea"/>
                <a:cs typeface="+mn-cs"/>
              </a:rPr>
              <a:t>inteligencia</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humana</a:t>
            </a:r>
            <a:endParaRPr lang="en-US" sz="2400"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Ha </a:t>
            </a:r>
            <a:r>
              <a:rPr lang="en-US" sz="2400" kern="1200" dirty="0" err="1">
                <a:solidFill>
                  <a:schemeClr val="tx1"/>
                </a:solidFill>
                <a:latin typeface="+mn-lt"/>
                <a:ea typeface="+mn-ea"/>
                <a:cs typeface="+mn-cs"/>
              </a:rPr>
              <a:t>tenido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éxito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en</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aplicaciones</a:t>
            </a:r>
            <a:r>
              <a:rPr lang="en-US" sz="2400" kern="1200" dirty="0">
                <a:solidFill>
                  <a:schemeClr val="tx1"/>
                </a:solidFill>
                <a:latin typeface="+mn-lt"/>
                <a:ea typeface="+mn-ea"/>
                <a:cs typeface="+mn-cs"/>
              </a:rPr>
              <a:t> de </a:t>
            </a:r>
            <a:r>
              <a:rPr lang="en-US" sz="2400" kern="1200" dirty="0" err="1">
                <a:solidFill>
                  <a:schemeClr val="tx1"/>
                </a:solidFill>
                <a:latin typeface="+mn-lt"/>
                <a:ea typeface="+mn-ea"/>
                <a:cs typeface="+mn-cs"/>
              </a:rPr>
              <a:t>nicho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entrenamiento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en</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solución</a:t>
            </a:r>
            <a:r>
              <a:rPr lang="en-US" sz="2400" kern="1200" dirty="0">
                <a:solidFill>
                  <a:schemeClr val="tx1"/>
                </a:solidFill>
                <a:latin typeface="+mn-lt"/>
                <a:ea typeface="+mn-ea"/>
                <a:cs typeface="+mn-cs"/>
              </a:rPr>
              <a:t> de </a:t>
            </a:r>
            <a:r>
              <a:rPr lang="en-US" sz="2400" kern="1200" dirty="0" err="1">
                <a:solidFill>
                  <a:schemeClr val="tx1"/>
                </a:solidFill>
                <a:latin typeface="+mn-lt"/>
                <a:ea typeface="+mn-ea"/>
                <a:cs typeface="+mn-cs"/>
              </a:rPr>
              <a:t>problemas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matemáticos</a:t>
            </a:r>
            <a:r>
              <a:rPr lang="en-US" sz="2400" kern="1200" dirty="0">
                <a:solidFill>
                  <a:schemeClr val="tx1"/>
                </a:solidFill>
                <a:latin typeface="+mn-lt"/>
                <a:ea typeface="+mn-ea"/>
                <a:cs typeface="+mn-cs"/>
              </a:rPr>
              <a:t>)</a:t>
            </a:r>
          </a:p>
          <a:p>
            <a:pPr marL="457200"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Ha </a:t>
            </a:r>
            <a:r>
              <a:rPr lang="en-US" sz="2400" kern="1200" dirty="0" err="1">
                <a:solidFill>
                  <a:schemeClr val="tx1"/>
                </a:solidFill>
                <a:latin typeface="+mn-lt"/>
                <a:ea typeface="+mn-ea"/>
                <a:cs typeface="+mn-cs"/>
              </a:rPr>
              <a:t>tenido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éxito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en</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el</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ámbito</a:t>
            </a:r>
            <a:r>
              <a:rPr lang="en-US" sz="2400" kern="1200" dirty="0">
                <a:solidFill>
                  <a:schemeClr val="tx1"/>
                </a:solidFill>
                <a:latin typeface="+mn-lt"/>
                <a:ea typeface="+mn-ea"/>
                <a:cs typeface="+mn-cs"/>
              </a:rPr>
              <a:t> experimental, </a:t>
            </a:r>
            <a:r>
              <a:rPr lang="en-US" sz="2400" kern="1200" dirty="0" err="1">
                <a:solidFill>
                  <a:schemeClr val="tx1"/>
                </a:solidFill>
                <a:latin typeface="+mn-lt"/>
                <a:ea typeface="+mn-ea"/>
                <a:cs typeface="+mn-cs"/>
              </a:rPr>
              <a:t>especialmente</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porque</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hace</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predicciones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específicas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sobre</a:t>
            </a:r>
            <a:r>
              <a:rPr lang="en-US" sz="2400" kern="1200" dirty="0">
                <a:solidFill>
                  <a:schemeClr val="tx1"/>
                </a:solidFill>
                <a:latin typeface="+mn-lt"/>
                <a:ea typeface="+mn-ea"/>
                <a:cs typeface="+mn-cs"/>
              </a:rPr>
              <a:t> la </a:t>
            </a:r>
            <a:r>
              <a:rPr lang="en-US" sz="2400" kern="1200" dirty="0" err="1">
                <a:solidFill>
                  <a:schemeClr val="tx1"/>
                </a:solidFill>
                <a:latin typeface="+mn-lt"/>
                <a:ea typeface="+mn-ea"/>
                <a:cs typeface="+mn-cs"/>
              </a:rPr>
              <a:t>implementación</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en</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el</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cerebro</a:t>
            </a:r>
            <a:endParaRPr lang="en-US" sz="2400" kern="1200" dirty="0">
              <a:solidFill>
                <a:schemeClr val="tx1"/>
              </a:solidFill>
              <a:latin typeface="+mn-lt"/>
              <a:ea typeface="+mn-ea"/>
              <a:cs typeface="+mn-cs"/>
            </a:endParaRPr>
          </a:p>
          <a:p>
            <a:pPr marL="457200" indent="-228600">
              <a:lnSpc>
                <a:spcPct val="90000"/>
              </a:lnSpc>
              <a:spcAft>
                <a:spcPts val="600"/>
              </a:spcAft>
              <a:buFont typeface="Arial" panose="020B0604020202020204" pitchFamily="34" charset="0"/>
              <a:buChar char="•"/>
            </a:pPr>
            <a:r>
              <a:rPr lang="en-US" sz="2400" kern="1200" dirty="0">
                <a:solidFill>
                  <a:schemeClr val="tx1"/>
                </a:solidFill>
                <a:latin typeface="+mn-lt"/>
                <a:ea typeface="+mn-ea"/>
                <a:cs typeface="+mn-cs"/>
              </a:rPr>
              <a:t>Es </a:t>
            </a:r>
            <a:r>
              <a:rPr lang="en-US" sz="2400" kern="1200" dirty="0" err="1">
                <a:solidFill>
                  <a:schemeClr val="tx1"/>
                </a:solidFill>
                <a:latin typeface="+mn-lt"/>
                <a:ea typeface="+mn-ea"/>
                <a:cs typeface="+mn-cs"/>
              </a:rPr>
              <a:t>caro</a:t>
            </a:r>
            <a:r>
              <a:rPr lang="en-US" sz="2400" kern="1200" dirty="0">
                <a:solidFill>
                  <a:schemeClr val="tx1"/>
                </a:solidFill>
                <a:latin typeface="+mn-lt"/>
                <a:ea typeface="+mn-ea"/>
                <a:cs typeface="+mn-cs"/>
              </a:rPr>
              <a:t> de </a:t>
            </a:r>
            <a:r>
              <a:rPr lang="en-US" sz="2400" kern="1200" dirty="0" err="1">
                <a:solidFill>
                  <a:schemeClr val="tx1"/>
                </a:solidFill>
                <a:latin typeface="+mn-lt"/>
                <a:ea typeface="+mn-ea"/>
                <a:cs typeface="+mn-cs"/>
              </a:rPr>
              <a:t>implementar</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porque</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requiere</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el</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trabajo</a:t>
            </a:r>
            <a:r>
              <a:rPr lang="en-US" sz="2400" kern="1200" dirty="0">
                <a:solidFill>
                  <a:schemeClr val="tx1"/>
                </a:solidFill>
                <a:latin typeface="+mn-lt"/>
                <a:ea typeface="+mn-ea"/>
                <a:cs typeface="+mn-cs"/>
              </a:rPr>
              <a:t> de formular </a:t>
            </a:r>
            <a:r>
              <a:rPr lang="en-US" sz="2400" kern="1200" dirty="0" err="1">
                <a:solidFill>
                  <a:schemeClr val="tx1"/>
                </a:solidFill>
                <a:latin typeface="+mn-lt"/>
                <a:ea typeface="+mn-ea"/>
                <a:cs typeface="+mn-cs"/>
              </a:rPr>
              <a:t>el</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sistema</a:t>
            </a:r>
            <a:r>
              <a:rPr lang="en-US" sz="2400" kern="1200" dirty="0">
                <a:solidFill>
                  <a:schemeClr val="tx1"/>
                </a:solidFill>
                <a:latin typeface="+mn-lt"/>
                <a:ea typeface="+mn-ea"/>
                <a:cs typeface="+mn-cs"/>
              </a:rPr>
              <a:t> de </a:t>
            </a:r>
            <a:r>
              <a:rPr lang="en-US" sz="2400" kern="1200" dirty="0" err="1">
                <a:solidFill>
                  <a:schemeClr val="tx1"/>
                </a:solidFill>
                <a:latin typeface="+mn-lt"/>
                <a:ea typeface="+mn-ea"/>
                <a:cs typeface="+mn-cs"/>
              </a:rPr>
              <a:t>reglas</a:t>
            </a:r>
            <a:r>
              <a:rPr lang="en-US" sz="2400" kern="1200" dirty="0">
                <a:solidFill>
                  <a:schemeClr val="tx1"/>
                </a:solidFill>
                <a:latin typeface="+mn-lt"/>
                <a:ea typeface="+mn-ea"/>
                <a:cs typeface="+mn-cs"/>
              </a:rPr>
              <a:t> y </a:t>
            </a:r>
            <a:r>
              <a:rPr lang="en-US" sz="2400" kern="1200" dirty="0" err="1">
                <a:solidFill>
                  <a:schemeClr val="tx1"/>
                </a:solidFill>
                <a:latin typeface="+mn-lt"/>
                <a:ea typeface="+mn-ea"/>
                <a:cs typeface="+mn-cs"/>
              </a:rPr>
              <a:t>cualquier</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problema</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realista</a:t>
            </a:r>
            <a:r>
              <a:rPr lang="en-US" sz="2400" kern="1200" dirty="0">
                <a:solidFill>
                  <a:schemeClr val="tx1"/>
                </a:solidFill>
                <a:latin typeface="+mn-lt"/>
                <a:ea typeface="+mn-ea"/>
                <a:cs typeface="+mn-cs"/>
              </a:rPr>
              <a:t> es </a:t>
            </a:r>
            <a:r>
              <a:rPr lang="en-US" sz="2400" kern="1200" dirty="0" err="1">
                <a:solidFill>
                  <a:schemeClr val="tx1"/>
                </a:solidFill>
                <a:latin typeface="+mn-lt"/>
                <a:ea typeface="+mn-ea"/>
                <a:cs typeface="+mn-cs"/>
              </a:rPr>
              <a:t>complejo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implica</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muchas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reglas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Incluso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problemas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pequeños</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como</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aprender</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ecuaciones</a:t>
            </a:r>
            <a:r>
              <a:rPr lang="en-US" sz="2400" kern="1200" dirty="0">
                <a:solidFill>
                  <a:schemeClr val="tx1"/>
                </a:solidFill>
                <a:latin typeface="+mn-lt"/>
                <a:ea typeface="+mn-ea"/>
                <a:cs typeface="+mn-cs"/>
              </a:rPr>
              <a:t>), son </a:t>
            </a:r>
            <a:r>
              <a:rPr lang="en-US" sz="2400" kern="1200" dirty="0" err="1">
                <a:solidFill>
                  <a:schemeClr val="tx1"/>
                </a:solidFill>
                <a:latin typeface="+mn-lt"/>
                <a:ea typeface="+mn-ea"/>
                <a:cs typeface="+mn-cs"/>
              </a:rPr>
              <a:t>muy</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complejos</a:t>
            </a:r>
            <a:r>
              <a:rPr lang="en-US" sz="2400" kern="1200" dirty="0">
                <a:solidFill>
                  <a:schemeClr val="tx1"/>
                </a:solidFill>
                <a:latin typeface="+mn-lt"/>
                <a:ea typeface="+mn-ea"/>
                <a:cs typeface="+mn-cs"/>
              </a:rPr>
              <a:t> de </a:t>
            </a:r>
            <a:r>
              <a:rPr lang="en-US" sz="2400" kern="1200" dirty="0" err="1">
                <a:solidFill>
                  <a:schemeClr val="tx1"/>
                </a:solidFill>
                <a:latin typeface="+mn-lt"/>
                <a:ea typeface="+mn-ea"/>
                <a:cs typeface="+mn-cs"/>
              </a:rPr>
              <a:t>implementar</a:t>
            </a:r>
            <a:r>
              <a:rPr lang="en-US" sz="2400" kern="1200" dirty="0">
                <a:solidFill>
                  <a:schemeClr val="tx1"/>
                </a:solidFill>
                <a:latin typeface="+mn-lt"/>
                <a:ea typeface="+mn-ea"/>
                <a:cs typeface="+mn-cs"/>
              </a:rPr>
              <a:t>.</a:t>
            </a:r>
          </a:p>
        </p:txBody>
      </p:sp>
    </p:spTree>
    <p:extLst>
      <p:ext uri="{BB962C8B-B14F-4D97-AF65-F5344CB8AC3E}">
        <p14:creationId xmlns:p14="http://schemas.microsoft.com/office/powerpoint/2010/main" val="121992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hincheta turquesa sobre un fondo rosa">
            <a:extLst>
              <a:ext uri="{FF2B5EF4-FFF2-40B4-BE49-F238E27FC236}">
                <a16:creationId xmlns:a16="http://schemas.microsoft.com/office/drawing/2014/main" id="{37A744D3-2BAA-8F61-653D-5838B8AE8777}"/>
              </a:ext>
            </a:extLst>
          </p:cNvPr>
          <p:cNvPicPr>
            <a:picLocks noChangeAspect="1"/>
          </p:cNvPicPr>
          <p:nvPr/>
        </p:nvPicPr>
        <p:blipFill rotWithShape="1">
          <a:blip r:embed="rId2"/>
          <a:srcRect t="4921" r="19203" b="4169"/>
          <a:stretch/>
        </p:blipFill>
        <p:spPr>
          <a:xfrm>
            <a:off x="20" y="10"/>
            <a:ext cx="10080605" cy="7559665"/>
          </a:xfrm>
          <a:prstGeom prst="rect">
            <a:avLst/>
          </a:prstGeom>
        </p:spPr>
      </p:pic>
      <p:sp>
        <p:nvSpPr>
          <p:cNvPr id="9" name="Rectangle 8">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4595" cy="7559675"/>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p:cNvSpPr>
            <a:spLocks noGrp="1"/>
          </p:cNvSpPr>
          <p:nvPr>
            <p:ph type="title"/>
          </p:nvPr>
        </p:nvSpPr>
        <p:spPr>
          <a:xfrm>
            <a:off x="693042" y="402482"/>
            <a:ext cx="8694540" cy="1461188"/>
          </a:xfrm>
        </p:spPr>
        <p:txBody>
          <a:bodyPr vert="horz" lIns="91440" tIns="45720" rIns="91440" bIns="45720" rtlCol="0" anchor="ctr">
            <a:normAutofit fontScale="90000"/>
          </a:bodyPr>
          <a:lstStyle/>
          <a:p>
            <a:pPr>
              <a:lnSpc>
                <a:spcPct val="90000"/>
              </a:lnSpc>
              <a:spcBef>
                <a:spcPct val="0"/>
              </a:spcBef>
            </a:pPr>
            <a:r>
              <a:rPr lang="en-US" sz="4400" b="1" kern="1200" dirty="0" err="1">
                <a:solidFill>
                  <a:schemeClr val="tx1"/>
                </a:solidFill>
                <a:latin typeface="+mj-lt"/>
                <a:ea typeface="+mj-ea"/>
                <a:cs typeface="+mj-cs"/>
              </a:rPr>
              <a:t>Resumen</a:t>
            </a:r>
            <a:r>
              <a:rPr lang="en-US" sz="4400" b="1" kern="1200" dirty="0">
                <a:solidFill>
                  <a:schemeClr val="tx1"/>
                </a:solidFill>
                <a:latin typeface="+mj-lt"/>
                <a:ea typeface="+mj-ea"/>
                <a:cs typeface="+mj-cs"/>
              </a:rPr>
              <a:t> </a:t>
            </a:r>
            <a:r>
              <a:rPr lang="en-US" sz="4400" b="1" kern="1200" dirty="0" err="1">
                <a:solidFill>
                  <a:schemeClr val="tx1"/>
                </a:solidFill>
                <a:latin typeface="+mj-lt"/>
                <a:ea typeface="+mj-ea"/>
                <a:cs typeface="+mj-cs"/>
              </a:rPr>
              <a:t>sobre</a:t>
            </a:r>
            <a:r>
              <a:rPr lang="en-US" sz="4400" b="1" kern="1200" dirty="0">
                <a:solidFill>
                  <a:schemeClr val="tx1"/>
                </a:solidFill>
                <a:latin typeface="+mj-lt"/>
                <a:ea typeface="+mj-ea"/>
                <a:cs typeface="+mj-cs"/>
              </a:rPr>
              <a:t> las Cs Cog, la IA y las </a:t>
            </a:r>
            <a:r>
              <a:rPr lang="en-US" sz="4400" b="1" kern="1200" dirty="0" err="1">
                <a:solidFill>
                  <a:schemeClr val="tx1"/>
                </a:solidFill>
                <a:latin typeface="+mj-lt"/>
                <a:ea typeface="+mj-ea"/>
                <a:cs typeface="+mj-cs"/>
              </a:rPr>
              <a:t>arquitecturas</a:t>
            </a:r>
            <a:r>
              <a:rPr lang="en-US" sz="4400" b="1" kern="1200" dirty="0">
                <a:solidFill>
                  <a:schemeClr val="tx1"/>
                </a:solidFill>
                <a:latin typeface="+mj-lt"/>
                <a:ea typeface="+mj-ea"/>
                <a:cs typeface="+mj-cs"/>
              </a:rPr>
              <a:t> </a:t>
            </a:r>
            <a:r>
              <a:rPr lang="en-US" sz="4400" b="1" kern="1200" dirty="0" err="1">
                <a:solidFill>
                  <a:schemeClr val="tx1"/>
                </a:solidFill>
                <a:latin typeface="+mj-lt"/>
                <a:ea typeface="+mj-ea"/>
                <a:cs typeface="+mj-cs"/>
              </a:rPr>
              <a:t>cognitivas</a:t>
            </a:r>
            <a:endParaRPr lang="en-US" sz="4400" b="1" kern="1200" dirty="0">
              <a:solidFill>
                <a:schemeClr val="tx1"/>
              </a:solidFill>
              <a:latin typeface="+mj-lt"/>
              <a:ea typeface="+mj-ea"/>
              <a:cs typeface="+mj-cs"/>
            </a:endParaRPr>
          </a:p>
        </p:txBody>
      </p:sp>
      <p:sp>
        <p:nvSpPr>
          <p:cNvPr id="3" name="Subtítulo 2"/>
          <p:cNvSpPr>
            <a:spLocks noGrp="1"/>
          </p:cNvSpPr>
          <p:nvPr>
            <p:ph type="subTitle" idx="1"/>
          </p:nvPr>
        </p:nvSpPr>
        <p:spPr>
          <a:xfrm>
            <a:off x="693041" y="2012413"/>
            <a:ext cx="9046381" cy="5144780"/>
          </a:xfrm>
        </p:spPr>
        <p:txBody>
          <a:bodyPr vert="horz" lIns="91440" tIns="45720" rIns="91440" bIns="45720" rtlCol="0">
            <a:normAutofit/>
          </a:bodyPr>
          <a:lstStyle/>
          <a:p>
            <a:pPr marL="514350" indent="-228600">
              <a:lnSpc>
                <a:spcPct val="90000"/>
              </a:lnSpc>
              <a:spcAft>
                <a:spcPts val="600"/>
              </a:spcAft>
              <a:buFont typeface="Arial" panose="020B0604020202020204" pitchFamily="34" charset="0"/>
              <a:buChar char="•"/>
            </a:pPr>
            <a:r>
              <a:rPr lang="en-US" sz="2000" kern="1200" dirty="0">
                <a:solidFill>
                  <a:schemeClr val="tx1"/>
                </a:solidFill>
                <a:latin typeface="+mn-lt"/>
                <a:ea typeface="+mn-ea"/>
                <a:cs typeface="+mn-cs"/>
              </a:rPr>
              <a:t>Los </a:t>
            </a:r>
            <a:r>
              <a:rPr lang="en-US" sz="2000" kern="1200" dirty="0" err="1">
                <a:solidFill>
                  <a:schemeClr val="tx1"/>
                </a:solidFill>
                <a:latin typeface="+mn-lt"/>
                <a:ea typeface="+mn-ea"/>
                <a:cs typeface="+mn-cs"/>
              </a:rPr>
              <a:t>objetivos</a:t>
            </a:r>
            <a:r>
              <a:rPr lang="en-US" sz="2000" kern="1200" dirty="0">
                <a:solidFill>
                  <a:schemeClr val="tx1"/>
                </a:solidFill>
                <a:latin typeface="+mn-lt"/>
                <a:ea typeface="+mn-ea"/>
                <a:cs typeface="+mn-cs"/>
              </a:rPr>
              <a:t> de la IA </a:t>
            </a:r>
            <a:r>
              <a:rPr lang="en-US" sz="2000" kern="1200" dirty="0" err="1">
                <a:solidFill>
                  <a:schemeClr val="tx1"/>
                </a:solidFill>
                <a:latin typeface="+mn-lt"/>
                <a:ea typeface="+mn-ea"/>
                <a:cs typeface="+mn-cs"/>
              </a:rPr>
              <a:t>inicial</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eran</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simular</a:t>
            </a:r>
            <a:r>
              <a:rPr lang="en-US" sz="2000" kern="1200" dirty="0">
                <a:solidFill>
                  <a:schemeClr val="tx1"/>
                </a:solidFill>
                <a:latin typeface="+mn-lt"/>
                <a:ea typeface="+mn-ea"/>
                <a:cs typeface="+mn-cs"/>
              </a:rPr>
              <a:t> la </a:t>
            </a:r>
            <a:r>
              <a:rPr lang="en-US" sz="2000" kern="1200" dirty="0" err="1">
                <a:solidFill>
                  <a:schemeClr val="tx1"/>
                </a:solidFill>
                <a:latin typeface="+mn-lt"/>
                <a:ea typeface="+mn-ea"/>
                <a:cs typeface="+mn-cs"/>
              </a:rPr>
              <a:t>inteligencia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humana</a:t>
            </a:r>
            <a:r>
              <a:rPr lang="en-US" sz="2000" kern="1200" dirty="0">
                <a:solidFill>
                  <a:schemeClr val="tx1"/>
                </a:solidFill>
                <a:latin typeface="+mn-lt"/>
                <a:ea typeface="+mn-ea"/>
                <a:cs typeface="+mn-cs"/>
              </a:rPr>
              <a:t> (general).</a:t>
            </a:r>
          </a:p>
          <a:p>
            <a:pPr marL="514350" indent="-228600">
              <a:lnSpc>
                <a:spcPct val="90000"/>
              </a:lnSpc>
              <a:spcAft>
                <a:spcPts val="600"/>
              </a:spcAft>
              <a:buFont typeface="Arial" panose="020B0604020202020204" pitchFamily="34" charset="0"/>
              <a:buChar char="•"/>
            </a:pPr>
            <a:r>
              <a:rPr lang="en-US" sz="2000" kern="1200" dirty="0">
                <a:solidFill>
                  <a:schemeClr val="tx1"/>
                </a:solidFill>
                <a:latin typeface="+mn-lt"/>
                <a:ea typeface="+mn-ea"/>
                <a:cs typeface="+mn-cs"/>
              </a:rPr>
              <a:t>Los </a:t>
            </a:r>
            <a:r>
              <a:rPr lang="en-US" sz="2000" kern="1200" dirty="0" err="1">
                <a:solidFill>
                  <a:schemeClr val="tx1"/>
                </a:solidFill>
                <a:latin typeface="+mn-lt"/>
                <a:ea typeface="+mn-ea"/>
                <a:cs typeface="+mn-cs"/>
              </a:rPr>
              <a:t>objetivos</a:t>
            </a:r>
            <a:r>
              <a:rPr lang="en-US" sz="2000" kern="1200" dirty="0">
                <a:solidFill>
                  <a:schemeClr val="tx1"/>
                </a:solidFill>
                <a:latin typeface="+mn-lt"/>
                <a:ea typeface="+mn-ea"/>
                <a:cs typeface="+mn-cs"/>
              </a:rPr>
              <a:t> de la IA </a:t>
            </a:r>
            <a:r>
              <a:rPr lang="en-US" sz="2000" kern="1200" dirty="0" err="1">
                <a:solidFill>
                  <a:schemeClr val="tx1"/>
                </a:solidFill>
                <a:latin typeface="+mn-lt"/>
                <a:ea typeface="+mn-ea"/>
                <a:cs typeface="+mn-cs"/>
              </a:rPr>
              <a:t>han</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derivado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hacia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el</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desarrollo</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inteligencia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en</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tareas</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específicas</a:t>
            </a:r>
            <a:r>
              <a:rPr lang="en-US" sz="2000" kern="1200" dirty="0">
                <a:solidFill>
                  <a:schemeClr val="tx1"/>
                </a:solidFill>
                <a:latin typeface="+mn-lt"/>
                <a:ea typeface="+mn-ea"/>
                <a:cs typeface="+mn-cs"/>
              </a:rPr>
              <a:t>, no </a:t>
            </a:r>
            <a:r>
              <a:rPr lang="en-US" sz="2000" kern="1200" dirty="0" err="1">
                <a:solidFill>
                  <a:schemeClr val="tx1"/>
                </a:solidFill>
                <a:latin typeface="+mn-lt"/>
                <a:ea typeface="+mn-ea"/>
                <a:cs typeface="+mn-cs"/>
              </a:rPr>
              <a:t>necesariamente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similares</a:t>
            </a:r>
            <a:r>
              <a:rPr lang="en-US" sz="2000" kern="1200" dirty="0">
                <a:solidFill>
                  <a:schemeClr val="tx1"/>
                </a:solidFill>
                <a:latin typeface="+mn-lt"/>
                <a:ea typeface="+mn-ea"/>
                <a:cs typeface="+mn-cs"/>
              </a:rPr>
              <a:t> a la </a:t>
            </a:r>
            <a:r>
              <a:rPr lang="en-US" sz="2000" kern="1200" dirty="0" err="1">
                <a:solidFill>
                  <a:schemeClr val="tx1"/>
                </a:solidFill>
                <a:latin typeface="+mn-lt"/>
                <a:ea typeface="+mn-ea"/>
                <a:cs typeface="+mn-cs"/>
              </a:rPr>
              <a:t>inteligencia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humana</a:t>
            </a:r>
            <a:r>
              <a:rPr lang="en-US" sz="2000" kern="1200" dirty="0">
                <a:solidFill>
                  <a:schemeClr val="tx1"/>
                </a:solidFill>
                <a:latin typeface="+mn-lt"/>
                <a:ea typeface="+mn-ea"/>
                <a:cs typeface="+mn-cs"/>
              </a:rPr>
              <a:t>.</a:t>
            </a:r>
          </a:p>
          <a:p>
            <a:pPr marL="514350" indent="-228600">
              <a:lnSpc>
                <a:spcPct val="90000"/>
              </a:lnSpc>
              <a:spcAft>
                <a:spcPts val="600"/>
              </a:spcAft>
              <a:buFont typeface="Arial" panose="020B0604020202020204" pitchFamily="34" charset="0"/>
              <a:buChar char="•"/>
            </a:pPr>
            <a:r>
              <a:rPr lang="en-US" sz="2000" kern="1200" dirty="0">
                <a:solidFill>
                  <a:schemeClr val="tx1"/>
                </a:solidFill>
                <a:latin typeface="+mn-lt"/>
                <a:ea typeface="+mn-ea"/>
                <a:cs typeface="+mn-cs"/>
              </a:rPr>
              <a:t>La </a:t>
            </a:r>
            <a:r>
              <a:rPr lang="en-US" sz="2000" kern="1200" dirty="0" err="1">
                <a:solidFill>
                  <a:schemeClr val="tx1"/>
                </a:solidFill>
                <a:latin typeface="+mn-lt"/>
                <a:ea typeface="+mn-ea"/>
                <a:cs typeface="+mn-cs"/>
              </a:rPr>
              <a:t>inteligencia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humana</a:t>
            </a:r>
            <a:r>
              <a:rPr lang="en-US" sz="2000" kern="1200" dirty="0">
                <a:solidFill>
                  <a:schemeClr val="tx1"/>
                </a:solidFill>
                <a:latin typeface="+mn-lt"/>
                <a:ea typeface="+mn-ea"/>
                <a:cs typeface="+mn-cs"/>
              </a:rPr>
              <a:t> ha </a:t>
            </a:r>
            <a:r>
              <a:rPr lang="en-US" sz="2000" kern="1200" dirty="0" err="1">
                <a:solidFill>
                  <a:schemeClr val="tx1"/>
                </a:solidFill>
                <a:latin typeface="+mn-lt"/>
                <a:ea typeface="+mn-ea"/>
                <a:cs typeface="+mn-cs"/>
              </a:rPr>
              <a:t>sido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difícil</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definir</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pero</a:t>
            </a:r>
            <a:r>
              <a:rPr lang="en-US" sz="2000" kern="1200" dirty="0">
                <a:solidFill>
                  <a:schemeClr val="tx1"/>
                </a:solidFill>
                <a:latin typeface="+mn-lt"/>
                <a:ea typeface="+mn-ea"/>
                <a:cs typeface="+mn-cs"/>
              </a:rPr>
              <a:t> la </a:t>
            </a:r>
            <a:r>
              <a:rPr lang="en-US" sz="2000" kern="1200" dirty="0" err="1">
                <a:solidFill>
                  <a:schemeClr val="tx1"/>
                </a:solidFill>
                <a:latin typeface="+mn-lt"/>
                <a:ea typeface="+mn-ea"/>
                <a:cs typeface="+mn-cs"/>
              </a:rPr>
              <a:t>relación</a:t>
            </a:r>
            <a:r>
              <a:rPr lang="en-US" sz="2000" kern="1200" dirty="0">
                <a:solidFill>
                  <a:schemeClr val="tx1"/>
                </a:solidFill>
                <a:latin typeface="+mn-lt"/>
                <a:ea typeface="+mn-ea"/>
                <a:cs typeface="+mn-cs"/>
              </a:rPr>
              <a:t> entre Memoria de </a:t>
            </a:r>
            <a:r>
              <a:rPr lang="en-US" sz="2000" kern="1200" dirty="0" err="1">
                <a:solidFill>
                  <a:schemeClr val="tx1"/>
                </a:solidFill>
                <a:latin typeface="+mn-lt"/>
                <a:ea typeface="+mn-ea"/>
                <a:cs typeface="+mn-cs"/>
              </a:rPr>
              <a:t>Trabajo</a:t>
            </a:r>
            <a:r>
              <a:rPr lang="en-US" sz="2000" kern="1200" dirty="0">
                <a:solidFill>
                  <a:schemeClr val="tx1"/>
                </a:solidFill>
                <a:latin typeface="+mn-lt"/>
                <a:ea typeface="+mn-ea"/>
                <a:cs typeface="+mn-cs"/>
              </a:rPr>
              <a:t> y Memoria de Largo </a:t>
            </a:r>
            <a:r>
              <a:rPr lang="en-US" sz="2000" kern="1200" dirty="0" err="1">
                <a:solidFill>
                  <a:schemeClr val="tx1"/>
                </a:solidFill>
                <a:latin typeface="+mn-lt"/>
                <a:ea typeface="+mn-ea"/>
                <a:cs typeface="+mn-cs"/>
              </a:rPr>
              <a:t>Plazo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parece</a:t>
            </a:r>
            <a:r>
              <a:rPr lang="en-US" sz="2000" kern="1200" dirty="0">
                <a:solidFill>
                  <a:schemeClr val="tx1"/>
                </a:solidFill>
                <a:latin typeface="+mn-lt"/>
                <a:ea typeface="+mn-ea"/>
                <a:cs typeface="+mn-cs"/>
              </a:rPr>
              <a:t> central.</a:t>
            </a:r>
          </a:p>
          <a:p>
            <a:pPr marL="514350" indent="-228600">
              <a:lnSpc>
                <a:spcPct val="90000"/>
              </a:lnSpc>
              <a:spcAft>
                <a:spcPts val="600"/>
              </a:spcAft>
              <a:buFont typeface="Arial" panose="020B0604020202020204" pitchFamily="34" charset="0"/>
              <a:buChar char="•"/>
            </a:pPr>
            <a:r>
              <a:rPr lang="en-US" sz="2000" kern="1200" dirty="0">
                <a:solidFill>
                  <a:schemeClr val="tx1"/>
                </a:solidFill>
                <a:latin typeface="+mn-lt"/>
                <a:ea typeface="+mn-ea"/>
                <a:cs typeface="+mn-cs"/>
              </a:rPr>
              <a:t>Esta idea ha </a:t>
            </a:r>
            <a:r>
              <a:rPr lang="en-US" sz="2000" kern="1200" dirty="0" err="1">
                <a:solidFill>
                  <a:schemeClr val="tx1"/>
                </a:solidFill>
                <a:latin typeface="+mn-lt"/>
                <a:ea typeface="+mn-ea"/>
                <a:cs typeface="+mn-cs"/>
              </a:rPr>
              <a:t>sido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crítica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en</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el</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desarrollo</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arquitecturas</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cognitivas</a:t>
            </a:r>
            <a:r>
              <a:rPr lang="en-US" sz="2000" kern="1200" dirty="0">
                <a:solidFill>
                  <a:schemeClr val="tx1"/>
                </a:solidFill>
                <a:latin typeface="+mn-lt"/>
                <a:ea typeface="+mn-ea"/>
                <a:cs typeface="+mn-cs"/>
              </a:rPr>
              <a:t> que </a:t>
            </a:r>
            <a:r>
              <a:rPr lang="en-US" sz="2000" kern="1200" dirty="0" err="1">
                <a:solidFill>
                  <a:schemeClr val="tx1"/>
                </a:solidFill>
                <a:latin typeface="+mn-lt"/>
                <a:ea typeface="+mn-ea"/>
                <a:cs typeface="+mn-cs"/>
              </a:rPr>
              <a:t>pretenden</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capturar</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aspectos</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generales</a:t>
            </a:r>
            <a:r>
              <a:rPr lang="en-US" sz="2000" kern="1200" dirty="0">
                <a:solidFill>
                  <a:schemeClr val="tx1"/>
                </a:solidFill>
                <a:latin typeface="+mn-lt"/>
                <a:ea typeface="+mn-ea"/>
                <a:cs typeface="+mn-cs"/>
              </a:rPr>
              <a:t> de la </a:t>
            </a:r>
            <a:r>
              <a:rPr lang="en-US" sz="2000" kern="1200" dirty="0" err="1">
                <a:solidFill>
                  <a:schemeClr val="tx1"/>
                </a:solidFill>
                <a:latin typeface="+mn-lt"/>
                <a:ea typeface="+mn-ea"/>
                <a:cs typeface="+mn-cs"/>
              </a:rPr>
              <a:t>inteligencia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humana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por</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ejemplo</a:t>
            </a:r>
            <a:r>
              <a:rPr lang="en-US" sz="2000" kern="1200" dirty="0">
                <a:solidFill>
                  <a:schemeClr val="tx1"/>
                </a:solidFill>
                <a:latin typeface="+mn-lt"/>
                <a:ea typeface="+mn-ea"/>
                <a:cs typeface="+mn-cs"/>
              </a:rPr>
              <a:t>, SOAR, ACT-R).</a:t>
            </a:r>
          </a:p>
          <a:p>
            <a:pPr marL="514350" indent="-228600">
              <a:lnSpc>
                <a:spcPct val="90000"/>
              </a:lnSpc>
              <a:spcAft>
                <a:spcPts val="600"/>
              </a:spcAft>
              <a:buFont typeface="Arial" panose="020B0604020202020204" pitchFamily="34" charset="0"/>
              <a:buChar char="•"/>
            </a:pPr>
            <a:r>
              <a:rPr lang="en-US" sz="2000" kern="1200" dirty="0">
                <a:solidFill>
                  <a:schemeClr val="tx1"/>
                </a:solidFill>
                <a:latin typeface="+mn-lt"/>
                <a:ea typeface="+mn-ea"/>
                <a:cs typeface="+mn-cs"/>
              </a:rPr>
              <a:t>La </a:t>
            </a:r>
            <a:r>
              <a:rPr lang="en-US" sz="2000" kern="1200" dirty="0" err="1">
                <a:solidFill>
                  <a:schemeClr val="tx1"/>
                </a:solidFill>
                <a:latin typeface="+mn-lt"/>
                <a:ea typeface="+mn-ea"/>
                <a:cs typeface="+mn-cs"/>
              </a:rPr>
              <a:t>aplicación</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estas</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arquitecturas</a:t>
            </a:r>
            <a:r>
              <a:rPr lang="en-US" sz="2000" kern="1200" dirty="0">
                <a:solidFill>
                  <a:schemeClr val="tx1"/>
                </a:solidFill>
                <a:latin typeface="+mn-lt"/>
                <a:ea typeface="+mn-ea"/>
                <a:cs typeface="+mn-cs"/>
              </a:rPr>
              <a:t> a </a:t>
            </a:r>
            <a:r>
              <a:rPr lang="en-US" sz="2000" kern="1200" dirty="0" err="1">
                <a:solidFill>
                  <a:schemeClr val="tx1"/>
                </a:solidFill>
                <a:latin typeface="+mn-lt"/>
                <a:ea typeface="+mn-ea"/>
                <a:cs typeface="+mn-cs"/>
              </a:rPr>
              <a:t>problemas</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prácticos</a:t>
            </a:r>
            <a:r>
              <a:rPr lang="en-US" sz="2000" kern="1200" dirty="0">
                <a:solidFill>
                  <a:schemeClr val="tx1"/>
                </a:solidFill>
                <a:latin typeface="+mn-lt"/>
                <a:ea typeface="+mn-ea"/>
                <a:cs typeface="+mn-cs"/>
              </a:rPr>
              <a:t> se ha visto </a:t>
            </a:r>
            <a:r>
              <a:rPr lang="en-US" sz="2000" kern="1200" dirty="0" err="1">
                <a:solidFill>
                  <a:schemeClr val="tx1"/>
                </a:solidFill>
                <a:latin typeface="+mn-lt"/>
                <a:ea typeface="+mn-ea"/>
                <a:cs typeface="+mn-cs"/>
              </a:rPr>
              <a:t>limitada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por</a:t>
            </a:r>
            <a:r>
              <a:rPr lang="en-US" sz="2000" kern="1200" dirty="0">
                <a:solidFill>
                  <a:schemeClr val="tx1"/>
                </a:solidFill>
                <a:latin typeface="+mn-lt"/>
                <a:ea typeface="+mn-ea"/>
                <a:cs typeface="+mn-cs"/>
              </a:rPr>
              <a:t>:</a:t>
            </a:r>
          </a:p>
          <a:p>
            <a:pPr marL="971550" lvl="1" indent="-228600">
              <a:lnSpc>
                <a:spcPct val="90000"/>
              </a:lnSpc>
              <a:spcAft>
                <a:spcPts val="600"/>
              </a:spcAft>
              <a:buFont typeface="Arial" panose="020B0604020202020204" pitchFamily="34" charset="0"/>
              <a:buChar char="•"/>
            </a:pPr>
            <a:r>
              <a:rPr lang="en-US" sz="2000" kern="1200" dirty="0">
                <a:solidFill>
                  <a:schemeClr val="tx1"/>
                </a:solidFill>
                <a:latin typeface="+mn-lt"/>
                <a:ea typeface="+mn-ea"/>
                <a:cs typeface="+mn-cs"/>
              </a:rPr>
              <a:t>La </a:t>
            </a:r>
            <a:r>
              <a:rPr lang="en-US" sz="2000" kern="1200" dirty="0" err="1">
                <a:solidFill>
                  <a:schemeClr val="tx1"/>
                </a:solidFill>
                <a:latin typeface="+mn-lt"/>
                <a:ea typeface="+mn-ea"/>
                <a:cs typeface="+mn-cs"/>
              </a:rPr>
              <a:t>relativamente</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limitada</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necesidad</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simular</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inteligencia</a:t>
            </a:r>
            <a:r>
              <a:rPr lang="en-US" sz="2000" kern="1200" dirty="0">
                <a:solidFill>
                  <a:schemeClr val="tx1"/>
                </a:solidFill>
                <a:latin typeface="+mn-lt"/>
                <a:ea typeface="+mn-ea"/>
                <a:cs typeface="+mn-cs"/>
              </a:rPr>
              <a:t> de </a:t>
            </a:r>
            <a:r>
              <a:rPr lang="en-US" sz="2000" kern="1200" dirty="0" err="1">
                <a:solidFill>
                  <a:schemeClr val="tx1"/>
                </a:solidFill>
                <a:latin typeface="+mn-lt"/>
                <a:ea typeface="+mn-ea"/>
                <a:cs typeface="+mn-cs"/>
              </a:rPr>
              <a:t>nivel</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humano</a:t>
            </a:r>
            <a:r>
              <a:rPr lang="en-US" sz="2000" kern="1200" dirty="0">
                <a:solidFill>
                  <a:schemeClr val="tx1"/>
                </a:solidFill>
                <a:latin typeface="+mn-lt"/>
                <a:ea typeface="+mn-ea"/>
                <a:cs typeface="+mn-cs"/>
              </a:rPr>
              <a:t>.</a:t>
            </a:r>
          </a:p>
          <a:p>
            <a:pPr marL="971550" lvl="1" indent="-228600">
              <a:lnSpc>
                <a:spcPct val="90000"/>
              </a:lnSpc>
              <a:spcAft>
                <a:spcPts val="600"/>
              </a:spcAft>
              <a:buFont typeface="Arial" panose="020B0604020202020204" pitchFamily="34" charset="0"/>
              <a:buChar char="•"/>
            </a:pPr>
            <a:r>
              <a:rPr lang="en-US" sz="2000" kern="1200" dirty="0">
                <a:solidFill>
                  <a:schemeClr val="tx1"/>
                </a:solidFill>
                <a:latin typeface="+mn-lt"/>
                <a:ea typeface="+mn-ea"/>
                <a:cs typeface="+mn-cs"/>
              </a:rPr>
              <a:t>El </a:t>
            </a:r>
            <a:r>
              <a:rPr lang="en-US" sz="2000" kern="1200" dirty="0" err="1">
                <a:solidFill>
                  <a:schemeClr val="tx1"/>
                </a:solidFill>
                <a:latin typeface="+mn-lt"/>
                <a:ea typeface="+mn-ea"/>
                <a:cs typeface="+mn-cs"/>
              </a:rPr>
              <a:t>costo</a:t>
            </a:r>
            <a:r>
              <a:rPr lang="en-US" sz="2000" kern="1200" dirty="0">
                <a:solidFill>
                  <a:schemeClr val="tx1"/>
                </a:solidFill>
                <a:latin typeface="+mn-lt"/>
                <a:ea typeface="+mn-ea"/>
                <a:cs typeface="+mn-cs"/>
              </a:rPr>
              <a:t> </a:t>
            </a:r>
            <a:r>
              <a:rPr lang="en-US" sz="2000" kern="1200" dirty="0" err="1">
                <a:solidFill>
                  <a:schemeClr val="tx1"/>
                </a:solidFill>
                <a:latin typeface="+mn-lt"/>
                <a:ea typeface="+mn-ea"/>
                <a:cs typeface="+mn-cs"/>
              </a:rPr>
              <a:t>asociado</a:t>
            </a:r>
            <a:r>
              <a:rPr lang="en-US" sz="2000" kern="1200" dirty="0">
                <a:solidFill>
                  <a:schemeClr val="tx1"/>
                </a:solidFill>
                <a:latin typeface="+mn-lt"/>
                <a:ea typeface="+mn-ea"/>
                <a:cs typeface="+mn-cs"/>
              </a:rPr>
              <a:t> al </a:t>
            </a:r>
            <a:r>
              <a:rPr lang="en-US" sz="2000" kern="1200" dirty="0" err="1">
                <a:solidFill>
                  <a:schemeClr val="tx1"/>
                </a:solidFill>
                <a:latin typeface="+mn-lt"/>
                <a:ea typeface="+mn-ea"/>
                <a:cs typeface="+mn-cs"/>
              </a:rPr>
              <a:t>desarrollo</a:t>
            </a:r>
            <a:r>
              <a:rPr lang="en-US" sz="2000" kern="1200" dirty="0">
                <a:solidFill>
                  <a:schemeClr val="tx1"/>
                </a:solidFill>
                <a:latin typeface="+mn-lt"/>
                <a:ea typeface="+mn-ea"/>
                <a:cs typeface="+mn-cs"/>
              </a:rPr>
              <a:t> de las </a:t>
            </a:r>
            <a:r>
              <a:rPr lang="en-US" sz="2000" kern="1200" dirty="0" err="1">
                <a:solidFill>
                  <a:schemeClr val="tx1"/>
                </a:solidFill>
                <a:latin typeface="+mn-lt"/>
                <a:ea typeface="+mn-ea"/>
                <a:cs typeface="+mn-cs"/>
              </a:rPr>
              <a:t>reglas</a:t>
            </a:r>
            <a:r>
              <a:rPr lang="en-US" sz="2000" kern="1200" dirty="0">
                <a:solidFill>
                  <a:schemeClr val="tx1"/>
                </a:solidFill>
                <a:latin typeface="+mn-lt"/>
                <a:ea typeface="+mn-ea"/>
                <a:cs typeface="+mn-cs"/>
              </a:rPr>
              <a:t> para </a:t>
            </a:r>
            <a:r>
              <a:rPr lang="en-US" sz="2000" kern="1200" dirty="0" err="1">
                <a:solidFill>
                  <a:schemeClr val="tx1"/>
                </a:solidFill>
                <a:latin typeface="+mn-lt"/>
                <a:ea typeface="+mn-ea"/>
                <a:cs typeface="+mn-cs"/>
              </a:rPr>
              <a:t>poblar</a:t>
            </a:r>
            <a:r>
              <a:rPr lang="en-US" sz="2000" kern="1200" dirty="0">
                <a:solidFill>
                  <a:schemeClr val="tx1"/>
                </a:solidFill>
                <a:latin typeface="+mn-lt"/>
                <a:ea typeface="+mn-ea"/>
                <a:cs typeface="+mn-cs"/>
              </a:rPr>
              <a:t> la Memoria de Largo </a:t>
            </a:r>
            <a:r>
              <a:rPr lang="en-US" sz="2000" kern="1200" dirty="0" err="1">
                <a:solidFill>
                  <a:schemeClr val="tx1"/>
                </a:solidFill>
                <a:latin typeface="+mn-lt"/>
                <a:ea typeface="+mn-ea"/>
                <a:cs typeface="+mn-cs"/>
              </a:rPr>
              <a:t>Plazo</a:t>
            </a:r>
            <a:r>
              <a:rPr lang="en-US" sz="2000" kern="1200" dirty="0">
                <a:solidFill>
                  <a:schemeClr val="tx1"/>
                </a:solidFill>
                <a:latin typeface="+mn-lt"/>
                <a:ea typeface="+mn-ea"/>
                <a:cs typeface="+mn-cs"/>
              </a:rPr>
              <a:t>.</a:t>
            </a:r>
          </a:p>
          <a:p>
            <a:pPr marL="514350" indent="-228600">
              <a:lnSpc>
                <a:spcPct val="90000"/>
              </a:lnSpc>
              <a:spcAft>
                <a:spcPts val="600"/>
              </a:spcAft>
              <a:buFont typeface="Arial" panose="020B0604020202020204" pitchFamily="34" charset="0"/>
              <a:buChar char="•"/>
            </a:pPr>
            <a:endParaRPr lang="en-US" kern="1200" dirty="0">
              <a:solidFill>
                <a:schemeClr val="tx1"/>
              </a:solidFill>
              <a:latin typeface="+mn-lt"/>
              <a:ea typeface="+mn-ea"/>
              <a:cs typeface="+mn-cs"/>
            </a:endParaRPr>
          </a:p>
        </p:txBody>
      </p:sp>
    </p:spTree>
    <p:extLst>
      <p:ext uri="{BB962C8B-B14F-4D97-AF65-F5344CB8AC3E}">
        <p14:creationId xmlns:p14="http://schemas.microsoft.com/office/powerpoint/2010/main" val="2375526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C0259-A598-BB68-FF85-A3AB62D6B3FB}"/>
              </a:ext>
            </a:extLst>
          </p:cNvPr>
          <p:cNvSpPr>
            <a:spLocks noGrp="1"/>
          </p:cNvSpPr>
          <p:nvPr>
            <p:ph type="title"/>
          </p:nvPr>
        </p:nvSpPr>
        <p:spPr>
          <a:xfrm>
            <a:off x="504000" y="301319"/>
            <a:ext cx="9071640" cy="730039"/>
          </a:xfrm>
        </p:spPr>
        <p:txBody>
          <a:bodyPr/>
          <a:lstStyle/>
          <a:p>
            <a:pPr algn="ctr"/>
            <a:r>
              <a:rPr lang="es-CL" sz="2800" b="1" dirty="0"/>
              <a:t>Actividad grupal (15 min)</a:t>
            </a:r>
          </a:p>
        </p:txBody>
      </p:sp>
      <p:sp>
        <p:nvSpPr>
          <p:cNvPr id="4" name="Marcador de texto 3">
            <a:extLst>
              <a:ext uri="{FF2B5EF4-FFF2-40B4-BE49-F238E27FC236}">
                <a16:creationId xmlns:a16="http://schemas.microsoft.com/office/drawing/2014/main" id="{181B3776-CE41-BC74-9D51-564C0C589ED2}"/>
              </a:ext>
            </a:extLst>
          </p:cNvPr>
          <p:cNvSpPr>
            <a:spLocks noGrp="1"/>
          </p:cNvSpPr>
          <p:nvPr>
            <p:ph type="body" idx="2"/>
          </p:nvPr>
        </p:nvSpPr>
        <p:spPr>
          <a:xfrm>
            <a:off x="504000" y="1031358"/>
            <a:ext cx="8974927" cy="6262577"/>
          </a:xfrm>
        </p:spPr>
        <p:txBody>
          <a:bodyPr/>
          <a:lstStyle/>
          <a:p>
            <a:pPr marL="0" indent="0" algn="l" rtl="0">
              <a:buNone/>
            </a:pPr>
            <a:r>
              <a:rPr lang="es-ES" sz="1800" b="1" dirty="0">
                <a:solidFill>
                  <a:srgbClr val="000000"/>
                </a:solidFill>
                <a:effectLst/>
                <a:latin typeface="Arial" panose="020B0604020202020204" pitchFamily="34" charset="0"/>
              </a:rPr>
              <a:t>"Sistema de Aprobación de Créditos con Reglas tipo SOAR/ACT-R“</a:t>
            </a:r>
          </a:p>
          <a:p>
            <a:pPr marL="0" indent="0" algn="l" rtl="0">
              <a:buNone/>
            </a:pPr>
            <a:endParaRPr lang="es-ES" b="1" dirty="0">
              <a:latin typeface="Arial" panose="020B0604020202020204" pitchFamily="34" charset="0"/>
            </a:endParaRPr>
          </a:p>
          <a:p>
            <a:pPr marL="0" indent="0" algn="l" rtl="0">
              <a:buNone/>
            </a:pPr>
            <a:r>
              <a:rPr lang="es-ES" b="1" dirty="0">
                <a:latin typeface="Arial" panose="020B0604020202020204" pitchFamily="34" charset="0"/>
              </a:rPr>
              <a:t>Meta</a:t>
            </a:r>
            <a:r>
              <a:rPr lang="es-ES" sz="1800" b="1" dirty="0">
                <a:solidFill>
                  <a:srgbClr val="000000"/>
                </a:solidFill>
                <a:effectLst/>
                <a:latin typeface="Arial" panose="020B0604020202020204" pitchFamily="34" charset="0"/>
              </a:rPr>
              <a:t>:</a:t>
            </a:r>
            <a:r>
              <a:rPr lang="es-ES" sz="1800" dirty="0">
                <a:solidFill>
                  <a:srgbClr val="000000"/>
                </a:solidFill>
                <a:effectLst/>
                <a:latin typeface="Arial" panose="020B0604020202020204" pitchFamily="34" charset="0"/>
              </a:rPr>
              <a:t> Crear reglas </a:t>
            </a:r>
            <a:r>
              <a:rPr lang="es-ES" sz="1800" dirty="0" err="1">
                <a:solidFill>
                  <a:srgbClr val="000000"/>
                </a:solidFill>
                <a:effectLst/>
                <a:latin typeface="Arial" panose="020B0604020202020204" pitchFamily="34" charset="0"/>
              </a:rPr>
              <a:t>if-then</a:t>
            </a:r>
            <a:r>
              <a:rPr lang="es-ES" sz="1800" dirty="0">
                <a:solidFill>
                  <a:srgbClr val="000000"/>
                </a:solidFill>
                <a:effectLst/>
                <a:latin typeface="Arial" panose="020B0604020202020204" pitchFamily="34" charset="0"/>
              </a:rPr>
              <a:t> para simular cómo un banco analiza solicitudes de crédito, utilizando la memoria de trabajo (información del cliente) y la memoria a largo plazo (reglas establecidas).</a:t>
            </a:r>
          </a:p>
          <a:p>
            <a:pPr marL="0" indent="0" algn="l" rtl="0">
              <a:buNone/>
            </a:pPr>
            <a:endParaRPr lang="es-ES" sz="1800" b="1" dirty="0">
              <a:solidFill>
                <a:srgbClr val="000000"/>
              </a:solidFill>
              <a:effectLst/>
              <a:latin typeface="Arial" panose="020B0604020202020204" pitchFamily="34" charset="0"/>
            </a:endParaRPr>
          </a:p>
          <a:p>
            <a:pPr marL="0" indent="0" algn="l" rtl="0">
              <a:buNone/>
            </a:pPr>
            <a:r>
              <a:rPr lang="es-ES" sz="1800" b="1" dirty="0">
                <a:solidFill>
                  <a:srgbClr val="000000"/>
                </a:solidFill>
                <a:effectLst/>
                <a:latin typeface="Arial" panose="020B0604020202020204" pitchFamily="34" charset="0"/>
              </a:rPr>
              <a:t>E</a:t>
            </a:r>
            <a:r>
              <a:rPr lang="es-ES" b="1" dirty="0">
                <a:latin typeface="Arial" panose="020B0604020202020204" pitchFamily="34" charset="0"/>
              </a:rPr>
              <a:t>quipos</a:t>
            </a:r>
            <a:r>
              <a:rPr lang="es-ES" sz="1800" dirty="0">
                <a:solidFill>
                  <a:srgbClr val="000000"/>
                </a:solidFill>
                <a:effectLst/>
                <a:latin typeface="Arial" panose="020B0604020202020204" pitchFamily="34" charset="0"/>
              </a:rPr>
              <a:t> (3-4 integrantes). Cada equipo representará un "grupo de IA" de un banco.</a:t>
            </a:r>
          </a:p>
          <a:p>
            <a:pPr marL="0" indent="0" algn="l" rtl="0"/>
            <a:endParaRPr lang="es-ES" sz="1800" b="1" dirty="0">
              <a:solidFill>
                <a:srgbClr val="000000"/>
              </a:solidFill>
              <a:effectLst/>
              <a:latin typeface="Arial" panose="020B0604020202020204" pitchFamily="34" charset="0"/>
            </a:endParaRPr>
          </a:p>
          <a:p>
            <a:pPr marL="0" indent="0" algn="l" rtl="0"/>
            <a:r>
              <a:rPr lang="es-ES" sz="1800" b="1" dirty="0">
                <a:solidFill>
                  <a:srgbClr val="000000"/>
                </a:solidFill>
                <a:effectLst/>
                <a:latin typeface="Arial" panose="020B0604020202020204" pitchFamily="34" charset="0"/>
              </a:rPr>
              <a:t>Contexto:</a:t>
            </a:r>
            <a:r>
              <a:rPr lang="es-ES" sz="1800" dirty="0">
                <a:solidFill>
                  <a:srgbClr val="000000"/>
                </a:solidFill>
                <a:effectLst/>
                <a:latin typeface="Arial" panose="020B0604020202020204" pitchFamily="34" charset="0"/>
              </a:rPr>
              <a:t> El banco utiliza una arquitectura cognitiva para la aprobación de créditos. Deben establecer reglas basadas en:</a:t>
            </a:r>
          </a:p>
          <a:p>
            <a:pPr marL="0" indent="0" algn="l" rtl="0"/>
            <a:endParaRPr lang="es-ES" sz="1800" dirty="0">
              <a:solidFill>
                <a:srgbClr val="000000"/>
              </a:solidFill>
              <a:effectLst/>
              <a:latin typeface="Arial" panose="020B0604020202020204" pitchFamily="34" charset="0"/>
            </a:endParaRPr>
          </a:p>
          <a:p>
            <a:pPr marL="0" indent="0" algn="l" rtl="0">
              <a:buFont typeface="+mj-lt"/>
              <a:buAutoNum type="arabicPeriod"/>
            </a:pPr>
            <a:r>
              <a:rPr lang="es-ES" sz="1800" b="1" dirty="0">
                <a:solidFill>
                  <a:srgbClr val="000000"/>
                </a:solidFill>
                <a:effectLst/>
                <a:latin typeface="Arial" panose="020B0604020202020204" pitchFamily="34" charset="0"/>
              </a:rPr>
              <a:t>Historial crediticio</a:t>
            </a:r>
            <a:r>
              <a:rPr lang="es-ES" sz="1800" dirty="0">
                <a:solidFill>
                  <a:srgbClr val="000000"/>
                </a:solidFill>
                <a:effectLst/>
                <a:latin typeface="Arial" panose="020B0604020202020204" pitchFamily="34" charset="0"/>
              </a:rPr>
              <a:t> (bueno/malo).</a:t>
            </a:r>
          </a:p>
          <a:p>
            <a:pPr marL="0" indent="0" algn="l" rtl="0">
              <a:buFont typeface="+mj-lt"/>
              <a:buAutoNum type="arabicPeriod"/>
            </a:pPr>
            <a:r>
              <a:rPr lang="es-ES" sz="1800" b="1" dirty="0">
                <a:solidFill>
                  <a:srgbClr val="000000"/>
                </a:solidFill>
                <a:effectLst/>
                <a:latin typeface="Arial" panose="020B0604020202020204" pitchFamily="34" charset="0"/>
              </a:rPr>
              <a:t>Ingresos mensuales</a:t>
            </a:r>
            <a:r>
              <a:rPr lang="es-ES" sz="1800" dirty="0">
                <a:solidFill>
                  <a:srgbClr val="000000"/>
                </a:solidFill>
                <a:effectLst/>
                <a:latin typeface="Arial" panose="020B0604020202020204" pitchFamily="34" charset="0"/>
              </a:rPr>
              <a:t> (por ejemplo: &gt;$1M CLP).</a:t>
            </a:r>
          </a:p>
          <a:p>
            <a:pPr marL="0" indent="0" algn="l" rtl="0">
              <a:buFont typeface="+mj-lt"/>
              <a:buAutoNum type="arabicPeriod"/>
            </a:pPr>
            <a:r>
              <a:rPr lang="es-ES" sz="1800" b="1" dirty="0">
                <a:solidFill>
                  <a:srgbClr val="000000"/>
                </a:solidFill>
                <a:effectLst/>
                <a:latin typeface="Arial" panose="020B0604020202020204" pitchFamily="34" charset="0"/>
              </a:rPr>
              <a:t>Deudas actuales</a:t>
            </a:r>
            <a:r>
              <a:rPr lang="es-ES" sz="1800" dirty="0">
                <a:solidFill>
                  <a:srgbClr val="000000"/>
                </a:solidFill>
                <a:effectLst/>
                <a:latin typeface="Arial" panose="020B0604020202020204" pitchFamily="34" charset="0"/>
              </a:rPr>
              <a:t> (por ejemplo: &lt;30% de los ingresos).</a:t>
            </a:r>
          </a:p>
          <a:p>
            <a:pPr marL="0" indent="0" algn="l" rtl="0">
              <a:buFont typeface="+mj-lt"/>
              <a:buAutoNum type="arabicPeriod"/>
            </a:pPr>
            <a:r>
              <a:rPr lang="es-ES" sz="1800" b="1" dirty="0">
                <a:solidFill>
                  <a:srgbClr val="000000"/>
                </a:solidFill>
                <a:effectLst/>
                <a:latin typeface="Arial" panose="020B0604020202020204" pitchFamily="34" charset="0"/>
              </a:rPr>
              <a:t>Garantías</a:t>
            </a:r>
            <a:r>
              <a:rPr lang="es-ES" sz="1800" dirty="0">
                <a:solidFill>
                  <a:srgbClr val="000000"/>
                </a:solidFill>
                <a:effectLst/>
                <a:latin typeface="Arial" panose="020B0604020202020204" pitchFamily="34" charset="0"/>
              </a:rPr>
              <a:t> (por ejemplo: propiedad, aval).</a:t>
            </a:r>
          </a:p>
          <a:p>
            <a:pPr marL="0" indent="0" algn="l" rtl="0">
              <a:buFont typeface="+mj-lt"/>
              <a:buAutoNum type="arabicPeriod"/>
            </a:pPr>
            <a:endParaRPr lang="es-ES" dirty="0">
              <a:latin typeface="Arial" panose="020B0604020202020204" pitchFamily="34" charset="0"/>
            </a:endParaRPr>
          </a:p>
          <a:p>
            <a:pPr marL="0" indent="0" algn="l" rtl="0"/>
            <a:r>
              <a:rPr lang="es-ES" sz="1800" dirty="0">
                <a:solidFill>
                  <a:srgbClr val="000000"/>
                </a:solidFill>
                <a:effectLst/>
                <a:latin typeface="Arial" panose="020B0604020202020204" pitchFamily="34" charset="0"/>
              </a:rPr>
              <a:t>Si es posible, pueden considerar la posibilidad de que el sistema aprenda, usando un proceso como el “</a:t>
            </a:r>
            <a:r>
              <a:rPr lang="es-ES" sz="1800" dirty="0" err="1">
                <a:solidFill>
                  <a:srgbClr val="000000"/>
                </a:solidFill>
                <a:effectLst/>
                <a:latin typeface="Arial" panose="020B0604020202020204" pitchFamily="34" charset="0"/>
              </a:rPr>
              <a:t>chunking</a:t>
            </a:r>
            <a:r>
              <a:rPr lang="es-ES" sz="1800" dirty="0">
                <a:solidFill>
                  <a:srgbClr val="000000"/>
                </a:solidFill>
                <a:effectLst/>
                <a:latin typeface="Arial" panose="020B0604020202020204" pitchFamily="34" charset="0"/>
              </a:rPr>
              <a:t>” de ACT-R.</a:t>
            </a:r>
          </a:p>
          <a:p>
            <a:pPr marL="0" indent="0" algn="l" rtl="0"/>
            <a:endParaRPr lang="es-ES" dirty="0">
              <a:latin typeface="Arial" panose="020B0604020202020204" pitchFamily="34" charset="0"/>
            </a:endParaRPr>
          </a:p>
          <a:p>
            <a:pPr marL="0" indent="0" algn="l" rtl="0"/>
            <a:r>
              <a:rPr lang="es-ES" sz="1800" dirty="0">
                <a:solidFill>
                  <a:srgbClr val="000000"/>
                </a:solidFill>
                <a:effectLst/>
                <a:latin typeface="Arial" panose="020B0604020202020204" pitchFamily="34" charset="0"/>
              </a:rPr>
              <a:t>Al </a:t>
            </a:r>
            <a:r>
              <a:rPr lang="es-ES" dirty="0">
                <a:latin typeface="Arial" panose="020B0604020202020204" pitchFamily="34" charset="0"/>
              </a:rPr>
              <a:t>finalizar, lo</a:t>
            </a:r>
            <a:r>
              <a:rPr lang="es-ES" sz="1800" dirty="0">
                <a:solidFill>
                  <a:srgbClr val="000000"/>
                </a:solidFill>
                <a:effectLst/>
                <a:latin typeface="Arial" panose="020B0604020202020204" pitchFamily="34" charset="0"/>
              </a:rPr>
              <a:t>s grupos deben estar en condiciones de discutir las dificultades encontradas para formular las reglas, si estas reglas serían aplicables en casos reales, qué pudieron aprender del ejercicio.</a:t>
            </a:r>
          </a:p>
        </p:txBody>
      </p:sp>
    </p:spTree>
    <p:extLst>
      <p:ext uri="{BB962C8B-B14F-4D97-AF65-F5344CB8AC3E}">
        <p14:creationId xmlns:p14="http://schemas.microsoft.com/office/powerpoint/2010/main" val="32396317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0"/>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080625"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Shape 63"/>
          <p:cNvSpPr txBox="1"/>
          <p:nvPr/>
        </p:nvSpPr>
        <p:spPr>
          <a:xfrm>
            <a:off x="693042" y="1205698"/>
            <a:ext cx="8686977" cy="3270798"/>
          </a:xfrm>
          <a:prstGeom prst="rect">
            <a:avLst/>
          </a:prstGeom>
        </p:spPr>
        <p:txBody>
          <a:bodyPr vert="horz" lIns="91440" tIns="45720" rIns="91440" bIns="45720" rtlCol="0" anchor="b" anchorCtr="0">
            <a:normAutofit/>
          </a:bodyPr>
          <a:lstStyle/>
          <a:p>
            <a:pPr lvl="0">
              <a:lnSpc>
                <a:spcPct val="90000"/>
              </a:lnSpc>
              <a:spcBef>
                <a:spcPct val="0"/>
              </a:spcBef>
              <a:spcAft>
                <a:spcPts val="600"/>
              </a:spcAft>
            </a:pPr>
            <a:endParaRPr lang="en-US" sz="2500" kern="1200">
              <a:solidFill>
                <a:schemeClr val="tx1"/>
              </a:solidFill>
              <a:latin typeface="+mj-lt"/>
              <a:ea typeface="+mj-ea"/>
              <a:cs typeface="+mj-cs"/>
            </a:endParaRPr>
          </a:p>
          <a:p>
            <a:pPr lvl="0">
              <a:lnSpc>
                <a:spcPct val="90000"/>
              </a:lnSpc>
              <a:spcBef>
                <a:spcPct val="0"/>
              </a:spcBef>
              <a:spcAft>
                <a:spcPts val="600"/>
              </a:spcAft>
            </a:pPr>
            <a:endParaRPr lang="en-US" sz="2500" kern="1200">
              <a:solidFill>
                <a:schemeClr val="tx1"/>
              </a:solidFill>
              <a:latin typeface="+mj-lt"/>
              <a:ea typeface="+mj-ea"/>
              <a:cs typeface="+mj-cs"/>
            </a:endParaRPr>
          </a:p>
          <a:p>
            <a:pPr lvl="0">
              <a:lnSpc>
                <a:spcPct val="90000"/>
              </a:lnSpc>
              <a:spcBef>
                <a:spcPct val="0"/>
              </a:spcBef>
              <a:spcAft>
                <a:spcPts val="600"/>
              </a:spcAft>
            </a:pPr>
            <a:r>
              <a:rPr lang="en-US" sz="2500" b="1" kern="1200">
                <a:solidFill>
                  <a:schemeClr val="tx1"/>
                </a:solidFill>
                <a:latin typeface="+mj-lt"/>
                <a:ea typeface="+mj-ea"/>
                <a:cs typeface="+mj-cs"/>
              </a:rPr>
              <a:t>Diplomado en Inteligencia Artificial</a:t>
            </a:r>
          </a:p>
          <a:p>
            <a:pPr lvl="0">
              <a:lnSpc>
                <a:spcPct val="90000"/>
              </a:lnSpc>
              <a:spcBef>
                <a:spcPct val="0"/>
              </a:spcBef>
              <a:spcAft>
                <a:spcPts val="600"/>
              </a:spcAft>
            </a:pPr>
            <a:endParaRPr lang="en-US" sz="2500" kern="1200">
              <a:solidFill>
                <a:schemeClr val="tx1"/>
              </a:solidFill>
              <a:latin typeface="+mj-lt"/>
              <a:ea typeface="+mj-ea"/>
              <a:cs typeface="+mj-cs"/>
            </a:endParaRPr>
          </a:p>
          <a:p>
            <a:pPr lvl="0">
              <a:lnSpc>
                <a:spcPct val="90000"/>
              </a:lnSpc>
              <a:spcBef>
                <a:spcPct val="0"/>
              </a:spcBef>
              <a:spcAft>
                <a:spcPts val="600"/>
              </a:spcAft>
            </a:pPr>
            <a:r>
              <a:rPr lang="en-US" sz="2500" kern="1200">
                <a:solidFill>
                  <a:schemeClr val="tx1"/>
                </a:solidFill>
                <a:latin typeface="+mj-lt"/>
                <a:ea typeface="+mj-ea"/>
                <a:cs typeface="+mj-cs"/>
              </a:rPr>
              <a:t>Ciencias Cognitivas e IA</a:t>
            </a:r>
          </a:p>
          <a:p>
            <a:pPr lvl="0">
              <a:lnSpc>
                <a:spcPct val="90000"/>
              </a:lnSpc>
              <a:spcBef>
                <a:spcPct val="0"/>
              </a:spcBef>
              <a:spcAft>
                <a:spcPts val="600"/>
              </a:spcAft>
            </a:pPr>
            <a:r>
              <a:rPr lang="en-US" sz="2500" kern="1200">
                <a:solidFill>
                  <a:schemeClr val="tx1"/>
                </a:solidFill>
                <a:latin typeface="+mj-lt"/>
                <a:ea typeface="+mj-ea"/>
                <a:cs typeface="+mj-cs"/>
              </a:rPr>
              <a:t>			</a:t>
            </a:r>
          </a:p>
          <a:p>
            <a:pPr lvl="0">
              <a:lnSpc>
                <a:spcPct val="90000"/>
              </a:lnSpc>
              <a:spcBef>
                <a:spcPct val="0"/>
              </a:spcBef>
              <a:spcAft>
                <a:spcPts val="600"/>
              </a:spcAft>
            </a:pPr>
            <a:r>
              <a:rPr lang="en-US" sz="2500" kern="1200">
                <a:solidFill>
                  <a:schemeClr val="tx1"/>
                </a:solidFill>
                <a:latin typeface="+mj-lt"/>
                <a:ea typeface="+mj-ea"/>
                <a:cs typeface="+mj-cs"/>
              </a:rPr>
              <a:t>				Sergio Chaigneau</a:t>
            </a:r>
          </a:p>
          <a:p>
            <a:pPr lvl="0">
              <a:lnSpc>
                <a:spcPct val="90000"/>
              </a:lnSpc>
              <a:spcBef>
                <a:spcPct val="0"/>
              </a:spcBef>
              <a:spcAft>
                <a:spcPts val="600"/>
              </a:spcAft>
            </a:pPr>
            <a:endParaRPr lang="en-US" sz="2500" kern="1200">
              <a:solidFill>
                <a:schemeClr val="tx1"/>
              </a:solidFill>
              <a:latin typeface="+mj-lt"/>
              <a:ea typeface="+mj-ea"/>
              <a:cs typeface="+mj-cs"/>
            </a:endParaRPr>
          </a:p>
        </p:txBody>
      </p:sp>
      <p:sp>
        <p:nvSpPr>
          <p:cNvPr id="70" name="Rectangle 6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563" y="4774308"/>
            <a:ext cx="8686978" cy="20159"/>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2" name="Rectangle 7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720659" y="3132813"/>
            <a:ext cx="60477" cy="3263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Shape 62"/>
          <p:cNvPicPr preferRelativeResize="0"/>
          <p:nvPr/>
        </p:nvPicPr>
        <p:blipFill>
          <a:blip r:embed="rId3">
            <a:alphaModFix/>
          </a:blip>
          <a:stretch>
            <a:fillRect/>
          </a:stretch>
        </p:blipFill>
        <p:spPr>
          <a:xfrm>
            <a:off x="181836" y="223675"/>
            <a:ext cx="1781436" cy="415060"/>
          </a:xfrm>
          <a:prstGeom prst="rect">
            <a:avLst/>
          </a:prstGeom>
          <a:noFill/>
          <a:ln>
            <a:noFill/>
          </a:ln>
        </p:spPr>
      </p:pic>
    </p:spTree>
    <p:extLst>
      <p:ext uri="{BB962C8B-B14F-4D97-AF65-F5344CB8AC3E}">
        <p14:creationId xmlns:p14="http://schemas.microsoft.com/office/powerpoint/2010/main" val="423974123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4682</TotalTime>
  <Words>2934</Words>
  <Application>Microsoft Office PowerPoint</Application>
  <PresentationFormat>Personalizado</PresentationFormat>
  <Paragraphs>378</Paragraphs>
  <Slides>42</Slides>
  <Notes>30</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42</vt:i4>
      </vt:variant>
    </vt:vector>
  </HeadingPairs>
  <TitlesOfParts>
    <vt:vector size="47" baseType="lpstr">
      <vt:lpstr>Arial</vt:lpstr>
      <vt:lpstr>Calibri</vt:lpstr>
      <vt:lpstr>Times New Roman</vt:lpstr>
      <vt:lpstr>Office Theme</vt:lpstr>
      <vt:lpstr>1_Diseño predeterminado</vt:lpstr>
      <vt:lpstr>Presentación de PowerPoint</vt:lpstr>
      <vt:lpstr>Antecedentes de las Arquitecturas Cognitivas</vt:lpstr>
      <vt:lpstr>Antecedentes de las Arquitecturas Cognitivas</vt:lpstr>
      <vt:lpstr>Antecedentes de las Arquitecturas Cognitivas</vt:lpstr>
      <vt:lpstr>General Problem Solver (Newell, Shaw, &amp; Simon, 1959)</vt:lpstr>
      <vt:lpstr>General Problem Solver (Newell, Shaw, &amp; Simon, 1959)</vt:lpstr>
      <vt:lpstr>General Problem Solver (Newell, Shaw, &amp; Simon, 1959)</vt:lpstr>
      <vt:lpstr>General Problem Solver (Newell, Shaw, &amp; Simon, 1959)</vt:lpstr>
      <vt:lpstr>Presentación de PowerPoint</vt:lpstr>
      <vt:lpstr>General Problem Solver (Newell, Shaw, &amp; Simon, 1959)</vt:lpstr>
      <vt:lpstr>General Problem Solver (Newell, Shaw, &amp; Simon, 1959)</vt:lpstr>
      <vt:lpstr>General Problem Solver (Newell, Shaw, &amp; Simon, 1959)</vt:lpstr>
      <vt:lpstr>Presentación de PowerPoint</vt:lpstr>
      <vt:lpstr>Principios de la Arquitectura SOAR</vt:lpstr>
      <vt:lpstr>Arquitectura SOAR</vt:lpstr>
      <vt:lpstr>Arquitectura SOAR</vt:lpstr>
      <vt:lpstr>Arquitectura SOAR</vt:lpstr>
      <vt:lpstr>Arquitectura SOAR</vt:lpstr>
      <vt:lpstr>Ejemplo de SOAR (Rieman, 1995)</vt:lpstr>
      <vt:lpstr>Ejemplo de SOAR (Rieman, 1995)</vt:lpstr>
      <vt:lpstr>Resolución de conflictos a través de submetas</vt:lpstr>
      <vt:lpstr>Resolución de conflictos a través de submetas</vt:lpstr>
      <vt:lpstr>Preferencias en SOAR</vt:lpstr>
      <vt:lpstr>Arquitectura SOAR, función Look-Ahead</vt:lpstr>
      <vt:lpstr>Arquitectura SOAR, función Look-Ahead</vt:lpstr>
      <vt:lpstr>Arquitectura SOAR, función Look-Ahead</vt:lpstr>
      <vt:lpstr>Aplicaciones de SOAR</vt:lpstr>
      <vt:lpstr>Críticas a las implementaciones originales de SOAR</vt:lpstr>
      <vt:lpstr>Avances actuales de SOAR</vt:lpstr>
      <vt:lpstr>Presentación de PowerPoint</vt:lpstr>
      <vt:lpstr>Presentación de PowerPoint</vt:lpstr>
      <vt:lpstr>Adaptive Control of Thought - Rational  (ACT-R)</vt:lpstr>
      <vt:lpstr>Adaptive Control of Thought (ACT-R)</vt:lpstr>
      <vt:lpstr>Producciones en ACT-R</vt:lpstr>
      <vt:lpstr>Producciones en ACT-R</vt:lpstr>
      <vt:lpstr>Producciones en ACT-R</vt:lpstr>
      <vt:lpstr>Producciones en ACT-R</vt:lpstr>
      <vt:lpstr>Aplicaciones de ACT-R</vt:lpstr>
      <vt:lpstr>Evaluación de ACT-R</vt:lpstr>
      <vt:lpstr>Resumen sobre las Cs Cog, la IA y las arquitecturas cognitivas</vt:lpstr>
      <vt:lpstr>Actividad grupal (15 min)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E Chaigneau O</dc:creator>
  <cp:lastModifiedBy>Sergio Chaigneau</cp:lastModifiedBy>
  <cp:revision>371</cp:revision>
  <dcterms:modified xsi:type="dcterms:W3CDTF">2025-05-12T16:48:04Z</dcterms:modified>
</cp:coreProperties>
</file>