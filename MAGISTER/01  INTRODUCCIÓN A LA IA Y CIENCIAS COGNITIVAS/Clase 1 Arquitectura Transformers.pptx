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5"/>
  </p:notesMasterIdLst>
  <p:sldIdLst>
    <p:sldId id="257" r:id="rId2"/>
    <p:sldId id="293" r:id="rId3"/>
    <p:sldId id="294" r:id="rId4"/>
    <p:sldId id="295" r:id="rId5"/>
    <p:sldId id="296" r:id="rId6"/>
    <p:sldId id="297" r:id="rId7"/>
    <p:sldId id="298" r:id="rId8"/>
    <p:sldId id="299" r:id="rId9"/>
    <p:sldId id="300" r:id="rId10"/>
    <p:sldId id="301" r:id="rId11"/>
    <p:sldId id="302" r:id="rId12"/>
    <p:sldId id="270" r:id="rId13"/>
    <p:sldId id="330" r:id="rId14"/>
    <p:sldId id="327" r:id="rId15"/>
    <p:sldId id="331" r:id="rId16"/>
    <p:sldId id="271" r:id="rId17"/>
    <p:sldId id="305" r:id="rId18"/>
    <p:sldId id="283" r:id="rId19"/>
    <p:sldId id="272" r:id="rId20"/>
    <p:sldId id="273" r:id="rId21"/>
    <p:sldId id="274" r:id="rId22"/>
    <p:sldId id="332" r:id="rId23"/>
    <p:sldId id="333" r:id="rId24"/>
    <p:sldId id="275" r:id="rId25"/>
    <p:sldId id="276" r:id="rId26"/>
    <p:sldId id="277" r:id="rId27"/>
    <p:sldId id="278" r:id="rId28"/>
    <p:sldId id="279" r:id="rId29"/>
    <p:sldId id="306" r:id="rId30"/>
    <p:sldId id="307" r:id="rId31"/>
    <p:sldId id="308" r:id="rId32"/>
    <p:sldId id="309" r:id="rId33"/>
    <p:sldId id="290" r:id="rId34"/>
    <p:sldId id="291" r:id="rId35"/>
    <p:sldId id="292" r:id="rId36"/>
    <p:sldId id="310" r:id="rId37"/>
    <p:sldId id="311" r:id="rId38"/>
    <p:sldId id="312" r:id="rId39"/>
    <p:sldId id="325" r:id="rId40"/>
    <p:sldId id="313" r:id="rId41"/>
    <p:sldId id="314" r:id="rId42"/>
    <p:sldId id="315" r:id="rId43"/>
    <p:sldId id="316" r:id="rId44"/>
    <p:sldId id="317" r:id="rId45"/>
    <p:sldId id="318" r:id="rId46"/>
    <p:sldId id="319" r:id="rId47"/>
    <p:sldId id="320" r:id="rId48"/>
    <p:sldId id="321" r:id="rId49"/>
    <p:sldId id="322" r:id="rId50"/>
    <p:sldId id="335" r:id="rId51"/>
    <p:sldId id="324" r:id="rId52"/>
    <p:sldId id="323" r:id="rId53"/>
    <p:sldId id="336" r:id="rId54"/>
    <p:sldId id="338" r:id="rId55"/>
    <p:sldId id="337" r:id="rId56"/>
    <p:sldId id="339" r:id="rId57"/>
    <p:sldId id="340" r:id="rId58"/>
    <p:sldId id="341" r:id="rId59"/>
    <p:sldId id="281" r:id="rId60"/>
    <p:sldId id="303" r:id="rId61"/>
    <p:sldId id="304" r:id="rId62"/>
    <p:sldId id="334" r:id="rId63"/>
    <p:sldId id="326"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CB5F1A-7789-4D4F-9579-9D230CC4D371}" v="364" dt="2025-05-18T23:56:36.54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89" d="100"/>
          <a:sy n="89" d="100"/>
        </p:scale>
        <p:origin x="451" y="26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Chaigneau" userId="f68fbc50c7642311" providerId="LiveId" clId="{859C23AD-BD48-4A34-A43D-F496EBD22607}"/>
    <pc:docChg chg="undo redo custSel addSld delSld modSld">
      <pc:chgData name="Sergio Chaigneau" userId="f68fbc50c7642311" providerId="LiveId" clId="{859C23AD-BD48-4A34-A43D-F496EBD22607}" dt="2024-09-02T20:29:43.914" v="400" actId="20577"/>
      <pc:docMkLst>
        <pc:docMk/>
      </pc:docMkLst>
      <pc:sldChg chg="addSp delSp modSp mod">
        <pc:chgData name="Sergio Chaigneau" userId="f68fbc50c7642311" providerId="LiveId" clId="{859C23AD-BD48-4A34-A43D-F496EBD22607}" dt="2024-09-01T19:52:24.967" v="5" actId="14100"/>
        <pc:sldMkLst>
          <pc:docMk/>
          <pc:sldMk cId="3088734475" sldId="270"/>
        </pc:sldMkLst>
      </pc:sldChg>
      <pc:sldChg chg="addSp delSp modSp mod">
        <pc:chgData name="Sergio Chaigneau" userId="f68fbc50c7642311" providerId="LiveId" clId="{859C23AD-BD48-4A34-A43D-F496EBD22607}" dt="2024-09-01T20:53:04.029" v="202" actId="1076"/>
        <pc:sldMkLst>
          <pc:docMk/>
          <pc:sldMk cId="958255869" sldId="274"/>
        </pc:sldMkLst>
      </pc:sldChg>
      <pc:sldChg chg="modSp mod">
        <pc:chgData name="Sergio Chaigneau" userId="f68fbc50c7642311" providerId="LiveId" clId="{859C23AD-BD48-4A34-A43D-F496EBD22607}" dt="2024-09-01T20:54:55.409" v="216" actId="1076"/>
        <pc:sldMkLst>
          <pc:docMk/>
          <pc:sldMk cId="2351911380" sldId="275"/>
        </pc:sldMkLst>
      </pc:sldChg>
      <pc:sldChg chg="addSp delSp modSp mod">
        <pc:chgData name="Sergio Chaigneau" userId="f68fbc50c7642311" providerId="LiveId" clId="{859C23AD-BD48-4A34-A43D-F496EBD22607}" dt="2024-09-01T20:55:37.671" v="220" actId="26606"/>
        <pc:sldMkLst>
          <pc:docMk/>
          <pc:sldMk cId="3090646700" sldId="276"/>
        </pc:sldMkLst>
      </pc:sldChg>
      <pc:sldChg chg="addSp delSp modSp mod">
        <pc:chgData name="Sergio Chaigneau" userId="f68fbc50c7642311" providerId="LiveId" clId="{859C23AD-BD48-4A34-A43D-F496EBD22607}" dt="2024-09-01T21:02:50.518" v="224" actId="26606"/>
        <pc:sldMkLst>
          <pc:docMk/>
          <pc:sldMk cId="1848949241" sldId="281"/>
        </pc:sldMkLst>
      </pc:sldChg>
      <pc:sldChg chg="addSp delSp modSp mod">
        <pc:chgData name="Sergio Chaigneau" userId="f68fbc50c7642311" providerId="LiveId" clId="{859C23AD-BD48-4A34-A43D-F496EBD22607}" dt="2024-09-01T20:45:09.179" v="183" actId="26606"/>
        <pc:sldMkLst>
          <pc:docMk/>
          <pc:sldMk cId="3461998889" sldId="305"/>
        </pc:sldMkLst>
      </pc:sldChg>
      <pc:sldChg chg="modSp mod">
        <pc:chgData name="Sergio Chaigneau" userId="f68fbc50c7642311" providerId="LiveId" clId="{859C23AD-BD48-4A34-A43D-F496EBD22607}" dt="2024-09-02T20:23:12.765" v="386" actId="1076"/>
        <pc:sldMkLst>
          <pc:docMk/>
          <pc:sldMk cId="657661476" sldId="314"/>
        </pc:sldMkLst>
      </pc:sldChg>
      <pc:sldChg chg="modSp mod">
        <pc:chgData name="Sergio Chaigneau" userId="f68fbc50c7642311" providerId="LiveId" clId="{859C23AD-BD48-4A34-A43D-F496EBD22607}" dt="2024-09-02T20:25:48.697" v="392" actId="6549"/>
        <pc:sldMkLst>
          <pc:docMk/>
          <pc:sldMk cId="4079967669" sldId="315"/>
        </pc:sldMkLst>
      </pc:sldChg>
      <pc:sldChg chg="modSp">
        <pc:chgData name="Sergio Chaigneau" userId="f68fbc50c7642311" providerId="LiveId" clId="{859C23AD-BD48-4A34-A43D-F496EBD22607}" dt="2024-09-02T20:29:43.914" v="400" actId="20577"/>
        <pc:sldMkLst>
          <pc:docMk/>
          <pc:sldMk cId="1290170283" sldId="322"/>
        </pc:sldMkLst>
      </pc:sldChg>
      <pc:sldChg chg="del">
        <pc:chgData name="Sergio Chaigneau" userId="f68fbc50c7642311" providerId="LiveId" clId="{859C23AD-BD48-4A34-A43D-F496EBD22607}" dt="2024-09-01T20:20:51.468" v="19" actId="47"/>
        <pc:sldMkLst>
          <pc:docMk/>
          <pc:sldMk cId="3212539867" sldId="328"/>
        </pc:sldMkLst>
      </pc:sldChg>
      <pc:sldChg chg="del">
        <pc:chgData name="Sergio Chaigneau" userId="f68fbc50c7642311" providerId="LiveId" clId="{859C23AD-BD48-4A34-A43D-F496EBD22607}" dt="2024-09-01T20:45:31.865" v="184" actId="47"/>
        <pc:sldMkLst>
          <pc:docMk/>
          <pc:sldMk cId="2712831428" sldId="329"/>
        </pc:sldMkLst>
      </pc:sldChg>
      <pc:sldChg chg="add">
        <pc:chgData name="Sergio Chaigneau" userId="f68fbc50c7642311" providerId="LiveId" clId="{859C23AD-BD48-4A34-A43D-F496EBD22607}" dt="2024-09-01T19:51:32.285" v="0" actId="2890"/>
        <pc:sldMkLst>
          <pc:docMk/>
          <pc:sldMk cId="2083626822" sldId="330"/>
        </pc:sldMkLst>
      </pc:sldChg>
      <pc:sldChg chg="addSp delSp modSp add mod setBg delDesignElem">
        <pc:chgData name="Sergio Chaigneau" userId="f68fbc50c7642311" providerId="LiveId" clId="{859C23AD-BD48-4A34-A43D-F496EBD22607}" dt="2024-09-01T20:24:01.592" v="179" actId="20577"/>
        <pc:sldMkLst>
          <pc:docMk/>
          <pc:sldMk cId="4222402399" sldId="331"/>
        </pc:sldMkLst>
      </pc:sldChg>
      <pc:sldChg chg="addSp modSp add mod">
        <pc:chgData name="Sergio Chaigneau" userId="f68fbc50c7642311" providerId="LiveId" clId="{859C23AD-BD48-4A34-A43D-F496EBD22607}" dt="2024-09-01T20:53:51.082" v="208"/>
        <pc:sldMkLst>
          <pc:docMk/>
          <pc:sldMk cId="1466396634" sldId="332"/>
        </pc:sldMkLst>
      </pc:sldChg>
      <pc:sldChg chg="addSp modSp add mod">
        <pc:chgData name="Sergio Chaigneau" userId="f68fbc50c7642311" providerId="LiveId" clId="{859C23AD-BD48-4A34-A43D-F496EBD22607}" dt="2024-09-01T20:54:37.331" v="215"/>
        <pc:sldMkLst>
          <pc:docMk/>
          <pc:sldMk cId="1429659930" sldId="333"/>
        </pc:sldMkLst>
      </pc:sldChg>
      <pc:sldChg chg="addSp delSp modSp add mod">
        <pc:chgData name="Sergio Chaigneau" userId="f68fbc50c7642311" providerId="LiveId" clId="{859C23AD-BD48-4A34-A43D-F496EBD22607}" dt="2024-09-01T21:05:19.794" v="380" actId="403"/>
        <pc:sldMkLst>
          <pc:docMk/>
          <pc:sldMk cId="2406461201" sldId="334"/>
        </pc:sldMkLst>
      </pc:sldChg>
    </pc:docChg>
  </pc:docChgLst>
  <pc:docChgLst>
    <pc:chgData name="Sergio Chaigneau" userId="f68fbc50c7642311" providerId="LiveId" clId="{7ECB5F1A-7789-4D4F-9579-9D230CC4D371}"/>
    <pc:docChg chg="undo custSel addSld modSld sldOrd">
      <pc:chgData name="Sergio Chaigneau" userId="f68fbc50c7642311" providerId="LiveId" clId="{7ECB5F1A-7789-4D4F-9579-9D230CC4D371}" dt="2025-05-19T00:01:03.200" v="922" actId="1076"/>
      <pc:docMkLst>
        <pc:docMk/>
      </pc:docMkLst>
      <pc:sldChg chg="modSp mod">
        <pc:chgData name="Sergio Chaigneau" userId="f68fbc50c7642311" providerId="LiveId" clId="{7ECB5F1A-7789-4D4F-9579-9D230CC4D371}" dt="2025-05-18T22:54:58.395" v="50" actId="20577"/>
        <pc:sldMkLst>
          <pc:docMk/>
          <pc:sldMk cId="2045869358" sldId="316"/>
        </pc:sldMkLst>
        <pc:spChg chg="mod">
          <ac:chgData name="Sergio Chaigneau" userId="f68fbc50c7642311" providerId="LiveId" clId="{7ECB5F1A-7789-4D4F-9579-9D230CC4D371}" dt="2025-05-18T22:54:58.395" v="50" actId="20577"/>
          <ac:spMkLst>
            <pc:docMk/>
            <pc:sldMk cId="2045869358" sldId="316"/>
            <ac:spMk id="10" creationId="{D547F8C3-4557-1DA4-8FFA-A30B0ED077B7}"/>
          </ac:spMkLst>
        </pc:spChg>
      </pc:sldChg>
      <pc:sldChg chg="modSp add mod">
        <pc:chgData name="Sergio Chaigneau" userId="f68fbc50c7642311" providerId="LiveId" clId="{7ECB5F1A-7789-4D4F-9579-9D230CC4D371}" dt="2025-05-18T23:00:14.899" v="309" actId="403"/>
        <pc:sldMkLst>
          <pc:docMk/>
          <pc:sldMk cId="1758599080" sldId="335"/>
        </pc:sldMkLst>
        <pc:graphicFrameChg chg="mod modGraphic">
          <ac:chgData name="Sergio Chaigneau" userId="f68fbc50c7642311" providerId="LiveId" clId="{7ECB5F1A-7789-4D4F-9579-9D230CC4D371}" dt="2025-05-18T23:00:14.899" v="309" actId="403"/>
          <ac:graphicFrameMkLst>
            <pc:docMk/>
            <pc:sldMk cId="1758599080" sldId="335"/>
            <ac:graphicFrameMk id="6" creationId="{6F6FA88F-7A90-6E92-6DA4-BD8A6E8971C1}"/>
          </ac:graphicFrameMkLst>
        </pc:graphicFrameChg>
      </pc:sldChg>
      <pc:sldChg chg="addSp delSp modSp add mod modTransition setBg">
        <pc:chgData name="Sergio Chaigneau" userId="f68fbc50c7642311" providerId="LiveId" clId="{7ECB5F1A-7789-4D4F-9579-9D230CC4D371}" dt="2025-05-18T23:31:13.689" v="407" actId="255"/>
        <pc:sldMkLst>
          <pc:docMk/>
          <pc:sldMk cId="1824909146" sldId="336"/>
        </pc:sldMkLst>
        <pc:spChg chg="mod ord">
          <ac:chgData name="Sergio Chaigneau" userId="f68fbc50c7642311" providerId="LiveId" clId="{7ECB5F1A-7789-4D4F-9579-9D230CC4D371}" dt="2025-05-18T23:27:26.586" v="396" actId="1076"/>
          <ac:spMkLst>
            <pc:docMk/>
            <pc:sldMk cId="1824909146" sldId="336"/>
            <ac:spMk id="2" creationId="{F32F74FF-6708-59FC-6BD9-3AE42B85746F}"/>
          </ac:spMkLst>
        </pc:spChg>
        <pc:spChg chg="mod">
          <ac:chgData name="Sergio Chaigneau" userId="f68fbc50c7642311" providerId="LiveId" clId="{7ECB5F1A-7789-4D4F-9579-9D230CC4D371}" dt="2025-05-18T23:31:13.689" v="407" actId="255"/>
          <ac:spMkLst>
            <pc:docMk/>
            <pc:sldMk cId="1824909146" sldId="336"/>
            <ac:spMk id="4" creationId="{63723AC7-6699-C59E-82A9-3934A7FAF7A3}"/>
          </ac:spMkLst>
        </pc:spChg>
        <pc:spChg chg="add del mod">
          <ac:chgData name="Sergio Chaigneau" userId="f68fbc50c7642311" providerId="LiveId" clId="{7ECB5F1A-7789-4D4F-9579-9D230CC4D371}" dt="2025-05-18T23:30:28.906" v="397" actId="478"/>
          <ac:spMkLst>
            <pc:docMk/>
            <pc:sldMk cId="1824909146" sldId="336"/>
            <ac:spMk id="6" creationId="{9A371B2F-943A-89D2-CE83-FA36AB354D11}"/>
          </ac:spMkLst>
        </pc:spChg>
        <pc:spChg chg="add">
          <ac:chgData name="Sergio Chaigneau" userId="f68fbc50c7642311" providerId="LiveId" clId="{7ECB5F1A-7789-4D4F-9579-9D230CC4D371}" dt="2025-05-18T23:25:36.111" v="311" actId="48537"/>
          <ac:spMkLst>
            <pc:docMk/>
            <pc:sldMk cId="1824909146" sldId="336"/>
            <ac:spMk id="10" creationId="{A6EF5A53-0A64-4CA5-B9C7-1CB97CB5CF1C}"/>
          </ac:spMkLst>
        </pc:spChg>
        <pc:spChg chg="add">
          <ac:chgData name="Sergio Chaigneau" userId="f68fbc50c7642311" providerId="LiveId" clId="{7ECB5F1A-7789-4D4F-9579-9D230CC4D371}" dt="2025-05-18T23:25:36.111" v="311" actId="48537"/>
          <ac:spMkLst>
            <pc:docMk/>
            <pc:sldMk cId="1824909146" sldId="336"/>
            <ac:spMk id="12" creationId="{34ABFBEA-4EB0-4D02-A2C0-1733CD3D6F12}"/>
          </ac:spMkLst>
        </pc:spChg>
        <pc:spChg chg="add">
          <ac:chgData name="Sergio Chaigneau" userId="f68fbc50c7642311" providerId="LiveId" clId="{7ECB5F1A-7789-4D4F-9579-9D230CC4D371}" dt="2025-05-18T23:25:36.111" v="311" actId="48537"/>
          <ac:spMkLst>
            <pc:docMk/>
            <pc:sldMk cId="1824909146" sldId="336"/>
            <ac:spMk id="14" creationId="{19E083F6-57F4-487B-A766-EA0462B1EED8}"/>
          </ac:spMkLst>
        </pc:spChg>
        <pc:spChg chg="add">
          <ac:chgData name="Sergio Chaigneau" userId="f68fbc50c7642311" providerId="LiveId" clId="{7ECB5F1A-7789-4D4F-9579-9D230CC4D371}" dt="2025-05-18T23:25:36.111" v="311" actId="48537"/>
          <ac:spMkLst>
            <pc:docMk/>
            <pc:sldMk cId="1824909146" sldId="336"/>
            <ac:spMk id="16" creationId="{987A0FBA-CC04-4256-A8EB-BB3C543E989C}"/>
          </ac:spMkLst>
        </pc:spChg>
        <pc:spChg chg="add">
          <ac:chgData name="Sergio Chaigneau" userId="f68fbc50c7642311" providerId="LiveId" clId="{7ECB5F1A-7789-4D4F-9579-9D230CC4D371}" dt="2025-05-18T23:25:36.111" v="311" actId="48537"/>
          <ac:spMkLst>
            <pc:docMk/>
            <pc:sldMk cId="1824909146" sldId="336"/>
            <ac:spMk id="18" creationId="{66FC6F62-FEC6-45C4-B697-39FDA62A9666}"/>
          </ac:spMkLst>
        </pc:spChg>
        <pc:grpChg chg="add">
          <ac:chgData name="Sergio Chaigneau" userId="f68fbc50c7642311" providerId="LiveId" clId="{7ECB5F1A-7789-4D4F-9579-9D230CC4D371}" dt="2025-05-18T23:25:36.111" v="311" actId="48537"/>
          <ac:grpSpMkLst>
            <pc:docMk/>
            <pc:sldMk cId="1824909146" sldId="336"/>
            <ac:grpSpMk id="20" creationId="{F8D7210F-BCFD-46C1-9A2C-3717368B1A78}"/>
          </ac:grpSpMkLst>
        </pc:grpChg>
        <pc:picChg chg="del mod">
          <ac:chgData name="Sergio Chaigneau" userId="f68fbc50c7642311" providerId="LiveId" clId="{7ECB5F1A-7789-4D4F-9579-9D230CC4D371}" dt="2025-05-18T23:25:53.899" v="312" actId="478"/>
          <ac:picMkLst>
            <pc:docMk/>
            <pc:sldMk cId="1824909146" sldId="336"/>
            <ac:picMk id="5" creationId="{C213081E-B7F1-4750-8B83-8AB9E7E5EAD0}"/>
          </ac:picMkLst>
        </pc:picChg>
      </pc:sldChg>
      <pc:sldChg chg="addSp delSp modSp add mod">
        <pc:chgData name="Sergio Chaigneau" userId="f68fbc50c7642311" providerId="LiveId" clId="{7ECB5F1A-7789-4D4F-9579-9D230CC4D371}" dt="2025-05-18T23:50:58.305" v="644" actId="1076"/>
        <pc:sldMkLst>
          <pc:docMk/>
          <pc:sldMk cId="4182497509" sldId="337"/>
        </pc:sldMkLst>
        <pc:spChg chg="del mod">
          <ac:chgData name="Sergio Chaigneau" userId="f68fbc50c7642311" providerId="LiveId" clId="{7ECB5F1A-7789-4D4F-9579-9D230CC4D371}" dt="2025-05-18T23:33:49.543" v="414"/>
          <ac:spMkLst>
            <pc:docMk/>
            <pc:sldMk cId="4182497509" sldId="337"/>
            <ac:spMk id="4" creationId="{647B33F3-EC18-89B2-3A4B-E62CA9939C9C}"/>
          </ac:spMkLst>
        </pc:spChg>
        <pc:spChg chg="add del mod">
          <ac:chgData name="Sergio Chaigneau" userId="f68fbc50c7642311" providerId="LiveId" clId="{7ECB5F1A-7789-4D4F-9579-9D230CC4D371}" dt="2025-05-18T23:34:41.682" v="416" actId="478"/>
          <ac:spMkLst>
            <pc:docMk/>
            <pc:sldMk cId="4182497509" sldId="337"/>
            <ac:spMk id="6" creationId="{97EE2F61-6D4D-3F5B-1E60-F36D23FD44C1}"/>
          </ac:spMkLst>
        </pc:spChg>
        <pc:spChg chg="add del mod">
          <ac:chgData name="Sergio Chaigneau" userId="f68fbc50c7642311" providerId="LiveId" clId="{7ECB5F1A-7789-4D4F-9579-9D230CC4D371}" dt="2025-05-18T23:42:01.037" v="444"/>
          <ac:spMkLst>
            <pc:docMk/>
            <pc:sldMk cId="4182497509" sldId="337"/>
            <ac:spMk id="7" creationId="{8947AAF9-4FA0-D3C4-B066-373CB2890F8B}"/>
          </ac:spMkLst>
        </pc:spChg>
        <pc:spChg chg="add del mod">
          <ac:chgData name="Sergio Chaigneau" userId="f68fbc50c7642311" providerId="LiveId" clId="{7ECB5F1A-7789-4D4F-9579-9D230CC4D371}" dt="2025-05-18T23:46:52.653" v="545" actId="26606"/>
          <ac:spMkLst>
            <pc:docMk/>
            <pc:sldMk cId="4182497509" sldId="337"/>
            <ac:spMk id="8" creationId="{E927B600-85AB-B207-583D-8864D751744D}"/>
          </ac:spMkLst>
        </pc:spChg>
        <pc:spChg chg="add">
          <ac:chgData name="Sergio Chaigneau" userId="f68fbc50c7642311" providerId="LiveId" clId="{7ECB5F1A-7789-4D4F-9579-9D230CC4D371}" dt="2025-05-18T23:42:30.144" v="447"/>
          <ac:spMkLst>
            <pc:docMk/>
            <pc:sldMk cId="4182497509" sldId="337"/>
            <ac:spMk id="9" creationId="{AE09C9F8-8680-3532-2F7E-3E53D20A8169}"/>
          </ac:spMkLst>
        </pc:spChg>
        <pc:spChg chg="add del mod">
          <ac:chgData name="Sergio Chaigneau" userId="f68fbc50c7642311" providerId="LiveId" clId="{7ECB5F1A-7789-4D4F-9579-9D230CC4D371}" dt="2025-05-18T23:45:54.317" v="540"/>
          <ac:spMkLst>
            <pc:docMk/>
            <pc:sldMk cId="4182497509" sldId="337"/>
            <ac:spMk id="11" creationId="{A71C2BF7-5DCA-6085-A985-CE5D580B693D}"/>
          </ac:spMkLst>
        </pc:spChg>
        <pc:graphicFrameChg chg="add del mod modGraphic">
          <ac:chgData name="Sergio Chaigneau" userId="f68fbc50c7642311" providerId="LiveId" clId="{7ECB5F1A-7789-4D4F-9579-9D230CC4D371}" dt="2025-05-18T23:50:50.170" v="643" actId="1076"/>
          <ac:graphicFrameMkLst>
            <pc:docMk/>
            <pc:sldMk cId="4182497509" sldId="337"/>
            <ac:graphicFrameMk id="3" creationId="{79FCA30B-8C0C-F354-6F92-C9DE81A7A9EF}"/>
          </ac:graphicFrameMkLst>
        </pc:graphicFrameChg>
        <pc:graphicFrameChg chg="add mod">
          <ac:chgData name="Sergio Chaigneau" userId="f68fbc50c7642311" providerId="LiveId" clId="{7ECB5F1A-7789-4D4F-9579-9D230CC4D371}" dt="2025-05-18T23:50:58.305" v="644" actId="1076"/>
          <ac:graphicFrameMkLst>
            <pc:docMk/>
            <pc:sldMk cId="4182497509" sldId="337"/>
            <ac:graphicFrameMk id="24" creationId="{397DBDB3-6F9A-1BA2-8323-FE738146C8C3}"/>
          </ac:graphicFrameMkLst>
        </pc:graphicFrameChg>
      </pc:sldChg>
      <pc:sldChg chg="add ord">
        <pc:chgData name="Sergio Chaigneau" userId="f68fbc50c7642311" providerId="LiveId" clId="{7ECB5F1A-7789-4D4F-9579-9D230CC4D371}" dt="2025-05-18T23:46:03.326" v="542"/>
        <pc:sldMkLst>
          <pc:docMk/>
          <pc:sldMk cId="1338410930" sldId="338"/>
        </pc:sldMkLst>
      </pc:sldChg>
      <pc:sldChg chg="addSp modSp new mod">
        <pc:chgData name="Sergio Chaigneau" userId="f68fbc50c7642311" providerId="LiveId" clId="{7ECB5F1A-7789-4D4F-9579-9D230CC4D371}" dt="2025-05-18T23:58:24.054" v="897" actId="20577"/>
        <pc:sldMkLst>
          <pc:docMk/>
          <pc:sldMk cId="412955718" sldId="339"/>
        </pc:sldMkLst>
        <pc:spChg chg="add mod">
          <ac:chgData name="Sergio Chaigneau" userId="f68fbc50c7642311" providerId="LiveId" clId="{7ECB5F1A-7789-4D4F-9579-9D230CC4D371}" dt="2025-05-18T23:58:24.054" v="897" actId="20577"/>
          <ac:spMkLst>
            <pc:docMk/>
            <pc:sldMk cId="412955718" sldId="339"/>
            <ac:spMk id="2" creationId="{5CA9E87F-57B7-6E77-7F38-7734FEDE231F}"/>
          </ac:spMkLst>
        </pc:spChg>
        <pc:spChg chg="add">
          <ac:chgData name="Sergio Chaigneau" userId="f68fbc50c7642311" providerId="LiveId" clId="{7ECB5F1A-7789-4D4F-9579-9D230CC4D371}" dt="2025-05-18T23:56:33.733" v="891"/>
          <ac:spMkLst>
            <pc:docMk/>
            <pc:sldMk cId="412955718" sldId="339"/>
            <ac:spMk id="3" creationId="{A54A9C41-C1F7-B45F-3519-4506F2CFD50F}"/>
          </ac:spMkLst>
        </pc:spChg>
        <pc:spChg chg="add">
          <ac:chgData name="Sergio Chaigneau" userId="f68fbc50c7642311" providerId="LiveId" clId="{7ECB5F1A-7789-4D4F-9579-9D230CC4D371}" dt="2025-05-18T23:56:33.733" v="891"/>
          <ac:spMkLst>
            <pc:docMk/>
            <pc:sldMk cId="412955718" sldId="339"/>
            <ac:spMk id="4" creationId="{63FAECD2-BED7-DFAA-ADEF-9A01FB137D64}"/>
          </ac:spMkLst>
        </pc:spChg>
        <pc:spChg chg="add">
          <ac:chgData name="Sergio Chaigneau" userId="f68fbc50c7642311" providerId="LiveId" clId="{7ECB5F1A-7789-4D4F-9579-9D230CC4D371}" dt="2025-05-18T23:56:33.733" v="891"/>
          <ac:spMkLst>
            <pc:docMk/>
            <pc:sldMk cId="412955718" sldId="339"/>
            <ac:spMk id="5" creationId="{00C87C63-B919-A41B-7446-E9DF35F4D22B}"/>
          </ac:spMkLst>
        </pc:spChg>
        <pc:spChg chg="add">
          <ac:chgData name="Sergio Chaigneau" userId="f68fbc50c7642311" providerId="LiveId" clId="{7ECB5F1A-7789-4D4F-9579-9D230CC4D371}" dt="2025-05-18T23:56:33.733" v="891"/>
          <ac:spMkLst>
            <pc:docMk/>
            <pc:sldMk cId="412955718" sldId="339"/>
            <ac:spMk id="6" creationId="{12A84508-F664-E54D-0B80-2754A5054532}"/>
          </ac:spMkLst>
        </pc:spChg>
        <pc:spChg chg="add">
          <ac:chgData name="Sergio Chaigneau" userId="f68fbc50c7642311" providerId="LiveId" clId="{7ECB5F1A-7789-4D4F-9579-9D230CC4D371}" dt="2025-05-18T23:56:33.733" v="891"/>
          <ac:spMkLst>
            <pc:docMk/>
            <pc:sldMk cId="412955718" sldId="339"/>
            <ac:spMk id="7" creationId="{D313BAA0-4661-3623-0DF8-4498575C2B7D}"/>
          </ac:spMkLst>
        </pc:spChg>
      </pc:sldChg>
      <pc:sldChg chg="modSp add mod">
        <pc:chgData name="Sergio Chaigneau" userId="f68fbc50c7642311" providerId="LiveId" clId="{7ECB5F1A-7789-4D4F-9579-9D230CC4D371}" dt="2025-05-18T23:59:40.551" v="914" actId="20577"/>
        <pc:sldMkLst>
          <pc:docMk/>
          <pc:sldMk cId="220638881" sldId="340"/>
        </pc:sldMkLst>
        <pc:spChg chg="mod">
          <ac:chgData name="Sergio Chaigneau" userId="f68fbc50c7642311" providerId="LiveId" clId="{7ECB5F1A-7789-4D4F-9579-9D230CC4D371}" dt="2025-05-18T23:59:40.551" v="914" actId="20577"/>
          <ac:spMkLst>
            <pc:docMk/>
            <pc:sldMk cId="220638881" sldId="340"/>
            <ac:spMk id="2" creationId="{FF04D86E-E1E3-D522-08F7-CC04C8856F07}"/>
          </ac:spMkLst>
        </pc:spChg>
      </pc:sldChg>
      <pc:sldChg chg="modSp add mod">
        <pc:chgData name="Sergio Chaigneau" userId="f68fbc50c7642311" providerId="LiveId" clId="{7ECB5F1A-7789-4D4F-9579-9D230CC4D371}" dt="2025-05-19T00:01:03.200" v="922" actId="1076"/>
        <pc:sldMkLst>
          <pc:docMk/>
          <pc:sldMk cId="109433011" sldId="341"/>
        </pc:sldMkLst>
        <pc:spChg chg="mod">
          <ac:chgData name="Sergio Chaigneau" userId="f68fbc50c7642311" providerId="LiveId" clId="{7ECB5F1A-7789-4D4F-9579-9D230CC4D371}" dt="2025-05-19T00:01:03.200" v="922" actId="1076"/>
          <ac:spMkLst>
            <pc:docMk/>
            <pc:sldMk cId="109433011" sldId="341"/>
            <ac:spMk id="2" creationId="{7A488166-F98C-A8AA-F36C-81218667EC74}"/>
          </ac:spMkLst>
        </pc:spChg>
      </pc:sldChg>
    </pc:docChg>
  </pc:docChgLst>
  <pc:docChgLst>
    <pc:chgData name="Sergio Chaigneau" userId="f68fbc50c7642311" providerId="LiveId" clId="{0E3D7F99-E9CE-4331-BF36-57B71C8A7DA8}"/>
    <pc:docChg chg="undo custSel addSld delSld modSld sldOrd">
      <pc:chgData name="Sergio Chaigneau" userId="f68fbc50c7642311" providerId="LiveId" clId="{0E3D7F99-E9CE-4331-BF36-57B71C8A7DA8}" dt="2024-05-27T00:03:11.585" v="5206" actId="1076"/>
      <pc:docMkLst>
        <pc:docMk/>
      </pc:docMkLst>
      <pc:sldChg chg="addSp delSp modSp mod">
        <pc:chgData name="Sergio Chaigneau" userId="f68fbc50c7642311" providerId="LiveId" clId="{0E3D7F99-E9CE-4331-BF36-57B71C8A7DA8}" dt="2024-05-26T23:56:04.653" v="5164" actId="14100"/>
        <pc:sldMkLst>
          <pc:docMk/>
          <pc:sldMk cId="3088734475" sldId="270"/>
        </pc:sldMkLst>
      </pc:sldChg>
      <pc:sldChg chg="modSp">
        <pc:chgData name="Sergio Chaigneau" userId="f68fbc50c7642311" providerId="LiveId" clId="{0E3D7F99-E9CE-4331-BF36-57B71C8A7DA8}" dt="2024-05-24T21:19:29.450" v="4" actId="20577"/>
        <pc:sldMkLst>
          <pc:docMk/>
          <pc:sldMk cId="1740094338" sldId="271"/>
        </pc:sldMkLst>
      </pc:sldChg>
      <pc:sldChg chg="modSp mod">
        <pc:chgData name="Sergio Chaigneau" userId="f68fbc50c7642311" providerId="LiveId" clId="{0E3D7F99-E9CE-4331-BF36-57B71C8A7DA8}" dt="2024-05-24T21:40:25.753" v="27" actId="20577"/>
        <pc:sldMkLst>
          <pc:docMk/>
          <pc:sldMk cId="747453546" sldId="273"/>
        </pc:sldMkLst>
      </pc:sldChg>
      <pc:sldChg chg="modSp mod">
        <pc:chgData name="Sergio Chaigneau" userId="f68fbc50c7642311" providerId="LiveId" clId="{0E3D7F99-E9CE-4331-BF36-57B71C8A7DA8}" dt="2024-05-24T21:42:56.228" v="34" actId="27636"/>
        <pc:sldMkLst>
          <pc:docMk/>
          <pc:sldMk cId="958255869" sldId="274"/>
        </pc:sldMkLst>
      </pc:sldChg>
      <pc:sldChg chg="addSp delSp modSp mod">
        <pc:chgData name="Sergio Chaigneau" userId="f68fbc50c7642311" providerId="LiveId" clId="{0E3D7F99-E9CE-4331-BF36-57B71C8A7DA8}" dt="2024-05-24T23:41:55.441" v="366" actId="1076"/>
        <pc:sldMkLst>
          <pc:docMk/>
          <pc:sldMk cId="2351911380" sldId="275"/>
        </pc:sldMkLst>
      </pc:sldChg>
      <pc:sldChg chg="modSp mod">
        <pc:chgData name="Sergio Chaigneau" userId="f68fbc50c7642311" providerId="LiveId" clId="{0E3D7F99-E9CE-4331-BF36-57B71C8A7DA8}" dt="2024-05-24T21:53:49.441" v="207" actId="5793"/>
        <pc:sldMkLst>
          <pc:docMk/>
          <pc:sldMk cId="3090646700" sldId="276"/>
        </pc:sldMkLst>
      </pc:sldChg>
      <pc:sldChg chg="modSp mod">
        <pc:chgData name="Sergio Chaigneau" userId="f68fbc50c7642311" providerId="LiveId" clId="{0E3D7F99-E9CE-4331-BF36-57B71C8A7DA8}" dt="2024-05-24T21:54:33.991" v="212" actId="1076"/>
        <pc:sldMkLst>
          <pc:docMk/>
          <pc:sldMk cId="3633582377" sldId="277"/>
        </pc:sldMkLst>
      </pc:sldChg>
      <pc:sldChg chg="modSp mod">
        <pc:chgData name="Sergio Chaigneau" userId="f68fbc50c7642311" providerId="LiveId" clId="{0E3D7F99-E9CE-4331-BF36-57B71C8A7DA8}" dt="2024-05-24T21:54:51.974" v="214" actId="14100"/>
        <pc:sldMkLst>
          <pc:docMk/>
          <pc:sldMk cId="764510" sldId="278"/>
        </pc:sldMkLst>
      </pc:sldChg>
      <pc:sldChg chg="modSp mod">
        <pc:chgData name="Sergio Chaigneau" userId="f68fbc50c7642311" providerId="LiveId" clId="{0E3D7F99-E9CE-4331-BF36-57B71C8A7DA8}" dt="2024-05-25T20:10:41.217" v="798" actId="20577"/>
        <pc:sldMkLst>
          <pc:docMk/>
          <pc:sldMk cId="2669509839" sldId="279"/>
        </pc:sldMkLst>
      </pc:sldChg>
      <pc:sldChg chg="del ord">
        <pc:chgData name="Sergio Chaigneau" userId="f68fbc50c7642311" providerId="LiveId" clId="{0E3D7F99-E9CE-4331-BF36-57B71C8A7DA8}" dt="2024-05-25T23:47:00.186" v="2599" actId="47"/>
        <pc:sldMkLst>
          <pc:docMk/>
          <pc:sldMk cId="1559036024" sldId="280"/>
        </pc:sldMkLst>
      </pc:sldChg>
      <pc:sldChg chg="modSp mod">
        <pc:chgData name="Sergio Chaigneau" userId="f68fbc50c7642311" providerId="LiveId" clId="{0E3D7F99-E9CE-4331-BF36-57B71C8A7DA8}" dt="2024-05-26T01:55:14.548" v="4505" actId="20577"/>
        <pc:sldMkLst>
          <pc:docMk/>
          <pc:sldMk cId="1848949241" sldId="281"/>
        </pc:sldMkLst>
      </pc:sldChg>
      <pc:sldChg chg="del">
        <pc:chgData name="Sergio Chaigneau" userId="f68fbc50c7642311" providerId="LiveId" clId="{0E3D7F99-E9CE-4331-BF36-57B71C8A7DA8}" dt="2024-05-25T23:46:12.070" v="2597" actId="47"/>
        <pc:sldMkLst>
          <pc:docMk/>
          <pc:sldMk cId="3722127367" sldId="282"/>
        </pc:sldMkLst>
      </pc:sldChg>
      <pc:sldChg chg="addSp delSp modSp mod">
        <pc:chgData name="Sergio Chaigneau" userId="f68fbc50c7642311" providerId="LiveId" clId="{0E3D7F99-E9CE-4331-BF36-57B71C8A7DA8}" dt="2024-05-27T00:03:11.585" v="5206" actId="1076"/>
        <pc:sldMkLst>
          <pc:docMk/>
          <pc:sldMk cId="2301503357" sldId="283"/>
        </pc:sldMkLst>
      </pc:sldChg>
      <pc:sldChg chg="del">
        <pc:chgData name="Sergio Chaigneau" userId="f68fbc50c7642311" providerId="LiveId" clId="{0E3D7F99-E9CE-4331-BF36-57B71C8A7DA8}" dt="2024-05-25T23:47:08.780" v="2601" actId="47"/>
        <pc:sldMkLst>
          <pc:docMk/>
          <pc:sldMk cId="3293727670" sldId="285"/>
        </pc:sldMkLst>
      </pc:sldChg>
      <pc:sldChg chg="del">
        <pc:chgData name="Sergio Chaigneau" userId="f68fbc50c7642311" providerId="LiveId" clId="{0E3D7F99-E9CE-4331-BF36-57B71C8A7DA8}" dt="2024-05-25T23:46:52.263" v="2598" actId="47"/>
        <pc:sldMkLst>
          <pc:docMk/>
          <pc:sldMk cId="425961108" sldId="287"/>
        </pc:sldMkLst>
      </pc:sldChg>
      <pc:sldChg chg="del">
        <pc:chgData name="Sergio Chaigneau" userId="f68fbc50c7642311" providerId="LiveId" clId="{0E3D7F99-E9CE-4331-BF36-57B71C8A7DA8}" dt="2024-05-25T23:47:12.393" v="2602" actId="47"/>
        <pc:sldMkLst>
          <pc:docMk/>
          <pc:sldMk cId="2498682451" sldId="288"/>
        </pc:sldMkLst>
      </pc:sldChg>
      <pc:sldChg chg="del">
        <pc:chgData name="Sergio Chaigneau" userId="f68fbc50c7642311" providerId="LiveId" clId="{0E3D7F99-E9CE-4331-BF36-57B71C8A7DA8}" dt="2024-05-25T23:47:05.931" v="2600" actId="47"/>
        <pc:sldMkLst>
          <pc:docMk/>
          <pc:sldMk cId="810010511" sldId="289"/>
        </pc:sldMkLst>
      </pc:sldChg>
      <pc:sldChg chg="modSp mod">
        <pc:chgData name="Sergio Chaigneau" userId="f68fbc50c7642311" providerId="LiveId" clId="{0E3D7F99-E9CE-4331-BF36-57B71C8A7DA8}" dt="2024-05-25T20:57:01.021" v="1360" actId="27636"/>
        <pc:sldMkLst>
          <pc:docMk/>
          <pc:sldMk cId="2295075655" sldId="290"/>
        </pc:sldMkLst>
      </pc:sldChg>
      <pc:sldChg chg="modSp mod">
        <pc:chgData name="Sergio Chaigneau" userId="f68fbc50c7642311" providerId="LiveId" clId="{0E3D7F99-E9CE-4331-BF36-57B71C8A7DA8}" dt="2024-05-25T20:53:43.323" v="1081" actId="27636"/>
        <pc:sldMkLst>
          <pc:docMk/>
          <pc:sldMk cId="1725017074" sldId="291"/>
        </pc:sldMkLst>
      </pc:sldChg>
      <pc:sldChg chg="modSp mod">
        <pc:chgData name="Sergio Chaigneau" userId="f68fbc50c7642311" providerId="LiveId" clId="{0E3D7F99-E9CE-4331-BF36-57B71C8A7DA8}" dt="2024-05-25T20:54:19.717" v="1086" actId="27636"/>
        <pc:sldMkLst>
          <pc:docMk/>
          <pc:sldMk cId="3515990703" sldId="292"/>
        </pc:sldMkLst>
      </pc:sldChg>
      <pc:sldChg chg="modSp mod">
        <pc:chgData name="Sergio Chaigneau" userId="f68fbc50c7642311" providerId="LiveId" clId="{0E3D7F99-E9CE-4331-BF36-57B71C8A7DA8}" dt="2024-05-26T23:19:20.788" v="5079" actId="20577"/>
        <pc:sldMkLst>
          <pc:docMk/>
          <pc:sldMk cId="1369787268" sldId="293"/>
        </pc:sldMkLst>
      </pc:sldChg>
      <pc:sldChg chg="modSp mod">
        <pc:chgData name="Sergio Chaigneau" userId="f68fbc50c7642311" providerId="LiveId" clId="{0E3D7F99-E9CE-4331-BF36-57B71C8A7DA8}" dt="2024-05-26T23:24:03.477" v="5086" actId="27636"/>
        <pc:sldMkLst>
          <pc:docMk/>
          <pc:sldMk cId="1710117206" sldId="294"/>
        </pc:sldMkLst>
      </pc:sldChg>
      <pc:sldChg chg="addSp delSp modSp mod">
        <pc:chgData name="Sergio Chaigneau" userId="f68fbc50c7642311" providerId="LiveId" clId="{0E3D7F99-E9CE-4331-BF36-57B71C8A7DA8}" dt="2024-05-26T23:24:25.762" v="5089" actId="478"/>
        <pc:sldMkLst>
          <pc:docMk/>
          <pc:sldMk cId="2246686365" sldId="295"/>
        </pc:sldMkLst>
      </pc:sldChg>
      <pc:sldChg chg="addSp delSp modSp mod">
        <pc:chgData name="Sergio Chaigneau" userId="f68fbc50c7642311" providerId="LiveId" clId="{0E3D7F99-E9CE-4331-BF36-57B71C8A7DA8}" dt="2024-05-26T23:24:40.683" v="5092" actId="1076"/>
        <pc:sldMkLst>
          <pc:docMk/>
          <pc:sldMk cId="2795750334" sldId="296"/>
        </pc:sldMkLst>
      </pc:sldChg>
      <pc:sldChg chg="addSp delSp modSp mod">
        <pc:chgData name="Sergio Chaigneau" userId="f68fbc50c7642311" providerId="LiveId" clId="{0E3D7F99-E9CE-4331-BF36-57B71C8A7DA8}" dt="2024-05-26T23:26:34.170" v="5109" actId="1076"/>
        <pc:sldMkLst>
          <pc:docMk/>
          <pc:sldMk cId="3899683669" sldId="297"/>
        </pc:sldMkLst>
      </pc:sldChg>
      <pc:sldChg chg="addSp delSp modSp mod">
        <pc:chgData name="Sergio Chaigneau" userId="f68fbc50c7642311" providerId="LiveId" clId="{0E3D7F99-E9CE-4331-BF36-57B71C8A7DA8}" dt="2024-05-26T23:24:55.297" v="5095" actId="1076"/>
        <pc:sldMkLst>
          <pc:docMk/>
          <pc:sldMk cId="3958553227" sldId="298"/>
        </pc:sldMkLst>
      </pc:sldChg>
      <pc:sldChg chg="addSp delSp modSp mod">
        <pc:chgData name="Sergio Chaigneau" userId="f68fbc50c7642311" providerId="LiveId" clId="{0E3D7F99-E9CE-4331-BF36-57B71C8A7DA8}" dt="2024-05-26T23:25:12.450" v="5098" actId="1076"/>
        <pc:sldMkLst>
          <pc:docMk/>
          <pc:sldMk cId="413869003" sldId="299"/>
        </pc:sldMkLst>
      </pc:sldChg>
      <pc:sldChg chg="addSp delSp modSp mod">
        <pc:chgData name="Sergio Chaigneau" userId="f68fbc50c7642311" providerId="LiveId" clId="{0E3D7F99-E9CE-4331-BF36-57B71C8A7DA8}" dt="2024-05-26T23:25:27.514" v="5100" actId="478"/>
        <pc:sldMkLst>
          <pc:docMk/>
          <pc:sldMk cId="2752944123" sldId="300"/>
        </pc:sldMkLst>
      </pc:sldChg>
      <pc:sldChg chg="addSp delSp modSp mod">
        <pc:chgData name="Sergio Chaigneau" userId="f68fbc50c7642311" providerId="LiveId" clId="{0E3D7F99-E9CE-4331-BF36-57B71C8A7DA8}" dt="2024-05-26T23:25:43.613" v="5103" actId="1076"/>
        <pc:sldMkLst>
          <pc:docMk/>
          <pc:sldMk cId="2438840544" sldId="301"/>
        </pc:sldMkLst>
      </pc:sldChg>
      <pc:sldChg chg="addSp delSp modSp mod">
        <pc:chgData name="Sergio Chaigneau" userId="f68fbc50c7642311" providerId="LiveId" clId="{0E3D7F99-E9CE-4331-BF36-57B71C8A7DA8}" dt="2024-05-26T23:26:01.497" v="5106" actId="1076"/>
        <pc:sldMkLst>
          <pc:docMk/>
          <pc:sldMk cId="185999179" sldId="302"/>
        </pc:sldMkLst>
      </pc:sldChg>
      <pc:sldChg chg="modSp mod">
        <pc:chgData name="Sergio Chaigneau" userId="f68fbc50c7642311" providerId="LiveId" clId="{0E3D7F99-E9CE-4331-BF36-57B71C8A7DA8}" dt="2024-05-26T01:56:25.505" v="4544" actId="20577"/>
        <pc:sldMkLst>
          <pc:docMk/>
          <pc:sldMk cId="2461989005" sldId="303"/>
        </pc:sldMkLst>
      </pc:sldChg>
      <pc:sldChg chg="addSp delSp modSp add mod">
        <pc:chgData name="Sergio Chaigneau" userId="f68fbc50c7642311" providerId="LiveId" clId="{0E3D7F99-E9CE-4331-BF36-57B71C8A7DA8}" dt="2024-05-27T00:00:00.107" v="5172" actId="27636"/>
        <pc:sldMkLst>
          <pc:docMk/>
          <pc:sldMk cId="3461998889" sldId="305"/>
        </pc:sldMkLst>
      </pc:sldChg>
      <pc:sldChg chg="delSp modSp add mod setBg delDesignElem">
        <pc:chgData name="Sergio Chaigneau" userId="f68fbc50c7642311" providerId="LiveId" clId="{0E3D7F99-E9CE-4331-BF36-57B71C8A7DA8}" dt="2024-05-25T21:21:27.013" v="1608" actId="20577"/>
        <pc:sldMkLst>
          <pc:docMk/>
          <pc:sldMk cId="865788207" sldId="306"/>
        </pc:sldMkLst>
      </pc:sldChg>
      <pc:sldChg chg="addSp delSp modSp add mod">
        <pc:chgData name="Sergio Chaigneau" userId="f68fbc50c7642311" providerId="LiveId" clId="{0E3D7F99-E9CE-4331-BF36-57B71C8A7DA8}" dt="2024-05-25T20:11:56.406" v="906" actId="5793"/>
        <pc:sldMkLst>
          <pc:docMk/>
          <pc:sldMk cId="2616333613" sldId="307"/>
        </pc:sldMkLst>
      </pc:sldChg>
      <pc:sldChg chg="addSp delSp modSp add mod">
        <pc:chgData name="Sergio Chaigneau" userId="f68fbc50c7642311" providerId="LiveId" clId="{0E3D7F99-E9CE-4331-BF36-57B71C8A7DA8}" dt="2024-05-25T00:17:49.654" v="781" actId="1076"/>
        <pc:sldMkLst>
          <pc:docMk/>
          <pc:sldMk cId="1980030008" sldId="308"/>
        </pc:sldMkLst>
      </pc:sldChg>
      <pc:sldChg chg="addSp delSp modSp add mod">
        <pc:chgData name="Sergio Chaigneau" userId="f68fbc50c7642311" providerId="LiveId" clId="{0E3D7F99-E9CE-4331-BF36-57B71C8A7DA8}" dt="2024-05-25T00:23:11.724" v="797" actId="14100"/>
        <pc:sldMkLst>
          <pc:docMk/>
          <pc:sldMk cId="3617980233" sldId="309"/>
        </pc:sldMkLst>
      </pc:sldChg>
      <pc:sldChg chg="modSp add mod">
        <pc:chgData name="Sergio Chaigneau" userId="f68fbc50c7642311" providerId="LiveId" clId="{0E3D7F99-E9CE-4331-BF36-57B71C8A7DA8}" dt="2024-05-25T21:13:07.472" v="1374" actId="27636"/>
        <pc:sldMkLst>
          <pc:docMk/>
          <pc:sldMk cId="2157693597" sldId="310"/>
        </pc:sldMkLst>
      </pc:sldChg>
      <pc:sldChg chg="addSp delSp modSp add mod">
        <pc:chgData name="Sergio Chaigneau" userId="f68fbc50c7642311" providerId="LiveId" clId="{0E3D7F99-E9CE-4331-BF36-57B71C8A7DA8}" dt="2024-05-26T16:45:15.067" v="5029" actId="115"/>
        <pc:sldMkLst>
          <pc:docMk/>
          <pc:sldMk cId="1218395010" sldId="311"/>
        </pc:sldMkLst>
      </pc:sldChg>
      <pc:sldChg chg="addSp delSp modSp add mod">
        <pc:chgData name="Sergio Chaigneau" userId="f68fbc50c7642311" providerId="LiveId" clId="{0E3D7F99-E9CE-4331-BF36-57B71C8A7DA8}" dt="2024-05-26T16:52:23.528" v="5040" actId="14100"/>
        <pc:sldMkLst>
          <pc:docMk/>
          <pc:sldMk cId="2509531634" sldId="312"/>
        </pc:sldMkLst>
      </pc:sldChg>
      <pc:sldChg chg="addSp delSp modSp add mod">
        <pc:chgData name="Sergio Chaigneau" userId="f68fbc50c7642311" providerId="LiveId" clId="{0E3D7F99-E9CE-4331-BF36-57B71C8A7DA8}" dt="2024-05-25T22:59:00.200" v="2400" actId="1076"/>
        <pc:sldMkLst>
          <pc:docMk/>
          <pc:sldMk cId="3979222049" sldId="313"/>
        </pc:sldMkLst>
      </pc:sldChg>
      <pc:sldChg chg="addSp modSp add mod">
        <pc:chgData name="Sergio Chaigneau" userId="f68fbc50c7642311" providerId="LiveId" clId="{0E3D7F99-E9CE-4331-BF36-57B71C8A7DA8}" dt="2024-05-25T23:01:28.740" v="2596" actId="1076"/>
        <pc:sldMkLst>
          <pc:docMk/>
          <pc:sldMk cId="657661476" sldId="314"/>
        </pc:sldMkLst>
      </pc:sldChg>
      <pc:sldChg chg="delSp modSp add mod">
        <pc:chgData name="Sergio Chaigneau" userId="f68fbc50c7642311" providerId="LiveId" clId="{0E3D7F99-E9CE-4331-BF36-57B71C8A7DA8}" dt="2024-05-26T01:08:29.785" v="3104" actId="20577"/>
        <pc:sldMkLst>
          <pc:docMk/>
          <pc:sldMk cId="4079967669" sldId="315"/>
        </pc:sldMkLst>
      </pc:sldChg>
      <pc:sldChg chg="addSp modSp add mod">
        <pc:chgData name="Sergio Chaigneau" userId="f68fbc50c7642311" providerId="LiveId" clId="{0E3D7F99-E9CE-4331-BF36-57B71C8A7DA8}" dt="2024-05-26T01:23:54.336" v="3671" actId="1076"/>
        <pc:sldMkLst>
          <pc:docMk/>
          <pc:sldMk cId="2045869358" sldId="316"/>
        </pc:sldMkLst>
      </pc:sldChg>
      <pc:sldChg chg="addSp delSp modSp add mod">
        <pc:chgData name="Sergio Chaigneau" userId="f68fbc50c7642311" providerId="LiveId" clId="{0E3D7F99-E9CE-4331-BF36-57B71C8A7DA8}" dt="2024-05-26T01:21:47.638" v="3611" actId="14100"/>
        <pc:sldMkLst>
          <pc:docMk/>
          <pc:sldMk cId="798318475" sldId="317"/>
        </pc:sldMkLst>
      </pc:sldChg>
      <pc:sldChg chg="addSp delSp modSp add mod">
        <pc:chgData name="Sergio Chaigneau" userId="f68fbc50c7642311" providerId="LiveId" clId="{0E3D7F99-E9CE-4331-BF36-57B71C8A7DA8}" dt="2024-05-26T01:28:08.009" v="3740" actId="20577"/>
        <pc:sldMkLst>
          <pc:docMk/>
          <pc:sldMk cId="2594299312" sldId="318"/>
        </pc:sldMkLst>
      </pc:sldChg>
      <pc:sldChg chg="addSp delSp modSp add mod">
        <pc:chgData name="Sergio Chaigneau" userId="f68fbc50c7642311" providerId="LiveId" clId="{0E3D7F99-E9CE-4331-BF36-57B71C8A7DA8}" dt="2024-05-26T01:29:51.614" v="3760" actId="1076"/>
        <pc:sldMkLst>
          <pc:docMk/>
          <pc:sldMk cId="3808050346" sldId="319"/>
        </pc:sldMkLst>
      </pc:sldChg>
      <pc:sldChg chg="delSp modSp add mod">
        <pc:chgData name="Sergio Chaigneau" userId="f68fbc50c7642311" providerId="LiveId" clId="{0E3D7F99-E9CE-4331-BF36-57B71C8A7DA8}" dt="2024-05-26T16:43:54.529" v="5028" actId="20577"/>
        <pc:sldMkLst>
          <pc:docMk/>
          <pc:sldMk cId="113211251" sldId="320"/>
        </pc:sldMkLst>
      </pc:sldChg>
      <pc:sldChg chg="delSp modSp add mod setBg delDesignElem">
        <pc:chgData name="Sergio Chaigneau" userId="f68fbc50c7642311" providerId="LiveId" clId="{0E3D7F99-E9CE-4331-BF36-57B71C8A7DA8}" dt="2024-05-26T01:51:49.095" v="4361" actId="20577"/>
        <pc:sldMkLst>
          <pc:docMk/>
          <pc:sldMk cId="1886947418" sldId="321"/>
        </pc:sldMkLst>
      </pc:sldChg>
      <pc:sldChg chg="modSp add mod">
        <pc:chgData name="Sergio Chaigneau" userId="f68fbc50c7642311" providerId="LiveId" clId="{0E3D7F99-E9CE-4331-BF36-57B71C8A7DA8}" dt="2024-05-26T16:40:50.967" v="4556" actId="207"/>
        <pc:sldMkLst>
          <pc:docMk/>
          <pc:sldMk cId="1290170283" sldId="322"/>
        </pc:sldMkLst>
      </pc:sldChg>
      <pc:sldChg chg="modSp add mod">
        <pc:chgData name="Sergio Chaigneau" userId="f68fbc50c7642311" providerId="LiveId" clId="{0E3D7F99-E9CE-4331-BF36-57B71C8A7DA8}" dt="2024-05-26T01:54:24.772" v="4475" actId="1076"/>
        <pc:sldMkLst>
          <pc:docMk/>
          <pc:sldMk cId="916012617" sldId="323"/>
        </pc:sldMkLst>
      </pc:sldChg>
      <pc:sldChg chg="modSp add mod">
        <pc:chgData name="Sergio Chaigneau" userId="f68fbc50c7642311" providerId="LiveId" clId="{0E3D7F99-E9CE-4331-BF36-57B71C8A7DA8}" dt="2024-05-26T16:40:06.836" v="4554" actId="207"/>
        <pc:sldMkLst>
          <pc:docMk/>
          <pc:sldMk cId="1720981499" sldId="324"/>
        </pc:sldMkLst>
      </pc:sldChg>
      <pc:sldChg chg="add">
        <pc:chgData name="Sergio Chaigneau" userId="f68fbc50c7642311" providerId="LiveId" clId="{0E3D7F99-E9CE-4331-BF36-57B71C8A7DA8}" dt="2024-05-26T16:48:36.733" v="5034" actId="2890"/>
        <pc:sldMkLst>
          <pc:docMk/>
          <pc:sldMk cId="259760026" sldId="325"/>
        </pc:sldMkLst>
      </pc:sldChg>
      <pc:sldChg chg="addSp delSp modSp add del mod">
        <pc:chgData name="Sergio Chaigneau" userId="f68fbc50c7642311" providerId="LiveId" clId="{0E3D7F99-E9CE-4331-BF36-57B71C8A7DA8}" dt="2024-05-26T16:48:16.025" v="5033" actId="47"/>
        <pc:sldMkLst>
          <pc:docMk/>
          <pc:sldMk cId="3432127386" sldId="325"/>
        </pc:sldMkLst>
      </pc:sldChg>
      <pc:sldChg chg="addSp delSp modSp add mod">
        <pc:chgData name="Sergio Chaigneau" userId="f68fbc50c7642311" providerId="LiveId" clId="{0E3D7F99-E9CE-4331-BF36-57B71C8A7DA8}" dt="2024-05-26T23:44:44.282" v="5151" actId="14100"/>
        <pc:sldMkLst>
          <pc:docMk/>
          <pc:sldMk cId="1643270230" sldId="326"/>
        </pc:sldMkLst>
      </pc:sldChg>
      <pc:sldChg chg="add">
        <pc:chgData name="Sergio Chaigneau" userId="f68fbc50c7642311" providerId="LiveId" clId="{0E3D7F99-E9CE-4331-BF36-57B71C8A7DA8}" dt="2024-05-26T23:50:40.741" v="5152" actId="2890"/>
        <pc:sldMkLst>
          <pc:docMk/>
          <pc:sldMk cId="2892873730" sldId="327"/>
        </pc:sldMkLst>
      </pc:sldChg>
      <pc:sldChg chg="addSp delSp modSp add mod">
        <pc:chgData name="Sergio Chaigneau" userId="f68fbc50c7642311" providerId="LiveId" clId="{0E3D7F99-E9CE-4331-BF36-57B71C8A7DA8}" dt="2024-05-27T00:02:24.154" v="5196" actId="21"/>
        <pc:sldMkLst>
          <pc:docMk/>
          <pc:sldMk cId="3212539867" sldId="328"/>
        </pc:sldMkLst>
      </pc:sldChg>
      <pc:sldChg chg="addSp modSp add mod">
        <pc:chgData name="Sergio Chaigneau" userId="f68fbc50c7642311" providerId="LiveId" clId="{0E3D7F99-E9CE-4331-BF36-57B71C8A7DA8}" dt="2024-05-27T00:01:04.331" v="5181" actId="1076"/>
        <pc:sldMkLst>
          <pc:docMk/>
          <pc:sldMk cId="2712831428" sldId="329"/>
        </pc:sldMkLst>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13.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13.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E972C8-BD0F-46F9-8DC4-BF619323D533}"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7868BDE1-3027-409C-83F5-ED76D9148319}">
      <dgm:prSet/>
      <dgm:spPr/>
      <dgm:t>
        <a:bodyPr/>
        <a:lstStyle/>
        <a:p>
          <a:pPr rtl="0"/>
          <a:r>
            <a:rPr lang="en-US" dirty="0"/>
            <a:t>Las redes </a:t>
          </a:r>
          <a:r>
            <a:rPr lang="en-US" dirty="0" err="1"/>
            <a:t>neuronales</a:t>
          </a:r>
          <a:r>
            <a:rPr lang="en-US" dirty="0"/>
            <a:t>, o redes </a:t>
          </a:r>
          <a:r>
            <a:rPr lang="en-US" dirty="0" err="1"/>
            <a:t>neuronales</a:t>
          </a:r>
          <a:r>
            <a:rPr lang="en-US" dirty="0"/>
            <a:t> </a:t>
          </a:r>
          <a:r>
            <a:rPr lang="en-US" dirty="0" err="1"/>
            <a:t>artificiales</a:t>
          </a:r>
          <a:r>
            <a:rPr lang="en-US" dirty="0"/>
            <a:t> son </a:t>
          </a:r>
          <a:r>
            <a:rPr lang="en-US" dirty="0" err="1"/>
            <a:t>una</a:t>
          </a:r>
          <a:r>
            <a:rPr lang="en-US" dirty="0"/>
            <a:t> </a:t>
          </a:r>
          <a:r>
            <a:rPr lang="en-US" dirty="0" err="1"/>
            <a:t>clase</a:t>
          </a:r>
          <a:r>
            <a:rPr lang="en-US" dirty="0"/>
            <a:t> de </a:t>
          </a:r>
          <a:r>
            <a:rPr lang="en-US" dirty="0" err="1"/>
            <a:t>modelos</a:t>
          </a:r>
          <a:r>
            <a:rPr lang="en-US" dirty="0"/>
            <a:t> de </a:t>
          </a:r>
          <a:r>
            <a:rPr lang="en-US" dirty="0" err="1"/>
            <a:t>aprendizaje</a:t>
          </a:r>
          <a:r>
            <a:rPr lang="en-US" dirty="0"/>
            <a:t> </a:t>
          </a:r>
          <a:r>
            <a:rPr lang="en-US" dirty="0" err="1"/>
            <a:t>automático</a:t>
          </a:r>
          <a:r>
            <a:rPr lang="en-US" dirty="0"/>
            <a:t> </a:t>
          </a:r>
          <a:r>
            <a:rPr lang="en-US" dirty="0" err="1"/>
            <a:t>inspirados</a:t>
          </a:r>
          <a:r>
            <a:rPr lang="en-US" dirty="0"/>
            <a:t> </a:t>
          </a:r>
          <a:r>
            <a:rPr lang="en-US" dirty="0" err="1"/>
            <a:t>en</a:t>
          </a:r>
          <a:r>
            <a:rPr lang="en-US" dirty="0"/>
            <a:t> la </a:t>
          </a:r>
          <a:r>
            <a:rPr lang="en-US" dirty="0" err="1"/>
            <a:t>estructura</a:t>
          </a:r>
          <a:r>
            <a:rPr lang="en-US" dirty="0"/>
            <a:t> y </a:t>
          </a:r>
          <a:r>
            <a:rPr lang="en-US" dirty="0" err="1"/>
            <a:t>función</a:t>
          </a:r>
          <a:r>
            <a:rPr lang="en-US" dirty="0"/>
            <a:t> del </a:t>
          </a:r>
          <a:r>
            <a:rPr lang="en-US" dirty="0" err="1"/>
            <a:t>cerebro</a:t>
          </a:r>
          <a:r>
            <a:rPr lang="en-US" dirty="0"/>
            <a:t> </a:t>
          </a:r>
          <a:r>
            <a:rPr lang="en-US" dirty="0" err="1"/>
            <a:t>humano</a:t>
          </a:r>
          <a:endParaRPr lang="en-US" dirty="0"/>
        </a:p>
      </dgm:t>
    </dgm:pt>
    <dgm:pt modelId="{3108ECC0-535D-4B15-8B95-BC9208843A8C}" type="parTrans" cxnId="{A8388DA5-44AE-4C95-A40F-345FCDFF4E31}">
      <dgm:prSet/>
      <dgm:spPr/>
      <dgm:t>
        <a:bodyPr/>
        <a:lstStyle/>
        <a:p>
          <a:endParaRPr lang="en-US"/>
        </a:p>
      </dgm:t>
    </dgm:pt>
    <dgm:pt modelId="{89D6CDED-DF10-40B4-8A15-5F66DBEE4FFE}" type="sibTrans" cxnId="{A8388DA5-44AE-4C95-A40F-345FCDFF4E31}">
      <dgm:prSet/>
      <dgm:spPr/>
      <dgm:t>
        <a:bodyPr/>
        <a:lstStyle/>
        <a:p>
          <a:endParaRPr lang="en-US"/>
        </a:p>
      </dgm:t>
    </dgm:pt>
    <dgm:pt modelId="{C87E80CE-8977-41E8-A4C0-3670474EC08A}">
      <dgm:prSet/>
      <dgm:spPr/>
      <dgm:t>
        <a:bodyPr/>
        <a:lstStyle/>
        <a:p>
          <a:r>
            <a:rPr lang="en-US" dirty="0"/>
            <a:t>Se </a:t>
          </a:r>
          <a:r>
            <a:rPr lang="en-US" dirty="0" err="1"/>
            <a:t>componen</a:t>
          </a:r>
          <a:r>
            <a:rPr lang="en-US" dirty="0"/>
            <a:t> de </a:t>
          </a:r>
          <a:r>
            <a:rPr lang="en-US" dirty="0" err="1"/>
            <a:t>nodos</a:t>
          </a:r>
          <a:r>
            <a:rPr lang="en-US" dirty="0"/>
            <a:t> </a:t>
          </a:r>
          <a:r>
            <a:rPr lang="en-US" dirty="0" err="1"/>
            <a:t>interconectados</a:t>
          </a:r>
          <a:r>
            <a:rPr lang="en-US" dirty="0"/>
            <a:t> que </a:t>
          </a:r>
          <a:r>
            <a:rPr lang="en-US" dirty="0" err="1"/>
            <a:t>procesan</a:t>
          </a:r>
          <a:r>
            <a:rPr lang="en-US" dirty="0"/>
            <a:t> y </a:t>
          </a:r>
          <a:r>
            <a:rPr lang="en-US" dirty="0" err="1"/>
            <a:t>transmiten</a:t>
          </a:r>
          <a:r>
            <a:rPr lang="en-US" dirty="0"/>
            <a:t> </a:t>
          </a:r>
          <a:r>
            <a:rPr lang="en-US" dirty="0" err="1"/>
            <a:t>información</a:t>
          </a:r>
          <a:r>
            <a:rPr lang="en-US" dirty="0"/>
            <a:t> a </a:t>
          </a:r>
          <a:r>
            <a:rPr lang="en-US" dirty="0" err="1"/>
            <a:t>través</a:t>
          </a:r>
          <a:r>
            <a:rPr lang="en-US" dirty="0"/>
            <a:t> de </a:t>
          </a:r>
          <a:r>
            <a:rPr lang="en-US" dirty="0" err="1"/>
            <a:t>conexiones</a:t>
          </a:r>
          <a:r>
            <a:rPr lang="en-US" dirty="0"/>
            <a:t> </a:t>
          </a:r>
          <a:r>
            <a:rPr lang="en-US" dirty="0" err="1"/>
            <a:t>ponderadas</a:t>
          </a:r>
        </a:p>
      </dgm:t>
    </dgm:pt>
    <dgm:pt modelId="{227392E8-8360-4308-BC72-E084624ABA4F}" type="parTrans" cxnId="{5D14BC88-C35A-43A3-A60E-6CD9A9BCEEEB}">
      <dgm:prSet/>
      <dgm:spPr/>
      <dgm:t>
        <a:bodyPr/>
        <a:lstStyle/>
        <a:p>
          <a:endParaRPr lang="en-US"/>
        </a:p>
      </dgm:t>
    </dgm:pt>
    <dgm:pt modelId="{4CD90655-8739-4752-B9B5-60B554BF4D3A}" type="sibTrans" cxnId="{5D14BC88-C35A-43A3-A60E-6CD9A9BCEEEB}">
      <dgm:prSet/>
      <dgm:spPr/>
      <dgm:t>
        <a:bodyPr/>
        <a:lstStyle/>
        <a:p>
          <a:endParaRPr lang="en-US"/>
        </a:p>
      </dgm:t>
    </dgm:pt>
    <dgm:pt modelId="{4027DF8F-F57D-4C13-8ED6-AA189CBBDAAE}" type="pres">
      <dgm:prSet presAssocID="{48E972C8-BD0F-46F9-8DC4-BF619323D533}" presName="hierChild1" presStyleCnt="0">
        <dgm:presLayoutVars>
          <dgm:chPref val="1"/>
          <dgm:dir/>
          <dgm:animOne val="branch"/>
          <dgm:animLvl val="lvl"/>
          <dgm:resizeHandles/>
        </dgm:presLayoutVars>
      </dgm:prSet>
      <dgm:spPr/>
    </dgm:pt>
    <dgm:pt modelId="{01ACF431-0713-4051-8896-702EA509E305}" type="pres">
      <dgm:prSet presAssocID="{7868BDE1-3027-409C-83F5-ED76D9148319}" presName="hierRoot1" presStyleCnt="0"/>
      <dgm:spPr/>
    </dgm:pt>
    <dgm:pt modelId="{1E8E956D-4A1D-4009-A440-572825C881FF}" type="pres">
      <dgm:prSet presAssocID="{7868BDE1-3027-409C-83F5-ED76D9148319}" presName="composite" presStyleCnt="0"/>
      <dgm:spPr/>
    </dgm:pt>
    <dgm:pt modelId="{D88BFAA8-50E0-46CB-94E8-091256A99060}" type="pres">
      <dgm:prSet presAssocID="{7868BDE1-3027-409C-83F5-ED76D9148319}" presName="background" presStyleLbl="node0" presStyleIdx="0" presStyleCnt="2"/>
      <dgm:spPr/>
    </dgm:pt>
    <dgm:pt modelId="{99D93033-0AE7-483E-B328-3CAE03E2CE06}" type="pres">
      <dgm:prSet presAssocID="{7868BDE1-3027-409C-83F5-ED76D9148319}" presName="text" presStyleLbl="fgAcc0" presStyleIdx="0" presStyleCnt="2">
        <dgm:presLayoutVars>
          <dgm:chPref val="3"/>
        </dgm:presLayoutVars>
      </dgm:prSet>
      <dgm:spPr/>
    </dgm:pt>
    <dgm:pt modelId="{536E2BCF-F558-4173-9791-5CC111091FE7}" type="pres">
      <dgm:prSet presAssocID="{7868BDE1-3027-409C-83F5-ED76D9148319}" presName="hierChild2" presStyleCnt="0"/>
      <dgm:spPr/>
    </dgm:pt>
    <dgm:pt modelId="{D5A05E4B-D4F5-4EF6-A49C-17380EA7B5EE}" type="pres">
      <dgm:prSet presAssocID="{C87E80CE-8977-41E8-A4C0-3670474EC08A}" presName="hierRoot1" presStyleCnt="0"/>
      <dgm:spPr/>
    </dgm:pt>
    <dgm:pt modelId="{6B0CD521-24CF-452E-87B4-BDFE51D7F836}" type="pres">
      <dgm:prSet presAssocID="{C87E80CE-8977-41E8-A4C0-3670474EC08A}" presName="composite" presStyleCnt="0"/>
      <dgm:spPr/>
    </dgm:pt>
    <dgm:pt modelId="{E6BE16C7-ABE6-4F69-94A9-B5412F57079E}" type="pres">
      <dgm:prSet presAssocID="{C87E80CE-8977-41E8-A4C0-3670474EC08A}" presName="background" presStyleLbl="node0" presStyleIdx="1" presStyleCnt="2"/>
      <dgm:spPr/>
    </dgm:pt>
    <dgm:pt modelId="{B2B5CD52-ACA0-4216-96D0-11616B77ADF8}" type="pres">
      <dgm:prSet presAssocID="{C87E80CE-8977-41E8-A4C0-3670474EC08A}" presName="text" presStyleLbl="fgAcc0" presStyleIdx="1" presStyleCnt="2">
        <dgm:presLayoutVars>
          <dgm:chPref val="3"/>
        </dgm:presLayoutVars>
      </dgm:prSet>
      <dgm:spPr/>
    </dgm:pt>
    <dgm:pt modelId="{7710A7A3-A4CA-4E90-955C-5ED078BCE4B6}" type="pres">
      <dgm:prSet presAssocID="{C87E80CE-8977-41E8-A4C0-3670474EC08A}" presName="hierChild2" presStyleCnt="0"/>
      <dgm:spPr/>
    </dgm:pt>
  </dgm:ptLst>
  <dgm:cxnLst>
    <dgm:cxn modelId="{CE2CB73A-B931-4F1D-B767-3B5DAE49C75E}" type="presOf" srcId="{C87E80CE-8977-41E8-A4C0-3670474EC08A}" destId="{B2B5CD52-ACA0-4216-96D0-11616B77ADF8}" srcOrd="0" destOrd="0" presId="urn:microsoft.com/office/officeart/2005/8/layout/hierarchy1"/>
    <dgm:cxn modelId="{FADC2764-C695-484C-AC63-89B8F12087AD}" type="presOf" srcId="{7868BDE1-3027-409C-83F5-ED76D9148319}" destId="{99D93033-0AE7-483E-B328-3CAE03E2CE06}" srcOrd="0" destOrd="0" presId="urn:microsoft.com/office/officeart/2005/8/layout/hierarchy1"/>
    <dgm:cxn modelId="{5D14BC88-C35A-43A3-A60E-6CD9A9BCEEEB}" srcId="{48E972C8-BD0F-46F9-8DC4-BF619323D533}" destId="{C87E80CE-8977-41E8-A4C0-3670474EC08A}" srcOrd="1" destOrd="0" parTransId="{227392E8-8360-4308-BC72-E084624ABA4F}" sibTransId="{4CD90655-8739-4752-B9B5-60B554BF4D3A}"/>
    <dgm:cxn modelId="{A8388DA5-44AE-4C95-A40F-345FCDFF4E31}" srcId="{48E972C8-BD0F-46F9-8DC4-BF619323D533}" destId="{7868BDE1-3027-409C-83F5-ED76D9148319}" srcOrd="0" destOrd="0" parTransId="{3108ECC0-535D-4B15-8B95-BC9208843A8C}" sibTransId="{89D6CDED-DF10-40B4-8A15-5F66DBEE4FFE}"/>
    <dgm:cxn modelId="{1EB820F2-3584-42BE-BD69-618EB420F262}" type="presOf" srcId="{48E972C8-BD0F-46F9-8DC4-BF619323D533}" destId="{4027DF8F-F57D-4C13-8ED6-AA189CBBDAAE}" srcOrd="0" destOrd="0" presId="urn:microsoft.com/office/officeart/2005/8/layout/hierarchy1"/>
    <dgm:cxn modelId="{7BF4A8B6-1E87-4533-8434-8921D94E841E}" type="presParOf" srcId="{4027DF8F-F57D-4C13-8ED6-AA189CBBDAAE}" destId="{01ACF431-0713-4051-8896-702EA509E305}" srcOrd="0" destOrd="0" presId="urn:microsoft.com/office/officeart/2005/8/layout/hierarchy1"/>
    <dgm:cxn modelId="{478F72F9-8243-4EFD-B277-5DD791535A61}" type="presParOf" srcId="{01ACF431-0713-4051-8896-702EA509E305}" destId="{1E8E956D-4A1D-4009-A440-572825C881FF}" srcOrd="0" destOrd="0" presId="urn:microsoft.com/office/officeart/2005/8/layout/hierarchy1"/>
    <dgm:cxn modelId="{73F7D5BA-45C4-466B-96B9-E5D72E63BCEF}" type="presParOf" srcId="{1E8E956D-4A1D-4009-A440-572825C881FF}" destId="{D88BFAA8-50E0-46CB-94E8-091256A99060}" srcOrd="0" destOrd="0" presId="urn:microsoft.com/office/officeart/2005/8/layout/hierarchy1"/>
    <dgm:cxn modelId="{CD6C21D4-55C2-491C-9E1D-361E883A599D}" type="presParOf" srcId="{1E8E956D-4A1D-4009-A440-572825C881FF}" destId="{99D93033-0AE7-483E-B328-3CAE03E2CE06}" srcOrd="1" destOrd="0" presId="urn:microsoft.com/office/officeart/2005/8/layout/hierarchy1"/>
    <dgm:cxn modelId="{C5EE6CC8-33AE-4CA2-8E0F-A25349C52829}" type="presParOf" srcId="{01ACF431-0713-4051-8896-702EA509E305}" destId="{536E2BCF-F558-4173-9791-5CC111091FE7}" srcOrd="1" destOrd="0" presId="urn:microsoft.com/office/officeart/2005/8/layout/hierarchy1"/>
    <dgm:cxn modelId="{F0D9705C-C1FE-4CDC-8745-136209851584}" type="presParOf" srcId="{4027DF8F-F57D-4C13-8ED6-AA189CBBDAAE}" destId="{D5A05E4B-D4F5-4EF6-A49C-17380EA7B5EE}" srcOrd="1" destOrd="0" presId="urn:microsoft.com/office/officeart/2005/8/layout/hierarchy1"/>
    <dgm:cxn modelId="{67ED339B-282A-4AB3-9340-E453FD140A6A}" type="presParOf" srcId="{D5A05E4B-D4F5-4EF6-A49C-17380EA7B5EE}" destId="{6B0CD521-24CF-452E-87B4-BDFE51D7F836}" srcOrd="0" destOrd="0" presId="urn:microsoft.com/office/officeart/2005/8/layout/hierarchy1"/>
    <dgm:cxn modelId="{71A7A980-F62E-4132-A99A-FF4BD1E9F702}" type="presParOf" srcId="{6B0CD521-24CF-452E-87B4-BDFE51D7F836}" destId="{E6BE16C7-ABE6-4F69-94A9-B5412F57079E}" srcOrd="0" destOrd="0" presId="urn:microsoft.com/office/officeart/2005/8/layout/hierarchy1"/>
    <dgm:cxn modelId="{4B443C21-E848-4ACF-9074-BEC68D85203C}" type="presParOf" srcId="{6B0CD521-24CF-452E-87B4-BDFE51D7F836}" destId="{B2B5CD52-ACA0-4216-96D0-11616B77ADF8}" srcOrd="1" destOrd="0" presId="urn:microsoft.com/office/officeart/2005/8/layout/hierarchy1"/>
    <dgm:cxn modelId="{858F999F-841A-4C19-93B1-FC99EBC67C5F}" type="presParOf" srcId="{D5A05E4B-D4F5-4EF6-A49C-17380EA7B5EE}" destId="{7710A7A3-A4CA-4E90-955C-5ED078BCE4B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E972C8-BD0F-46F9-8DC4-BF619323D533}"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7868BDE1-3027-409C-83F5-ED76D9148319}">
      <dgm:prSet/>
      <dgm:spPr/>
      <dgm:t>
        <a:bodyPr/>
        <a:lstStyle/>
        <a:p>
          <a:pPr rtl="0"/>
          <a:r>
            <a:rPr lang="en-US" dirty="0"/>
            <a:t>Las redes </a:t>
          </a:r>
          <a:r>
            <a:rPr lang="en-US" dirty="0" err="1"/>
            <a:t>neuronales</a:t>
          </a:r>
          <a:r>
            <a:rPr lang="en-US" dirty="0"/>
            <a:t>, o redes </a:t>
          </a:r>
          <a:r>
            <a:rPr lang="en-US" dirty="0" err="1"/>
            <a:t>neuronales</a:t>
          </a:r>
          <a:r>
            <a:rPr lang="en-US" dirty="0"/>
            <a:t> </a:t>
          </a:r>
          <a:r>
            <a:rPr lang="en-US" dirty="0" err="1"/>
            <a:t>artificiales</a:t>
          </a:r>
          <a:r>
            <a:rPr lang="en-US" dirty="0"/>
            <a:t> son </a:t>
          </a:r>
          <a:r>
            <a:rPr lang="en-US" dirty="0" err="1"/>
            <a:t>una</a:t>
          </a:r>
          <a:r>
            <a:rPr lang="en-US" dirty="0"/>
            <a:t> </a:t>
          </a:r>
          <a:r>
            <a:rPr lang="en-US" dirty="0" err="1"/>
            <a:t>clase</a:t>
          </a:r>
          <a:r>
            <a:rPr lang="en-US" dirty="0"/>
            <a:t> de </a:t>
          </a:r>
          <a:r>
            <a:rPr lang="en-US" dirty="0" err="1"/>
            <a:t>modelos</a:t>
          </a:r>
          <a:r>
            <a:rPr lang="en-US" dirty="0"/>
            <a:t> de </a:t>
          </a:r>
          <a:r>
            <a:rPr lang="en-US" dirty="0" err="1"/>
            <a:t>aprendizaje</a:t>
          </a:r>
          <a:r>
            <a:rPr lang="en-US" dirty="0"/>
            <a:t> </a:t>
          </a:r>
          <a:r>
            <a:rPr lang="en-US" dirty="0" err="1"/>
            <a:t>automático</a:t>
          </a:r>
          <a:r>
            <a:rPr lang="en-US" dirty="0"/>
            <a:t> </a:t>
          </a:r>
          <a:r>
            <a:rPr lang="en-US" dirty="0" err="1"/>
            <a:t>inspirados</a:t>
          </a:r>
          <a:r>
            <a:rPr lang="en-US" dirty="0"/>
            <a:t> </a:t>
          </a:r>
          <a:r>
            <a:rPr lang="en-US" dirty="0" err="1"/>
            <a:t>en</a:t>
          </a:r>
          <a:r>
            <a:rPr lang="en-US" dirty="0"/>
            <a:t> la </a:t>
          </a:r>
          <a:r>
            <a:rPr lang="en-US" dirty="0" err="1"/>
            <a:t>estructura</a:t>
          </a:r>
          <a:r>
            <a:rPr lang="en-US" dirty="0"/>
            <a:t> y </a:t>
          </a:r>
          <a:r>
            <a:rPr lang="en-US" dirty="0" err="1"/>
            <a:t>función</a:t>
          </a:r>
          <a:r>
            <a:rPr lang="en-US" dirty="0"/>
            <a:t> del </a:t>
          </a:r>
          <a:r>
            <a:rPr lang="en-US" dirty="0" err="1"/>
            <a:t>cerebro</a:t>
          </a:r>
          <a:r>
            <a:rPr lang="en-US" dirty="0"/>
            <a:t> </a:t>
          </a:r>
          <a:r>
            <a:rPr lang="en-US" dirty="0" err="1"/>
            <a:t>humano</a:t>
          </a:r>
          <a:endParaRPr lang="en-US" dirty="0"/>
        </a:p>
      </dgm:t>
    </dgm:pt>
    <dgm:pt modelId="{3108ECC0-535D-4B15-8B95-BC9208843A8C}" type="parTrans" cxnId="{A8388DA5-44AE-4C95-A40F-345FCDFF4E31}">
      <dgm:prSet/>
      <dgm:spPr/>
      <dgm:t>
        <a:bodyPr/>
        <a:lstStyle/>
        <a:p>
          <a:endParaRPr lang="en-US"/>
        </a:p>
      </dgm:t>
    </dgm:pt>
    <dgm:pt modelId="{89D6CDED-DF10-40B4-8A15-5F66DBEE4FFE}" type="sibTrans" cxnId="{A8388DA5-44AE-4C95-A40F-345FCDFF4E31}">
      <dgm:prSet/>
      <dgm:spPr/>
      <dgm:t>
        <a:bodyPr/>
        <a:lstStyle/>
        <a:p>
          <a:endParaRPr lang="en-US"/>
        </a:p>
      </dgm:t>
    </dgm:pt>
    <dgm:pt modelId="{C87E80CE-8977-41E8-A4C0-3670474EC08A}">
      <dgm:prSet/>
      <dgm:spPr/>
      <dgm:t>
        <a:bodyPr/>
        <a:lstStyle/>
        <a:p>
          <a:r>
            <a:rPr lang="en-US" dirty="0"/>
            <a:t>Se </a:t>
          </a:r>
          <a:r>
            <a:rPr lang="en-US" dirty="0" err="1"/>
            <a:t>componen</a:t>
          </a:r>
          <a:r>
            <a:rPr lang="en-US" dirty="0"/>
            <a:t> de </a:t>
          </a:r>
          <a:r>
            <a:rPr lang="en-US" dirty="0" err="1"/>
            <a:t>nodos</a:t>
          </a:r>
          <a:r>
            <a:rPr lang="en-US" dirty="0"/>
            <a:t> </a:t>
          </a:r>
          <a:r>
            <a:rPr lang="en-US" dirty="0" err="1"/>
            <a:t>interconectados</a:t>
          </a:r>
          <a:r>
            <a:rPr lang="en-US" dirty="0"/>
            <a:t> que </a:t>
          </a:r>
          <a:r>
            <a:rPr lang="en-US" dirty="0" err="1"/>
            <a:t>procesan</a:t>
          </a:r>
          <a:r>
            <a:rPr lang="en-US" dirty="0"/>
            <a:t> y </a:t>
          </a:r>
          <a:r>
            <a:rPr lang="en-US" dirty="0" err="1"/>
            <a:t>transmiten</a:t>
          </a:r>
          <a:r>
            <a:rPr lang="en-US" dirty="0"/>
            <a:t> </a:t>
          </a:r>
          <a:r>
            <a:rPr lang="en-US" dirty="0" err="1"/>
            <a:t>información</a:t>
          </a:r>
          <a:r>
            <a:rPr lang="en-US" dirty="0"/>
            <a:t> a </a:t>
          </a:r>
          <a:r>
            <a:rPr lang="en-US" dirty="0" err="1"/>
            <a:t>través</a:t>
          </a:r>
          <a:r>
            <a:rPr lang="en-US" dirty="0"/>
            <a:t> de </a:t>
          </a:r>
          <a:r>
            <a:rPr lang="en-US" dirty="0" err="1"/>
            <a:t>conexiones</a:t>
          </a:r>
          <a:r>
            <a:rPr lang="en-US" dirty="0"/>
            <a:t> </a:t>
          </a:r>
          <a:r>
            <a:rPr lang="en-US" dirty="0" err="1"/>
            <a:t>ponderadas</a:t>
          </a:r>
        </a:p>
      </dgm:t>
    </dgm:pt>
    <dgm:pt modelId="{227392E8-8360-4308-BC72-E084624ABA4F}" type="parTrans" cxnId="{5D14BC88-C35A-43A3-A60E-6CD9A9BCEEEB}">
      <dgm:prSet/>
      <dgm:spPr/>
      <dgm:t>
        <a:bodyPr/>
        <a:lstStyle/>
        <a:p>
          <a:endParaRPr lang="en-US"/>
        </a:p>
      </dgm:t>
    </dgm:pt>
    <dgm:pt modelId="{4CD90655-8739-4752-B9B5-60B554BF4D3A}" type="sibTrans" cxnId="{5D14BC88-C35A-43A3-A60E-6CD9A9BCEEEB}">
      <dgm:prSet/>
      <dgm:spPr/>
      <dgm:t>
        <a:bodyPr/>
        <a:lstStyle/>
        <a:p>
          <a:endParaRPr lang="en-US"/>
        </a:p>
      </dgm:t>
    </dgm:pt>
    <dgm:pt modelId="{4027DF8F-F57D-4C13-8ED6-AA189CBBDAAE}" type="pres">
      <dgm:prSet presAssocID="{48E972C8-BD0F-46F9-8DC4-BF619323D533}" presName="hierChild1" presStyleCnt="0">
        <dgm:presLayoutVars>
          <dgm:chPref val="1"/>
          <dgm:dir/>
          <dgm:animOne val="branch"/>
          <dgm:animLvl val="lvl"/>
          <dgm:resizeHandles/>
        </dgm:presLayoutVars>
      </dgm:prSet>
      <dgm:spPr/>
    </dgm:pt>
    <dgm:pt modelId="{01ACF431-0713-4051-8896-702EA509E305}" type="pres">
      <dgm:prSet presAssocID="{7868BDE1-3027-409C-83F5-ED76D9148319}" presName="hierRoot1" presStyleCnt="0"/>
      <dgm:spPr/>
    </dgm:pt>
    <dgm:pt modelId="{1E8E956D-4A1D-4009-A440-572825C881FF}" type="pres">
      <dgm:prSet presAssocID="{7868BDE1-3027-409C-83F5-ED76D9148319}" presName="composite" presStyleCnt="0"/>
      <dgm:spPr/>
    </dgm:pt>
    <dgm:pt modelId="{D88BFAA8-50E0-46CB-94E8-091256A99060}" type="pres">
      <dgm:prSet presAssocID="{7868BDE1-3027-409C-83F5-ED76D9148319}" presName="background" presStyleLbl="node0" presStyleIdx="0" presStyleCnt="2"/>
      <dgm:spPr/>
    </dgm:pt>
    <dgm:pt modelId="{99D93033-0AE7-483E-B328-3CAE03E2CE06}" type="pres">
      <dgm:prSet presAssocID="{7868BDE1-3027-409C-83F5-ED76D9148319}" presName="text" presStyleLbl="fgAcc0" presStyleIdx="0" presStyleCnt="2">
        <dgm:presLayoutVars>
          <dgm:chPref val="3"/>
        </dgm:presLayoutVars>
      </dgm:prSet>
      <dgm:spPr/>
    </dgm:pt>
    <dgm:pt modelId="{536E2BCF-F558-4173-9791-5CC111091FE7}" type="pres">
      <dgm:prSet presAssocID="{7868BDE1-3027-409C-83F5-ED76D9148319}" presName="hierChild2" presStyleCnt="0"/>
      <dgm:spPr/>
    </dgm:pt>
    <dgm:pt modelId="{D5A05E4B-D4F5-4EF6-A49C-17380EA7B5EE}" type="pres">
      <dgm:prSet presAssocID="{C87E80CE-8977-41E8-A4C0-3670474EC08A}" presName="hierRoot1" presStyleCnt="0"/>
      <dgm:spPr/>
    </dgm:pt>
    <dgm:pt modelId="{6B0CD521-24CF-452E-87B4-BDFE51D7F836}" type="pres">
      <dgm:prSet presAssocID="{C87E80CE-8977-41E8-A4C0-3670474EC08A}" presName="composite" presStyleCnt="0"/>
      <dgm:spPr/>
    </dgm:pt>
    <dgm:pt modelId="{E6BE16C7-ABE6-4F69-94A9-B5412F57079E}" type="pres">
      <dgm:prSet presAssocID="{C87E80CE-8977-41E8-A4C0-3670474EC08A}" presName="background" presStyleLbl="node0" presStyleIdx="1" presStyleCnt="2"/>
      <dgm:spPr/>
    </dgm:pt>
    <dgm:pt modelId="{B2B5CD52-ACA0-4216-96D0-11616B77ADF8}" type="pres">
      <dgm:prSet presAssocID="{C87E80CE-8977-41E8-A4C0-3670474EC08A}" presName="text" presStyleLbl="fgAcc0" presStyleIdx="1" presStyleCnt="2">
        <dgm:presLayoutVars>
          <dgm:chPref val="3"/>
        </dgm:presLayoutVars>
      </dgm:prSet>
      <dgm:spPr/>
    </dgm:pt>
    <dgm:pt modelId="{7710A7A3-A4CA-4E90-955C-5ED078BCE4B6}" type="pres">
      <dgm:prSet presAssocID="{C87E80CE-8977-41E8-A4C0-3670474EC08A}" presName="hierChild2" presStyleCnt="0"/>
      <dgm:spPr/>
    </dgm:pt>
  </dgm:ptLst>
  <dgm:cxnLst>
    <dgm:cxn modelId="{CE2CB73A-B931-4F1D-B767-3B5DAE49C75E}" type="presOf" srcId="{C87E80CE-8977-41E8-A4C0-3670474EC08A}" destId="{B2B5CD52-ACA0-4216-96D0-11616B77ADF8}" srcOrd="0" destOrd="0" presId="urn:microsoft.com/office/officeart/2005/8/layout/hierarchy1"/>
    <dgm:cxn modelId="{FADC2764-C695-484C-AC63-89B8F12087AD}" type="presOf" srcId="{7868BDE1-3027-409C-83F5-ED76D9148319}" destId="{99D93033-0AE7-483E-B328-3CAE03E2CE06}" srcOrd="0" destOrd="0" presId="urn:microsoft.com/office/officeart/2005/8/layout/hierarchy1"/>
    <dgm:cxn modelId="{5D14BC88-C35A-43A3-A60E-6CD9A9BCEEEB}" srcId="{48E972C8-BD0F-46F9-8DC4-BF619323D533}" destId="{C87E80CE-8977-41E8-A4C0-3670474EC08A}" srcOrd="1" destOrd="0" parTransId="{227392E8-8360-4308-BC72-E084624ABA4F}" sibTransId="{4CD90655-8739-4752-B9B5-60B554BF4D3A}"/>
    <dgm:cxn modelId="{A8388DA5-44AE-4C95-A40F-345FCDFF4E31}" srcId="{48E972C8-BD0F-46F9-8DC4-BF619323D533}" destId="{7868BDE1-3027-409C-83F5-ED76D9148319}" srcOrd="0" destOrd="0" parTransId="{3108ECC0-535D-4B15-8B95-BC9208843A8C}" sibTransId="{89D6CDED-DF10-40B4-8A15-5F66DBEE4FFE}"/>
    <dgm:cxn modelId="{1EB820F2-3584-42BE-BD69-618EB420F262}" type="presOf" srcId="{48E972C8-BD0F-46F9-8DC4-BF619323D533}" destId="{4027DF8F-F57D-4C13-8ED6-AA189CBBDAAE}" srcOrd="0" destOrd="0" presId="urn:microsoft.com/office/officeart/2005/8/layout/hierarchy1"/>
    <dgm:cxn modelId="{7BF4A8B6-1E87-4533-8434-8921D94E841E}" type="presParOf" srcId="{4027DF8F-F57D-4C13-8ED6-AA189CBBDAAE}" destId="{01ACF431-0713-4051-8896-702EA509E305}" srcOrd="0" destOrd="0" presId="urn:microsoft.com/office/officeart/2005/8/layout/hierarchy1"/>
    <dgm:cxn modelId="{478F72F9-8243-4EFD-B277-5DD791535A61}" type="presParOf" srcId="{01ACF431-0713-4051-8896-702EA509E305}" destId="{1E8E956D-4A1D-4009-A440-572825C881FF}" srcOrd="0" destOrd="0" presId="urn:microsoft.com/office/officeart/2005/8/layout/hierarchy1"/>
    <dgm:cxn modelId="{73F7D5BA-45C4-466B-96B9-E5D72E63BCEF}" type="presParOf" srcId="{1E8E956D-4A1D-4009-A440-572825C881FF}" destId="{D88BFAA8-50E0-46CB-94E8-091256A99060}" srcOrd="0" destOrd="0" presId="urn:microsoft.com/office/officeart/2005/8/layout/hierarchy1"/>
    <dgm:cxn modelId="{CD6C21D4-55C2-491C-9E1D-361E883A599D}" type="presParOf" srcId="{1E8E956D-4A1D-4009-A440-572825C881FF}" destId="{99D93033-0AE7-483E-B328-3CAE03E2CE06}" srcOrd="1" destOrd="0" presId="urn:microsoft.com/office/officeart/2005/8/layout/hierarchy1"/>
    <dgm:cxn modelId="{C5EE6CC8-33AE-4CA2-8E0F-A25349C52829}" type="presParOf" srcId="{01ACF431-0713-4051-8896-702EA509E305}" destId="{536E2BCF-F558-4173-9791-5CC111091FE7}" srcOrd="1" destOrd="0" presId="urn:microsoft.com/office/officeart/2005/8/layout/hierarchy1"/>
    <dgm:cxn modelId="{F0D9705C-C1FE-4CDC-8745-136209851584}" type="presParOf" srcId="{4027DF8F-F57D-4C13-8ED6-AA189CBBDAAE}" destId="{D5A05E4B-D4F5-4EF6-A49C-17380EA7B5EE}" srcOrd="1" destOrd="0" presId="urn:microsoft.com/office/officeart/2005/8/layout/hierarchy1"/>
    <dgm:cxn modelId="{67ED339B-282A-4AB3-9340-E453FD140A6A}" type="presParOf" srcId="{D5A05E4B-D4F5-4EF6-A49C-17380EA7B5EE}" destId="{6B0CD521-24CF-452E-87B4-BDFE51D7F836}" srcOrd="0" destOrd="0" presId="urn:microsoft.com/office/officeart/2005/8/layout/hierarchy1"/>
    <dgm:cxn modelId="{71A7A980-F62E-4132-A99A-FF4BD1E9F702}" type="presParOf" srcId="{6B0CD521-24CF-452E-87B4-BDFE51D7F836}" destId="{E6BE16C7-ABE6-4F69-94A9-B5412F57079E}" srcOrd="0" destOrd="0" presId="urn:microsoft.com/office/officeart/2005/8/layout/hierarchy1"/>
    <dgm:cxn modelId="{4B443C21-E848-4ACF-9074-BEC68D85203C}" type="presParOf" srcId="{6B0CD521-24CF-452E-87B4-BDFE51D7F836}" destId="{B2B5CD52-ACA0-4216-96D0-11616B77ADF8}" srcOrd="1" destOrd="0" presId="urn:microsoft.com/office/officeart/2005/8/layout/hierarchy1"/>
    <dgm:cxn modelId="{858F999F-841A-4C19-93B1-FC99EBC67C5F}" type="presParOf" srcId="{D5A05E4B-D4F5-4EF6-A49C-17380EA7B5EE}" destId="{7710A7A3-A4CA-4E90-955C-5ED078BCE4B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E972C8-BD0F-46F9-8DC4-BF619323D533}"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7868BDE1-3027-409C-83F5-ED76D9148319}">
      <dgm:prSet/>
      <dgm:spPr/>
      <dgm:t>
        <a:bodyPr/>
        <a:lstStyle/>
        <a:p>
          <a:pPr rtl="0"/>
          <a:r>
            <a:rPr lang="en-US" dirty="0"/>
            <a:t>Las redes </a:t>
          </a:r>
          <a:r>
            <a:rPr lang="en-US" dirty="0" err="1"/>
            <a:t>neuronales</a:t>
          </a:r>
          <a:r>
            <a:rPr lang="en-US" dirty="0"/>
            <a:t>, o redes </a:t>
          </a:r>
          <a:r>
            <a:rPr lang="en-US" dirty="0" err="1"/>
            <a:t>neuronales</a:t>
          </a:r>
          <a:r>
            <a:rPr lang="en-US" dirty="0"/>
            <a:t> </a:t>
          </a:r>
          <a:r>
            <a:rPr lang="en-US" dirty="0" err="1"/>
            <a:t>artificiales</a:t>
          </a:r>
          <a:r>
            <a:rPr lang="en-US" dirty="0"/>
            <a:t> son </a:t>
          </a:r>
          <a:r>
            <a:rPr lang="en-US" dirty="0" err="1"/>
            <a:t>una</a:t>
          </a:r>
          <a:r>
            <a:rPr lang="en-US" dirty="0"/>
            <a:t> </a:t>
          </a:r>
          <a:r>
            <a:rPr lang="en-US" dirty="0" err="1"/>
            <a:t>clase</a:t>
          </a:r>
          <a:r>
            <a:rPr lang="en-US" dirty="0"/>
            <a:t> de </a:t>
          </a:r>
          <a:r>
            <a:rPr lang="en-US" dirty="0" err="1"/>
            <a:t>modelos</a:t>
          </a:r>
          <a:r>
            <a:rPr lang="en-US" dirty="0"/>
            <a:t> de </a:t>
          </a:r>
          <a:r>
            <a:rPr lang="en-US" dirty="0" err="1"/>
            <a:t>aprendizaje</a:t>
          </a:r>
          <a:r>
            <a:rPr lang="en-US" dirty="0"/>
            <a:t> </a:t>
          </a:r>
          <a:r>
            <a:rPr lang="en-US" dirty="0" err="1"/>
            <a:t>automático</a:t>
          </a:r>
          <a:r>
            <a:rPr lang="en-US" dirty="0"/>
            <a:t> </a:t>
          </a:r>
          <a:r>
            <a:rPr lang="en-US" dirty="0" err="1"/>
            <a:t>inspirados</a:t>
          </a:r>
          <a:r>
            <a:rPr lang="en-US" dirty="0"/>
            <a:t> </a:t>
          </a:r>
          <a:r>
            <a:rPr lang="en-US" dirty="0" err="1"/>
            <a:t>en</a:t>
          </a:r>
          <a:r>
            <a:rPr lang="en-US" dirty="0"/>
            <a:t> la </a:t>
          </a:r>
          <a:r>
            <a:rPr lang="en-US" dirty="0" err="1"/>
            <a:t>estructura</a:t>
          </a:r>
          <a:r>
            <a:rPr lang="en-US" dirty="0"/>
            <a:t> y </a:t>
          </a:r>
          <a:r>
            <a:rPr lang="en-US" dirty="0" err="1"/>
            <a:t>función</a:t>
          </a:r>
          <a:r>
            <a:rPr lang="en-US" dirty="0"/>
            <a:t> del </a:t>
          </a:r>
          <a:r>
            <a:rPr lang="en-US" dirty="0" err="1"/>
            <a:t>cerebro</a:t>
          </a:r>
          <a:r>
            <a:rPr lang="en-US" dirty="0"/>
            <a:t> </a:t>
          </a:r>
          <a:r>
            <a:rPr lang="en-US" dirty="0" err="1"/>
            <a:t>humano</a:t>
          </a:r>
          <a:endParaRPr lang="en-US" dirty="0"/>
        </a:p>
      </dgm:t>
    </dgm:pt>
    <dgm:pt modelId="{3108ECC0-535D-4B15-8B95-BC9208843A8C}" type="parTrans" cxnId="{A8388DA5-44AE-4C95-A40F-345FCDFF4E31}">
      <dgm:prSet/>
      <dgm:spPr/>
      <dgm:t>
        <a:bodyPr/>
        <a:lstStyle/>
        <a:p>
          <a:endParaRPr lang="en-US"/>
        </a:p>
      </dgm:t>
    </dgm:pt>
    <dgm:pt modelId="{89D6CDED-DF10-40B4-8A15-5F66DBEE4FFE}" type="sibTrans" cxnId="{A8388DA5-44AE-4C95-A40F-345FCDFF4E31}">
      <dgm:prSet/>
      <dgm:spPr/>
      <dgm:t>
        <a:bodyPr/>
        <a:lstStyle/>
        <a:p>
          <a:endParaRPr lang="en-US"/>
        </a:p>
      </dgm:t>
    </dgm:pt>
    <dgm:pt modelId="{C87E80CE-8977-41E8-A4C0-3670474EC08A}">
      <dgm:prSet/>
      <dgm:spPr/>
      <dgm:t>
        <a:bodyPr/>
        <a:lstStyle/>
        <a:p>
          <a:r>
            <a:rPr lang="en-US" dirty="0"/>
            <a:t>Se </a:t>
          </a:r>
          <a:r>
            <a:rPr lang="en-US" dirty="0" err="1"/>
            <a:t>componen</a:t>
          </a:r>
          <a:r>
            <a:rPr lang="en-US" dirty="0"/>
            <a:t> de </a:t>
          </a:r>
          <a:r>
            <a:rPr lang="en-US" dirty="0" err="1"/>
            <a:t>nodos</a:t>
          </a:r>
          <a:r>
            <a:rPr lang="en-US" dirty="0"/>
            <a:t> </a:t>
          </a:r>
          <a:r>
            <a:rPr lang="en-US" dirty="0" err="1"/>
            <a:t>interconectados</a:t>
          </a:r>
          <a:r>
            <a:rPr lang="en-US" dirty="0"/>
            <a:t> que </a:t>
          </a:r>
          <a:r>
            <a:rPr lang="en-US" dirty="0" err="1"/>
            <a:t>procesan</a:t>
          </a:r>
          <a:r>
            <a:rPr lang="en-US" dirty="0"/>
            <a:t> y </a:t>
          </a:r>
          <a:r>
            <a:rPr lang="en-US" dirty="0" err="1"/>
            <a:t>transmiten</a:t>
          </a:r>
          <a:r>
            <a:rPr lang="en-US" dirty="0"/>
            <a:t> </a:t>
          </a:r>
          <a:r>
            <a:rPr lang="en-US" dirty="0" err="1"/>
            <a:t>información</a:t>
          </a:r>
          <a:r>
            <a:rPr lang="en-US" dirty="0"/>
            <a:t> a </a:t>
          </a:r>
          <a:r>
            <a:rPr lang="en-US" dirty="0" err="1"/>
            <a:t>través</a:t>
          </a:r>
          <a:r>
            <a:rPr lang="en-US" dirty="0"/>
            <a:t> de </a:t>
          </a:r>
          <a:r>
            <a:rPr lang="en-US" dirty="0" err="1"/>
            <a:t>conexiones</a:t>
          </a:r>
          <a:r>
            <a:rPr lang="en-US" dirty="0"/>
            <a:t> </a:t>
          </a:r>
          <a:r>
            <a:rPr lang="en-US" dirty="0" err="1"/>
            <a:t>ponderadas</a:t>
          </a:r>
        </a:p>
      </dgm:t>
    </dgm:pt>
    <dgm:pt modelId="{227392E8-8360-4308-BC72-E084624ABA4F}" type="parTrans" cxnId="{5D14BC88-C35A-43A3-A60E-6CD9A9BCEEEB}">
      <dgm:prSet/>
      <dgm:spPr/>
      <dgm:t>
        <a:bodyPr/>
        <a:lstStyle/>
        <a:p>
          <a:endParaRPr lang="en-US"/>
        </a:p>
      </dgm:t>
    </dgm:pt>
    <dgm:pt modelId="{4CD90655-8739-4752-B9B5-60B554BF4D3A}" type="sibTrans" cxnId="{5D14BC88-C35A-43A3-A60E-6CD9A9BCEEEB}">
      <dgm:prSet/>
      <dgm:spPr/>
      <dgm:t>
        <a:bodyPr/>
        <a:lstStyle/>
        <a:p>
          <a:endParaRPr lang="en-US"/>
        </a:p>
      </dgm:t>
    </dgm:pt>
    <dgm:pt modelId="{4027DF8F-F57D-4C13-8ED6-AA189CBBDAAE}" type="pres">
      <dgm:prSet presAssocID="{48E972C8-BD0F-46F9-8DC4-BF619323D533}" presName="hierChild1" presStyleCnt="0">
        <dgm:presLayoutVars>
          <dgm:chPref val="1"/>
          <dgm:dir/>
          <dgm:animOne val="branch"/>
          <dgm:animLvl val="lvl"/>
          <dgm:resizeHandles/>
        </dgm:presLayoutVars>
      </dgm:prSet>
      <dgm:spPr/>
    </dgm:pt>
    <dgm:pt modelId="{01ACF431-0713-4051-8896-702EA509E305}" type="pres">
      <dgm:prSet presAssocID="{7868BDE1-3027-409C-83F5-ED76D9148319}" presName="hierRoot1" presStyleCnt="0"/>
      <dgm:spPr/>
    </dgm:pt>
    <dgm:pt modelId="{1E8E956D-4A1D-4009-A440-572825C881FF}" type="pres">
      <dgm:prSet presAssocID="{7868BDE1-3027-409C-83F5-ED76D9148319}" presName="composite" presStyleCnt="0"/>
      <dgm:spPr/>
    </dgm:pt>
    <dgm:pt modelId="{D88BFAA8-50E0-46CB-94E8-091256A99060}" type="pres">
      <dgm:prSet presAssocID="{7868BDE1-3027-409C-83F5-ED76D9148319}" presName="background" presStyleLbl="node0" presStyleIdx="0" presStyleCnt="2"/>
      <dgm:spPr/>
    </dgm:pt>
    <dgm:pt modelId="{99D93033-0AE7-483E-B328-3CAE03E2CE06}" type="pres">
      <dgm:prSet presAssocID="{7868BDE1-3027-409C-83F5-ED76D9148319}" presName="text" presStyleLbl="fgAcc0" presStyleIdx="0" presStyleCnt="2">
        <dgm:presLayoutVars>
          <dgm:chPref val="3"/>
        </dgm:presLayoutVars>
      </dgm:prSet>
      <dgm:spPr/>
    </dgm:pt>
    <dgm:pt modelId="{536E2BCF-F558-4173-9791-5CC111091FE7}" type="pres">
      <dgm:prSet presAssocID="{7868BDE1-3027-409C-83F5-ED76D9148319}" presName="hierChild2" presStyleCnt="0"/>
      <dgm:spPr/>
    </dgm:pt>
    <dgm:pt modelId="{D5A05E4B-D4F5-4EF6-A49C-17380EA7B5EE}" type="pres">
      <dgm:prSet presAssocID="{C87E80CE-8977-41E8-A4C0-3670474EC08A}" presName="hierRoot1" presStyleCnt="0"/>
      <dgm:spPr/>
    </dgm:pt>
    <dgm:pt modelId="{6B0CD521-24CF-452E-87B4-BDFE51D7F836}" type="pres">
      <dgm:prSet presAssocID="{C87E80CE-8977-41E8-A4C0-3670474EC08A}" presName="composite" presStyleCnt="0"/>
      <dgm:spPr/>
    </dgm:pt>
    <dgm:pt modelId="{E6BE16C7-ABE6-4F69-94A9-B5412F57079E}" type="pres">
      <dgm:prSet presAssocID="{C87E80CE-8977-41E8-A4C0-3670474EC08A}" presName="background" presStyleLbl="node0" presStyleIdx="1" presStyleCnt="2"/>
      <dgm:spPr/>
    </dgm:pt>
    <dgm:pt modelId="{B2B5CD52-ACA0-4216-96D0-11616B77ADF8}" type="pres">
      <dgm:prSet presAssocID="{C87E80CE-8977-41E8-A4C0-3670474EC08A}" presName="text" presStyleLbl="fgAcc0" presStyleIdx="1" presStyleCnt="2">
        <dgm:presLayoutVars>
          <dgm:chPref val="3"/>
        </dgm:presLayoutVars>
      </dgm:prSet>
      <dgm:spPr/>
    </dgm:pt>
    <dgm:pt modelId="{7710A7A3-A4CA-4E90-955C-5ED078BCE4B6}" type="pres">
      <dgm:prSet presAssocID="{C87E80CE-8977-41E8-A4C0-3670474EC08A}" presName="hierChild2" presStyleCnt="0"/>
      <dgm:spPr/>
    </dgm:pt>
  </dgm:ptLst>
  <dgm:cxnLst>
    <dgm:cxn modelId="{CE2CB73A-B931-4F1D-B767-3B5DAE49C75E}" type="presOf" srcId="{C87E80CE-8977-41E8-A4C0-3670474EC08A}" destId="{B2B5CD52-ACA0-4216-96D0-11616B77ADF8}" srcOrd="0" destOrd="0" presId="urn:microsoft.com/office/officeart/2005/8/layout/hierarchy1"/>
    <dgm:cxn modelId="{FADC2764-C695-484C-AC63-89B8F12087AD}" type="presOf" srcId="{7868BDE1-3027-409C-83F5-ED76D9148319}" destId="{99D93033-0AE7-483E-B328-3CAE03E2CE06}" srcOrd="0" destOrd="0" presId="urn:microsoft.com/office/officeart/2005/8/layout/hierarchy1"/>
    <dgm:cxn modelId="{5D14BC88-C35A-43A3-A60E-6CD9A9BCEEEB}" srcId="{48E972C8-BD0F-46F9-8DC4-BF619323D533}" destId="{C87E80CE-8977-41E8-A4C0-3670474EC08A}" srcOrd="1" destOrd="0" parTransId="{227392E8-8360-4308-BC72-E084624ABA4F}" sibTransId="{4CD90655-8739-4752-B9B5-60B554BF4D3A}"/>
    <dgm:cxn modelId="{A8388DA5-44AE-4C95-A40F-345FCDFF4E31}" srcId="{48E972C8-BD0F-46F9-8DC4-BF619323D533}" destId="{7868BDE1-3027-409C-83F5-ED76D9148319}" srcOrd="0" destOrd="0" parTransId="{3108ECC0-535D-4B15-8B95-BC9208843A8C}" sibTransId="{89D6CDED-DF10-40B4-8A15-5F66DBEE4FFE}"/>
    <dgm:cxn modelId="{1EB820F2-3584-42BE-BD69-618EB420F262}" type="presOf" srcId="{48E972C8-BD0F-46F9-8DC4-BF619323D533}" destId="{4027DF8F-F57D-4C13-8ED6-AA189CBBDAAE}" srcOrd="0" destOrd="0" presId="urn:microsoft.com/office/officeart/2005/8/layout/hierarchy1"/>
    <dgm:cxn modelId="{7BF4A8B6-1E87-4533-8434-8921D94E841E}" type="presParOf" srcId="{4027DF8F-F57D-4C13-8ED6-AA189CBBDAAE}" destId="{01ACF431-0713-4051-8896-702EA509E305}" srcOrd="0" destOrd="0" presId="urn:microsoft.com/office/officeart/2005/8/layout/hierarchy1"/>
    <dgm:cxn modelId="{478F72F9-8243-4EFD-B277-5DD791535A61}" type="presParOf" srcId="{01ACF431-0713-4051-8896-702EA509E305}" destId="{1E8E956D-4A1D-4009-A440-572825C881FF}" srcOrd="0" destOrd="0" presId="urn:microsoft.com/office/officeart/2005/8/layout/hierarchy1"/>
    <dgm:cxn modelId="{73F7D5BA-45C4-466B-96B9-E5D72E63BCEF}" type="presParOf" srcId="{1E8E956D-4A1D-4009-A440-572825C881FF}" destId="{D88BFAA8-50E0-46CB-94E8-091256A99060}" srcOrd="0" destOrd="0" presId="urn:microsoft.com/office/officeart/2005/8/layout/hierarchy1"/>
    <dgm:cxn modelId="{CD6C21D4-55C2-491C-9E1D-361E883A599D}" type="presParOf" srcId="{1E8E956D-4A1D-4009-A440-572825C881FF}" destId="{99D93033-0AE7-483E-B328-3CAE03E2CE06}" srcOrd="1" destOrd="0" presId="urn:microsoft.com/office/officeart/2005/8/layout/hierarchy1"/>
    <dgm:cxn modelId="{C5EE6CC8-33AE-4CA2-8E0F-A25349C52829}" type="presParOf" srcId="{01ACF431-0713-4051-8896-702EA509E305}" destId="{536E2BCF-F558-4173-9791-5CC111091FE7}" srcOrd="1" destOrd="0" presId="urn:microsoft.com/office/officeart/2005/8/layout/hierarchy1"/>
    <dgm:cxn modelId="{F0D9705C-C1FE-4CDC-8745-136209851584}" type="presParOf" srcId="{4027DF8F-F57D-4C13-8ED6-AA189CBBDAAE}" destId="{D5A05E4B-D4F5-4EF6-A49C-17380EA7B5EE}" srcOrd="1" destOrd="0" presId="urn:microsoft.com/office/officeart/2005/8/layout/hierarchy1"/>
    <dgm:cxn modelId="{67ED339B-282A-4AB3-9340-E453FD140A6A}" type="presParOf" srcId="{D5A05E4B-D4F5-4EF6-A49C-17380EA7B5EE}" destId="{6B0CD521-24CF-452E-87B4-BDFE51D7F836}" srcOrd="0" destOrd="0" presId="urn:microsoft.com/office/officeart/2005/8/layout/hierarchy1"/>
    <dgm:cxn modelId="{71A7A980-F62E-4132-A99A-FF4BD1E9F702}" type="presParOf" srcId="{6B0CD521-24CF-452E-87B4-BDFE51D7F836}" destId="{E6BE16C7-ABE6-4F69-94A9-B5412F57079E}" srcOrd="0" destOrd="0" presId="urn:microsoft.com/office/officeart/2005/8/layout/hierarchy1"/>
    <dgm:cxn modelId="{4B443C21-E848-4ACF-9074-BEC68D85203C}" type="presParOf" srcId="{6B0CD521-24CF-452E-87B4-BDFE51D7F836}" destId="{B2B5CD52-ACA0-4216-96D0-11616B77ADF8}" srcOrd="1" destOrd="0" presId="urn:microsoft.com/office/officeart/2005/8/layout/hierarchy1"/>
    <dgm:cxn modelId="{858F999F-841A-4C19-93B1-FC99EBC67C5F}" type="presParOf" srcId="{D5A05E4B-D4F5-4EF6-A49C-17380EA7B5EE}" destId="{7710A7A3-A4CA-4E90-955C-5ED078BCE4B6}"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5AC2817-3B07-4572-A279-EA389E030DBA}" type="doc">
      <dgm:prSet loTypeId="urn:microsoft.com/office/officeart/2018/2/layout/IconVerticalSolidList" loCatId="icon" qsTypeId="urn:microsoft.com/office/officeart/2005/8/quickstyle/simple1" qsCatId="simple" csTypeId="urn:microsoft.com/office/officeart/2018/5/colors/Iconchunking_neutralbg_accent6_2" csCatId="accent6" phldr="1"/>
      <dgm:spPr/>
      <dgm:t>
        <a:bodyPr/>
        <a:lstStyle/>
        <a:p>
          <a:endParaRPr lang="en-US"/>
        </a:p>
      </dgm:t>
    </dgm:pt>
    <dgm:pt modelId="{BA853471-FD03-409A-97B3-709E905178B5}">
      <dgm:prSet/>
      <dgm:spPr/>
      <dgm:t>
        <a:bodyPr/>
        <a:lstStyle/>
        <a:p>
          <a:r>
            <a:rPr lang="en-US"/>
            <a:t>El algoritmo de retropropagación es una técnica comúnmente utilizada para entrenar redes neuronales</a:t>
          </a:r>
        </a:p>
      </dgm:t>
    </dgm:pt>
    <dgm:pt modelId="{8B9A4567-F30E-491F-94DF-E375A94E9724}" type="parTrans" cxnId="{850924DC-EE34-47FB-94C3-E17AB7351093}">
      <dgm:prSet/>
      <dgm:spPr/>
      <dgm:t>
        <a:bodyPr/>
        <a:lstStyle/>
        <a:p>
          <a:endParaRPr lang="en-US"/>
        </a:p>
      </dgm:t>
    </dgm:pt>
    <dgm:pt modelId="{330672ED-A1A0-44CE-BD3E-E69F0FCB2C8E}" type="sibTrans" cxnId="{850924DC-EE34-47FB-94C3-E17AB7351093}">
      <dgm:prSet/>
      <dgm:spPr/>
      <dgm:t>
        <a:bodyPr/>
        <a:lstStyle/>
        <a:p>
          <a:endParaRPr lang="en-US"/>
        </a:p>
      </dgm:t>
    </dgm:pt>
    <dgm:pt modelId="{5F3DF3DC-D4E5-44FE-8D98-BDC5567C7FA8}">
      <dgm:prSet/>
      <dgm:spPr/>
      <dgm:t>
        <a:bodyPr/>
        <a:lstStyle/>
        <a:p>
          <a:r>
            <a:rPr lang="en-US"/>
            <a:t>El algoritmo funciona propagando primero una entrada hacia adelante a través de la red para producir una predicción, luego calculando el error entre la salida prevista y la salida objetivo real</a:t>
          </a:r>
        </a:p>
      </dgm:t>
    </dgm:pt>
    <dgm:pt modelId="{005DB2F5-32D0-4CA9-8B35-90E59A4167F2}" type="parTrans" cxnId="{D31951FE-2CE2-4F6A-8D68-0E9EB06E809F}">
      <dgm:prSet/>
      <dgm:spPr/>
      <dgm:t>
        <a:bodyPr/>
        <a:lstStyle/>
        <a:p>
          <a:endParaRPr lang="en-US"/>
        </a:p>
      </dgm:t>
    </dgm:pt>
    <dgm:pt modelId="{705849A1-4B5C-403B-92B6-9A82D561C942}" type="sibTrans" cxnId="{D31951FE-2CE2-4F6A-8D68-0E9EB06E809F}">
      <dgm:prSet/>
      <dgm:spPr/>
      <dgm:t>
        <a:bodyPr/>
        <a:lstStyle/>
        <a:p>
          <a:endParaRPr lang="en-US"/>
        </a:p>
      </dgm:t>
    </dgm:pt>
    <dgm:pt modelId="{7EDD330A-4AA2-4D3D-BD2C-4869BBD308E7}">
      <dgm:prSet/>
      <dgm:spPr/>
      <dgm:t>
        <a:bodyPr/>
        <a:lstStyle/>
        <a:p>
          <a:r>
            <a:rPr lang="en-US" dirty="0"/>
            <a:t>La </a:t>
          </a:r>
          <a:r>
            <a:rPr lang="en-US" dirty="0" err="1"/>
            <a:t>retropropagación</a:t>
          </a:r>
          <a:r>
            <a:rPr lang="en-US" dirty="0"/>
            <a:t> es </a:t>
          </a:r>
          <a:r>
            <a:rPr lang="en-US" dirty="0" err="1"/>
            <a:t>una</a:t>
          </a:r>
          <a:r>
            <a:rPr lang="en-US" dirty="0"/>
            <a:t> forma </a:t>
          </a:r>
          <a:r>
            <a:rPr lang="en-US" dirty="0" err="1"/>
            <a:t>eficiente</a:t>
          </a:r>
          <a:r>
            <a:rPr lang="en-US" dirty="0"/>
            <a:t> de </a:t>
          </a:r>
          <a:r>
            <a:rPr lang="en-US" dirty="0" err="1"/>
            <a:t>entrenar</a:t>
          </a:r>
          <a:r>
            <a:rPr lang="en-US" dirty="0"/>
            <a:t> redes </a:t>
          </a:r>
          <a:r>
            <a:rPr lang="en-US" dirty="0" err="1"/>
            <a:t>neuronales</a:t>
          </a:r>
          <a:r>
            <a:rPr lang="en-US" dirty="0"/>
            <a:t> </a:t>
          </a:r>
          <a:r>
            <a:rPr lang="en-US" dirty="0" err="1"/>
            <a:t>profundas</a:t>
          </a:r>
          <a:r>
            <a:rPr lang="en-US" dirty="0"/>
            <a:t> con </a:t>
          </a:r>
          <a:r>
            <a:rPr lang="en-US" dirty="0" err="1"/>
            <a:t>muchas</a:t>
          </a:r>
          <a:r>
            <a:rPr lang="en-US" dirty="0"/>
            <a:t> </a:t>
          </a:r>
          <a:r>
            <a:rPr lang="en-US" dirty="0" err="1"/>
            <a:t>capas</a:t>
          </a:r>
          <a:r>
            <a:rPr lang="en-US" dirty="0"/>
            <a:t>, </a:t>
          </a:r>
          <a:r>
            <a:rPr lang="en-US" dirty="0" err="1"/>
            <a:t>ya</a:t>
          </a:r>
          <a:r>
            <a:rPr lang="en-US" dirty="0"/>
            <a:t> que </a:t>
          </a:r>
          <a:r>
            <a:rPr lang="en-US" dirty="0" err="1"/>
            <a:t>permite</a:t>
          </a:r>
          <a:r>
            <a:rPr lang="en-US" dirty="0"/>
            <a:t> que </a:t>
          </a:r>
          <a:r>
            <a:rPr lang="en-US" dirty="0" err="1"/>
            <a:t>los</a:t>
          </a:r>
          <a:r>
            <a:rPr lang="en-US" dirty="0"/>
            <a:t> </a:t>
          </a:r>
          <a:r>
            <a:rPr lang="en-US" dirty="0" err="1"/>
            <a:t>gradientes</a:t>
          </a:r>
          <a:r>
            <a:rPr lang="en-US" dirty="0"/>
            <a:t> se </a:t>
          </a:r>
          <a:r>
            <a:rPr lang="en-US" dirty="0" err="1"/>
            <a:t>calculen</a:t>
          </a:r>
          <a:r>
            <a:rPr lang="en-US" dirty="0"/>
            <a:t> de </a:t>
          </a:r>
          <a:r>
            <a:rPr lang="en-US" dirty="0" err="1"/>
            <a:t>manera</a:t>
          </a:r>
          <a:r>
            <a:rPr lang="en-US" dirty="0"/>
            <a:t> </a:t>
          </a:r>
          <a:r>
            <a:rPr lang="en-US" dirty="0" err="1"/>
            <a:t>eficiente</a:t>
          </a:r>
          <a:r>
            <a:rPr lang="en-US" dirty="0"/>
            <a:t> </a:t>
          </a:r>
          <a:r>
            <a:rPr lang="en-US" dirty="0" err="1"/>
            <a:t>utilizando</a:t>
          </a:r>
          <a:r>
            <a:rPr lang="en-US" dirty="0"/>
            <a:t> la </a:t>
          </a:r>
          <a:r>
            <a:rPr lang="en-US" dirty="0" err="1"/>
            <a:t>regla</a:t>
          </a:r>
          <a:r>
            <a:rPr lang="en-US" dirty="0"/>
            <a:t> de </a:t>
          </a:r>
          <a:r>
            <a:rPr lang="en-US" dirty="0" err="1"/>
            <a:t>cadena</a:t>
          </a:r>
          <a:r>
            <a:rPr lang="en-US" dirty="0"/>
            <a:t> del </a:t>
          </a:r>
          <a:r>
            <a:rPr lang="en-US" dirty="0" err="1"/>
            <a:t>cálculo</a:t>
          </a:r>
          <a:endParaRPr lang="en-US" dirty="0"/>
        </a:p>
      </dgm:t>
    </dgm:pt>
    <dgm:pt modelId="{FC1CD59E-9380-4C6D-AA3B-591B3F3FDDEA}" type="parTrans" cxnId="{A4C64171-98FD-4F47-9EAB-E9DC0F4E4176}">
      <dgm:prSet/>
      <dgm:spPr/>
      <dgm:t>
        <a:bodyPr/>
        <a:lstStyle/>
        <a:p>
          <a:endParaRPr lang="en-US"/>
        </a:p>
      </dgm:t>
    </dgm:pt>
    <dgm:pt modelId="{7951344E-1F60-4E21-9BD9-AA5857388B92}" type="sibTrans" cxnId="{A4C64171-98FD-4F47-9EAB-E9DC0F4E4176}">
      <dgm:prSet/>
      <dgm:spPr/>
      <dgm:t>
        <a:bodyPr/>
        <a:lstStyle/>
        <a:p>
          <a:endParaRPr lang="en-US"/>
        </a:p>
      </dgm:t>
    </dgm:pt>
    <dgm:pt modelId="{F936434F-974B-4315-8254-AF310EE81293}" type="pres">
      <dgm:prSet presAssocID="{65AC2817-3B07-4572-A279-EA389E030DBA}" presName="root" presStyleCnt="0">
        <dgm:presLayoutVars>
          <dgm:dir/>
          <dgm:resizeHandles val="exact"/>
        </dgm:presLayoutVars>
      </dgm:prSet>
      <dgm:spPr/>
    </dgm:pt>
    <dgm:pt modelId="{6002F941-6903-4C5B-9225-C1919AB73685}" type="pres">
      <dgm:prSet presAssocID="{BA853471-FD03-409A-97B3-709E905178B5}" presName="compNode" presStyleCnt="0"/>
      <dgm:spPr/>
    </dgm:pt>
    <dgm:pt modelId="{B129D75D-574F-4890-A9E1-F8057EA99EA5}" type="pres">
      <dgm:prSet presAssocID="{BA853471-FD03-409A-97B3-709E905178B5}" presName="bgRect" presStyleLbl="bgShp" presStyleIdx="0" presStyleCnt="3"/>
      <dgm:spPr/>
    </dgm:pt>
    <dgm:pt modelId="{6EA9BD90-CE6B-4837-AD70-9DF8D274306B}" type="pres">
      <dgm:prSet presAssocID="{BA853471-FD03-409A-97B3-709E905178B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CA5E3204-91E2-477B-B1E9-A2E3AC100517}" type="pres">
      <dgm:prSet presAssocID="{BA853471-FD03-409A-97B3-709E905178B5}" presName="spaceRect" presStyleCnt="0"/>
      <dgm:spPr/>
    </dgm:pt>
    <dgm:pt modelId="{E0E945CD-9B0C-40FB-86B0-BC5D4EAEBF9D}" type="pres">
      <dgm:prSet presAssocID="{BA853471-FD03-409A-97B3-709E905178B5}" presName="parTx" presStyleLbl="revTx" presStyleIdx="0" presStyleCnt="3">
        <dgm:presLayoutVars>
          <dgm:chMax val="0"/>
          <dgm:chPref val="0"/>
        </dgm:presLayoutVars>
      </dgm:prSet>
      <dgm:spPr/>
    </dgm:pt>
    <dgm:pt modelId="{B5E5B5FB-741C-495B-BFF4-D47302F54D6C}" type="pres">
      <dgm:prSet presAssocID="{330672ED-A1A0-44CE-BD3E-E69F0FCB2C8E}" presName="sibTrans" presStyleCnt="0"/>
      <dgm:spPr/>
    </dgm:pt>
    <dgm:pt modelId="{F8BA7082-5CBD-4711-A0A7-AF554AC47EFA}" type="pres">
      <dgm:prSet presAssocID="{5F3DF3DC-D4E5-44FE-8D98-BDC5567C7FA8}" presName="compNode" presStyleCnt="0"/>
      <dgm:spPr/>
    </dgm:pt>
    <dgm:pt modelId="{6E200E28-5697-4F4D-BCC3-EFD6A435CB91}" type="pres">
      <dgm:prSet presAssocID="{5F3DF3DC-D4E5-44FE-8D98-BDC5567C7FA8}" presName="bgRect" presStyleLbl="bgShp" presStyleIdx="1" presStyleCnt="3"/>
      <dgm:spPr/>
    </dgm:pt>
    <dgm:pt modelId="{90F403B6-0BAC-4DCB-BB5C-03B743C527F4}" type="pres">
      <dgm:prSet presAssocID="{5F3DF3DC-D4E5-44FE-8D98-BDC5567C7FA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794ACB54-464B-4ABC-8DAD-FBA10726F7AA}" type="pres">
      <dgm:prSet presAssocID="{5F3DF3DC-D4E5-44FE-8D98-BDC5567C7FA8}" presName="spaceRect" presStyleCnt="0"/>
      <dgm:spPr/>
    </dgm:pt>
    <dgm:pt modelId="{FF87261C-B13A-4C35-ABC9-F22E8DB88DD7}" type="pres">
      <dgm:prSet presAssocID="{5F3DF3DC-D4E5-44FE-8D98-BDC5567C7FA8}" presName="parTx" presStyleLbl="revTx" presStyleIdx="1" presStyleCnt="3">
        <dgm:presLayoutVars>
          <dgm:chMax val="0"/>
          <dgm:chPref val="0"/>
        </dgm:presLayoutVars>
      </dgm:prSet>
      <dgm:spPr/>
    </dgm:pt>
    <dgm:pt modelId="{995F58FC-7187-4B8A-9290-E14CD0473D6B}" type="pres">
      <dgm:prSet presAssocID="{705849A1-4B5C-403B-92B6-9A82D561C942}" presName="sibTrans" presStyleCnt="0"/>
      <dgm:spPr/>
    </dgm:pt>
    <dgm:pt modelId="{09F1F2AB-F9A3-432B-BC48-3BFE2BF8A49B}" type="pres">
      <dgm:prSet presAssocID="{7EDD330A-4AA2-4D3D-BD2C-4869BBD308E7}" presName="compNode" presStyleCnt="0"/>
      <dgm:spPr/>
    </dgm:pt>
    <dgm:pt modelId="{BA4D4E9F-821A-4CFB-B086-15A22D73AB1F}" type="pres">
      <dgm:prSet presAssocID="{7EDD330A-4AA2-4D3D-BD2C-4869BBD308E7}" presName="bgRect" presStyleLbl="bgShp" presStyleIdx="2" presStyleCnt="3"/>
      <dgm:spPr/>
    </dgm:pt>
    <dgm:pt modelId="{941E6D02-7CA4-4D2C-8FF3-A2378AED9574}" type="pres">
      <dgm:prSet presAssocID="{7EDD330A-4AA2-4D3D-BD2C-4869BBD308E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Network"/>
        </a:ext>
      </dgm:extLst>
    </dgm:pt>
    <dgm:pt modelId="{B3CC2C17-3F23-4968-8CD3-302C3F5A404A}" type="pres">
      <dgm:prSet presAssocID="{7EDD330A-4AA2-4D3D-BD2C-4869BBD308E7}" presName="spaceRect" presStyleCnt="0"/>
      <dgm:spPr/>
    </dgm:pt>
    <dgm:pt modelId="{A943F172-BD0E-45BE-AC21-DAD5A2737E40}" type="pres">
      <dgm:prSet presAssocID="{7EDD330A-4AA2-4D3D-BD2C-4869BBD308E7}" presName="parTx" presStyleLbl="revTx" presStyleIdx="2" presStyleCnt="3">
        <dgm:presLayoutVars>
          <dgm:chMax val="0"/>
          <dgm:chPref val="0"/>
        </dgm:presLayoutVars>
      </dgm:prSet>
      <dgm:spPr/>
    </dgm:pt>
  </dgm:ptLst>
  <dgm:cxnLst>
    <dgm:cxn modelId="{A4C64171-98FD-4F47-9EAB-E9DC0F4E4176}" srcId="{65AC2817-3B07-4572-A279-EA389E030DBA}" destId="{7EDD330A-4AA2-4D3D-BD2C-4869BBD308E7}" srcOrd="2" destOrd="0" parTransId="{FC1CD59E-9380-4C6D-AA3B-591B3F3FDDEA}" sibTransId="{7951344E-1F60-4E21-9BD9-AA5857388B92}"/>
    <dgm:cxn modelId="{5775E156-87E6-4BF2-8A79-8738DDADBAC5}" type="presOf" srcId="{BA853471-FD03-409A-97B3-709E905178B5}" destId="{E0E945CD-9B0C-40FB-86B0-BC5D4EAEBF9D}" srcOrd="0" destOrd="0" presId="urn:microsoft.com/office/officeart/2018/2/layout/IconVerticalSolidList"/>
    <dgm:cxn modelId="{BBB26C8C-3F3D-40B9-825B-748DF251C715}" type="presOf" srcId="{7EDD330A-4AA2-4D3D-BD2C-4869BBD308E7}" destId="{A943F172-BD0E-45BE-AC21-DAD5A2737E40}" srcOrd="0" destOrd="0" presId="urn:microsoft.com/office/officeart/2018/2/layout/IconVerticalSolidList"/>
    <dgm:cxn modelId="{DD6DE79F-43C2-49AF-9163-EC93465EA3BA}" type="presOf" srcId="{65AC2817-3B07-4572-A279-EA389E030DBA}" destId="{F936434F-974B-4315-8254-AF310EE81293}" srcOrd="0" destOrd="0" presId="urn:microsoft.com/office/officeart/2018/2/layout/IconVerticalSolidList"/>
    <dgm:cxn modelId="{850924DC-EE34-47FB-94C3-E17AB7351093}" srcId="{65AC2817-3B07-4572-A279-EA389E030DBA}" destId="{BA853471-FD03-409A-97B3-709E905178B5}" srcOrd="0" destOrd="0" parTransId="{8B9A4567-F30E-491F-94DF-E375A94E9724}" sibTransId="{330672ED-A1A0-44CE-BD3E-E69F0FCB2C8E}"/>
    <dgm:cxn modelId="{D31951FE-2CE2-4F6A-8D68-0E9EB06E809F}" srcId="{65AC2817-3B07-4572-A279-EA389E030DBA}" destId="{5F3DF3DC-D4E5-44FE-8D98-BDC5567C7FA8}" srcOrd="1" destOrd="0" parTransId="{005DB2F5-32D0-4CA9-8B35-90E59A4167F2}" sibTransId="{705849A1-4B5C-403B-92B6-9A82D561C942}"/>
    <dgm:cxn modelId="{205CB9FE-2459-408A-92BD-D62B37507DA6}" type="presOf" srcId="{5F3DF3DC-D4E5-44FE-8D98-BDC5567C7FA8}" destId="{FF87261C-B13A-4C35-ABC9-F22E8DB88DD7}" srcOrd="0" destOrd="0" presId="urn:microsoft.com/office/officeart/2018/2/layout/IconVerticalSolidList"/>
    <dgm:cxn modelId="{37AC424A-52AF-4718-8D27-F3F6D81E9BB8}" type="presParOf" srcId="{F936434F-974B-4315-8254-AF310EE81293}" destId="{6002F941-6903-4C5B-9225-C1919AB73685}" srcOrd="0" destOrd="0" presId="urn:microsoft.com/office/officeart/2018/2/layout/IconVerticalSolidList"/>
    <dgm:cxn modelId="{7A6D5D3B-1D6D-4DD8-AD7B-CB01BBFC242C}" type="presParOf" srcId="{6002F941-6903-4C5B-9225-C1919AB73685}" destId="{B129D75D-574F-4890-A9E1-F8057EA99EA5}" srcOrd="0" destOrd="0" presId="urn:microsoft.com/office/officeart/2018/2/layout/IconVerticalSolidList"/>
    <dgm:cxn modelId="{C1FF450B-C04C-4860-A96D-794E5BB53070}" type="presParOf" srcId="{6002F941-6903-4C5B-9225-C1919AB73685}" destId="{6EA9BD90-CE6B-4837-AD70-9DF8D274306B}" srcOrd="1" destOrd="0" presId="urn:microsoft.com/office/officeart/2018/2/layout/IconVerticalSolidList"/>
    <dgm:cxn modelId="{EE6F52A8-24D0-462D-9E09-8D1446CE2972}" type="presParOf" srcId="{6002F941-6903-4C5B-9225-C1919AB73685}" destId="{CA5E3204-91E2-477B-B1E9-A2E3AC100517}" srcOrd="2" destOrd="0" presId="urn:microsoft.com/office/officeart/2018/2/layout/IconVerticalSolidList"/>
    <dgm:cxn modelId="{B1967476-32DF-4F1E-80E8-683C9BD07FA2}" type="presParOf" srcId="{6002F941-6903-4C5B-9225-C1919AB73685}" destId="{E0E945CD-9B0C-40FB-86B0-BC5D4EAEBF9D}" srcOrd="3" destOrd="0" presId="urn:microsoft.com/office/officeart/2018/2/layout/IconVerticalSolidList"/>
    <dgm:cxn modelId="{956030E6-FCD6-47CF-8D38-A8706F6463ED}" type="presParOf" srcId="{F936434F-974B-4315-8254-AF310EE81293}" destId="{B5E5B5FB-741C-495B-BFF4-D47302F54D6C}" srcOrd="1" destOrd="0" presId="urn:microsoft.com/office/officeart/2018/2/layout/IconVerticalSolidList"/>
    <dgm:cxn modelId="{A9B82CC1-E9F3-4C59-BBE9-3B8B44B2C962}" type="presParOf" srcId="{F936434F-974B-4315-8254-AF310EE81293}" destId="{F8BA7082-5CBD-4711-A0A7-AF554AC47EFA}" srcOrd="2" destOrd="0" presId="urn:microsoft.com/office/officeart/2018/2/layout/IconVerticalSolidList"/>
    <dgm:cxn modelId="{CE75C401-C77A-406B-A005-218625230BF9}" type="presParOf" srcId="{F8BA7082-5CBD-4711-A0A7-AF554AC47EFA}" destId="{6E200E28-5697-4F4D-BCC3-EFD6A435CB91}" srcOrd="0" destOrd="0" presId="urn:microsoft.com/office/officeart/2018/2/layout/IconVerticalSolidList"/>
    <dgm:cxn modelId="{814FFD81-71AB-4FAE-8A2F-8C747F1A174A}" type="presParOf" srcId="{F8BA7082-5CBD-4711-A0A7-AF554AC47EFA}" destId="{90F403B6-0BAC-4DCB-BB5C-03B743C527F4}" srcOrd="1" destOrd="0" presId="urn:microsoft.com/office/officeart/2018/2/layout/IconVerticalSolidList"/>
    <dgm:cxn modelId="{1557D6AF-7429-421E-9E3B-6B28D4F6AD62}" type="presParOf" srcId="{F8BA7082-5CBD-4711-A0A7-AF554AC47EFA}" destId="{794ACB54-464B-4ABC-8DAD-FBA10726F7AA}" srcOrd="2" destOrd="0" presId="urn:microsoft.com/office/officeart/2018/2/layout/IconVerticalSolidList"/>
    <dgm:cxn modelId="{226EC2D7-FD02-4F17-B1ED-E0AD7A6B7E91}" type="presParOf" srcId="{F8BA7082-5CBD-4711-A0A7-AF554AC47EFA}" destId="{FF87261C-B13A-4C35-ABC9-F22E8DB88DD7}" srcOrd="3" destOrd="0" presId="urn:microsoft.com/office/officeart/2018/2/layout/IconVerticalSolidList"/>
    <dgm:cxn modelId="{6DC60478-7FDB-4C55-ACE4-D34E4FAA1B04}" type="presParOf" srcId="{F936434F-974B-4315-8254-AF310EE81293}" destId="{995F58FC-7187-4B8A-9290-E14CD0473D6B}" srcOrd="3" destOrd="0" presId="urn:microsoft.com/office/officeart/2018/2/layout/IconVerticalSolidList"/>
    <dgm:cxn modelId="{56484D84-C5A7-480A-8B79-CDA7F4FF7264}" type="presParOf" srcId="{F936434F-974B-4315-8254-AF310EE81293}" destId="{09F1F2AB-F9A3-432B-BC48-3BFE2BF8A49B}" srcOrd="4" destOrd="0" presId="urn:microsoft.com/office/officeart/2018/2/layout/IconVerticalSolidList"/>
    <dgm:cxn modelId="{BD7D1436-D452-4349-95DF-5702EBF443AA}" type="presParOf" srcId="{09F1F2AB-F9A3-432B-BC48-3BFE2BF8A49B}" destId="{BA4D4E9F-821A-4CFB-B086-15A22D73AB1F}" srcOrd="0" destOrd="0" presId="urn:microsoft.com/office/officeart/2018/2/layout/IconVerticalSolidList"/>
    <dgm:cxn modelId="{692360B3-0068-4578-A32D-DD26D12778DE}" type="presParOf" srcId="{09F1F2AB-F9A3-432B-BC48-3BFE2BF8A49B}" destId="{941E6D02-7CA4-4D2C-8FF3-A2378AED9574}" srcOrd="1" destOrd="0" presId="urn:microsoft.com/office/officeart/2018/2/layout/IconVerticalSolidList"/>
    <dgm:cxn modelId="{47073F50-D9A5-4883-9C4E-05AB4670FE4B}" type="presParOf" srcId="{09F1F2AB-F9A3-432B-BC48-3BFE2BF8A49B}" destId="{B3CC2C17-3F23-4968-8CD3-302C3F5A404A}" srcOrd="2" destOrd="0" presId="urn:microsoft.com/office/officeart/2018/2/layout/IconVerticalSolidList"/>
    <dgm:cxn modelId="{0F038C52-C10F-4610-94E1-03D3C216561F}" type="presParOf" srcId="{09F1F2AB-F9A3-432B-BC48-3BFE2BF8A49B}" destId="{A943F172-BD0E-45BE-AC21-DAD5A2737E4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D34C66A-BDEA-4C61-89FE-B04C24D9FC3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90C8C79-3379-42E9-A9C8-7F289BA2381C}">
      <dgm:prSet/>
      <dgm:spPr/>
      <dgm:t>
        <a:bodyPr/>
        <a:lstStyle/>
        <a:p>
          <a:pPr>
            <a:lnSpc>
              <a:spcPct val="100000"/>
            </a:lnSpc>
          </a:pPr>
          <a:r>
            <a:rPr lang="en-US"/>
            <a:t>Visión por computadora: Las redes neuronales han demostrado ser muy efectivas en tareas de visión por computadora, como la clasificación de imágenes, la detección de objetos y la segmentación semántica</a:t>
          </a:r>
        </a:p>
      </dgm:t>
    </dgm:pt>
    <dgm:pt modelId="{E10B03A6-8E24-4E4E-A045-EE9A1C7D8714}" type="parTrans" cxnId="{CDB46E11-A33F-439E-84FB-D61A76DAC68C}">
      <dgm:prSet/>
      <dgm:spPr/>
      <dgm:t>
        <a:bodyPr/>
        <a:lstStyle/>
        <a:p>
          <a:endParaRPr lang="en-US"/>
        </a:p>
      </dgm:t>
    </dgm:pt>
    <dgm:pt modelId="{AF52746B-37E0-41D5-A19E-46314BF6D25D}" type="sibTrans" cxnId="{CDB46E11-A33F-439E-84FB-D61A76DAC68C}">
      <dgm:prSet/>
      <dgm:spPr/>
      <dgm:t>
        <a:bodyPr/>
        <a:lstStyle/>
        <a:p>
          <a:endParaRPr lang="en-US"/>
        </a:p>
      </dgm:t>
    </dgm:pt>
    <dgm:pt modelId="{FA61925D-EFC3-4BDC-8082-DE25CE197C30}">
      <dgm:prSet/>
      <dgm:spPr/>
      <dgm:t>
        <a:bodyPr/>
        <a:lstStyle/>
        <a:p>
          <a:pPr>
            <a:lnSpc>
              <a:spcPct val="100000"/>
            </a:lnSpc>
          </a:pPr>
          <a:r>
            <a:rPr lang="en-US" dirty="0" err="1"/>
            <a:t>Juegos</a:t>
          </a:r>
          <a:r>
            <a:rPr lang="en-US" dirty="0"/>
            <a:t> y </a:t>
          </a:r>
          <a:r>
            <a:rPr lang="en-US" dirty="0" err="1"/>
            <a:t>robótica</a:t>
          </a:r>
          <a:r>
            <a:rPr lang="en-US" dirty="0"/>
            <a:t>: Las redes </a:t>
          </a:r>
          <a:r>
            <a:rPr lang="en-US" dirty="0" err="1"/>
            <a:t>neuronales</a:t>
          </a:r>
          <a:r>
            <a:rPr lang="en-US" dirty="0"/>
            <a:t> </a:t>
          </a:r>
          <a:r>
            <a:rPr lang="en-US" dirty="0" err="1"/>
            <a:t>han</a:t>
          </a:r>
          <a:r>
            <a:rPr lang="en-US" dirty="0"/>
            <a:t> </a:t>
          </a:r>
          <a:r>
            <a:rPr lang="en-US" dirty="0" err="1"/>
            <a:t>sido</a:t>
          </a:r>
          <a:r>
            <a:rPr lang="en-US" dirty="0"/>
            <a:t> </a:t>
          </a:r>
          <a:r>
            <a:rPr lang="en-US" dirty="0" err="1"/>
            <a:t>utilizadas</a:t>
          </a:r>
          <a:r>
            <a:rPr lang="en-US" dirty="0"/>
            <a:t> con </a:t>
          </a:r>
          <a:r>
            <a:rPr lang="en-US" dirty="0" err="1"/>
            <a:t>éxito</a:t>
          </a:r>
          <a:r>
            <a:rPr lang="en-US" dirty="0"/>
            <a:t> </a:t>
          </a:r>
          <a:r>
            <a:rPr lang="en-US" dirty="0" err="1"/>
            <a:t>en</a:t>
          </a:r>
          <a:r>
            <a:rPr lang="en-US" dirty="0"/>
            <a:t> </a:t>
          </a:r>
          <a:r>
            <a:rPr lang="en-US" dirty="0" err="1"/>
            <a:t>juegos</a:t>
          </a:r>
          <a:r>
            <a:rPr lang="en-US" dirty="0"/>
            <a:t> </a:t>
          </a:r>
          <a:r>
            <a:rPr lang="en-US" dirty="0" err="1"/>
            <a:t>como</a:t>
          </a:r>
          <a:r>
            <a:rPr lang="en-US" dirty="0"/>
            <a:t> </a:t>
          </a:r>
          <a:r>
            <a:rPr lang="en-US" dirty="0" err="1"/>
            <a:t>el</a:t>
          </a:r>
          <a:r>
            <a:rPr lang="en-US" dirty="0"/>
            <a:t> </a:t>
          </a:r>
          <a:r>
            <a:rPr lang="en-US" dirty="0" err="1"/>
            <a:t>ajedrez</a:t>
          </a:r>
          <a:r>
            <a:rPr lang="en-US" dirty="0"/>
            <a:t> y </a:t>
          </a:r>
          <a:r>
            <a:rPr lang="en-US" dirty="0" err="1"/>
            <a:t>el</a:t>
          </a:r>
          <a:r>
            <a:rPr lang="en-US" dirty="0"/>
            <a:t> Go, </a:t>
          </a:r>
          <a:r>
            <a:rPr lang="en-US" dirty="0" err="1"/>
            <a:t>superando</a:t>
          </a:r>
          <a:r>
            <a:rPr lang="en-US" dirty="0"/>
            <a:t> a </a:t>
          </a:r>
          <a:r>
            <a:rPr lang="en-US" dirty="0" err="1"/>
            <a:t>los</a:t>
          </a:r>
          <a:r>
            <a:rPr lang="en-US" dirty="0"/>
            <a:t> </a:t>
          </a:r>
          <a:r>
            <a:rPr lang="en-US" dirty="0" err="1"/>
            <a:t>campeones</a:t>
          </a:r>
          <a:r>
            <a:rPr lang="en-US" dirty="0"/>
            <a:t> </a:t>
          </a:r>
          <a:r>
            <a:rPr lang="en-US" dirty="0" err="1"/>
            <a:t>mundiales</a:t>
          </a:r>
          <a:r>
            <a:rPr lang="en-US" dirty="0"/>
            <a:t> </a:t>
          </a:r>
          <a:r>
            <a:rPr lang="en-US" dirty="0" err="1"/>
            <a:t>en</a:t>
          </a:r>
          <a:r>
            <a:rPr lang="en-US" dirty="0"/>
            <a:t> ambos </a:t>
          </a:r>
          <a:r>
            <a:rPr lang="en-US" dirty="0" err="1"/>
            <a:t>casos</a:t>
          </a:r>
          <a:endParaRPr lang="en-US" dirty="0"/>
        </a:p>
      </dgm:t>
    </dgm:pt>
    <dgm:pt modelId="{13252B41-9AE4-4F47-9883-DC7EFCFC23E5}" type="parTrans" cxnId="{4F82E148-6256-4DD1-868A-F33D82B19D16}">
      <dgm:prSet/>
      <dgm:spPr/>
      <dgm:t>
        <a:bodyPr/>
        <a:lstStyle/>
        <a:p>
          <a:endParaRPr lang="en-US"/>
        </a:p>
      </dgm:t>
    </dgm:pt>
    <dgm:pt modelId="{94821A66-1112-4DAC-8D2B-76D8178DA201}" type="sibTrans" cxnId="{4F82E148-6256-4DD1-868A-F33D82B19D16}">
      <dgm:prSet/>
      <dgm:spPr/>
      <dgm:t>
        <a:bodyPr/>
        <a:lstStyle/>
        <a:p>
          <a:endParaRPr lang="en-US"/>
        </a:p>
      </dgm:t>
    </dgm:pt>
    <dgm:pt modelId="{1CF1B57D-AA78-4A9F-A5A1-C51FDA40C6EC}">
      <dgm:prSet/>
      <dgm:spPr/>
      <dgm:t>
        <a:bodyPr/>
        <a:lstStyle/>
        <a:p>
          <a:pPr>
            <a:lnSpc>
              <a:spcPct val="100000"/>
            </a:lnSpc>
          </a:pPr>
          <a:r>
            <a:rPr lang="en-US" dirty="0" err="1"/>
            <a:t>Reconocimiento</a:t>
          </a:r>
          <a:r>
            <a:rPr lang="en-US" dirty="0"/>
            <a:t> de </a:t>
          </a:r>
          <a:r>
            <a:rPr lang="en-US" dirty="0" err="1"/>
            <a:t>voz</a:t>
          </a:r>
          <a:r>
            <a:rPr lang="en-US" dirty="0"/>
            <a:t>: Las redes </a:t>
          </a:r>
          <a:r>
            <a:rPr lang="en-US" dirty="0" err="1"/>
            <a:t>neuronales</a:t>
          </a:r>
          <a:r>
            <a:rPr lang="en-US" dirty="0"/>
            <a:t> </a:t>
          </a:r>
          <a:r>
            <a:rPr lang="en-US" dirty="0" err="1"/>
            <a:t>han</a:t>
          </a:r>
          <a:r>
            <a:rPr lang="en-US" dirty="0"/>
            <a:t> </a:t>
          </a:r>
          <a:r>
            <a:rPr lang="en-US" dirty="0" err="1"/>
            <a:t>mejorado</a:t>
          </a:r>
          <a:r>
            <a:rPr lang="en-US" dirty="0"/>
            <a:t> </a:t>
          </a:r>
          <a:r>
            <a:rPr lang="en-US" dirty="0" err="1"/>
            <a:t>significativamente</a:t>
          </a:r>
          <a:r>
            <a:rPr lang="en-US" dirty="0"/>
            <a:t> la </a:t>
          </a:r>
          <a:r>
            <a:rPr lang="en-US" dirty="0" err="1"/>
            <a:t>precisión</a:t>
          </a:r>
          <a:r>
            <a:rPr lang="en-US" dirty="0"/>
            <a:t> del </a:t>
          </a:r>
          <a:r>
            <a:rPr lang="en-US" dirty="0" err="1"/>
            <a:t>reconocimiento</a:t>
          </a:r>
          <a:r>
            <a:rPr lang="en-US" dirty="0"/>
            <a:t> de </a:t>
          </a:r>
          <a:r>
            <a:rPr lang="en-US" dirty="0" err="1"/>
            <a:t>voz</a:t>
          </a:r>
          <a:r>
            <a:rPr lang="en-US" dirty="0"/>
            <a:t> </a:t>
          </a:r>
          <a:r>
            <a:rPr lang="en-US" dirty="0" err="1"/>
            <a:t>en</a:t>
          </a:r>
          <a:r>
            <a:rPr lang="en-US" dirty="0"/>
            <a:t> </a:t>
          </a:r>
          <a:r>
            <a:rPr lang="en-US" dirty="0" err="1"/>
            <a:t>sistemas</a:t>
          </a:r>
          <a:r>
            <a:rPr lang="en-US" dirty="0"/>
            <a:t> de </a:t>
          </a:r>
          <a:r>
            <a:rPr lang="en-US" dirty="0" err="1"/>
            <a:t>asistencia</a:t>
          </a:r>
          <a:r>
            <a:rPr lang="en-US" dirty="0"/>
            <a:t> virtual y </a:t>
          </a:r>
          <a:r>
            <a:rPr lang="en-US" dirty="0" err="1"/>
            <a:t>en</a:t>
          </a:r>
          <a:r>
            <a:rPr lang="en-US" dirty="0"/>
            <a:t> </a:t>
          </a:r>
          <a:r>
            <a:rPr lang="en-US" dirty="0" err="1"/>
            <a:t>aplicaciones</a:t>
          </a:r>
          <a:r>
            <a:rPr lang="en-US" dirty="0"/>
            <a:t> de </a:t>
          </a:r>
          <a:r>
            <a:rPr lang="en-US" dirty="0" err="1"/>
            <a:t>transcripción</a:t>
          </a:r>
          <a:r>
            <a:rPr lang="en-US" dirty="0"/>
            <a:t> </a:t>
          </a:r>
          <a:r>
            <a:rPr lang="en-US" dirty="0" err="1"/>
            <a:t>automática</a:t>
          </a:r>
          <a:r>
            <a:rPr lang="en-US" dirty="0"/>
            <a:t> de </a:t>
          </a:r>
          <a:r>
            <a:rPr lang="en-US" dirty="0" err="1"/>
            <a:t>voz</a:t>
          </a:r>
          <a:r>
            <a:rPr lang="en-US" dirty="0"/>
            <a:t> a </a:t>
          </a:r>
          <a:r>
            <a:rPr lang="en-US" dirty="0" err="1"/>
            <a:t>texto</a:t>
          </a:r>
          <a:r>
            <a:rPr lang="en-US" dirty="0"/>
            <a:t>. </a:t>
          </a:r>
          <a:r>
            <a:rPr lang="es-CL" dirty="0"/>
            <a:t>Esto ha permitido la creación de asistentes personales virtuales como Siri, Alexa y Google </a:t>
          </a:r>
          <a:r>
            <a:rPr lang="es-CL" dirty="0" err="1"/>
            <a:t>Assistant</a:t>
          </a:r>
          <a:r>
            <a:rPr lang="es-CL" dirty="0"/>
            <a:t>, que se basan en redes neuronales para procesar las solicitudes de los usuarios.</a:t>
          </a:r>
          <a:endParaRPr lang="en-US" dirty="0"/>
        </a:p>
      </dgm:t>
    </dgm:pt>
    <dgm:pt modelId="{17A93D7E-451B-4E44-93C2-956530925A5D}" type="parTrans" cxnId="{0FFC1443-5F57-4B69-9586-C81C7D682443}">
      <dgm:prSet/>
      <dgm:spPr/>
      <dgm:t>
        <a:bodyPr/>
        <a:lstStyle/>
        <a:p>
          <a:endParaRPr lang="en-US"/>
        </a:p>
      </dgm:t>
    </dgm:pt>
    <dgm:pt modelId="{4BA2414A-A50C-4100-A6B7-D7431B17E410}" type="sibTrans" cxnId="{0FFC1443-5F57-4B69-9586-C81C7D682443}">
      <dgm:prSet/>
      <dgm:spPr/>
      <dgm:t>
        <a:bodyPr/>
        <a:lstStyle/>
        <a:p>
          <a:endParaRPr lang="en-US"/>
        </a:p>
      </dgm:t>
    </dgm:pt>
    <dgm:pt modelId="{8B4DC267-1862-4131-BD03-5225FEE76BDE}" type="pres">
      <dgm:prSet presAssocID="{4D34C66A-BDEA-4C61-89FE-B04C24D9FC30}" presName="root" presStyleCnt="0">
        <dgm:presLayoutVars>
          <dgm:dir/>
          <dgm:resizeHandles val="exact"/>
        </dgm:presLayoutVars>
      </dgm:prSet>
      <dgm:spPr/>
    </dgm:pt>
    <dgm:pt modelId="{FA93EBD3-122E-484B-A6AD-416B8AE83C15}" type="pres">
      <dgm:prSet presAssocID="{C90C8C79-3379-42E9-A9C8-7F289BA2381C}" presName="compNode" presStyleCnt="0"/>
      <dgm:spPr/>
    </dgm:pt>
    <dgm:pt modelId="{D67B335A-39BA-43AC-A33B-6667A504DE2C}" type="pres">
      <dgm:prSet presAssocID="{C90C8C79-3379-42E9-A9C8-7F289BA2381C}" presName="bgRect" presStyleLbl="bgShp" presStyleIdx="0" presStyleCnt="3" custScaleY="192355"/>
      <dgm:spPr/>
    </dgm:pt>
    <dgm:pt modelId="{85293B63-2416-4A3F-84D5-C44F861021FD}" type="pres">
      <dgm:prSet presAssocID="{C90C8C79-3379-42E9-A9C8-7F289BA2381C}" presName="iconRect" presStyleLbl="node1" presStyleIdx="0" presStyleCnt="3" custLinFactNeighborX="-53055" custLinFactNeighborY="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2206262F-25C8-4ADD-AF11-A20AF1D1E647}" type="pres">
      <dgm:prSet presAssocID="{C90C8C79-3379-42E9-A9C8-7F289BA2381C}" presName="spaceRect" presStyleCnt="0"/>
      <dgm:spPr/>
    </dgm:pt>
    <dgm:pt modelId="{1B04DCCF-3D51-49A3-99C3-BD52C7AB22E5}" type="pres">
      <dgm:prSet presAssocID="{C90C8C79-3379-42E9-A9C8-7F289BA2381C}" presName="parTx" presStyleLbl="revTx" presStyleIdx="0" presStyleCnt="3">
        <dgm:presLayoutVars>
          <dgm:chMax val="0"/>
          <dgm:chPref val="0"/>
        </dgm:presLayoutVars>
      </dgm:prSet>
      <dgm:spPr/>
    </dgm:pt>
    <dgm:pt modelId="{4F4DCE7B-6DC1-454E-BFC1-B2C826BE2B86}" type="pres">
      <dgm:prSet presAssocID="{AF52746B-37E0-41D5-A19E-46314BF6D25D}" presName="sibTrans" presStyleCnt="0"/>
      <dgm:spPr/>
    </dgm:pt>
    <dgm:pt modelId="{2288142B-2EFE-40B1-A166-648FC2258765}" type="pres">
      <dgm:prSet presAssocID="{FA61925D-EFC3-4BDC-8082-DE25CE197C30}" presName="compNode" presStyleCnt="0"/>
      <dgm:spPr/>
    </dgm:pt>
    <dgm:pt modelId="{25986842-AD5B-495A-98C1-28996DCBCBE3}" type="pres">
      <dgm:prSet presAssocID="{FA61925D-EFC3-4BDC-8082-DE25CE197C30}" presName="bgRect" presStyleLbl="bgShp" presStyleIdx="1" presStyleCnt="3" custLinFactNeighborX="514" custLinFactNeighborY="33389"/>
      <dgm:spPr/>
    </dgm:pt>
    <dgm:pt modelId="{39F441C1-0B66-4076-BB06-F0DF69C3C623}" type="pres">
      <dgm:prSet presAssocID="{FA61925D-EFC3-4BDC-8082-DE25CE197C30}" presName="iconRect" presStyleLbl="node1" presStyleIdx="1" presStyleCnt="3" custLinFactNeighborX="-34907" custLinFactNeighborY="35691"/>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me controller"/>
        </a:ext>
      </dgm:extLst>
    </dgm:pt>
    <dgm:pt modelId="{B13108C5-76DC-423E-B5E3-7BFEC9A244E9}" type="pres">
      <dgm:prSet presAssocID="{FA61925D-EFC3-4BDC-8082-DE25CE197C30}" presName="spaceRect" presStyleCnt="0"/>
      <dgm:spPr/>
    </dgm:pt>
    <dgm:pt modelId="{DADEB67F-2E02-4469-9FC9-B6FC2E0BAB7D}" type="pres">
      <dgm:prSet presAssocID="{FA61925D-EFC3-4BDC-8082-DE25CE197C30}" presName="parTx" presStyleLbl="revTx" presStyleIdx="1" presStyleCnt="3" custScaleX="109902">
        <dgm:presLayoutVars>
          <dgm:chMax val="0"/>
          <dgm:chPref val="0"/>
        </dgm:presLayoutVars>
      </dgm:prSet>
      <dgm:spPr/>
    </dgm:pt>
    <dgm:pt modelId="{7C7CE070-70A0-442D-8DA2-63B890906BEA}" type="pres">
      <dgm:prSet presAssocID="{94821A66-1112-4DAC-8D2B-76D8178DA201}" presName="sibTrans" presStyleCnt="0"/>
      <dgm:spPr/>
    </dgm:pt>
    <dgm:pt modelId="{C480FA7B-587F-4500-9E6F-E9119719EC68}" type="pres">
      <dgm:prSet presAssocID="{1CF1B57D-AA78-4A9F-A5A1-C51FDA40C6EC}" presName="compNode" presStyleCnt="0"/>
      <dgm:spPr/>
    </dgm:pt>
    <dgm:pt modelId="{ED8DE945-8E74-4D9C-874A-76AC320CA4FC}" type="pres">
      <dgm:prSet presAssocID="{1CF1B57D-AA78-4A9F-A5A1-C51FDA40C6EC}" presName="bgRect" presStyleLbl="bgShp" presStyleIdx="2" presStyleCnt="3" custScaleY="165971"/>
      <dgm:spPr/>
    </dgm:pt>
    <dgm:pt modelId="{1D10610D-2FF2-45C9-A795-6C7E11597F8D}" type="pres">
      <dgm:prSet presAssocID="{1CF1B57D-AA78-4A9F-A5A1-C51FDA40C6EC}" presName="iconRect" presStyleLbl="node1" presStyleIdx="2" presStyleCnt="3" custLinFactNeighborX="-44774" custLinFactNeighborY="-165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ireless router"/>
        </a:ext>
      </dgm:extLst>
    </dgm:pt>
    <dgm:pt modelId="{863C1310-CD1C-400B-8C25-B3ABE83D3904}" type="pres">
      <dgm:prSet presAssocID="{1CF1B57D-AA78-4A9F-A5A1-C51FDA40C6EC}" presName="spaceRect" presStyleCnt="0"/>
      <dgm:spPr/>
    </dgm:pt>
    <dgm:pt modelId="{DB462B93-882B-4203-944B-6AC85B2096C2}" type="pres">
      <dgm:prSet presAssocID="{1CF1B57D-AA78-4A9F-A5A1-C51FDA40C6EC}" presName="parTx" presStyleLbl="revTx" presStyleIdx="2" presStyleCnt="3" custScaleX="111301" custLinFactNeighborX="-1251" custLinFactNeighborY="-16986">
        <dgm:presLayoutVars>
          <dgm:chMax val="0"/>
          <dgm:chPref val="0"/>
        </dgm:presLayoutVars>
      </dgm:prSet>
      <dgm:spPr/>
    </dgm:pt>
  </dgm:ptLst>
  <dgm:cxnLst>
    <dgm:cxn modelId="{CDB46E11-A33F-439E-84FB-D61A76DAC68C}" srcId="{4D34C66A-BDEA-4C61-89FE-B04C24D9FC30}" destId="{C90C8C79-3379-42E9-A9C8-7F289BA2381C}" srcOrd="0" destOrd="0" parTransId="{E10B03A6-8E24-4E4E-A045-EE9A1C7D8714}" sibTransId="{AF52746B-37E0-41D5-A19E-46314BF6D25D}"/>
    <dgm:cxn modelId="{3B1E2261-B09F-4484-B5AA-E4EECF8BB581}" type="presOf" srcId="{C90C8C79-3379-42E9-A9C8-7F289BA2381C}" destId="{1B04DCCF-3D51-49A3-99C3-BD52C7AB22E5}" srcOrd="0" destOrd="0" presId="urn:microsoft.com/office/officeart/2018/2/layout/IconVerticalSolidList"/>
    <dgm:cxn modelId="{0FFC1443-5F57-4B69-9586-C81C7D682443}" srcId="{4D34C66A-BDEA-4C61-89FE-B04C24D9FC30}" destId="{1CF1B57D-AA78-4A9F-A5A1-C51FDA40C6EC}" srcOrd="2" destOrd="0" parTransId="{17A93D7E-451B-4E44-93C2-956530925A5D}" sibTransId="{4BA2414A-A50C-4100-A6B7-D7431B17E410}"/>
    <dgm:cxn modelId="{49DD5365-CF59-479A-961F-8B0A077DF67F}" type="presOf" srcId="{1CF1B57D-AA78-4A9F-A5A1-C51FDA40C6EC}" destId="{DB462B93-882B-4203-944B-6AC85B2096C2}" srcOrd="0" destOrd="0" presId="urn:microsoft.com/office/officeart/2018/2/layout/IconVerticalSolidList"/>
    <dgm:cxn modelId="{4F82E148-6256-4DD1-868A-F33D82B19D16}" srcId="{4D34C66A-BDEA-4C61-89FE-B04C24D9FC30}" destId="{FA61925D-EFC3-4BDC-8082-DE25CE197C30}" srcOrd="1" destOrd="0" parTransId="{13252B41-9AE4-4F47-9883-DC7EFCFC23E5}" sibTransId="{94821A66-1112-4DAC-8D2B-76D8178DA201}"/>
    <dgm:cxn modelId="{42B4D3AA-5935-4528-AC8E-351AFAE4A372}" type="presOf" srcId="{FA61925D-EFC3-4BDC-8082-DE25CE197C30}" destId="{DADEB67F-2E02-4469-9FC9-B6FC2E0BAB7D}" srcOrd="0" destOrd="0" presId="urn:microsoft.com/office/officeart/2018/2/layout/IconVerticalSolidList"/>
    <dgm:cxn modelId="{54835ADC-BA13-40CB-BC42-2737CFB0D0E2}" type="presOf" srcId="{4D34C66A-BDEA-4C61-89FE-B04C24D9FC30}" destId="{8B4DC267-1862-4131-BD03-5225FEE76BDE}" srcOrd="0" destOrd="0" presId="urn:microsoft.com/office/officeart/2018/2/layout/IconVerticalSolidList"/>
    <dgm:cxn modelId="{2E7E5C0A-0D26-477B-8586-150130BCECF1}" type="presParOf" srcId="{8B4DC267-1862-4131-BD03-5225FEE76BDE}" destId="{FA93EBD3-122E-484B-A6AD-416B8AE83C15}" srcOrd="0" destOrd="0" presId="urn:microsoft.com/office/officeart/2018/2/layout/IconVerticalSolidList"/>
    <dgm:cxn modelId="{72C06EEF-25A4-4D81-962C-35F34ABB0BCD}" type="presParOf" srcId="{FA93EBD3-122E-484B-A6AD-416B8AE83C15}" destId="{D67B335A-39BA-43AC-A33B-6667A504DE2C}" srcOrd="0" destOrd="0" presId="urn:microsoft.com/office/officeart/2018/2/layout/IconVerticalSolidList"/>
    <dgm:cxn modelId="{F92DCF5A-1068-4207-831E-43DB39F2BB75}" type="presParOf" srcId="{FA93EBD3-122E-484B-A6AD-416B8AE83C15}" destId="{85293B63-2416-4A3F-84D5-C44F861021FD}" srcOrd="1" destOrd="0" presId="urn:microsoft.com/office/officeart/2018/2/layout/IconVerticalSolidList"/>
    <dgm:cxn modelId="{2FBE1C22-7EF2-4C72-8F4B-AAA48015275D}" type="presParOf" srcId="{FA93EBD3-122E-484B-A6AD-416B8AE83C15}" destId="{2206262F-25C8-4ADD-AF11-A20AF1D1E647}" srcOrd="2" destOrd="0" presId="urn:microsoft.com/office/officeart/2018/2/layout/IconVerticalSolidList"/>
    <dgm:cxn modelId="{1E257C3E-3FDC-4137-BA50-A8CCC474BED8}" type="presParOf" srcId="{FA93EBD3-122E-484B-A6AD-416B8AE83C15}" destId="{1B04DCCF-3D51-49A3-99C3-BD52C7AB22E5}" srcOrd="3" destOrd="0" presId="urn:microsoft.com/office/officeart/2018/2/layout/IconVerticalSolidList"/>
    <dgm:cxn modelId="{2ACB2FF4-8A9A-4E76-8F61-C8BF545C6059}" type="presParOf" srcId="{8B4DC267-1862-4131-BD03-5225FEE76BDE}" destId="{4F4DCE7B-6DC1-454E-BFC1-B2C826BE2B86}" srcOrd="1" destOrd="0" presId="urn:microsoft.com/office/officeart/2018/2/layout/IconVerticalSolidList"/>
    <dgm:cxn modelId="{1ECEA637-B36C-4857-AE1D-F49FB3206FC6}" type="presParOf" srcId="{8B4DC267-1862-4131-BD03-5225FEE76BDE}" destId="{2288142B-2EFE-40B1-A166-648FC2258765}" srcOrd="2" destOrd="0" presId="urn:microsoft.com/office/officeart/2018/2/layout/IconVerticalSolidList"/>
    <dgm:cxn modelId="{17B50FAA-E5B6-415E-B716-6A778A85D0F5}" type="presParOf" srcId="{2288142B-2EFE-40B1-A166-648FC2258765}" destId="{25986842-AD5B-495A-98C1-28996DCBCBE3}" srcOrd="0" destOrd="0" presId="urn:microsoft.com/office/officeart/2018/2/layout/IconVerticalSolidList"/>
    <dgm:cxn modelId="{F3507119-280C-4B63-858B-AFB179F9B72E}" type="presParOf" srcId="{2288142B-2EFE-40B1-A166-648FC2258765}" destId="{39F441C1-0B66-4076-BB06-F0DF69C3C623}" srcOrd="1" destOrd="0" presId="urn:microsoft.com/office/officeart/2018/2/layout/IconVerticalSolidList"/>
    <dgm:cxn modelId="{206737F9-BD86-4E8D-BBEA-E79E3D65214C}" type="presParOf" srcId="{2288142B-2EFE-40B1-A166-648FC2258765}" destId="{B13108C5-76DC-423E-B5E3-7BFEC9A244E9}" srcOrd="2" destOrd="0" presId="urn:microsoft.com/office/officeart/2018/2/layout/IconVerticalSolidList"/>
    <dgm:cxn modelId="{53BF3958-5EFA-4C89-82D9-A8F25C958653}" type="presParOf" srcId="{2288142B-2EFE-40B1-A166-648FC2258765}" destId="{DADEB67F-2E02-4469-9FC9-B6FC2E0BAB7D}" srcOrd="3" destOrd="0" presId="urn:microsoft.com/office/officeart/2018/2/layout/IconVerticalSolidList"/>
    <dgm:cxn modelId="{F2286E97-8093-4852-AE81-CC7D50C13CB8}" type="presParOf" srcId="{8B4DC267-1862-4131-BD03-5225FEE76BDE}" destId="{7C7CE070-70A0-442D-8DA2-63B890906BEA}" srcOrd="3" destOrd="0" presId="urn:microsoft.com/office/officeart/2018/2/layout/IconVerticalSolidList"/>
    <dgm:cxn modelId="{F085E672-D4F6-4882-83CE-D598CE6A124F}" type="presParOf" srcId="{8B4DC267-1862-4131-BD03-5225FEE76BDE}" destId="{C480FA7B-587F-4500-9E6F-E9119719EC68}" srcOrd="4" destOrd="0" presId="urn:microsoft.com/office/officeart/2018/2/layout/IconVerticalSolidList"/>
    <dgm:cxn modelId="{F53479E8-3C48-42DA-AA6A-F394F3013E7A}" type="presParOf" srcId="{C480FA7B-587F-4500-9E6F-E9119719EC68}" destId="{ED8DE945-8E74-4D9C-874A-76AC320CA4FC}" srcOrd="0" destOrd="0" presId="urn:microsoft.com/office/officeart/2018/2/layout/IconVerticalSolidList"/>
    <dgm:cxn modelId="{2715F847-37EC-45C9-B996-B65062F7DF16}" type="presParOf" srcId="{C480FA7B-587F-4500-9E6F-E9119719EC68}" destId="{1D10610D-2FF2-45C9-A795-6C7E11597F8D}" srcOrd="1" destOrd="0" presId="urn:microsoft.com/office/officeart/2018/2/layout/IconVerticalSolidList"/>
    <dgm:cxn modelId="{357531E8-128B-4C96-BC4A-386844319003}" type="presParOf" srcId="{C480FA7B-587F-4500-9E6F-E9119719EC68}" destId="{863C1310-CD1C-400B-8C25-B3ABE83D3904}" srcOrd="2" destOrd="0" presId="urn:microsoft.com/office/officeart/2018/2/layout/IconVerticalSolidList"/>
    <dgm:cxn modelId="{79429691-DCAA-4414-AFDA-AAB56FE3FF71}" type="presParOf" srcId="{C480FA7B-587F-4500-9E6F-E9119719EC68}" destId="{DB462B93-882B-4203-944B-6AC85B2096C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01D9EC5-7274-456C-A2D0-62389601DD96}" type="doc">
      <dgm:prSet loTypeId="urn:microsoft.com/office/officeart/2008/layout/LinedList" loCatId="list" qsTypeId="urn:microsoft.com/office/officeart/2005/8/quickstyle/simple5" qsCatId="simple" csTypeId="urn:microsoft.com/office/officeart/2005/8/colors/colorful5" csCatId="colorful" phldr="1"/>
      <dgm:spPr/>
      <dgm:t>
        <a:bodyPr/>
        <a:lstStyle/>
        <a:p>
          <a:endParaRPr lang="en-US"/>
        </a:p>
      </dgm:t>
    </dgm:pt>
    <dgm:pt modelId="{C0EC3BEA-0D98-4472-8FE0-6B4CE5C7A988}">
      <dgm:prSet/>
      <dgm:spPr/>
      <dgm:t>
        <a:bodyPr/>
        <a:lstStyle/>
        <a:p>
          <a:pPr>
            <a:defRPr cap="all"/>
          </a:pPr>
          <a:r>
            <a:rPr lang="en-US" cap="none" baseline="0" dirty="0"/>
            <a:t>Las redes </a:t>
          </a:r>
          <a:r>
            <a:rPr lang="en-US" cap="none" baseline="0" dirty="0" err="1"/>
            <a:t>neuronales</a:t>
          </a:r>
          <a:r>
            <a:rPr lang="en-US" cap="none" baseline="0" dirty="0"/>
            <a:t> </a:t>
          </a:r>
          <a:r>
            <a:rPr lang="en-US" cap="none" baseline="0" dirty="0" err="1"/>
            <a:t>recurrentes</a:t>
          </a:r>
          <a:r>
            <a:rPr lang="en-US" cap="none" baseline="0" dirty="0"/>
            <a:t> son un </a:t>
          </a:r>
          <a:r>
            <a:rPr lang="en-US" cap="none" baseline="0" dirty="0" err="1"/>
            <a:t>tipo</a:t>
          </a:r>
          <a:r>
            <a:rPr lang="en-US" cap="none" baseline="0" dirty="0"/>
            <a:t> de red neuronal </a:t>
          </a:r>
          <a:r>
            <a:rPr lang="en-US" cap="none" baseline="0" dirty="0" err="1"/>
            <a:t>diseñada</a:t>
          </a:r>
          <a:r>
            <a:rPr lang="en-US" cap="none" baseline="0" dirty="0"/>
            <a:t> para </a:t>
          </a:r>
          <a:r>
            <a:rPr lang="en-US" cap="none" baseline="0" dirty="0" err="1"/>
            <a:t>procesar</a:t>
          </a:r>
          <a:r>
            <a:rPr lang="en-US" cap="none" baseline="0" dirty="0"/>
            <a:t> </a:t>
          </a:r>
          <a:r>
            <a:rPr lang="en-US" cap="none" baseline="0" dirty="0" err="1"/>
            <a:t>datos</a:t>
          </a:r>
          <a:r>
            <a:rPr lang="en-US" cap="none" baseline="0" dirty="0"/>
            <a:t> </a:t>
          </a:r>
          <a:r>
            <a:rPr lang="en-US" cap="none" baseline="0" dirty="0" err="1"/>
            <a:t>secuenciales</a:t>
          </a:r>
          <a:r>
            <a:rPr lang="en-US" cap="none" baseline="0" dirty="0"/>
            <a:t>, </a:t>
          </a:r>
          <a:r>
            <a:rPr lang="en-US" cap="none" baseline="0" dirty="0" err="1"/>
            <a:t>como</a:t>
          </a:r>
          <a:r>
            <a:rPr lang="en-US" cap="none" baseline="0" dirty="0"/>
            <a:t> series </a:t>
          </a:r>
          <a:r>
            <a:rPr lang="en-US" cap="none" baseline="0" dirty="0" err="1"/>
            <a:t>temporales</a:t>
          </a:r>
          <a:r>
            <a:rPr lang="en-US" cap="none" baseline="0" dirty="0"/>
            <a:t> o </a:t>
          </a:r>
          <a:r>
            <a:rPr lang="en-US" cap="none" baseline="0" dirty="0" err="1"/>
            <a:t>texto</a:t>
          </a:r>
          <a:r>
            <a:rPr lang="en-US" cap="none" baseline="0" dirty="0"/>
            <a:t> </a:t>
          </a:r>
          <a:r>
            <a:rPr lang="en-US" cap="none" baseline="0" dirty="0" err="1"/>
            <a:t>en</a:t>
          </a:r>
          <a:r>
            <a:rPr lang="en-US" cap="none" baseline="0" dirty="0"/>
            <a:t> </a:t>
          </a:r>
          <a:r>
            <a:rPr lang="en-US" cap="none" baseline="0" dirty="0" err="1"/>
            <a:t>lenguaje</a:t>
          </a:r>
          <a:r>
            <a:rPr lang="en-US" cap="none" baseline="0" dirty="0"/>
            <a:t> natural</a:t>
          </a:r>
        </a:p>
      </dgm:t>
    </dgm:pt>
    <dgm:pt modelId="{1F0BD80C-F295-423E-B818-DC02503604F6}" type="parTrans" cxnId="{7F2DB24B-593A-4299-ABB4-FBE19527C3C0}">
      <dgm:prSet/>
      <dgm:spPr/>
      <dgm:t>
        <a:bodyPr/>
        <a:lstStyle/>
        <a:p>
          <a:endParaRPr lang="en-US"/>
        </a:p>
      </dgm:t>
    </dgm:pt>
    <dgm:pt modelId="{75876BB5-1A20-437B-81D0-61E38DCB0690}" type="sibTrans" cxnId="{7F2DB24B-593A-4299-ABB4-FBE19527C3C0}">
      <dgm:prSet/>
      <dgm:spPr/>
      <dgm:t>
        <a:bodyPr/>
        <a:lstStyle/>
        <a:p>
          <a:endParaRPr lang="en-US"/>
        </a:p>
      </dgm:t>
    </dgm:pt>
    <dgm:pt modelId="{62B9D170-F3CE-4D42-A6BD-303D4E109108}">
      <dgm:prSet/>
      <dgm:spPr/>
      <dgm:t>
        <a:bodyPr/>
        <a:lstStyle/>
        <a:p>
          <a:pPr>
            <a:defRPr cap="all"/>
          </a:pPr>
          <a:r>
            <a:rPr lang="en-US" cap="none" baseline="0" dirty="0"/>
            <a:t>A </a:t>
          </a:r>
          <a:r>
            <a:rPr lang="en-US" cap="none" baseline="0" dirty="0" err="1"/>
            <a:t>diferencia</a:t>
          </a:r>
          <a:r>
            <a:rPr lang="en-US" cap="none" baseline="0" dirty="0"/>
            <a:t> de las redes </a:t>
          </a:r>
          <a:r>
            <a:rPr lang="en-US" cap="none" baseline="0" dirty="0" err="1"/>
            <a:t>neuronales</a:t>
          </a:r>
          <a:r>
            <a:rPr lang="en-US" cap="none" baseline="0" dirty="0"/>
            <a:t> feedforward </a:t>
          </a:r>
          <a:r>
            <a:rPr lang="en-US" cap="none" baseline="0" dirty="0" err="1"/>
            <a:t>tradicionales</a:t>
          </a:r>
          <a:r>
            <a:rPr lang="en-US" cap="none" baseline="0" dirty="0"/>
            <a:t>, que </a:t>
          </a:r>
          <a:r>
            <a:rPr lang="en-US" cap="none" baseline="0" dirty="0" err="1"/>
            <a:t>procesan</a:t>
          </a:r>
          <a:r>
            <a:rPr lang="en-US" cap="none" baseline="0" dirty="0"/>
            <a:t> entradas </a:t>
          </a:r>
          <a:r>
            <a:rPr lang="en-US" cap="none" baseline="0" dirty="0" err="1"/>
            <a:t>en</a:t>
          </a:r>
          <a:r>
            <a:rPr lang="en-US" cap="none" baseline="0" dirty="0"/>
            <a:t> </a:t>
          </a:r>
          <a:r>
            <a:rPr lang="en-US" cap="none" baseline="0" dirty="0" err="1"/>
            <a:t>una</a:t>
          </a:r>
          <a:r>
            <a:rPr lang="en-US" cap="none" baseline="0" dirty="0"/>
            <a:t> sola </a:t>
          </a:r>
          <a:r>
            <a:rPr lang="en-US" cap="none" baseline="0" dirty="0" err="1"/>
            <a:t>pasada</a:t>
          </a:r>
          <a:r>
            <a:rPr lang="en-US" cap="none" baseline="0" dirty="0"/>
            <a:t> y no </a:t>
          </a:r>
          <a:r>
            <a:rPr lang="en-US" cap="none" baseline="0" dirty="0" err="1"/>
            <a:t>tienen</a:t>
          </a:r>
          <a:r>
            <a:rPr lang="en-US" cap="none" baseline="0" dirty="0"/>
            <a:t> </a:t>
          </a:r>
          <a:r>
            <a:rPr lang="en-US" cap="none" baseline="0" dirty="0" err="1"/>
            <a:t>memoria</a:t>
          </a:r>
          <a:r>
            <a:rPr lang="en-US" cap="none" baseline="0" dirty="0"/>
            <a:t> de </a:t>
          </a:r>
          <a:r>
            <a:rPr lang="en-US" cap="none" baseline="0" dirty="0" err="1"/>
            <a:t>cálculos</a:t>
          </a:r>
          <a:r>
            <a:rPr lang="en-US" cap="none" baseline="0" dirty="0"/>
            <a:t> </a:t>
          </a:r>
          <a:r>
            <a:rPr lang="en-US" cap="none" baseline="0" dirty="0" err="1"/>
            <a:t>anteriores</a:t>
          </a:r>
          <a:r>
            <a:rPr lang="en-US" cap="none" baseline="0" dirty="0"/>
            <a:t>, las RNN </a:t>
          </a:r>
          <a:r>
            <a:rPr lang="en-US" cap="none" baseline="0" dirty="0" err="1"/>
            <a:t>tienen</a:t>
          </a:r>
          <a:r>
            <a:rPr lang="en-US" cap="none" baseline="0" dirty="0"/>
            <a:t> </a:t>
          </a:r>
          <a:r>
            <a:rPr lang="en-US" cap="none" baseline="0" dirty="0" err="1"/>
            <a:t>una</a:t>
          </a:r>
          <a:r>
            <a:rPr lang="en-US" cap="none" baseline="0" dirty="0"/>
            <a:t> "</a:t>
          </a:r>
          <a:r>
            <a:rPr lang="en-US" cap="none" baseline="0" dirty="0" err="1"/>
            <a:t>memoria</a:t>
          </a:r>
          <a:r>
            <a:rPr lang="en-US" cap="none" baseline="0" dirty="0"/>
            <a:t>" que les </a:t>
          </a:r>
          <a:r>
            <a:rPr lang="en-US" cap="none" baseline="0" dirty="0" err="1"/>
            <a:t>permite</a:t>
          </a:r>
          <a:r>
            <a:rPr lang="en-US" cap="none" baseline="0" dirty="0"/>
            <a:t> </a:t>
          </a:r>
          <a:r>
            <a:rPr lang="en-US" cap="none" baseline="0" dirty="0" err="1"/>
            <a:t>almacenar</a:t>
          </a:r>
          <a:r>
            <a:rPr lang="en-US" cap="none" baseline="0" dirty="0"/>
            <a:t> </a:t>
          </a:r>
          <a:r>
            <a:rPr lang="en-US" cap="none" baseline="0" dirty="0" err="1"/>
            <a:t>información</a:t>
          </a:r>
          <a:r>
            <a:rPr lang="en-US" cap="none" baseline="0" dirty="0"/>
            <a:t> </a:t>
          </a:r>
          <a:r>
            <a:rPr lang="en-US" cap="none" baseline="0" dirty="0" err="1"/>
            <a:t>sobre</a:t>
          </a:r>
          <a:r>
            <a:rPr lang="en-US" cap="none" baseline="0" dirty="0"/>
            <a:t> entradas y </a:t>
          </a:r>
          <a:r>
            <a:rPr lang="en-US" cap="none" baseline="0" dirty="0" err="1"/>
            <a:t>cálculos</a:t>
          </a:r>
          <a:r>
            <a:rPr lang="en-US" cap="none" baseline="0" dirty="0"/>
            <a:t> </a:t>
          </a:r>
          <a:r>
            <a:rPr lang="en-US" cap="none" baseline="0" dirty="0" err="1"/>
            <a:t>anteriores</a:t>
          </a:r>
          <a:endParaRPr lang="en-US" cap="none" baseline="0" dirty="0"/>
        </a:p>
      </dgm:t>
    </dgm:pt>
    <dgm:pt modelId="{9145FFE6-CF88-4817-888A-78D7E99ADED2}" type="parTrans" cxnId="{A9B61273-A5CC-42B2-ADE4-2E3BA73ED9C7}">
      <dgm:prSet/>
      <dgm:spPr/>
      <dgm:t>
        <a:bodyPr/>
        <a:lstStyle/>
        <a:p>
          <a:endParaRPr lang="en-US"/>
        </a:p>
      </dgm:t>
    </dgm:pt>
    <dgm:pt modelId="{BB17FD81-1039-4DD2-991E-EE9D5CAD2712}" type="sibTrans" cxnId="{A9B61273-A5CC-42B2-ADE4-2E3BA73ED9C7}">
      <dgm:prSet/>
      <dgm:spPr/>
      <dgm:t>
        <a:bodyPr/>
        <a:lstStyle/>
        <a:p>
          <a:endParaRPr lang="en-US"/>
        </a:p>
      </dgm:t>
    </dgm:pt>
    <dgm:pt modelId="{246D4ABE-1B69-4A9B-BCA7-1FA516DC815D}">
      <dgm:prSet/>
      <dgm:spPr/>
      <dgm:t>
        <a:bodyPr/>
        <a:lstStyle/>
        <a:p>
          <a:pPr>
            <a:defRPr cap="all"/>
          </a:pPr>
          <a:endParaRPr lang="en-US" cap="none" baseline="0" dirty="0"/>
        </a:p>
        <a:p>
          <a:pPr>
            <a:defRPr cap="all"/>
          </a:pPr>
          <a:r>
            <a:rPr lang="en-US" cap="none" baseline="0" dirty="0"/>
            <a:t>Las RNN se </a:t>
          </a:r>
          <a:r>
            <a:rPr lang="en-US" cap="none" baseline="0" dirty="0" err="1"/>
            <a:t>han</a:t>
          </a:r>
          <a:r>
            <a:rPr lang="en-US" cap="none" baseline="0" dirty="0"/>
            <a:t> </a:t>
          </a:r>
          <a:r>
            <a:rPr lang="en-US" cap="none" baseline="0" dirty="0" err="1"/>
            <a:t>aplicado</a:t>
          </a:r>
          <a:r>
            <a:rPr lang="en-US" cap="none" baseline="0" dirty="0"/>
            <a:t> con </a:t>
          </a:r>
          <a:r>
            <a:rPr lang="en-US" cap="none" baseline="0" dirty="0" err="1"/>
            <a:t>éxito</a:t>
          </a:r>
          <a:r>
            <a:rPr lang="en-US" cap="none" baseline="0" dirty="0"/>
            <a:t> a </a:t>
          </a:r>
          <a:r>
            <a:rPr lang="en-US" cap="none" baseline="0" dirty="0" err="1"/>
            <a:t>una</a:t>
          </a:r>
          <a:r>
            <a:rPr lang="en-US" cap="none" baseline="0" dirty="0"/>
            <a:t> </a:t>
          </a:r>
          <a:r>
            <a:rPr lang="en-US" cap="none" baseline="0" dirty="0" err="1"/>
            <a:t>amplia</a:t>
          </a:r>
          <a:r>
            <a:rPr lang="en-US" cap="none" baseline="0" dirty="0"/>
            <a:t> </a:t>
          </a:r>
          <a:r>
            <a:rPr lang="en-US" cap="none" baseline="0" dirty="0" err="1"/>
            <a:t>gama</a:t>
          </a:r>
          <a:r>
            <a:rPr lang="en-US" cap="none" baseline="0" dirty="0"/>
            <a:t> de </a:t>
          </a:r>
          <a:r>
            <a:rPr lang="en-US" cap="none" baseline="0" dirty="0" err="1"/>
            <a:t>tareas</a:t>
          </a:r>
          <a:r>
            <a:rPr lang="en-US" cap="none" baseline="0" dirty="0"/>
            <a:t>, </a:t>
          </a:r>
          <a:r>
            <a:rPr lang="en-US" cap="none" baseline="0" dirty="0" err="1"/>
            <a:t>como</a:t>
          </a:r>
          <a:r>
            <a:rPr lang="en-US" cap="none" baseline="0" dirty="0"/>
            <a:t> </a:t>
          </a:r>
          <a:r>
            <a:rPr lang="en-US" cap="none" baseline="0" dirty="0" err="1"/>
            <a:t>el</a:t>
          </a:r>
          <a:r>
            <a:rPr lang="en-US" cap="none" baseline="0" dirty="0"/>
            <a:t> </a:t>
          </a:r>
          <a:r>
            <a:rPr lang="en-US" cap="none" baseline="0" dirty="0" err="1"/>
            <a:t>reconocimiento</a:t>
          </a:r>
          <a:r>
            <a:rPr lang="en-US" cap="none" baseline="0" dirty="0"/>
            <a:t> de </a:t>
          </a:r>
          <a:r>
            <a:rPr lang="en-US" cap="none" baseline="0" dirty="0" err="1"/>
            <a:t>voz</a:t>
          </a:r>
          <a:r>
            <a:rPr lang="en-US" cap="none" baseline="0" dirty="0"/>
            <a:t>, </a:t>
          </a:r>
          <a:r>
            <a:rPr lang="en-US" cap="none" baseline="0" dirty="0" err="1"/>
            <a:t>el</a:t>
          </a:r>
          <a:r>
            <a:rPr lang="en-US" cap="none" baseline="0" dirty="0"/>
            <a:t> </a:t>
          </a:r>
          <a:r>
            <a:rPr lang="en-US" cap="none" baseline="0" dirty="0" err="1"/>
            <a:t>modelado</a:t>
          </a:r>
          <a:r>
            <a:rPr lang="en-US" cap="none" baseline="0" dirty="0"/>
            <a:t> del </a:t>
          </a:r>
          <a:r>
            <a:rPr lang="en-US" cap="none" baseline="0" dirty="0" err="1"/>
            <a:t>lenguaje</a:t>
          </a:r>
          <a:r>
            <a:rPr lang="en-US" cap="none" baseline="0" dirty="0"/>
            <a:t>, la </a:t>
          </a:r>
          <a:r>
            <a:rPr lang="en-US" cap="none" baseline="0" dirty="0" err="1"/>
            <a:t>traducción</a:t>
          </a:r>
          <a:r>
            <a:rPr lang="en-US" cap="none" baseline="0" dirty="0"/>
            <a:t> </a:t>
          </a:r>
          <a:r>
            <a:rPr lang="en-US" cap="none" baseline="0" dirty="0" err="1"/>
            <a:t>automática</a:t>
          </a:r>
          <a:r>
            <a:rPr lang="en-US" cap="none" baseline="0" dirty="0"/>
            <a:t> y </a:t>
          </a:r>
          <a:r>
            <a:rPr lang="en-US" cap="none" baseline="0" dirty="0" err="1"/>
            <a:t>los</a:t>
          </a:r>
          <a:r>
            <a:rPr lang="en-US" cap="none" baseline="0" dirty="0"/>
            <a:t> </a:t>
          </a:r>
          <a:r>
            <a:rPr lang="en-US" cap="none" baseline="0" dirty="0" err="1"/>
            <a:t>subtítulos</a:t>
          </a:r>
          <a:r>
            <a:rPr lang="en-US" cap="none" baseline="0" dirty="0"/>
            <a:t> de </a:t>
          </a:r>
          <a:r>
            <a:rPr lang="en-US" cap="none" baseline="0" dirty="0" err="1"/>
            <a:t>imágenes</a:t>
          </a:r>
          <a:r>
            <a:rPr lang="en-US" cap="none" baseline="0" dirty="0"/>
            <a:t>, entre </a:t>
          </a:r>
          <a:r>
            <a:rPr lang="en-US" cap="none" baseline="0" dirty="0" err="1"/>
            <a:t>otros</a:t>
          </a:r>
          <a:endParaRPr lang="en-US" cap="none" baseline="0" dirty="0"/>
        </a:p>
      </dgm:t>
    </dgm:pt>
    <dgm:pt modelId="{8B10477E-E1A1-4AB5-8FFE-7338C8383F2A}" type="parTrans" cxnId="{D43EBA2D-DC43-4D2D-A399-42020E83252D}">
      <dgm:prSet/>
      <dgm:spPr/>
      <dgm:t>
        <a:bodyPr/>
        <a:lstStyle/>
        <a:p>
          <a:endParaRPr lang="en-US"/>
        </a:p>
      </dgm:t>
    </dgm:pt>
    <dgm:pt modelId="{749255EB-741C-46CC-A05C-1104004F4B3A}" type="sibTrans" cxnId="{D43EBA2D-DC43-4D2D-A399-42020E83252D}">
      <dgm:prSet/>
      <dgm:spPr/>
      <dgm:t>
        <a:bodyPr/>
        <a:lstStyle/>
        <a:p>
          <a:endParaRPr lang="en-US"/>
        </a:p>
      </dgm:t>
    </dgm:pt>
    <dgm:pt modelId="{CC90EE7A-1FB7-4E7E-AB06-86F3B854D6A7}" type="pres">
      <dgm:prSet presAssocID="{701D9EC5-7274-456C-A2D0-62389601DD96}" presName="vert0" presStyleCnt="0">
        <dgm:presLayoutVars>
          <dgm:dir/>
          <dgm:animOne val="branch"/>
          <dgm:animLvl val="lvl"/>
        </dgm:presLayoutVars>
      </dgm:prSet>
      <dgm:spPr/>
    </dgm:pt>
    <dgm:pt modelId="{88D2FCC5-5389-41F4-B5C7-45FE6ED129F2}" type="pres">
      <dgm:prSet presAssocID="{C0EC3BEA-0D98-4472-8FE0-6B4CE5C7A988}" presName="thickLine" presStyleLbl="alignNode1" presStyleIdx="0" presStyleCnt="3"/>
      <dgm:spPr/>
    </dgm:pt>
    <dgm:pt modelId="{1F73C9D0-97F7-4E92-BBAB-24C85E795B3A}" type="pres">
      <dgm:prSet presAssocID="{C0EC3BEA-0D98-4472-8FE0-6B4CE5C7A988}" presName="horz1" presStyleCnt="0"/>
      <dgm:spPr/>
    </dgm:pt>
    <dgm:pt modelId="{B7202F96-23A9-4846-8946-626C4ABF6BFC}" type="pres">
      <dgm:prSet presAssocID="{C0EC3BEA-0D98-4472-8FE0-6B4CE5C7A988}" presName="tx1" presStyleLbl="revTx" presStyleIdx="0" presStyleCnt="3"/>
      <dgm:spPr/>
    </dgm:pt>
    <dgm:pt modelId="{EC9B4555-6B53-463C-9D7F-7AD3A6DB2782}" type="pres">
      <dgm:prSet presAssocID="{C0EC3BEA-0D98-4472-8FE0-6B4CE5C7A988}" presName="vert1" presStyleCnt="0"/>
      <dgm:spPr/>
    </dgm:pt>
    <dgm:pt modelId="{B402E160-6C6D-4F74-B809-54FCE98D0DC0}" type="pres">
      <dgm:prSet presAssocID="{62B9D170-F3CE-4D42-A6BD-303D4E109108}" presName="thickLine" presStyleLbl="alignNode1" presStyleIdx="1" presStyleCnt="3"/>
      <dgm:spPr/>
    </dgm:pt>
    <dgm:pt modelId="{D66A1843-AC61-4994-ACA0-BEBB0C8B0939}" type="pres">
      <dgm:prSet presAssocID="{62B9D170-F3CE-4D42-A6BD-303D4E109108}" presName="horz1" presStyleCnt="0"/>
      <dgm:spPr/>
    </dgm:pt>
    <dgm:pt modelId="{18ECAAA7-29D0-4007-BD78-06B1EEC6A3EE}" type="pres">
      <dgm:prSet presAssocID="{62B9D170-F3CE-4D42-A6BD-303D4E109108}" presName="tx1" presStyleLbl="revTx" presStyleIdx="1" presStyleCnt="3"/>
      <dgm:spPr/>
    </dgm:pt>
    <dgm:pt modelId="{7BC0D683-2491-4950-956C-F6CC6C8E87A2}" type="pres">
      <dgm:prSet presAssocID="{62B9D170-F3CE-4D42-A6BD-303D4E109108}" presName="vert1" presStyleCnt="0"/>
      <dgm:spPr/>
    </dgm:pt>
    <dgm:pt modelId="{4FB2686B-D539-43AB-8DC9-FDF4C6AF96FE}" type="pres">
      <dgm:prSet presAssocID="{246D4ABE-1B69-4A9B-BCA7-1FA516DC815D}" presName="thickLine" presStyleLbl="alignNode1" presStyleIdx="2" presStyleCnt="3" custLinFactNeighborY="10084"/>
      <dgm:spPr/>
    </dgm:pt>
    <dgm:pt modelId="{FE5116EE-F21B-4F0C-AD57-D42AE2500BF1}" type="pres">
      <dgm:prSet presAssocID="{246D4ABE-1B69-4A9B-BCA7-1FA516DC815D}" presName="horz1" presStyleCnt="0"/>
      <dgm:spPr/>
    </dgm:pt>
    <dgm:pt modelId="{41A4D5F9-0ADE-495E-933F-113E9D4547CB}" type="pres">
      <dgm:prSet presAssocID="{246D4ABE-1B69-4A9B-BCA7-1FA516DC815D}" presName="tx1" presStyleLbl="revTx" presStyleIdx="2" presStyleCnt="3"/>
      <dgm:spPr/>
    </dgm:pt>
    <dgm:pt modelId="{D0BC32E8-01B0-4F32-A2DC-7B794E828684}" type="pres">
      <dgm:prSet presAssocID="{246D4ABE-1B69-4A9B-BCA7-1FA516DC815D}" presName="vert1" presStyleCnt="0"/>
      <dgm:spPr/>
    </dgm:pt>
  </dgm:ptLst>
  <dgm:cxnLst>
    <dgm:cxn modelId="{9EA8F608-14EC-4F33-BA05-DC42A764D364}" type="presOf" srcId="{62B9D170-F3CE-4D42-A6BD-303D4E109108}" destId="{18ECAAA7-29D0-4007-BD78-06B1EEC6A3EE}" srcOrd="0" destOrd="0" presId="urn:microsoft.com/office/officeart/2008/layout/LinedList"/>
    <dgm:cxn modelId="{B1D62418-A285-4A2A-91BE-8B39866E6D27}" type="presOf" srcId="{C0EC3BEA-0D98-4472-8FE0-6B4CE5C7A988}" destId="{B7202F96-23A9-4846-8946-626C4ABF6BFC}" srcOrd="0" destOrd="0" presId="urn:microsoft.com/office/officeart/2008/layout/LinedList"/>
    <dgm:cxn modelId="{D43EBA2D-DC43-4D2D-A399-42020E83252D}" srcId="{701D9EC5-7274-456C-A2D0-62389601DD96}" destId="{246D4ABE-1B69-4A9B-BCA7-1FA516DC815D}" srcOrd="2" destOrd="0" parTransId="{8B10477E-E1A1-4AB5-8FFE-7338C8383F2A}" sibTransId="{749255EB-741C-46CC-A05C-1104004F4B3A}"/>
    <dgm:cxn modelId="{7F2DB24B-593A-4299-ABB4-FBE19527C3C0}" srcId="{701D9EC5-7274-456C-A2D0-62389601DD96}" destId="{C0EC3BEA-0D98-4472-8FE0-6B4CE5C7A988}" srcOrd="0" destOrd="0" parTransId="{1F0BD80C-F295-423E-B818-DC02503604F6}" sibTransId="{75876BB5-1A20-437B-81D0-61E38DCB0690}"/>
    <dgm:cxn modelId="{A9B61273-A5CC-42B2-ADE4-2E3BA73ED9C7}" srcId="{701D9EC5-7274-456C-A2D0-62389601DD96}" destId="{62B9D170-F3CE-4D42-A6BD-303D4E109108}" srcOrd="1" destOrd="0" parTransId="{9145FFE6-CF88-4817-888A-78D7E99ADED2}" sibTransId="{BB17FD81-1039-4DD2-991E-EE9D5CAD2712}"/>
    <dgm:cxn modelId="{D4EF58A7-7072-4A4E-91F1-04DFA5A3B207}" type="presOf" srcId="{701D9EC5-7274-456C-A2D0-62389601DD96}" destId="{CC90EE7A-1FB7-4E7E-AB06-86F3B854D6A7}" srcOrd="0" destOrd="0" presId="urn:microsoft.com/office/officeart/2008/layout/LinedList"/>
    <dgm:cxn modelId="{B91D61F9-0DF2-4BB9-88CC-0E67726BB686}" type="presOf" srcId="{246D4ABE-1B69-4A9B-BCA7-1FA516DC815D}" destId="{41A4D5F9-0ADE-495E-933F-113E9D4547CB}" srcOrd="0" destOrd="0" presId="urn:microsoft.com/office/officeart/2008/layout/LinedList"/>
    <dgm:cxn modelId="{6D1996ED-5641-41D9-835A-35BFA3FB2A9A}" type="presParOf" srcId="{CC90EE7A-1FB7-4E7E-AB06-86F3B854D6A7}" destId="{88D2FCC5-5389-41F4-B5C7-45FE6ED129F2}" srcOrd="0" destOrd="0" presId="urn:microsoft.com/office/officeart/2008/layout/LinedList"/>
    <dgm:cxn modelId="{8F603A45-4387-4C3E-BF60-54494458F6E1}" type="presParOf" srcId="{CC90EE7A-1FB7-4E7E-AB06-86F3B854D6A7}" destId="{1F73C9D0-97F7-4E92-BBAB-24C85E795B3A}" srcOrd="1" destOrd="0" presId="urn:microsoft.com/office/officeart/2008/layout/LinedList"/>
    <dgm:cxn modelId="{491BED35-37FA-4C18-872B-94C2A154F278}" type="presParOf" srcId="{1F73C9D0-97F7-4E92-BBAB-24C85E795B3A}" destId="{B7202F96-23A9-4846-8946-626C4ABF6BFC}" srcOrd="0" destOrd="0" presId="urn:microsoft.com/office/officeart/2008/layout/LinedList"/>
    <dgm:cxn modelId="{33C9D65F-897A-41E3-98A8-1D74F8CD9807}" type="presParOf" srcId="{1F73C9D0-97F7-4E92-BBAB-24C85E795B3A}" destId="{EC9B4555-6B53-463C-9D7F-7AD3A6DB2782}" srcOrd="1" destOrd="0" presId="urn:microsoft.com/office/officeart/2008/layout/LinedList"/>
    <dgm:cxn modelId="{4FBA122C-233F-42E4-BED2-93407D156138}" type="presParOf" srcId="{CC90EE7A-1FB7-4E7E-AB06-86F3B854D6A7}" destId="{B402E160-6C6D-4F74-B809-54FCE98D0DC0}" srcOrd="2" destOrd="0" presId="urn:microsoft.com/office/officeart/2008/layout/LinedList"/>
    <dgm:cxn modelId="{49E376C6-221A-4ADC-8791-06E01E51AF81}" type="presParOf" srcId="{CC90EE7A-1FB7-4E7E-AB06-86F3B854D6A7}" destId="{D66A1843-AC61-4994-ACA0-BEBB0C8B0939}" srcOrd="3" destOrd="0" presId="urn:microsoft.com/office/officeart/2008/layout/LinedList"/>
    <dgm:cxn modelId="{61B4EB79-F89A-4614-836D-6256C9DA2C60}" type="presParOf" srcId="{D66A1843-AC61-4994-ACA0-BEBB0C8B0939}" destId="{18ECAAA7-29D0-4007-BD78-06B1EEC6A3EE}" srcOrd="0" destOrd="0" presId="urn:microsoft.com/office/officeart/2008/layout/LinedList"/>
    <dgm:cxn modelId="{5F56DF23-7EB3-4245-B574-240DB6EEAF98}" type="presParOf" srcId="{D66A1843-AC61-4994-ACA0-BEBB0C8B0939}" destId="{7BC0D683-2491-4950-956C-F6CC6C8E87A2}" srcOrd="1" destOrd="0" presId="urn:microsoft.com/office/officeart/2008/layout/LinedList"/>
    <dgm:cxn modelId="{A1C29F54-FA40-4E35-B26E-0FBA2F8635E1}" type="presParOf" srcId="{CC90EE7A-1FB7-4E7E-AB06-86F3B854D6A7}" destId="{4FB2686B-D539-43AB-8DC9-FDF4C6AF96FE}" srcOrd="4" destOrd="0" presId="urn:microsoft.com/office/officeart/2008/layout/LinedList"/>
    <dgm:cxn modelId="{5830C44E-AE31-4AD4-A540-90A2CDA26303}" type="presParOf" srcId="{CC90EE7A-1FB7-4E7E-AB06-86F3B854D6A7}" destId="{FE5116EE-F21B-4F0C-AD57-D42AE2500BF1}" srcOrd="5" destOrd="0" presId="urn:microsoft.com/office/officeart/2008/layout/LinedList"/>
    <dgm:cxn modelId="{30E971E2-8DDC-4ED8-A717-CB8B2B45D464}" type="presParOf" srcId="{FE5116EE-F21B-4F0C-AD57-D42AE2500BF1}" destId="{41A4D5F9-0ADE-495E-933F-113E9D4547CB}" srcOrd="0" destOrd="0" presId="urn:microsoft.com/office/officeart/2008/layout/LinedList"/>
    <dgm:cxn modelId="{204A0597-9D6C-40E5-9FA3-7FDB22DED983}" type="presParOf" srcId="{FE5116EE-F21B-4F0C-AD57-D42AE2500BF1}" destId="{D0BC32E8-01B0-4F32-A2DC-7B794E828684}"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08E914A-F6D6-4369-9872-3D6D5DE52D22}"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00D1AEC1-6D47-4A18-9672-12DDE7F964D0}">
      <dgm:prSet custT="1"/>
      <dgm:spPr/>
      <dgm:t>
        <a:bodyPr/>
        <a:lstStyle/>
        <a:p>
          <a:r>
            <a:rPr lang="es-CL" sz="2400" dirty="0"/>
            <a:t>Por ejemplo: </a:t>
          </a:r>
        </a:p>
        <a:p>
          <a:endParaRPr lang="es-CL" sz="2400" dirty="0"/>
        </a:p>
        <a:p>
          <a:r>
            <a:rPr lang="es-CL" sz="2400" dirty="0"/>
            <a:t>“</a:t>
          </a:r>
          <a:r>
            <a:rPr lang="es-CL" sz="2400" dirty="0">
              <a:solidFill>
                <a:srgbClr val="0070C0"/>
              </a:solidFill>
            </a:rPr>
            <a:t>Pedro</a:t>
          </a:r>
          <a:r>
            <a:rPr lang="es-CL" sz="2400" dirty="0"/>
            <a:t> salió de la biblioteca y se fue caminando hasta la oficina de </a:t>
          </a:r>
          <a:r>
            <a:rPr lang="es-CL" sz="2400" dirty="0">
              <a:solidFill>
                <a:srgbClr val="0070C0"/>
              </a:solidFill>
            </a:rPr>
            <a:t>Juan</a:t>
          </a:r>
          <a:r>
            <a:rPr lang="es-CL" sz="2400" dirty="0"/>
            <a:t>. Al llegar, </a:t>
          </a:r>
          <a:r>
            <a:rPr lang="es-CL" sz="2400" dirty="0">
              <a:solidFill>
                <a:srgbClr val="0070C0"/>
              </a:solidFill>
            </a:rPr>
            <a:t>él</a:t>
          </a:r>
          <a:r>
            <a:rPr lang="es-CL" sz="2400" dirty="0"/>
            <a:t> le comentó que se había </a:t>
          </a:r>
          <a:r>
            <a:rPr lang="es-CL" sz="2400" dirty="0">
              <a:solidFill>
                <a:srgbClr val="0070C0"/>
              </a:solidFill>
            </a:rPr>
            <a:t>cansado</a:t>
          </a:r>
          <a:r>
            <a:rPr lang="es-CL" sz="2400" dirty="0"/>
            <a:t>.”</a:t>
          </a:r>
        </a:p>
        <a:p>
          <a:endParaRPr lang="es-CL" sz="2400" dirty="0"/>
        </a:p>
        <a:p>
          <a:r>
            <a:rPr lang="es-CL" sz="2400" dirty="0"/>
            <a:t>Entender que el pronombre personal “él” se refiere a Pedro y no a Juan, es una dependencia de larga distancia.</a:t>
          </a:r>
          <a:endParaRPr lang="en-US" sz="2400" dirty="0"/>
        </a:p>
      </dgm:t>
    </dgm:pt>
    <dgm:pt modelId="{EB1D4397-783F-4C43-9C8B-4D7259C87425}" type="parTrans" cxnId="{B11B17D6-71EE-4CFE-9D8C-644818626E46}">
      <dgm:prSet/>
      <dgm:spPr/>
      <dgm:t>
        <a:bodyPr/>
        <a:lstStyle/>
        <a:p>
          <a:endParaRPr lang="en-US"/>
        </a:p>
      </dgm:t>
    </dgm:pt>
    <dgm:pt modelId="{18FBE81D-037C-48DB-9988-1A3CF1039237}" type="sibTrans" cxnId="{B11B17D6-71EE-4CFE-9D8C-644818626E46}">
      <dgm:prSet/>
      <dgm:spPr/>
      <dgm:t>
        <a:bodyPr/>
        <a:lstStyle/>
        <a:p>
          <a:endParaRPr lang="en-US"/>
        </a:p>
      </dgm:t>
    </dgm:pt>
    <dgm:pt modelId="{0BCE4528-A350-4F4A-BD48-FF9285E47977}" type="pres">
      <dgm:prSet presAssocID="{808E914A-F6D6-4369-9872-3D6D5DE52D22}" presName="vert0" presStyleCnt="0">
        <dgm:presLayoutVars>
          <dgm:dir/>
          <dgm:animOne val="branch"/>
          <dgm:animLvl val="lvl"/>
        </dgm:presLayoutVars>
      </dgm:prSet>
      <dgm:spPr/>
    </dgm:pt>
    <dgm:pt modelId="{8D0198EA-4259-4607-95E6-379B39A85A79}" type="pres">
      <dgm:prSet presAssocID="{00D1AEC1-6D47-4A18-9672-12DDE7F964D0}" presName="thickLine" presStyleLbl="alignNode1" presStyleIdx="0" presStyleCnt="1"/>
      <dgm:spPr/>
    </dgm:pt>
    <dgm:pt modelId="{9491E811-6DB4-4222-80D2-F5C38B7CC1F1}" type="pres">
      <dgm:prSet presAssocID="{00D1AEC1-6D47-4A18-9672-12DDE7F964D0}" presName="horz1" presStyleCnt="0"/>
      <dgm:spPr/>
    </dgm:pt>
    <dgm:pt modelId="{BE5EF02D-0F3C-4C45-BFC8-D2F12938210D}" type="pres">
      <dgm:prSet presAssocID="{00D1AEC1-6D47-4A18-9672-12DDE7F964D0}" presName="tx1" presStyleLbl="revTx" presStyleIdx="0" presStyleCnt="1"/>
      <dgm:spPr/>
    </dgm:pt>
    <dgm:pt modelId="{5A2F6B96-F01B-4816-9142-8FF850E73B09}" type="pres">
      <dgm:prSet presAssocID="{00D1AEC1-6D47-4A18-9672-12DDE7F964D0}" presName="vert1" presStyleCnt="0"/>
      <dgm:spPr/>
    </dgm:pt>
  </dgm:ptLst>
  <dgm:cxnLst>
    <dgm:cxn modelId="{00E27F16-58F6-4ACA-AEF4-C11B7B2A2653}" type="presOf" srcId="{808E914A-F6D6-4369-9872-3D6D5DE52D22}" destId="{0BCE4528-A350-4F4A-BD48-FF9285E47977}" srcOrd="0" destOrd="0" presId="urn:microsoft.com/office/officeart/2008/layout/LinedList"/>
    <dgm:cxn modelId="{3D5CA061-CCE9-4904-8007-4A16687851B8}" type="presOf" srcId="{00D1AEC1-6D47-4A18-9672-12DDE7F964D0}" destId="{BE5EF02D-0F3C-4C45-BFC8-D2F12938210D}" srcOrd="0" destOrd="0" presId="urn:microsoft.com/office/officeart/2008/layout/LinedList"/>
    <dgm:cxn modelId="{B11B17D6-71EE-4CFE-9D8C-644818626E46}" srcId="{808E914A-F6D6-4369-9872-3D6D5DE52D22}" destId="{00D1AEC1-6D47-4A18-9672-12DDE7F964D0}" srcOrd="0" destOrd="0" parTransId="{EB1D4397-783F-4C43-9C8B-4D7259C87425}" sibTransId="{18FBE81D-037C-48DB-9988-1A3CF1039237}"/>
    <dgm:cxn modelId="{4D12AC1D-E8DF-45D4-863E-91CFA070AD03}" type="presParOf" srcId="{0BCE4528-A350-4F4A-BD48-FF9285E47977}" destId="{8D0198EA-4259-4607-95E6-379B39A85A79}" srcOrd="0" destOrd="0" presId="urn:microsoft.com/office/officeart/2008/layout/LinedList"/>
    <dgm:cxn modelId="{64FC6A19-DC0C-4F93-9067-37033AC67901}" type="presParOf" srcId="{0BCE4528-A350-4F4A-BD48-FF9285E47977}" destId="{9491E811-6DB4-4222-80D2-F5C38B7CC1F1}" srcOrd="1" destOrd="0" presId="urn:microsoft.com/office/officeart/2008/layout/LinedList"/>
    <dgm:cxn modelId="{9E49A51A-1E17-4B54-8BB4-8FF26ECC2577}" type="presParOf" srcId="{9491E811-6DB4-4222-80D2-F5C38B7CC1F1}" destId="{BE5EF02D-0F3C-4C45-BFC8-D2F12938210D}" srcOrd="0" destOrd="0" presId="urn:microsoft.com/office/officeart/2008/layout/LinedList"/>
    <dgm:cxn modelId="{2C5EBE4A-0E1E-4A37-919E-655A7F6109AF}" type="presParOf" srcId="{9491E811-6DB4-4222-80D2-F5C38B7CC1F1}" destId="{5A2F6B96-F01B-4816-9142-8FF850E73B0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08E914A-F6D6-4369-9872-3D6D5DE52D22}"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00D1AEC1-6D47-4A18-9672-12DDE7F964D0}">
      <dgm:prSet custT="1"/>
      <dgm:spPr/>
      <dgm:t>
        <a:bodyPr/>
        <a:lstStyle/>
        <a:p>
          <a:r>
            <a:rPr lang="es-CL" sz="2400" dirty="0"/>
            <a:t>Supongamos, entonces, el siguiente “</a:t>
          </a:r>
          <a:r>
            <a:rPr lang="es-CL" sz="2400" dirty="0" err="1"/>
            <a:t>prompt</a:t>
          </a:r>
          <a:r>
            <a:rPr lang="es-CL" sz="2400" dirty="0"/>
            <a:t>”:</a:t>
          </a:r>
        </a:p>
        <a:p>
          <a:endParaRPr lang="es-CL" sz="2400" dirty="0"/>
        </a:p>
        <a:p>
          <a:r>
            <a:rPr lang="es-CL" sz="2400" dirty="0">
              <a:solidFill>
                <a:schemeClr val="tx1"/>
              </a:solidFill>
            </a:rPr>
            <a:t>Pedro salió de la biblioteca y se fue caminando hasta la oficina de Juan. Al llegar, él le comentó que se había cansado</a:t>
          </a:r>
          <a:r>
            <a:rPr lang="es-CL" sz="2400" dirty="0"/>
            <a:t>. ¿Quién se había cansado?</a:t>
          </a:r>
        </a:p>
        <a:p>
          <a:endParaRPr lang="es-CL" sz="2400" dirty="0"/>
        </a:p>
        <a:p>
          <a:r>
            <a:rPr lang="es-CL" sz="2400" dirty="0"/>
            <a:t>Dado que los </a:t>
          </a:r>
          <a:r>
            <a:rPr lang="es-CL" sz="2400" dirty="0" err="1"/>
            <a:t>embeddings</a:t>
          </a:r>
          <a:r>
            <a:rPr lang="es-CL" sz="2400" dirty="0"/>
            <a:t> y la capa de proyección pueden aprender todo tipo de relaciones, gramaticales, semánticas, temáticas y de todo tipo, son capaces de continuar apropiadamente el </a:t>
          </a:r>
          <a:r>
            <a:rPr lang="es-CL" sz="2400" dirty="0" err="1"/>
            <a:t>prompt</a:t>
          </a:r>
          <a:r>
            <a:rPr lang="es-CL" sz="2400" dirty="0"/>
            <a:t>.</a:t>
          </a:r>
        </a:p>
        <a:p>
          <a:endParaRPr lang="es-CL" sz="2400" dirty="0"/>
        </a:p>
        <a:p>
          <a:endParaRPr lang="es-CL" sz="2400" dirty="0"/>
        </a:p>
      </dgm:t>
    </dgm:pt>
    <dgm:pt modelId="{EB1D4397-783F-4C43-9C8B-4D7259C87425}" type="parTrans" cxnId="{B11B17D6-71EE-4CFE-9D8C-644818626E46}">
      <dgm:prSet/>
      <dgm:spPr/>
      <dgm:t>
        <a:bodyPr/>
        <a:lstStyle/>
        <a:p>
          <a:endParaRPr lang="en-US"/>
        </a:p>
      </dgm:t>
    </dgm:pt>
    <dgm:pt modelId="{18FBE81D-037C-48DB-9988-1A3CF1039237}" type="sibTrans" cxnId="{B11B17D6-71EE-4CFE-9D8C-644818626E46}">
      <dgm:prSet/>
      <dgm:spPr/>
      <dgm:t>
        <a:bodyPr/>
        <a:lstStyle/>
        <a:p>
          <a:endParaRPr lang="en-US"/>
        </a:p>
      </dgm:t>
    </dgm:pt>
    <dgm:pt modelId="{0BCE4528-A350-4F4A-BD48-FF9285E47977}" type="pres">
      <dgm:prSet presAssocID="{808E914A-F6D6-4369-9872-3D6D5DE52D22}" presName="vert0" presStyleCnt="0">
        <dgm:presLayoutVars>
          <dgm:dir/>
          <dgm:animOne val="branch"/>
          <dgm:animLvl val="lvl"/>
        </dgm:presLayoutVars>
      </dgm:prSet>
      <dgm:spPr/>
    </dgm:pt>
    <dgm:pt modelId="{8D0198EA-4259-4607-95E6-379B39A85A79}" type="pres">
      <dgm:prSet presAssocID="{00D1AEC1-6D47-4A18-9672-12DDE7F964D0}" presName="thickLine" presStyleLbl="alignNode1" presStyleIdx="0" presStyleCnt="1"/>
      <dgm:spPr/>
    </dgm:pt>
    <dgm:pt modelId="{9491E811-6DB4-4222-80D2-F5C38B7CC1F1}" type="pres">
      <dgm:prSet presAssocID="{00D1AEC1-6D47-4A18-9672-12DDE7F964D0}" presName="horz1" presStyleCnt="0"/>
      <dgm:spPr/>
    </dgm:pt>
    <dgm:pt modelId="{BE5EF02D-0F3C-4C45-BFC8-D2F12938210D}" type="pres">
      <dgm:prSet presAssocID="{00D1AEC1-6D47-4A18-9672-12DDE7F964D0}" presName="tx1" presStyleLbl="revTx" presStyleIdx="0" presStyleCnt="1"/>
      <dgm:spPr/>
    </dgm:pt>
    <dgm:pt modelId="{5A2F6B96-F01B-4816-9142-8FF850E73B09}" type="pres">
      <dgm:prSet presAssocID="{00D1AEC1-6D47-4A18-9672-12DDE7F964D0}" presName="vert1" presStyleCnt="0"/>
      <dgm:spPr/>
    </dgm:pt>
  </dgm:ptLst>
  <dgm:cxnLst>
    <dgm:cxn modelId="{00E27F16-58F6-4ACA-AEF4-C11B7B2A2653}" type="presOf" srcId="{808E914A-F6D6-4369-9872-3D6D5DE52D22}" destId="{0BCE4528-A350-4F4A-BD48-FF9285E47977}" srcOrd="0" destOrd="0" presId="urn:microsoft.com/office/officeart/2008/layout/LinedList"/>
    <dgm:cxn modelId="{3D5CA061-CCE9-4904-8007-4A16687851B8}" type="presOf" srcId="{00D1AEC1-6D47-4A18-9672-12DDE7F964D0}" destId="{BE5EF02D-0F3C-4C45-BFC8-D2F12938210D}" srcOrd="0" destOrd="0" presId="urn:microsoft.com/office/officeart/2008/layout/LinedList"/>
    <dgm:cxn modelId="{B11B17D6-71EE-4CFE-9D8C-644818626E46}" srcId="{808E914A-F6D6-4369-9872-3D6D5DE52D22}" destId="{00D1AEC1-6D47-4A18-9672-12DDE7F964D0}" srcOrd="0" destOrd="0" parTransId="{EB1D4397-783F-4C43-9C8B-4D7259C87425}" sibTransId="{18FBE81D-037C-48DB-9988-1A3CF1039237}"/>
    <dgm:cxn modelId="{4D12AC1D-E8DF-45D4-863E-91CFA070AD03}" type="presParOf" srcId="{0BCE4528-A350-4F4A-BD48-FF9285E47977}" destId="{8D0198EA-4259-4607-95E6-379B39A85A79}" srcOrd="0" destOrd="0" presId="urn:microsoft.com/office/officeart/2008/layout/LinedList"/>
    <dgm:cxn modelId="{64FC6A19-DC0C-4F93-9067-37033AC67901}" type="presParOf" srcId="{0BCE4528-A350-4F4A-BD48-FF9285E47977}" destId="{9491E811-6DB4-4222-80D2-F5C38B7CC1F1}" srcOrd="1" destOrd="0" presId="urn:microsoft.com/office/officeart/2008/layout/LinedList"/>
    <dgm:cxn modelId="{9E49A51A-1E17-4B54-8BB4-8FF26ECC2577}" type="presParOf" srcId="{9491E811-6DB4-4222-80D2-F5C38B7CC1F1}" destId="{BE5EF02D-0F3C-4C45-BFC8-D2F12938210D}" srcOrd="0" destOrd="0" presId="urn:microsoft.com/office/officeart/2008/layout/LinedList"/>
    <dgm:cxn modelId="{2C5EBE4A-0E1E-4A37-919E-655A7F6109AF}" type="presParOf" srcId="{9491E811-6DB4-4222-80D2-F5C38B7CC1F1}" destId="{5A2F6B96-F01B-4816-9142-8FF850E73B0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08E914A-F6D6-4369-9872-3D6D5DE52D22}"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00D1AEC1-6D47-4A18-9672-12DDE7F964D0}">
      <dgm:prSet custT="1"/>
      <dgm:spPr/>
      <dgm:t>
        <a:bodyPr/>
        <a:lstStyle/>
        <a:p>
          <a:r>
            <a:rPr lang="es-CL" sz="2400" dirty="0"/>
            <a:t>Supongamos, entonces, el siguiente “</a:t>
          </a:r>
          <a:r>
            <a:rPr lang="es-CL" sz="2400" dirty="0" err="1"/>
            <a:t>prompt</a:t>
          </a:r>
          <a:r>
            <a:rPr lang="es-CL" sz="2400" dirty="0"/>
            <a:t>”:</a:t>
          </a:r>
        </a:p>
        <a:p>
          <a:endParaRPr lang="es-CL" sz="2400" dirty="0"/>
        </a:p>
        <a:p>
          <a:r>
            <a:rPr lang="es-CL" sz="2400" dirty="0">
              <a:solidFill>
                <a:schemeClr val="tx1"/>
              </a:solidFill>
              <a:highlight>
                <a:srgbClr val="00FF00"/>
              </a:highlight>
            </a:rPr>
            <a:t>Pedro</a:t>
          </a:r>
          <a:r>
            <a:rPr lang="es-CL" sz="2400" dirty="0">
              <a:solidFill>
                <a:schemeClr val="tx1"/>
              </a:solidFill>
            </a:rPr>
            <a:t> salió de la </a:t>
          </a:r>
          <a:r>
            <a:rPr lang="es-CL" sz="2400" dirty="0">
              <a:solidFill>
                <a:srgbClr val="FF0000"/>
              </a:solidFill>
            </a:rPr>
            <a:t>biblioteca</a:t>
          </a:r>
          <a:r>
            <a:rPr lang="es-CL" sz="2400" dirty="0">
              <a:solidFill>
                <a:schemeClr val="tx1"/>
              </a:solidFill>
            </a:rPr>
            <a:t> y se fue </a:t>
          </a:r>
          <a:r>
            <a:rPr lang="es-CL" sz="2400" dirty="0">
              <a:solidFill>
                <a:srgbClr val="FF0000"/>
              </a:solidFill>
            </a:rPr>
            <a:t>caminando</a:t>
          </a:r>
          <a:r>
            <a:rPr lang="es-CL" sz="2400" dirty="0">
              <a:solidFill>
                <a:schemeClr val="tx1"/>
              </a:solidFill>
            </a:rPr>
            <a:t> hasta la oficina de Juan. Al llegar, él le comentó que se había </a:t>
          </a:r>
          <a:r>
            <a:rPr lang="es-CL" sz="2400" dirty="0">
              <a:solidFill>
                <a:srgbClr val="FF0000"/>
              </a:solidFill>
            </a:rPr>
            <a:t>cansado</a:t>
          </a:r>
          <a:r>
            <a:rPr lang="es-CL" sz="2400" dirty="0"/>
            <a:t>. ¿</a:t>
          </a:r>
          <a:r>
            <a:rPr lang="es-CL" sz="2400" dirty="0">
              <a:solidFill>
                <a:srgbClr val="FF0000"/>
              </a:solidFill>
            </a:rPr>
            <a:t>Quién</a:t>
          </a:r>
          <a:r>
            <a:rPr lang="es-CL" sz="2400" dirty="0"/>
            <a:t> se había </a:t>
          </a:r>
          <a:r>
            <a:rPr lang="es-CL" sz="2400" dirty="0">
              <a:solidFill>
                <a:srgbClr val="FF0000"/>
              </a:solidFill>
            </a:rPr>
            <a:t>cansado</a:t>
          </a:r>
          <a:r>
            <a:rPr lang="es-CL" sz="2400" dirty="0"/>
            <a:t>?</a:t>
          </a:r>
        </a:p>
        <a:p>
          <a:endParaRPr lang="es-CL" sz="2400" dirty="0"/>
        </a:p>
        <a:p>
          <a:r>
            <a:rPr lang="es-CL" sz="2400" dirty="0"/>
            <a:t>Dado que el vector de contexto h incorporará que “caminando” se relaciona con “cansado” y que “Pedro” se relaciona con “caminando” más de lo que “Juan” se relaciona con “caminando”, el </a:t>
          </a:r>
          <a:r>
            <a:rPr lang="es-CL" sz="2400" dirty="0" err="1"/>
            <a:t>Transformer</a:t>
          </a:r>
          <a:r>
            <a:rPr lang="es-CL" sz="2400" dirty="0"/>
            <a:t> es capaz de responde “Juan se había cansado”.</a:t>
          </a:r>
        </a:p>
        <a:p>
          <a:endParaRPr lang="es-CL" sz="2400" dirty="0"/>
        </a:p>
      </dgm:t>
    </dgm:pt>
    <dgm:pt modelId="{EB1D4397-783F-4C43-9C8B-4D7259C87425}" type="parTrans" cxnId="{B11B17D6-71EE-4CFE-9D8C-644818626E46}">
      <dgm:prSet/>
      <dgm:spPr/>
      <dgm:t>
        <a:bodyPr/>
        <a:lstStyle/>
        <a:p>
          <a:endParaRPr lang="en-US"/>
        </a:p>
      </dgm:t>
    </dgm:pt>
    <dgm:pt modelId="{18FBE81D-037C-48DB-9988-1A3CF1039237}" type="sibTrans" cxnId="{B11B17D6-71EE-4CFE-9D8C-644818626E46}">
      <dgm:prSet/>
      <dgm:spPr/>
      <dgm:t>
        <a:bodyPr/>
        <a:lstStyle/>
        <a:p>
          <a:endParaRPr lang="en-US"/>
        </a:p>
      </dgm:t>
    </dgm:pt>
    <dgm:pt modelId="{0BCE4528-A350-4F4A-BD48-FF9285E47977}" type="pres">
      <dgm:prSet presAssocID="{808E914A-F6D6-4369-9872-3D6D5DE52D22}" presName="vert0" presStyleCnt="0">
        <dgm:presLayoutVars>
          <dgm:dir/>
          <dgm:animOne val="branch"/>
          <dgm:animLvl val="lvl"/>
        </dgm:presLayoutVars>
      </dgm:prSet>
      <dgm:spPr/>
    </dgm:pt>
    <dgm:pt modelId="{8D0198EA-4259-4607-95E6-379B39A85A79}" type="pres">
      <dgm:prSet presAssocID="{00D1AEC1-6D47-4A18-9672-12DDE7F964D0}" presName="thickLine" presStyleLbl="alignNode1" presStyleIdx="0" presStyleCnt="1"/>
      <dgm:spPr/>
    </dgm:pt>
    <dgm:pt modelId="{9491E811-6DB4-4222-80D2-F5C38B7CC1F1}" type="pres">
      <dgm:prSet presAssocID="{00D1AEC1-6D47-4A18-9672-12DDE7F964D0}" presName="horz1" presStyleCnt="0"/>
      <dgm:spPr/>
    </dgm:pt>
    <dgm:pt modelId="{BE5EF02D-0F3C-4C45-BFC8-D2F12938210D}" type="pres">
      <dgm:prSet presAssocID="{00D1AEC1-6D47-4A18-9672-12DDE7F964D0}" presName="tx1" presStyleLbl="revTx" presStyleIdx="0" presStyleCnt="1"/>
      <dgm:spPr/>
    </dgm:pt>
    <dgm:pt modelId="{5A2F6B96-F01B-4816-9142-8FF850E73B09}" type="pres">
      <dgm:prSet presAssocID="{00D1AEC1-6D47-4A18-9672-12DDE7F964D0}" presName="vert1" presStyleCnt="0"/>
      <dgm:spPr/>
    </dgm:pt>
  </dgm:ptLst>
  <dgm:cxnLst>
    <dgm:cxn modelId="{00E27F16-58F6-4ACA-AEF4-C11B7B2A2653}" type="presOf" srcId="{808E914A-F6D6-4369-9872-3D6D5DE52D22}" destId="{0BCE4528-A350-4F4A-BD48-FF9285E47977}" srcOrd="0" destOrd="0" presId="urn:microsoft.com/office/officeart/2008/layout/LinedList"/>
    <dgm:cxn modelId="{3D5CA061-CCE9-4904-8007-4A16687851B8}" type="presOf" srcId="{00D1AEC1-6D47-4A18-9672-12DDE7F964D0}" destId="{BE5EF02D-0F3C-4C45-BFC8-D2F12938210D}" srcOrd="0" destOrd="0" presId="urn:microsoft.com/office/officeart/2008/layout/LinedList"/>
    <dgm:cxn modelId="{B11B17D6-71EE-4CFE-9D8C-644818626E46}" srcId="{808E914A-F6D6-4369-9872-3D6D5DE52D22}" destId="{00D1AEC1-6D47-4A18-9672-12DDE7F964D0}" srcOrd="0" destOrd="0" parTransId="{EB1D4397-783F-4C43-9C8B-4D7259C87425}" sibTransId="{18FBE81D-037C-48DB-9988-1A3CF1039237}"/>
    <dgm:cxn modelId="{4D12AC1D-E8DF-45D4-863E-91CFA070AD03}" type="presParOf" srcId="{0BCE4528-A350-4F4A-BD48-FF9285E47977}" destId="{8D0198EA-4259-4607-95E6-379B39A85A79}" srcOrd="0" destOrd="0" presId="urn:microsoft.com/office/officeart/2008/layout/LinedList"/>
    <dgm:cxn modelId="{64FC6A19-DC0C-4F93-9067-37033AC67901}" type="presParOf" srcId="{0BCE4528-A350-4F4A-BD48-FF9285E47977}" destId="{9491E811-6DB4-4222-80D2-F5C38B7CC1F1}" srcOrd="1" destOrd="0" presId="urn:microsoft.com/office/officeart/2008/layout/LinedList"/>
    <dgm:cxn modelId="{9E49A51A-1E17-4B54-8BB4-8FF26ECC2577}" type="presParOf" srcId="{9491E811-6DB4-4222-80D2-F5C38B7CC1F1}" destId="{BE5EF02D-0F3C-4C45-BFC8-D2F12938210D}" srcOrd="0" destOrd="0" presId="urn:microsoft.com/office/officeart/2008/layout/LinedList"/>
    <dgm:cxn modelId="{2C5EBE4A-0E1E-4A37-919E-655A7F6109AF}" type="presParOf" srcId="{9491E811-6DB4-4222-80D2-F5C38B7CC1F1}" destId="{5A2F6B96-F01B-4816-9142-8FF850E73B0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08E914A-F6D6-4369-9872-3D6D5DE52D22}"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00D1AEC1-6D47-4A18-9672-12DDE7F964D0}">
      <dgm:prSet custT="1"/>
      <dgm:spPr/>
      <dgm:t>
        <a:bodyPr/>
        <a:lstStyle/>
        <a:p>
          <a:r>
            <a:rPr lang="es-CL" sz="2800" dirty="0"/>
            <a:t>Se entiende así que un </a:t>
          </a:r>
          <a:r>
            <a:rPr lang="es-CL" sz="2800" dirty="0" err="1"/>
            <a:t>prompt</a:t>
          </a:r>
          <a:r>
            <a:rPr lang="es-CL" sz="2800" dirty="0"/>
            <a:t> selecciona un significado para una palabra que es polisémica (por ej., banco, llave, pieza, mano, código, etc.).</a:t>
          </a:r>
        </a:p>
        <a:p>
          <a:endParaRPr lang="es-CL" sz="2400" dirty="0"/>
        </a:p>
        <a:p>
          <a:endParaRPr lang="es-CL" sz="2400" dirty="0"/>
        </a:p>
      </dgm:t>
    </dgm:pt>
    <dgm:pt modelId="{EB1D4397-783F-4C43-9C8B-4D7259C87425}" type="parTrans" cxnId="{B11B17D6-71EE-4CFE-9D8C-644818626E46}">
      <dgm:prSet/>
      <dgm:spPr/>
      <dgm:t>
        <a:bodyPr/>
        <a:lstStyle/>
        <a:p>
          <a:endParaRPr lang="en-US"/>
        </a:p>
      </dgm:t>
    </dgm:pt>
    <dgm:pt modelId="{18FBE81D-037C-48DB-9988-1A3CF1039237}" type="sibTrans" cxnId="{B11B17D6-71EE-4CFE-9D8C-644818626E46}">
      <dgm:prSet/>
      <dgm:spPr/>
      <dgm:t>
        <a:bodyPr/>
        <a:lstStyle/>
        <a:p>
          <a:endParaRPr lang="en-US"/>
        </a:p>
      </dgm:t>
    </dgm:pt>
    <dgm:pt modelId="{0BCE4528-A350-4F4A-BD48-FF9285E47977}" type="pres">
      <dgm:prSet presAssocID="{808E914A-F6D6-4369-9872-3D6D5DE52D22}" presName="vert0" presStyleCnt="0">
        <dgm:presLayoutVars>
          <dgm:dir/>
          <dgm:animOne val="branch"/>
          <dgm:animLvl val="lvl"/>
        </dgm:presLayoutVars>
      </dgm:prSet>
      <dgm:spPr/>
    </dgm:pt>
    <dgm:pt modelId="{8D0198EA-4259-4607-95E6-379B39A85A79}" type="pres">
      <dgm:prSet presAssocID="{00D1AEC1-6D47-4A18-9672-12DDE7F964D0}" presName="thickLine" presStyleLbl="alignNode1" presStyleIdx="0" presStyleCnt="1"/>
      <dgm:spPr/>
    </dgm:pt>
    <dgm:pt modelId="{9491E811-6DB4-4222-80D2-F5C38B7CC1F1}" type="pres">
      <dgm:prSet presAssocID="{00D1AEC1-6D47-4A18-9672-12DDE7F964D0}" presName="horz1" presStyleCnt="0"/>
      <dgm:spPr/>
    </dgm:pt>
    <dgm:pt modelId="{BE5EF02D-0F3C-4C45-BFC8-D2F12938210D}" type="pres">
      <dgm:prSet presAssocID="{00D1AEC1-6D47-4A18-9672-12DDE7F964D0}" presName="tx1" presStyleLbl="revTx" presStyleIdx="0" presStyleCnt="1"/>
      <dgm:spPr/>
    </dgm:pt>
    <dgm:pt modelId="{5A2F6B96-F01B-4816-9142-8FF850E73B09}" type="pres">
      <dgm:prSet presAssocID="{00D1AEC1-6D47-4A18-9672-12DDE7F964D0}" presName="vert1" presStyleCnt="0"/>
      <dgm:spPr/>
    </dgm:pt>
  </dgm:ptLst>
  <dgm:cxnLst>
    <dgm:cxn modelId="{00E27F16-58F6-4ACA-AEF4-C11B7B2A2653}" type="presOf" srcId="{808E914A-F6D6-4369-9872-3D6D5DE52D22}" destId="{0BCE4528-A350-4F4A-BD48-FF9285E47977}" srcOrd="0" destOrd="0" presId="urn:microsoft.com/office/officeart/2008/layout/LinedList"/>
    <dgm:cxn modelId="{3D5CA061-CCE9-4904-8007-4A16687851B8}" type="presOf" srcId="{00D1AEC1-6D47-4A18-9672-12DDE7F964D0}" destId="{BE5EF02D-0F3C-4C45-BFC8-D2F12938210D}" srcOrd="0" destOrd="0" presId="urn:microsoft.com/office/officeart/2008/layout/LinedList"/>
    <dgm:cxn modelId="{B11B17D6-71EE-4CFE-9D8C-644818626E46}" srcId="{808E914A-F6D6-4369-9872-3D6D5DE52D22}" destId="{00D1AEC1-6D47-4A18-9672-12DDE7F964D0}" srcOrd="0" destOrd="0" parTransId="{EB1D4397-783F-4C43-9C8B-4D7259C87425}" sibTransId="{18FBE81D-037C-48DB-9988-1A3CF1039237}"/>
    <dgm:cxn modelId="{4D12AC1D-E8DF-45D4-863E-91CFA070AD03}" type="presParOf" srcId="{0BCE4528-A350-4F4A-BD48-FF9285E47977}" destId="{8D0198EA-4259-4607-95E6-379B39A85A79}" srcOrd="0" destOrd="0" presId="urn:microsoft.com/office/officeart/2008/layout/LinedList"/>
    <dgm:cxn modelId="{64FC6A19-DC0C-4F93-9067-37033AC67901}" type="presParOf" srcId="{0BCE4528-A350-4F4A-BD48-FF9285E47977}" destId="{9491E811-6DB4-4222-80D2-F5C38B7CC1F1}" srcOrd="1" destOrd="0" presId="urn:microsoft.com/office/officeart/2008/layout/LinedList"/>
    <dgm:cxn modelId="{9E49A51A-1E17-4B54-8BB4-8FF26ECC2577}" type="presParOf" srcId="{9491E811-6DB4-4222-80D2-F5C38B7CC1F1}" destId="{BE5EF02D-0F3C-4C45-BFC8-D2F12938210D}" srcOrd="0" destOrd="0" presId="urn:microsoft.com/office/officeart/2008/layout/LinedList"/>
    <dgm:cxn modelId="{2C5EBE4A-0E1E-4A37-919E-655A7F6109AF}" type="presParOf" srcId="{9491E811-6DB4-4222-80D2-F5C38B7CC1F1}" destId="{5A2F6B96-F01B-4816-9142-8FF850E73B0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08E914A-F6D6-4369-9872-3D6D5DE52D22}"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00D1AEC1-6D47-4A18-9672-12DDE7F964D0}">
      <dgm:prSet custT="1"/>
      <dgm:spPr/>
      <dgm:t>
        <a:bodyPr/>
        <a:lstStyle/>
        <a:p>
          <a:r>
            <a:rPr lang="es-CL" sz="2400" dirty="0"/>
            <a:t>Supongamos, entonces, el siguiente “</a:t>
          </a:r>
          <a:r>
            <a:rPr lang="es-CL" sz="2400" dirty="0" err="1"/>
            <a:t>prompt</a:t>
          </a:r>
          <a:r>
            <a:rPr lang="es-CL" sz="2400" dirty="0"/>
            <a:t>”:</a:t>
          </a:r>
        </a:p>
        <a:p>
          <a:endParaRPr lang="es-CL" sz="2400" dirty="0"/>
        </a:p>
        <a:p>
          <a:r>
            <a:rPr lang="es-CL" sz="2400" dirty="0">
              <a:solidFill>
                <a:schemeClr val="tx1"/>
              </a:solidFill>
            </a:rPr>
            <a:t>Pedro salió de la biblioteca y se fue caminando hasta la </a:t>
          </a:r>
          <a:r>
            <a:rPr lang="es-CL" sz="2400" dirty="0">
              <a:solidFill>
                <a:srgbClr val="FF0000"/>
              </a:solidFill>
            </a:rPr>
            <a:t>oficina</a:t>
          </a:r>
          <a:r>
            <a:rPr lang="es-CL" sz="2400" dirty="0">
              <a:solidFill>
                <a:schemeClr val="tx1"/>
              </a:solidFill>
            </a:rPr>
            <a:t> de </a:t>
          </a:r>
          <a:r>
            <a:rPr lang="es-CL" sz="2400" dirty="0">
              <a:solidFill>
                <a:schemeClr val="tx1"/>
              </a:solidFill>
              <a:highlight>
                <a:srgbClr val="00FF00"/>
              </a:highlight>
            </a:rPr>
            <a:t>Juan</a:t>
          </a:r>
          <a:r>
            <a:rPr lang="es-CL" sz="2400" dirty="0">
              <a:solidFill>
                <a:schemeClr val="tx1"/>
              </a:solidFill>
            </a:rPr>
            <a:t>. Al llegar, él le comentó que se había cansado</a:t>
          </a:r>
          <a:r>
            <a:rPr lang="es-CL" sz="2400" dirty="0"/>
            <a:t>. ¿Quién se había cansado?</a:t>
          </a:r>
        </a:p>
        <a:p>
          <a:endParaRPr lang="es-CL" sz="2400" dirty="0"/>
        </a:p>
        <a:p>
          <a:r>
            <a:rPr lang="es-CL" sz="2400" dirty="0"/>
            <a:t>Dado que el vector de resumen h incorporará que “caminando” se relaciona con “cansado” y que “Pedro” se relaciona con “caminando” más de lo que “Juan” se relaciona con “caminando”, el </a:t>
          </a:r>
          <a:r>
            <a:rPr lang="es-CL" sz="2400" dirty="0" err="1"/>
            <a:t>Transformer</a:t>
          </a:r>
          <a:r>
            <a:rPr lang="es-CL" sz="2400" dirty="0"/>
            <a:t> es capaz de responde “Juan se había cansado”.</a:t>
          </a:r>
        </a:p>
        <a:p>
          <a:endParaRPr lang="es-CL" sz="2400" dirty="0"/>
        </a:p>
      </dgm:t>
    </dgm:pt>
    <dgm:pt modelId="{EB1D4397-783F-4C43-9C8B-4D7259C87425}" type="parTrans" cxnId="{B11B17D6-71EE-4CFE-9D8C-644818626E46}">
      <dgm:prSet/>
      <dgm:spPr/>
      <dgm:t>
        <a:bodyPr/>
        <a:lstStyle/>
        <a:p>
          <a:endParaRPr lang="en-US"/>
        </a:p>
      </dgm:t>
    </dgm:pt>
    <dgm:pt modelId="{18FBE81D-037C-48DB-9988-1A3CF1039237}" type="sibTrans" cxnId="{B11B17D6-71EE-4CFE-9D8C-644818626E46}">
      <dgm:prSet/>
      <dgm:spPr/>
      <dgm:t>
        <a:bodyPr/>
        <a:lstStyle/>
        <a:p>
          <a:endParaRPr lang="en-US"/>
        </a:p>
      </dgm:t>
    </dgm:pt>
    <dgm:pt modelId="{0BCE4528-A350-4F4A-BD48-FF9285E47977}" type="pres">
      <dgm:prSet presAssocID="{808E914A-F6D6-4369-9872-3D6D5DE52D22}" presName="vert0" presStyleCnt="0">
        <dgm:presLayoutVars>
          <dgm:dir/>
          <dgm:animOne val="branch"/>
          <dgm:animLvl val="lvl"/>
        </dgm:presLayoutVars>
      </dgm:prSet>
      <dgm:spPr/>
    </dgm:pt>
    <dgm:pt modelId="{8D0198EA-4259-4607-95E6-379B39A85A79}" type="pres">
      <dgm:prSet presAssocID="{00D1AEC1-6D47-4A18-9672-12DDE7F964D0}" presName="thickLine" presStyleLbl="alignNode1" presStyleIdx="0" presStyleCnt="1"/>
      <dgm:spPr/>
    </dgm:pt>
    <dgm:pt modelId="{9491E811-6DB4-4222-80D2-F5C38B7CC1F1}" type="pres">
      <dgm:prSet presAssocID="{00D1AEC1-6D47-4A18-9672-12DDE7F964D0}" presName="horz1" presStyleCnt="0"/>
      <dgm:spPr/>
    </dgm:pt>
    <dgm:pt modelId="{BE5EF02D-0F3C-4C45-BFC8-D2F12938210D}" type="pres">
      <dgm:prSet presAssocID="{00D1AEC1-6D47-4A18-9672-12DDE7F964D0}" presName="tx1" presStyleLbl="revTx" presStyleIdx="0" presStyleCnt="1"/>
      <dgm:spPr/>
    </dgm:pt>
    <dgm:pt modelId="{5A2F6B96-F01B-4816-9142-8FF850E73B09}" type="pres">
      <dgm:prSet presAssocID="{00D1AEC1-6D47-4A18-9672-12DDE7F964D0}" presName="vert1" presStyleCnt="0"/>
      <dgm:spPr/>
    </dgm:pt>
  </dgm:ptLst>
  <dgm:cxnLst>
    <dgm:cxn modelId="{00E27F16-58F6-4ACA-AEF4-C11B7B2A2653}" type="presOf" srcId="{808E914A-F6D6-4369-9872-3D6D5DE52D22}" destId="{0BCE4528-A350-4F4A-BD48-FF9285E47977}" srcOrd="0" destOrd="0" presId="urn:microsoft.com/office/officeart/2008/layout/LinedList"/>
    <dgm:cxn modelId="{3D5CA061-CCE9-4904-8007-4A16687851B8}" type="presOf" srcId="{00D1AEC1-6D47-4A18-9672-12DDE7F964D0}" destId="{BE5EF02D-0F3C-4C45-BFC8-D2F12938210D}" srcOrd="0" destOrd="0" presId="urn:microsoft.com/office/officeart/2008/layout/LinedList"/>
    <dgm:cxn modelId="{B11B17D6-71EE-4CFE-9D8C-644818626E46}" srcId="{808E914A-F6D6-4369-9872-3D6D5DE52D22}" destId="{00D1AEC1-6D47-4A18-9672-12DDE7F964D0}" srcOrd="0" destOrd="0" parTransId="{EB1D4397-783F-4C43-9C8B-4D7259C87425}" sibTransId="{18FBE81D-037C-48DB-9988-1A3CF1039237}"/>
    <dgm:cxn modelId="{4D12AC1D-E8DF-45D4-863E-91CFA070AD03}" type="presParOf" srcId="{0BCE4528-A350-4F4A-BD48-FF9285E47977}" destId="{8D0198EA-4259-4607-95E6-379B39A85A79}" srcOrd="0" destOrd="0" presId="urn:microsoft.com/office/officeart/2008/layout/LinedList"/>
    <dgm:cxn modelId="{64FC6A19-DC0C-4F93-9067-37033AC67901}" type="presParOf" srcId="{0BCE4528-A350-4F4A-BD48-FF9285E47977}" destId="{9491E811-6DB4-4222-80D2-F5C38B7CC1F1}" srcOrd="1" destOrd="0" presId="urn:microsoft.com/office/officeart/2008/layout/LinedList"/>
    <dgm:cxn modelId="{9E49A51A-1E17-4B54-8BB4-8FF26ECC2577}" type="presParOf" srcId="{9491E811-6DB4-4222-80D2-F5C38B7CC1F1}" destId="{BE5EF02D-0F3C-4C45-BFC8-D2F12938210D}" srcOrd="0" destOrd="0" presId="urn:microsoft.com/office/officeart/2008/layout/LinedList"/>
    <dgm:cxn modelId="{2C5EBE4A-0E1E-4A37-919E-655A7F6109AF}" type="presParOf" srcId="{9491E811-6DB4-4222-80D2-F5C38B7CC1F1}" destId="{5A2F6B96-F01B-4816-9142-8FF850E73B0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08E914A-F6D6-4369-9872-3D6D5DE52D22}"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00D1AEC1-6D47-4A18-9672-12DDE7F964D0}">
      <dgm:prSet custT="1"/>
      <dgm:spPr/>
      <dgm:t>
        <a:bodyPr/>
        <a:lstStyle/>
        <a:p>
          <a:pPr>
            <a:buFont typeface="+mj-lt"/>
            <a:buAutoNum type="arabicPeriod"/>
          </a:pPr>
          <a:r>
            <a:rPr lang="es-ES" sz="2400" b="1" dirty="0"/>
            <a:t>1. Vector de Contexto</a:t>
          </a:r>
          <a:r>
            <a:rPr lang="es-ES" sz="2400" dirty="0"/>
            <a:t>: La representación contextualizada de un </a:t>
          </a:r>
          <a:r>
            <a:rPr lang="es-ES" sz="2400" dirty="0" err="1"/>
            <a:t>prompt</a:t>
          </a:r>
          <a:r>
            <a:rPr lang="es-ES" sz="2400" dirty="0"/>
            <a:t>.</a:t>
          </a:r>
        </a:p>
        <a:p>
          <a:pPr>
            <a:buFont typeface="+mj-lt"/>
            <a:buAutoNum type="arabicPeriod"/>
          </a:pPr>
          <a:r>
            <a:rPr lang="es-ES" sz="2400" b="1" dirty="0"/>
            <a:t>2. Proyección</a:t>
          </a:r>
          <a:r>
            <a:rPr lang="es-ES" sz="2400" dirty="0"/>
            <a:t>: Esta representación se proyecta al espacio de vocabulario mediante una capa lineal, produciendo </a:t>
          </a:r>
          <a:r>
            <a:rPr lang="es-ES" sz="2400" dirty="0" err="1"/>
            <a:t>logits</a:t>
          </a:r>
          <a:r>
            <a:rPr lang="es-ES" sz="2400" dirty="0"/>
            <a:t>.</a:t>
          </a:r>
        </a:p>
        <a:p>
          <a:pPr>
            <a:buFont typeface="+mj-lt"/>
            <a:buAutoNum type="arabicPeriod"/>
          </a:pPr>
          <a:r>
            <a:rPr lang="es-ES" sz="2400" b="1" dirty="0"/>
            <a:t>3. </a:t>
          </a:r>
          <a:r>
            <a:rPr lang="es-ES" sz="2400" b="1" dirty="0" err="1"/>
            <a:t>Softmax</a:t>
          </a:r>
          <a:r>
            <a:rPr lang="es-ES" sz="2400" dirty="0"/>
            <a:t>: Los </a:t>
          </a:r>
          <a:r>
            <a:rPr lang="es-ES" sz="2400" dirty="0" err="1"/>
            <a:t>logits</a:t>
          </a:r>
          <a:r>
            <a:rPr lang="es-ES" sz="2400" dirty="0"/>
            <a:t> se convierten en probabilidades mediante la función </a:t>
          </a:r>
          <a:r>
            <a:rPr lang="es-ES" sz="2400" dirty="0" err="1"/>
            <a:t>softmax</a:t>
          </a:r>
          <a:r>
            <a:rPr lang="es-ES" sz="2400" dirty="0"/>
            <a:t>.</a:t>
          </a:r>
        </a:p>
        <a:p>
          <a:pPr>
            <a:buFont typeface="+mj-lt"/>
            <a:buAutoNum type="arabicPeriod"/>
          </a:pPr>
          <a:r>
            <a:rPr lang="es-ES" sz="2400" b="1" dirty="0"/>
            <a:t>4. Predicción</a:t>
          </a:r>
          <a:r>
            <a:rPr lang="es-ES" sz="2400" dirty="0"/>
            <a:t>: La palabra con la mayor probabilidad es seleccionada como la predicción de la próxima palabra.</a:t>
          </a:r>
          <a:endParaRPr lang="es-CL" sz="2400" dirty="0"/>
        </a:p>
      </dgm:t>
    </dgm:pt>
    <dgm:pt modelId="{EB1D4397-783F-4C43-9C8B-4D7259C87425}" type="parTrans" cxnId="{B11B17D6-71EE-4CFE-9D8C-644818626E46}">
      <dgm:prSet/>
      <dgm:spPr/>
      <dgm:t>
        <a:bodyPr/>
        <a:lstStyle/>
        <a:p>
          <a:endParaRPr lang="en-US"/>
        </a:p>
      </dgm:t>
    </dgm:pt>
    <dgm:pt modelId="{18FBE81D-037C-48DB-9988-1A3CF1039237}" type="sibTrans" cxnId="{B11B17D6-71EE-4CFE-9D8C-644818626E46}">
      <dgm:prSet/>
      <dgm:spPr/>
      <dgm:t>
        <a:bodyPr/>
        <a:lstStyle/>
        <a:p>
          <a:endParaRPr lang="en-US"/>
        </a:p>
      </dgm:t>
    </dgm:pt>
    <dgm:pt modelId="{0BCE4528-A350-4F4A-BD48-FF9285E47977}" type="pres">
      <dgm:prSet presAssocID="{808E914A-F6D6-4369-9872-3D6D5DE52D22}" presName="vert0" presStyleCnt="0">
        <dgm:presLayoutVars>
          <dgm:dir/>
          <dgm:animOne val="branch"/>
          <dgm:animLvl val="lvl"/>
        </dgm:presLayoutVars>
      </dgm:prSet>
      <dgm:spPr/>
    </dgm:pt>
    <dgm:pt modelId="{8D0198EA-4259-4607-95E6-379B39A85A79}" type="pres">
      <dgm:prSet presAssocID="{00D1AEC1-6D47-4A18-9672-12DDE7F964D0}" presName="thickLine" presStyleLbl="alignNode1" presStyleIdx="0" presStyleCnt="1"/>
      <dgm:spPr/>
    </dgm:pt>
    <dgm:pt modelId="{9491E811-6DB4-4222-80D2-F5C38B7CC1F1}" type="pres">
      <dgm:prSet presAssocID="{00D1AEC1-6D47-4A18-9672-12DDE7F964D0}" presName="horz1" presStyleCnt="0"/>
      <dgm:spPr/>
    </dgm:pt>
    <dgm:pt modelId="{BE5EF02D-0F3C-4C45-BFC8-D2F12938210D}" type="pres">
      <dgm:prSet presAssocID="{00D1AEC1-6D47-4A18-9672-12DDE7F964D0}" presName="tx1" presStyleLbl="revTx" presStyleIdx="0" presStyleCnt="1"/>
      <dgm:spPr/>
    </dgm:pt>
    <dgm:pt modelId="{5A2F6B96-F01B-4816-9142-8FF850E73B09}" type="pres">
      <dgm:prSet presAssocID="{00D1AEC1-6D47-4A18-9672-12DDE7F964D0}" presName="vert1" presStyleCnt="0"/>
      <dgm:spPr/>
    </dgm:pt>
  </dgm:ptLst>
  <dgm:cxnLst>
    <dgm:cxn modelId="{00E27F16-58F6-4ACA-AEF4-C11B7B2A2653}" type="presOf" srcId="{808E914A-F6D6-4369-9872-3D6D5DE52D22}" destId="{0BCE4528-A350-4F4A-BD48-FF9285E47977}" srcOrd="0" destOrd="0" presId="urn:microsoft.com/office/officeart/2008/layout/LinedList"/>
    <dgm:cxn modelId="{3D5CA061-CCE9-4904-8007-4A16687851B8}" type="presOf" srcId="{00D1AEC1-6D47-4A18-9672-12DDE7F964D0}" destId="{BE5EF02D-0F3C-4C45-BFC8-D2F12938210D}" srcOrd="0" destOrd="0" presId="urn:microsoft.com/office/officeart/2008/layout/LinedList"/>
    <dgm:cxn modelId="{B11B17D6-71EE-4CFE-9D8C-644818626E46}" srcId="{808E914A-F6D6-4369-9872-3D6D5DE52D22}" destId="{00D1AEC1-6D47-4A18-9672-12DDE7F964D0}" srcOrd="0" destOrd="0" parTransId="{EB1D4397-783F-4C43-9C8B-4D7259C87425}" sibTransId="{18FBE81D-037C-48DB-9988-1A3CF1039237}"/>
    <dgm:cxn modelId="{4D12AC1D-E8DF-45D4-863E-91CFA070AD03}" type="presParOf" srcId="{0BCE4528-A350-4F4A-BD48-FF9285E47977}" destId="{8D0198EA-4259-4607-95E6-379B39A85A79}" srcOrd="0" destOrd="0" presId="urn:microsoft.com/office/officeart/2008/layout/LinedList"/>
    <dgm:cxn modelId="{64FC6A19-DC0C-4F93-9067-37033AC67901}" type="presParOf" srcId="{0BCE4528-A350-4F4A-BD48-FF9285E47977}" destId="{9491E811-6DB4-4222-80D2-F5C38B7CC1F1}" srcOrd="1" destOrd="0" presId="urn:microsoft.com/office/officeart/2008/layout/LinedList"/>
    <dgm:cxn modelId="{9E49A51A-1E17-4B54-8BB4-8FF26ECC2577}" type="presParOf" srcId="{9491E811-6DB4-4222-80D2-F5C38B7CC1F1}" destId="{BE5EF02D-0F3C-4C45-BFC8-D2F12938210D}" srcOrd="0" destOrd="0" presId="urn:microsoft.com/office/officeart/2008/layout/LinedList"/>
    <dgm:cxn modelId="{2C5EBE4A-0E1E-4A37-919E-655A7F6109AF}" type="presParOf" srcId="{9491E811-6DB4-4222-80D2-F5C38B7CC1F1}" destId="{5A2F6B96-F01B-4816-9142-8FF850E73B0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8713A72-7477-4876-8009-AD3DE7CD736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0E54F37-520E-4323-A8C6-2CFC10F80A3C}">
      <dgm:prSet/>
      <dgm:spPr/>
      <dgm:t>
        <a:bodyPr/>
        <a:lstStyle/>
        <a:p>
          <a:pPr>
            <a:lnSpc>
              <a:spcPct val="100000"/>
            </a:lnSpc>
          </a:pPr>
          <a:r>
            <a:rPr lang="es-CL" i="0" baseline="0" dirty="0"/>
            <a:t>Head 1 muestra que "quería" está prestando atención a "científica", lo que sugiere que aprendió una regla de </a:t>
          </a:r>
          <a:r>
            <a:rPr lang="es-CL" i="0" baseline="0" dirty="0" err="1"/>
            <a:t>coreferencia</a:t>
          </a:r>
          <a:r>
            <a:rPr lang="es-CL" i="0" baseline="0" dirty="0"/>
            <a:t>: "quién quería compartir".</a:t>
          </a:r>
          <a:endParaRPr lang="en-US" dirty="0"/>
        </a:p>
      </dgm:t>
    </dgm:pt>
    <dgm:pt modelId="{4BBEBC04-66B6-4E8A-B730-31C19AFBB487}" type="parTrans" cxnId="{74BE5F29-8845-406A-9C3D-532FEF87BF18}">
      <dgm:prSet/>
      <dgm:spPr/>
      <dgm:t>
        <a:bodyPr/>
        <a:lstStyle/>
        <a:p>
          <a:endParaRPr lang="en-US"/>
        </a:p>
      </dgm:t>
    </dgm:pt>
    <dgm:pt modelId="{D5DFE8B6-4AB6-4BB3-9AED-61C785912B67}" type="sibTrans" cxnId="{74BE5F29-8845-406A-9C3D-532FEF87BF18}">
      <dgm:prSet/>
      <dgm:spPr/>
      <dgm:t>
        <a:bodyPr/>
        <a:lstStyle/>
        <a:p>
          <a:endParaRPr lang="en-US"/>
        </a:p>
      </dgm:t>
    </dgm:pt>
    <dgm:pt modelId="{3D7E1CAB-B693-4DAA-BA85-616E400AEB4D}">
      <dgm:prSet/>
      <dgm:spPr/>
      <dgm:t>
        <a:bodyPr/>
        <a:lstStyle/>
        <a:p>
          <a:pPr>
            <a:lnSpc>
              <a:spcPct val="100000"/>
            </a:lnSpc>
          </a:pPr>
          <a:r>
            <a:rPr lang="es-CL" i="0" baseline="0" dirty="0"/>
            <a:t>Head 2 muestra relación entre "quería", "descubrimiento" y "compartirlo".</a:t>
          </a:r>
          <a:endParaRPr lang="en-US" dirty="0"/>
        </a:p>
      </dgm:t>
    </dgm:pt>
    <dgm:pt modelId="{06094D89-225B-45A1-A506-2EAA1AB020CE}" type="parTrans" cxnId="{7F98972F-02D8-4D1F-AC4D-F07434A23A64}">
      <dgm:prSet/>
      <dgm:spPr/>
      <dgm:t>
        <a:bodyPr/>
        <a:lstStyle/>
        <a:p>
          <a:endParaRPr lang="en-US"/>
        </a:p>
      </dgm:t>
    </dgm:pt>
    <dgm:pt modelId="{C2321082-3937-4A8B-9771-F55760455951}" type="sibTrans" cxnId="{7F98972F-02D8-4D1F-AC4D-F07434A23A64}">
      <dgm:prSet/>
      <dgm:spPr/>
      <dgm:t>
        <a:bodyPr/>
        <a:lstStyle/>
        <a:p>
          <a:endParaRPr lang="en-US"/>
        </a:p>
      </dgm:t>
    </dgm:pt>
    <dgm:pt modelId="{14572D31-D5BF-40AB-9F03-7F7C14F663F1}">
      <dgm:prSet/>
      <dgm:spPr/>
      <dgm:t>
        <a:bodyPr/>
        <a:lstStyle/>
        <a:p>
          <a:pPr>
            <a:lnSpc>
              <a:spcPct val="100000"/>
            </a:lnSpc>
          </a:pPr>
          <a:r>
            <a:rPr lang="es-CL" i="0" baseline="0" dirty="0"/>
            <a:t>Head 3 se enfoca en la relación </a:t>
          </a:r>
          <a:r>
            <a:rPr lang="es-ES" dirty="0"/>
            <a:t>entre el sujeto ("</a:t>
          </a:r>
          <a:r>
            <a:rPr lang="es-ES" dirty="0" err="1"/>
            <a:t>scientist</a:t>
          </a:r>
          <a:r>
            <a:rPr lang="es-ES" dirty="0"/>
            <a:t>"), el objeto ("</a:t>
          </a:r>
          <a:r>
            <a:rPr lang="es-ES" dirty="0" err="1"/>
            <a:t>discovery</a:t>
          </a:r>
          <a:r>
            <a:rPr lang="es-ES" dirty="0"/>
            <a:t>"), y la conjunción causal ("</a:t>
          </a:r>
          <a:r>
            <a:rPr lang="es-ES" dirty="0" err="1"/>
            <a:t>because</a:t>
          </a:r>
          <a:r>
            <a:rPr lang="es-ES" dirty="0"/>
            <a:t>") (“quien hizo qué)</a:t>
          </a:r>
          <a:endParaRPr lang="en-US" dirty="0"/>
        </a:p>
      </dgm:t>
    </dgm:pt>
    <dgm:pt modelId="{35C2DCA0-EE4D-4530-BD22-77B8274DF2DD}" type="parTrans" cxnId="{4C889F3B-92B1-4728-A993-AFC1EE930F8F}">
      <dgm:prSet/>
      <dgm:spPr/>
      <dgm:t>
        <a:bodyPr/>
        <a:lstStyle/>
        <a:p>
          <a:endParaRPr lang="en-US"/>
        </a:p>
      </dgm:t>
    </dgm:pt>
    <dgm:pt modelId="{2CC387D6-3FE5-4359-A376-5DB9FBA42126}" type="sibTrans" cxnId="{4C889F3B-92B1-4728-A993-AFC1EE930F8F}">
      <dgm:prSet/>
      <dgm:spPr/>
      <dgm:t>
        <a:bodyPr/>
        <a:lstStyle/>
        <a:p>
          <a:endParaRPr lang="en-US"/>
        </a:p>
      </dgm:t>
    </dgm:pt>
    <dgm:pt modelId="{7D714DEA-D0F6-4F57-AAD9-C36998501C5F}">
      <dgm:prSet/>
      <dgm:spPr/>
      <dgm:t>
        <a:bodyPr/>
        <a:lstStyle/>
        <a:p>
          <a:pPr>
            <a:lnSpc>
              <a:spcPct val="100000"/>
            </a:lnSpc>
          </a:pPr>
          <a:r>
            <a:rPr lang="es-CL" i="0" baseline="0" dirty="0"/>
            <a:t>Head 4 muestra que "porque" y "quería" están estrechamente conectados, lo que refleja la estructura causal.</a:t>
          </a:r>
          <a:endParaRPr lang="en-US" dirty="0"/>
        </a:p>
      </dgm:t>
    </dgm:pt>
    <dgm:pt modelId="{2544A26C-2A78-4E70-9E7C-2468A79D751A}" type="parTrans" cxnId="{228C0EE3-3B65-4599-973F-9126533358BE}">
      <dgm:prSet/>
      <dgm:spPr/>
      <dgm:t>
        <a:bodyPr/>
        <a:lstStyle/>
        <a:p>
          <a:endParaRPr lang="en-US"/>
        </a:p>
      </dgm:t>
    </dgm:pt>
    <dgm:pt modelId="{22A579CA-86B9-43D0-A938-43E656FB277B}" type="sibTrans" cxnId="{228C0EE3-3B65-4599-973F-9126533358BE}">
      <dgm:prSet/>
      <dgm:spPr/>
      <dgm:t>
        <a:bodyPr/>
        <a:lstStyle/>
        <a:p>
          <a:endParaRPr lang="en-US"/>
        </a:p>
      </dgm:t>
    </dgm:pt>
    <dgm:pt modelId="{C0084863-10E8-4396-8C73-83E46D42EA86}" type="pres">
      <dgm:prSet presAssocID="{18713A72-7477-4876-8009-AD3DE7CD7369}" presName="root" presStyleCnt="0">
        <dgm:presLayoutVars>
          <dgm:dir/>
          <dgm:resizeHandles val="exact"/>
        </dgm:presLayoutVars>
      </dgm:prSet>
      <dgm:spPr/>
    </dgm:pt>
    <dgm:pt modelId="{AAB68B48-396F-4CFC-8033-0C9435DD7BD8}" type="pres">
      <dgm:prSet presAssocID="{70E54F37-520E-4323-A8C6-2CFC10F80A3C}" presName="compNode" presStyleCnt="0"/>
      <dgm:spPr/>
    </dgm:pt>
    <dgm:pt modelId="{5B4896A2-6F2B-4F42-A406-E52894546A1B}" type="pres">
      <dgm:prSet presAssocID="{70E54F37-520E-4323-A8C6-2CFC10F80A3C}" presName="iconRect" presStyleLbl="node1" presStyleIdx="0" presStyleCnt="4" custLinFactY="-39790" custLinFactNeighborX="-8162" custLinFactNeighborY="-1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traz"/>
        </a:ext>
      </dgm:extLst>
    </dgm:pt>
    <dgm:pt modelId="{CE429674-1520-4BC5-8A74-A0F6A453C372}" type="pres">
      <dgm:prSet presAssocID="{70E54F37-520E-4323-A8C6-2CFC10F80A3C}" presName="spaceRect" presStyleCnt="0"/>
      <dgm:spPr/>
    </dgm:pt>
    <dgm:pt modelId="{5E7E774A-4749-40FE-A1AD-C3C98C32F7F7}" type="pres">
      <dgm:prSet presAssocID="{70E54F37-520E-4323-A8C6-2CFC10F80A3C}" presName="textRect" presStyleLbl="revTx" presStyleIdx="0" presStyleCnt="4" custLinFactNeighborX="937" custLinFactNeighborY="-88281">
        <dgm:presLayoutVars>
          <dgm:chMax val="1"/>
          <dgm:chPref val="1"/>
        </dgm:presLayoutVars>
      </dgm:prSet>
      <dgm:spPr/>
    </dgm:pt>
    <dgm:pt modelId="{58C0BBC8-6876-48B0-AE14-81347DB169CD}" type="pres">
      <dgm:prSet presAssocID="{D5DFE8B6-4AB6-4BB3-9AED-61C785912B67}" presName="sibTrans" presStyleCnt="0"/>
      <dgm:spPr/>
    </dgm:pt>
    <dgm:pt modelId="{87BFB6B7-BF3F-4EF8-8034-D85A4A3C2E99}" type="pres">
      <dgm:prSet presAssocID="{3D7E1CAB-B693-4DAA-BA85-616E400AEB4D}" presName="compNode" presStyleCnt="0"/>
      <dgm:spPr/>
    </dgm:pt>
    <dgm:pt modelId="{6DE1E8E2-7C03-4D86-8F5A-05CB8DE5A29E}" type="pres">
      <dgm:prSet presAssocID="{3D7E1CAB-B693-4DAA-BA85-616E400AEB4D}" presName="iconRect" presStyleLbl="node1" presStyleIdx="1" presStyleCnt="4" custLinFactY="-41578" custLinFactNeighborX="-11525" custLinFactNeighborY="-1000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nexiones"/>
        </a:ext>
      </dgm:extLst>
    </dgm:pt>
    <dgm:pt modelId="{F7A61213-C170-43CE-86DF-279D48EEE239}" type="pres">
      <dgm:prSet presAssocID="{3D7E1CAB-B693-4DAA-BA85-616E400AEB4D}" presName="spaceRect" presStyleCnt="0"/>
      <dgm:spPr/>
    </dgm:pt>
    <dgm:pt modelId="{B908EA01-79A6-4BF6-A3A8-FEDDDB481C71}" type="pres">
      <dgm:prSet presAssocID="{3D7E1CAB-B693-4DAA-BA85-616E400AEB4D}" presName="textRect" presStyleLbl="revTx" presStyleIdx="1" presStyleCnt="4" custLinFactNeighborX="-937" custLinFactNeighborY="-82768">
        <dgm:presLayoutVars>
          <dgm:chMax val="1"/>
          <dgm:chPref val="1"/>
        </dgm:presLayoutVars>
      </dgm:prSet>
      <dgm:spPr/>
    </dgm:pt>
    <dgm:pt modelId="{DCEAD694-27E6-4F17-8277-B3183A1B2D1B}" type="pres">
      <dgm:prSet presAssocID="{C2321082-3937-4A8B-9771-F55760455951}" presName="sibTrans" presStyleCnt="0"/>
      <dgm:spPr/>
    </dgm:pt>
    <dgm:pt modelId="{8D44ED10-B866-41F4-AD42-78E290FD4603}" type="pres">
      <dgm:prSet presAssocID="{14572D31-D5BF-40AB-9F03-7F7C14F663F1}" presName="compNode" presStyleCnt="0"/>
      <dgm:spPr/>
    </dgm:pt>
    <dgm:pt modelId="{C138C03B-2E28-4856-87F2-DD754781BE89}" type="pres">
      <dgm:prSet presAssocID="{14572D31-D5BF-40AB-9F03-7F7C14F663F1}" presName="iconRect" presStyleLbl="node1" presStyleIdx="2" presStyleCnt="4" custLinFactNeighborY="-50662"/>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esconectado"/>
        </a:ext>
      </dgm:extLst>
    </dgm:pt>
    <dgm:pt modelId="{76014B60-425E-4A28-9CA6-029E91D759CC}" type="pres">
      <dgm:prSet presAssocID="{14572D31-D5BF-40AB-9F03-7F7C14F663F1}" presName="spaceRect" presStyleCnt="0"/>
      <dgm:spPr/>
    </dgm:pt>
    <dgm:pt modelId="{C6703578-700A-49FF-989A-4972654C5848}" type="pres">
      <dgm:prSet presAssocID="{14572D31-D5BF-40AB-9F03-7F7C14F663F1}" presName="textRect" presStyleLbl="revTx" presStyleIdx="2" presStyleCnt="4" custLinFactNeighborX="-1638" custLinFactNeighborY="-17892">
        <dgm:presLayoutVars>
          <dgm:chMax val="1"/>
          <dgm:chPref val="1"/>
        </dgm:presLayoutVars>
      </dgm:prSet>
      <dgm:spPr/>
    </dgm:pt>
    <dgm:pt modelId="{62EFBD9A-FB61-4BF6-8697-0EACC584110E}" type="pres">
      <dgm:prSet presAssocID="{2CC387D6-3FE5-4359-A376-5DB9FBA42126}" presName="sibTrans" presStyleCnt="0"/>
      <dgm:spPr/>
    </dgm:pt>
    <dgm:pt modelId="{71D578A1-9A2B-4E6D-8C1C-697945E21A0F}" type="pres">
      <dgm:prSet presAssocID="{7D714DEA-D0F6-4F57-AAD9-C36998501C5F}" presName="compNode" presStyleCnt="0"/>
      <dgm:spPr/>
    </dgm:pt>
    <dgm:pt modelId="{A84DD09E-AD86-410C-AA1D-E4DE41E97A0C}" type="pres">
      <dgm:prSet presAssocID="{7D714DEA-D0F6-4F57-AAD9-C36998501C5F}" presName="iconRect" presStyleLbl="node1" presStyleIdx="3" presStyleCnt="4" custLinFactNeighborX="-2082" custLinFactNeighborY="-48581"/>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ser Network"/>
        </a:ext>
      </dgm:extLst>
    </dgm:pt>
    <dgm:pt modelId="{BA21853F-264F-4DAE-B8AA-564CEEE45C2A}" type="pres">
      <dgm:prSet presAssocID="{7D714DEA-D0F6-4F57-AAD9-C36998501C5F}" presName="spaceRect" presStyleCnt="0"/>
      <dgm:spPr/>
    </dgm:pt>
    <dgm:pt modelId="{2C0326A8-E01D-4A20-B6C3-3AC03D322F59}" type="pres">
      <dgm:prSet presAssocID="{7D714DEA-D0F6-4F57-AAD9-C36998501C5F}" presName="textRect" presStyleLbl="revTx" presStyleIdx="3" presStyleCnt="4" custLinFactNeighborX="-625" custLinFactNeighborY="-17892">
        <dgm:presLayoutVars>
          <dgm:chMax val="1"/>
          <dgm:chPref val="1"/>
        </dgm:presLayoutVars>
      </dgm:prSet>
      <dgm:spPr/>
    </dgm:pt>
  </dgm:ptLst>
  <dgm:cxnLst>
    <dgm:cxn modelId="{9DDCD022-4311-4144-9798-911D2B4CB632}" type="presOf" srcId="{7D714DEA-D0F6-4F57-AAD9-C36998501C5F}" destId="{2C0326A8-E01D-4A20-B6C3-3AC03D322F59}" srcOrd="0" destOrd="0" presId="urn:microsoft.com/office/officeart/2018/2/layout/IconLabelList"/>
    <dgm:cxn modelId="{74BE5F29-8845-406A-9C3D-532FEF87BF18}" srcId="{18713A72-7477-4876-8009-AD3DE7CD7369}" destId="{70E54F37-520E-4323-A8C6-2CFC10F80A3C}" srcOrd="0" destOrd="0" parTransId="{4BBEBC04-66B6-4E8A-B730-31C19AFBB487}" sibTransId="{D5DFE8B6-4AB6-4BB3-9AED-61C785912B67}"/>
    <dgm:cxn modelId="{7F98972F-02D8-4D1F-AC4D-F07434A23A64}" srcId="{18713A72-7477-4876-8009-AD3DE7CD7369}" destId="{3D7E1CAB-B693-4DAA-BA85-616E400AEB4D}" srcOrd="1" destOrd="0" parTransId="{06094D89-225B-45A1-A506-2EAA1AB020CE}" sibTransId="{C2321082-3937-4A8B-9771-F55760455951}"/>
    <dgm:cxn modelId="{4C889F3B-92B1-4728-A993-AFC1EE930F8F}" srcId="{18713A72-7477-4876-8009-AD3DE7CD7369}" destId="{14572D31-D5BF-40AB-9F03-7F7C14F663F1}" srcOrd="2" destOrd="0" parTransId="{35C2DCA0-EE4D-4530-BD22-77B8274DF2DD}" sibTransId="{2CC387D6-3FE5-4359-A376-5DB9FBA42126}"/>
    <dgm:cxn modelId="{2F9D2463-9F58-4947-A05E-209905660B39}" type="presOf" srcId="{70E54F37-520E-4323-A8C6-2CFC10F80A3C}" destId="{5E7E774A-4749-40FE-A1AD-C3C98C32F7F7}" srcOrd="0" destOrd="0" presId="urn:microsoft.com/office/officeart/2018/2/layout/IconLabelList"/>
    <dgm:cxn modelId="{155D2770-203A-4BE5-9965-B367AFBE5D64}" type="presOf" srcId="{14572D31-D5BF-40AB-9F03-7F7C14F663F1}" destId="{C6703578-700A-49FF-989A-4972654C5848}" srcOrd="0" destOrd="0" presId="urn:microsoft.com/office/officeart/2018/2/layout/IconLabelList"/>
    <dgm:cxn modelId="{274C258B-A65F-4386-AFC7-7E948743F4C0}" type="presOf" srcId="{3D7E1CAB-B693-4DAA-BA85-616E400AEB4D}" destId="{B908EA01-79A6-4BF6-A3A8-FEDDDB481C71}" srcOrd="0" destOrd="0" presId="urn:microsoft.com/office/officeart/2018/2/layout/IconLabelList"/>
    <dgm:cxn modelId="{DE18AB92-94E4-40ED-A4F5-0F75D5D7E3D4}" type="presOf" srcId="{18713A72-7477-4876-8009-AD3DE7CD7369}" destId="{C0084863-10E8-4396-8C73-83E46D42EA86}" srcOrd="0" destOrd="0" presId="urn:microsoft.com/office/officeart/2018/2/layout/IconLabelList"/>
    <dgm:cxn modelId="{228C0EE3-3B65-4599-973F-9126533358BE}" srcId="{18713A72-7477-4876-8009-AD3DE7CD7369}" destId="{7D714DEA-D0F6-4F57-AAD9-C36998501C5F}" srcOrd="3" destOrd="0" parTransId="{2544A26C-2A78-4E70-9E7C-2468A79D751A}" sibTransId="{22A579CA-86B9-43D0-A938-43E656FB277B}"/>
    <dgm:cxn modelId="{41D9DC39-53D6-435C-83B2-9F2B8E4F6777}" type="presParOf" srcId="{C0084863-10E8-4396-8C73-83E46D42EA86}" destId="{AAB68B48-396F-4CFC-8033-0C9435DD7BD8}" srcOrd="0" destOrd="0" presId="urn:microsoft.com/office/officeart/2018/2/layout/IconLabelList"/>
    <dgm:cxn modelId="{EDF39A0B-B3F5-4E84-9431-8BC91069ECA0}" type="presParOf" srcId="{AAB68B48-396F-4CFC-8033-0C9435DD7BD8}" destId="{5B4896A2-6F2B-4F42-A406-E52894546A1B}" srcOrd="0" destOrd="0" presId="urn:microsoft.com/office/officeart/2018/2/layout/IconLabelList"/>
    <dgm:cxn modelId="{2D6F43C5-CB5F-4869-A95E-E57086229007}" type="presParOf" srcId="{AAB68B48-396F-4CFC-8033-0C9435DD7BD8}" destId="{CE429674-1520-4BC5-8A74-A0F6A453C372}" srcOrd="1" destOrd="0" presId="urn:microsoft.com/office/officeart/2018/2/layout/IconLabelList"/>
    <dgm:cxn modelId="{A561EA51-00E6-4DAE-BE88-A00CB35A9A5F}" type="presParOf" srcId="{AAB68B48-396F-4CFC-8033-0C9435DD7BD8}" destId="{5E7E774A-4749-40FE-A1AD-C3C98C32F7F7}" srcOrd="2" destOrd="0" presId="urn:microsoft.com/office/officeart/2018/2/layout/IconLabelList"/>
    <dgm:cxn modelId="{639BED72-A54A-4C8F-B320-6A67C76A8668}" type="presParOf" srcId="{C0084863-10E8-4396-8C73-83E46D42EA86}" destId="{58C0BBC8-6876-48B0-AE14-81347DB169CD}" srcOrd="1" destOrd="0" presId="urn:microsoft.com/office/officeart/2018/2/layout/IconLabelList"/>
    <dgm:cxn modelId="{FE970C70-84AE-4058-B404-99AA1A6A93D9}" type="presParOf" srcId="{C0084863-10E8-4396-8C73-83E46D42EA86}" destId="{87BFB6B7-BF3F-4EF8-8034-D85A4A3C2E99}" srcOrd="2" destOrd="0" presId="urn:microsoft.com/office/officeart/2018/2/layout/IconLabelList"/>
    <dgm:cxn modelId="{B5429116-C4A2-4682-BF5D-78C4200A24EA}" type="presParOf" srcId="{87BFB6B7-BF3F-4EF8-8034-D85A4A3C2E99}" destId="{6DE1E8E2-7C03-4D86-8F5A-05CB8DE5A29E}" srcOrd="0" destOrd="0" presId="urn:microsoft.com/office/officeart/2018/2/layout/IconLabelList"/>
    <dgm:cxn modelId="{D4D1AA2A-D574-4A10-98F2-24FC81557E2B}" type="presParOf" srcId="{87BFB6B7-BF3F-4EF8-8034-D85A4A3C2E99}" destId="{F7A61213-C170-43CE-86DF-279D48EEE239}" srcOrd="1" destOrd="0" presId="urn:microsoft.com/office/officeart/2018/2/layout/IconLabelList"/>
    <dgm:cxn modelId="{3ABD6964-4DAC-4EFD-8D79-2469836BAC3B}" type="presParOf" srcId="{87BFB6B7-BF3F-4EF8-8034-D85A4A3C2E99}" destId="{B908EA01-79A6-4BF6-A3A8-FEDDDB481C71}" srcOrd="2" destOrd="0" presId="urn:microsoft.com/office/officeart/2018/2/layout/IconLabelList"/>
    <dgm:cxn modelId="{29D7C44B-E51D-458D-8833-F5F79C530BC6}" type="presParOf" srcId="{C0084863-10E8-4396-8C73-83E46D42EA86}" destId="{DCEAD694-27E6-4F17-8277-B3183A1B2D1B}" srcOrd="3" destOrd="0" presId="urn:microsoft.com/office/officeart/2018/2/layout/IconLabelList"/>
    <dgm:cxn modelId="{86B257A6-7531-48D2-866D-E16A6A3B18AD}" type="presParOf" srcId="{C0084863-10E8-4396-8C73-83E46D42EA86}" destId="{8D44ED10-B866-41F4-AD42-78E290FD4603}" srcOrd="4" destOrd="0" presId="urn:microsoft.com/office/officeart/2018/2/layout/IconLabelList"/>
    <dgm:cxn modelId="{CB09A816-90E2-4DE5-9B1E-B2D6A0F21FC7}" type="presParOf" srcId="{8D44ED10-B866-41F4-AD42-78E290FD4603}" destId="{C138C03B-2E28-4856-87F2-DD754781BE89}" srcOrd="0" destOrd="0" presId="urn:microsoft.com/office/officeart/2018/2/layout/IconLabelList"/>
    <dgm:cxn modelId="{C1DCA5B5-B129-4468-824E-4A67BBA0D5B6}" type="presParOf" srcId="{8D44ED10-B866-41F4-AD42-78E290FD4603}" destId="{76014B60-425E-4A28-9CA6-029E91D759CC}" srcOrd="1" destOrd="0" presId="urn:microsoft.com/office/officeart/2018/2/layout/IconLabelList"/>
    <dgm:cxn modelId="{F4C10C91-76BF-4A76-995D-3EEC5DC2E049}" type="presParOf" srcId="{8D44ED10-B866-41F4-AD42-78E290FD4603}" destId="{C6703578-700A-49FF-989A-4972654C5848}" srcOrd="2" destOrd="0" presId="urn:microsoft.com/office/officeart/2018/2/layout/IconLabelList"/>
    <dgm:cxn modelId="{801B81CF-D15E-45A6-8E5D-541B437AEF31}" type="presParOf" srcId="{C0084863-10E8-4396-8C73-83E46D42EA86}" destId="{62EFBD9A-FB61-4BF6-8697-0EACC584110E}" srcOrd="5" destOrd="0" presId="urn:microsoft.com/office/officeart/2018/2/layout/IconLabelList"/>
    <dgm:cxn modelId="{C0C38BCE-89B2-477A-8FF3-7CF3BFB9FCD2}" type="presParOf" srcId="{C0084863-10E8-4396-8C73-83E46D42EA86}" destId="{71D578A1-9A2B-4E6D-8C1C-697945E21A0F}" srcOrd="6" destOrd="0" presId="urn:microsoft.com/office/officeart/2018/2/layout/IconLabelList"/>
    <dgm:cxn modelId="{633D9D15-8069-4179-AB6F-D5A35FF6381C}" type="presParOf" srcId="{71D578A1-9A2B-4E6D-8C1C-697945E21A0F}" destId="{A84DD09E-AD86-410C-AA1D-E4DE41E97A0C}" srcOrd="0" destOrd="0" presId="urn:microsoft.com/office/officeart/2018/2/layout/IconLabelList"/>
    <dgm:cxn modelId="{B94F61A0-2125-4E51-B759-F94ACBD3BCA1}" type="presParOf" srcId="{71D578A1-9A2B-4E6D-8C1C-697945E21A0F}" destId="{BA21853F-264F-4DAE-B8AA-564CEEE45C2A}" srcOrd="1" destOrd="0" presId="urn:microsoft.com/office/officeart/2018/2/layout/IconLabelList"/>
    <dgm:cxn modelId="{12588835-41D6-4B33-A427-0FBE0BD07B10}" type="presParOf" srcId="{71D578A1-9A2B-4E6D-8C1C-697945E21A0F}" destId="{2C0326A8-E01D-4A20-B6C3-3AC03D322F59}"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BFAA8-50E0-46CB-94E8-091256A99060}">
      <dsp:nvSpPr>
        <dsp:cNvPr id="0" name=""/>
        <dsp:cNvSpPr/>
      </dsp:nvSpPr>
      <dsp:spPr>
        <a:xfrm>
          <a:off x="800" y="1472245"/>
          <a:ext cx="2810160" cy="17844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D93033-0AE7-483E-B328-3CAE03E2CE06}">
      <dsp:nvSpPr>
        <dsp:cNvPr id="0" name=""/>
        <dsp:cNvSpPr/>
      </dsp:nvSpPr>
      <dsp:spPr>
        <a:xfrm>
          <a:off x="313040" y="1768873"/>
          <a:ext cx="2810160" cy="17844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Las redes </a:t>
          </a:r>
          <a:r>
            <a:rPr lang="en-US" sz="1600" kern="1200" dirty="0" err="1"/>
            <a:t>neuronales</a:t>
          </a:r>
          <a:r>
            <a:rPr lang="en-US" sz="1600" kern="1200" dirty="0"/>
            <a:t>, o redes </a:t>
          </a:r>
          <a:r>
            <a:rPr lang="en-US" sz="1600" kern="1200" dirty="0" err="1"/>
            <a:t>neuronales</a:t>
          </a:r>
          <a:r>
            <a:rPr lang="en-US" sz="1600" kern="1200" dirty="0"/>
            <a:t> </a:t>
          </a:r>
          <a:r>
            <a:rPr lang="en-US" sz="1600" kern="1200" dirty="0" err="1"/>
            <a:t>artificiales</a:t>
          </a:r>
          <a:r>
            <a:rPr lang="en-US" sz="1600" kern="1200" dirty="0"/>
            <a:t> son </a:t>
          </a:r>
          <a:r>
            <a:rPr lang="en-US" sz="1600" kern="1200" dirty="0" err="1"/>
            <a:t>una</a:t>
          </a:r>
          <a:r>
            <a:rPr lang="en-US" sz="1600" kern="1200" dirty="0"/>
            <a:t> </a:t>
          </a:r>
          <a:r>
            <a:rPr lang="en-US" sz="1600" kern="1200" dirty="0" err="1"/>
            <a:t>clase</a:t>
          </a:r>
          <a:r>
            <a:rPr lang="en-US" sz="1600" kern="1200" dirty="0"/>
            <a:t> de </a:t>
          </a:r>
          <a:r>
            <a:rPr lang="en-US" sz="1600" kern="1200" dirty="0" err="1"/>
            <a:t>modelos</a:t>
          </a:r>
          <a:r>
            <a:rPr lang="en-US" sz="1600" kern="1200" dirty="0"/>
            <a:t> de </a:t>
          </a:r>
          <a:r>
            <a:rPr lang="en-US" sz="1600" kern="1200" dirty="0" err="1"/>
            <a:t>aprendizaje</a:t>
          </a:r>
          <a:r>
            <a:rPr lang="en-US" sz="1600" kern="1200" dirty="0"/>
            <a:t> </a:t>
          </a:r>
          <a:r>
            <a:rPr lang="en-US" sz="1600" kern="1200" dirty="0" err="1"/>
            <a:t>automático</a:t>
          </a:r>
          <a:r>
            <a:rPr lang="en-US" sz="1600" kern="1200" dirty="0"/>
            <a:t> </a:t>
          </a:r>
          <a:r>
            <a:rPr lang="en-US" sz="1600" kern="1200" dirty="0" err="1"/>
            <a:t>inspirados</a:t>
          </a:r>
          <a:r>
            <a:rPr lang="en-US" sz="1600" kern="1200" dirty="0"/>
            <a:t> </a:t>
          </a:r>
          <a:r>
            <a:rPr lang="en-US" sz="1600" kern="1200" dirty="0" err="1"/>
            <a:t>en</a:t>
          </a:r>
          <a:r>
            <a:rPr lang="en-US" sz="1600" kern="1200" dirty="0"/>
            <a:t> la </a:t>
          </a:r>
          <a:r>
            <a:rPr lang="en-US" sz="1600" kern="1200" dirty="0" err="1"/>
            <a:t>estructura</a:t>
          </a:r>
          <a:r>
            <a:rPr lang="en-US" sz="1600" kern="1200" dirty="0"/>
            <a:t> y </a:t>
          </a:r>
          <a:r>
            <a:rPr lang="en-US" sz="1600" kern="1200" dirty="0" err="1"/>
            <a:t>función</a:t>
          </a:r>
          <a:r>
            <a:rPr lang="en-US" sz="1600" kern="1200" dirty="0"/>
            <a:t> del </a:t>
          </a:r>
          <a:r>
            <a:rPr lang="en-US" sz="1600" kern="1200" dirty="0" err="1"/>
            <a:t>cerebro</a:t>
          </a:r>
          <a:r>
            <a:rPr lang="en-US" sz="1600" kern="1200" dirty="0"/>
            <a:t> </a:t>
          </a:r>
          <a:r>
            <a:rPr lang="en-US" sz="1600" kern="1200" dirty="0" err="1"/>
            <a:t>humano</a:t>
          </a:r>
          <a:endParaRPr lang="en-US" sz="1600" kern="1200" dirty="0"/>
        </a:p>
      </dsp:txBody>
      <dsp:txXfrm>
        <a:off x="365305" y="1821138"/>
        <a:ext cx="2705630" cy="1679921"/>
      </dsp:txXfrm>
    </dsp:sp>
    <dsp:sp modelId="{E6BE16C7-ABE6-4F69-94A9-B5412F57079E}">
      <dsp:nvSpPr>
        <dsp:cNvPr id="0" name=""/>
        <dsp:cNvSpPr/>
      </dsp:nvSpPr>
      <dsp:spPr>
        <a:xfrm>
          <a:off x="3435441" y="1472245"/>
          <a:ext cx="2810160" cy="17844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B5CD52-ACA0-4216-96D0-11616B77ADF8}">
      <dsp:nvSpPr>
        <dsp:cNvPr id="0" name=""/>
        <dsp:cNvSpPr/>
      </dsp:nvSpPr>
      <dsp:spPr>
        <a:xfrm>
          <a:off x="3747681" y="1768873"/>
          <a:ext cx="2810160" cy="17844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Se </a:t>
          </a:r>
          <a:r>
            <a:rPr lang="en-US" sz="1600" kern="1200" dirty="0" err="1"/>
            <a:t>componen</a:t>
          </a:r>
          <a:r>
            <a:rPr lang="en-US" sz="1600" kern="1200" dirty="0"/>
            <a:t> de </a:t>
          </a:r>
          <a:r>
            <a:rPr lang="en-US" sz="1600" kern="1200" dirty="0" err="1"/>
            <a:t>nodos</a:t>
          </a:r>
          <a:r>
            <a:rPr lang="en-US" sz="1600" kern="1200" dirty="0"/>
            <a:t> </a:t>
          </a:r>
          <a:r>
            <a:rPr lang="en-US" sz="1600" kern="1200" dirty="0" err="1"/>
            <a:t>interconectados</a:t>
          </a:r>
          <a:r>
            <a:rPr lang="en-US" sz="1600" kern="1200" dirty="0"/>
            <a:t> que </a:t>
          </a:r>
          <a:r>
            <a:rPr lang="en-US" sz="1600" kern="1200" dirty="0" err="1"/>
            <a:t>procesan</a:t>
          </a:r>
          <a:r>
            <a:rPr lang="en-US" sz="1600" kern="1200" dirty="0"/>
            <a:t> y </a:t>
          </a:r>
          <a:r>
            <a:rPr lang="en-US" sz="1600" kern="1200" dirty="0" err="1"/>
            <a:t>transmiten</a:t>
          </a:r>
          <a:r>
            <a:rPr lang="en-US" sz="1600" kern="1200" dirty="0"/>
            <a:t> </a:t>
          </a:r>
          <a:r>
            <a:rPr lang="en-US" sz="1600" kern="1200" dirty="0" err="1"/>
            <a:t>información</a:t>
          </a:r>
          <a:r>
            <a:rPr lang="en-US" sz="1600" kern="1200" dirty="0"/>
            <a:t> a </a:t>
          </a:r>
          <a:r>
            <a:rPr lang="en-US" sz="1600" kern="1200" dirty="0" err="1"/>
            <a:t>través</a:t>
          </a:r>
          <a:r>
            <a:rPr lang="en-US" sz="1600" kern="1200" dirty="0"/>
            <a:t> de </a:t>
          </a:r>
          <a:r>
            <a:rPr lang="en-US" sz="1600" kern="1200" dirty="0" err="1"/>
            <a:t>conexiones</a:t>
          </a:r>
          <a:r>
            <a:rPr lang="en-US" sz="1600" kern="1200" dirty="0"/>
            <a:t> </a:t>
          </a:r>
          <a:r>
            <a:rPr lang="en-US" sz="1600" kern="1200" dirty="0" err="1"/>
            <a:t>ponderadas</a:t>
          </a:r>
        </a:p>
      </dsp:txBody>
      <dsp:txXfrm>
        <a:off x="3799946" y="1821138"/>
        <a:ext cx="2705630" cy="16799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BFAA8-50E0-46CB-94E8-091256A99060}">
      <dsp:nvSpPr>
        <dsp:cNvPr id="0" name=""/>
        <dsp:cNvSpPr/>
      </dsp:nvSpPr>
      <dsp:spPr>
        <a:xfrm>
          <a:off x="800" y="1472245"/>
          <a:ext cx="2810160" cy="17844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D93033-0AE7-483E-B328-3CAE03E2CE06}">
      <dsp:nvSpPr>
        <dsp:cNvPr id="0" name=""/>
        <dsp:cNvSpPr/>
      </dsp:nvSpPr>
      <dsp:spPr>
        <a:xfrm>
          <a:off x="313040" y="1768873"/>
          <a:ext cx="2810160" cy="17844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Las redes </a:t>
          </a:r>
          <a:r>
            <a:rPr lang="en-US" sz="1600" kern="1200" dirty="0" err="1"/>
            <a:t>neuronales</a:t>
          </a:r>
          <a:r>
            <a:rPr lang="en-US" sz="1600" kern="1200" dirty="0"/>
            <a:t>, o redes </a:t>
          </a:r>
          <a:r>
            <a:rPr lang="en-US" sz="1600" kern="1200" dirty="0" err="1"/>
            <a:t>neuronales</a:t>
          </a:r>
          <a:r>
            <a:rPr lang="en-US" sz="1600" kern="1200" dirty="0"/>
            <a:t> </a:t>
          </a:r>
          <a:r>
            <a:rPr lang="en-US" sz="1600" kern="1200" dirty="0" err="1"/>
            <a:t>artificiales</a:t>
          </a:r>
          <a:r>
            <a:rPr lang="en-US" sz="1600" kern="1200" dirty="0"/>
            <a:t> son </a:t>
          </a:r>
          <a:r>
            <a:rPr lang="en-US" sz="1600" kern="1200" dirty="0" err="1"/>
            <a:t>una</a:t>
          </a:r>
          <a:r>
            <a:rPr lang="en-US" sz="1600" kern="1200" dirty="0"/>
            <a:t> </a:t>
          </a:r>
          <a:r>
            <a:rPr lang="en-US" sz="1600" kern="1200" dirty="0" err="1"/>
            <a:t>clase</a:t>
          </a:r>
          <a:r>
            <a:rPr lang="en-US" sz="1600" kern="1200" dirty="0"/>
            <a:t> de </a:t>
          </a:r>
          <a:r>
            <a:rPr lang="en-US" sz="1600" kern="1200" dirty="0" err="1"/>
            <a:t>modelos</a:t>
          </a:r>
          <a:r>
            <a:rPr lang="en-US" sz="1600" kern="1200" dirty="0"/>
            <a:t> de </a:t>
          </a:r>
          <a:r>
            <a:rPr lang="en-US" sz="1600" kern="1200" dirty="0" err="1"/>
            <a:t>aprendizaje</a:t>
          </a:r>
          <a:r>
            <a:rPr lang="en-US" sz="1600" kern="1200" dirty="0"/>
            <a:t> </a:t>
          </a:r>
          <a:r>
            <a:rPr lang="en-US" sz="1600" kern="1200" dirty="0" err="1"/>
            <a:t>automático</a:t>
          </a:r>
          <a:r>
            <a:rPr lang="en-US" sz="1600" kern="1200" dirty="0"/>
            <a:t> </a:t>
          </a:r>
          <a:r>
            <a:rPr lang="en-US" sz="1600" kern="1200" dirty="0" err="1"/>
            <a:t>inspirados</a:t>
          </a:r>
          <a:r>
            <a:rPr lang="en-US" sz="1600" kern="1200" dirty="0"/>
            <a:t> </a:t>
          </a:r>
          <a:r>
            <a:rPr lang="en-US" sz="1600" kern="1200" dirty="0" err="1"/>
            <a:t>en</a:t>
          </a:r>
          <a:r>
            <a:rPr lang="en-US" sz="1600" kern="1200" dirty="0"/>
            <a:t> la </a:t>
          </a:r>
          <a:r>
            <a:rPr lang="en-US" sz="1600" kern="1200" dirty="0" err="1"/>
            <a:t>estructura</a:t>
          </a:r>
          <a:r>
            <a:rPr lang="en-US" sz="1600" kern="1200" dirty="0"/>
            <a:t> y </a:t>
          </a:r>
          <a:r>
            <a:rPr lang="en-US" sz="1600" kern="1200" dirty="0" err="1"/>
            <a:t>función</a:t>
          </a:r>
          <a:r>
            <a:rPr lang="en-US" sz="1600" kern="1200" dirty="0"/>
            <a:t> del </a:t>
          </a:r>
          <a:r>
            <a:rPr lang="en-US" sz="1600" kern="1200" dirty="0" err="1"/>
            <a:t>cerebro</a:t>
          </a:r>
          <a:r>
            <a:rPr lang="en-US" sz="1600" kern="1200" dirty="0"/>
            <a:t> </a:t>
          </a:r>
          <a:r>
            <a:rPr lang="en-US" sz="1600" kern="1200" dirty="0" err="1"/>
            <a:t>humano</a:t>
          </a:r>
          <a:endParaRPr lang="en-US" sz="1600" kern="1200" dirty="0"/>
        </a:p>
      </dsp:txBody>
      <dsp:txXfrm>
        <a:off x="365305" y="1821138"/>
        <a:ext cx="2705630" cy="1679921"/>
      </dsp:txXfrm>
    </dsp:sp>
    <dsp:sp modelId="{E6BE16C7-ABE6-4F69-94A9-B5412F57079E}">
      <dsp:nvSpPr>
        <dsp:cNvPr id="0" name=""/>
        <dsp:cNvSpPr/>
      </dsp:nvSpPr>
      <dsp:spPr>
        <a:xfrm>
          <a:off x="3435441" y="1472245"/>
          <a:ext cx="2810160" cy="17844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B5CD52-ACA0-4216-96D0-11616B77ADF8}">
      <dsp:nvSpPr>
        <dsp:cNvPr id="0" name=""/>
        <dsp:cNvSpPr/>
      </dsp:nvSpPr>
      <dsp:spPr>
        <a:xfrm>
          <a:off x="3747681" y="1768873"/>
          <a:ext cx="2810160" cy="17844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Se </a:t>
          </a:r>
          <a:r>
            <a:rPr lang="en-US" sz="1600" kern="1200" dirty="0" err="1"/>
            <a:t>componen</a:t>
          </a:r>
          <a:r>
            <a:rPr lang="en-US" sz="1600" kern="1200" dirty="0"/>
            <a:t> de </a:t>
          </a:r>
          <a:r>
            <a:rPr lang="en-US" sz="1600" kern="1200" dirty="0" err="1"/>
            <a:t>nodos</a:t>
          </a:r>
          <a:r>
            <a:rPr lang="en-US" sz="1600" kern="1200" dirty="0"/>
            <a:t> </a:t>
          </a:r>
          <a:r>
            <a:rPr lang="en-US" sz="1600" kern="1200" dirty="0" err="1"/>
            <a:t>interconectados</a:t>
          </a:r>
          <a:r>
            <a:rPr lang="en-US" sz="1600" kern="1200" dirty="0"/>
            <a:t> que </a:t>
          </a:r>
          <a:r>
            <a:rPr lang="en-US" sz="1600" kern="1200" dirty="0" err="1"/>
            <a:t>procesan</a:t>
          </a:r>
          <a:r>
            <a:rPr lang="en-US" sz="1600" kern="1200" dirty="0"/>
            <a:t> y </a:t>
          </a:r>
          <a:r>
            <a:rPr lang="en-US" sz="1600" kern="1200" dirty="0" err="1"/>
            <a:t>transmiten</a:t>
          </a:r>
          <a:r>
            <a:rPr lang="en-US" sz="1600" kern="1200" dirty="0"/>
            <a:t> </a:t>
          </a:r>
          <a:r>
            <a:rPr lang="en-US" sz="1600" kern="1200" dirty="0" err="1"/>
            <a:t>información</a:t>
          </a:r>
          <a:r>
            <a:rPr lang="en-US" sz="1600" kern="1200" dirty="0"/>
            <a:t> a </a:t>
          </a:r>
          <a:r>
            <a:rPr lang="en-US" sz="1600" kern="1200" dirty="0" err="1"/>
            <a:t>través</a:t>
          </a:r>
          <a:r>
            <a:rPr lang="en-US" sz="1600" kern="1200" dirty="0"/>
            <a:t> de </a:t>
          </a:r>
          <a:r>
            <a:rPr lang="en-US" sz="1600" kern="1200" dirty="0" err="1"/>
            <a:t>conexiones</a:t>
          </a:r>
          <a:r>
            <a:rPr lang="en-US" sz="1600" kern="1200" dirty="0"/>
            <a:t> </a:t>
          </a:r>
          <a:r>
            <a:rPr lang="en-US" sz="1600" kern="1200" dirty="0" err="1"/>
            <a:t>ponderadas</a:t>
          </a:r>
        </a:p>
      </dsp:txBody>
      <dsp:txXfrm>
        <a:off x="3799946" y="1821138"/>
        <a:ext cx="2705630" cy="16799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BFAA8-50E0-46CB-94E8-091256A99060}">
      <dsp:nvSpPr>
        <dsp:cNvPr id="0" name=""/>
        <dsp:cNvSpPr/>
      </dsp:nvSpPr>
      <dsp:spPr>
        <a:xfrm>
          <a:off x="800" y="1472245"/>
          <a:ext cx="2810160" cy="17844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D93033-0AE7-483E-B328-3CAE03E2CE06}">
      <dsp:nvSpPr>
        <dsp:cNvPr id="0" name=""/>
        <dsp:cNvSpPr/>
      </dsp:nvSpPr>
      <dsp:spPr>
        <a:xfrm>
          <a:off x="313040" y="1768873"/>
          <a:ext cx="2810160" cy="17844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Las redes </a:t>
          </a:r>
          <a:r>
            <a:rPr lang="en-US" sz="1600" kern="1200" dirty="0" err="1"/>
            <a:t>neuronales</a:t>
          </a:r>
          <a:r>
            <a:rPr lang="en-US" sz="1600" kern="1200" dirty="0"/>
            <a:t>, o redes </a:t>
          </a:r>
          <a:r>
            <a:rPr lang="en-US" sz="1600" kern="1200" dirty="0" err="1"/>
            <a:t>neuronales</a:t>
          </a:r>
          <a:r>
            <a:rPr lang="en-US" sz="1600" kern="1200" dirty="0"/>
            <a:t> </a:t>
          </a:r>
          <a:r>
            <a:rPr lang="en-US" sz="1600" kern="1200" dirty="0" err="1"/>
            <a:t>artificiales</a:t>
          </a:r>
          <a:r>
            <a:rPr lang="en-US" sz="1600" kern="1200" dirty="0"/>
            <a:t> son </a:t>
          </a:r>
          <a:r>
            <a:rPr lang="en-US" sz="1600" kern="1200" dirty="0" err="1"/>
            <a:t>una</a:t>
          </a:r>
          <a:r>
            <a:rPr lang="en-US" sz="1600" kern="1200" dirty="0"/>
            <a:t> </a:t>
          </a:r>
          <a:r>
            <a:rPr lang="en-US" sz="1600" kern="1200" dirty="0" err="1"/>
            <a:t>clase</a:t>
          </a:r>
          <a:r>
            <a:rPr lang="en-US" sz="1600" kern="1200" dirty="0"/>
            <a:t> de </a:t>
          </a:r>
          <a:r>
            <a:rPr lang="en-US" sz="1600" kern="1200" dirty="0" err="1"/>
            <a:t>modelos</a:t>
          </a:r>
          <a:r>
            <a:rPr lang="en-US" sz="1600" kern="1200" dirty="0"/>
            <a:t> de </a:t>
          </a:r>
          <a:r>
            <a:rPr lang="en-US" sz="1600" kern="1200" dirty="0" err="1"/>
            <a:t>aprendizaje</a:t>
          </a:r>
          <a:r>
            <a:rPr lang="en-US" sz="1600" kern="1200" dirty="0"/>
            <a:t> </a:t>
          </a:r>
          <a:r>
            <a:rPr lang="en-US" sz="1600" kern="1200" dirty="0" err="1"/>
            <a:t>automático</a:t>
          </a:r>
          <a:r>
            <a:rPr lang="en-US" sz="1600" kern="1200" dirty="0"/>
            <a:t> </a:t>
          </a:r>
          <a:r>
            <a:rPr lang="en-US" sz="1600" kern="1200" dirty="0" err="1"/>
            <a:t>inspirados</a:t>
          </a:r>
          <a:r>
            <a:rPr lang="en-US" sz="1600" kern="1200" dirty="0"/>
            <a:t> </a:t>
          </a:r>
          <a:r>
            <a:rPr lang="en-US" sz="1600" kern="1200" dirty="0" err="1"/>
            <a:t>en</a:t>
          </a:r>
          <a:r>
            <a:rPr lang="en-US" sz="1600" kern="1200" dirty="0"/>
            <a:t> la </a:t>
          </a:r>
          <a:r>
            <a:rPr lang="en-US" sz="1600" kern="1200" dirty="0" err="1"/>
            <a:t>estructura</a:t>
          </a:r>
          <a:r>
            <a:rPr lang="en-US" sz="1600" kern="1200" dirty="0"/>
            <a:t> y </a:t>
          </a:r>
          <a:r>
            <a:rPr lang="en-US" sz="1600" kern="1200" dirty="0" err="1"/>
            <a:t>función</a:t>
          </a:r>
          <a:r>
            <a:rPr lang="en-US" sz="1600" kern="1200" dirty="0"/>
            <a:t> del </a:t>
          </a:r>
          <a:r>
            <a:rPr lang="en-US" sz="1600" kern="1200" dirty="0" err="1"/>
            <a:t>cerebro</a:t>
          </a:r>
          <a:r>
            <a:rPr lang="en-US" sz="1600" kern="1200" dirty="0"/>
            <a:t> </a:t>
          </a:r>
          <a:r>
            <a:rPr lang="en-US" sz="1600" kern="1200" dirty="0" err="1"/>
            <a:t>humano</a:t>
          </a:r>
          <a:endParaRPr lang="en-US" sz="1600" kern="1200" dirty="0"/>
        </a:p>
      </dsp:txBody>
      <dsp:txXfrm>
        <a:off x="365305" y="1821138"/>
        <a:ext cx="2705630" cy="1679921"/>
      </dsp:txXfrm>
    </dsp:sp>
    <dsp:sp modelId="{E6BE16C7-ABE6-4F69-94A9-B5412F57079E}">
      <dsp:nvSpPr>
        <dsp:cNvPr id="0" name=""/>
        <dsp:cNvSpPr/>
      </dsp:nvSpPr>
      <dsp:spPr>
        <a:xfrm>
          <a:off x="3435441" y="1472245"/>
          <a:ext cx="2810160" cy="17844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B5CD52-ACA0-4216-96D0-11616B77ADF8}">
      <dsp:nvSpPr>
        <dsp:cNvPr id="0" name=""/>
        <dsp:cNvSpPr/>
      </dsp:nvSpPr>
      <dsp:spPr>
        <a:xfrm>
          <a:off x="3747681" y="1768873"/>
          <a:ext cx="2810160" cy="17844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Se </a:t>
          </a:r>
          <a:r>
            <a:rPr lang="en-US" sz="1600" kern="1200" dirty="0" err="1"/>
            <a:t>componen</a:t>
          </a:r>
          <a:r>
            <a:rPr lang="en-US" sz="1600" kern="1200" dirty="0"/>
            <a:t> de </a:t>
          </a:r>
          <a:r>
            <a:rPr lang="en-US" sz="1600" kern="1200" dirty="0" err="1"/>
            <a:t>nodos</a:t>
          </a:r>
          <a:r>
            <a:rPr lang="en-US" sz="1600" kern="1200" dirty="0"/>
            <a:t> </a:t>
          </a:r>
          <a:r>
            <a:rPr lang="en-US" sz="1600" kern="1200" dirty="0" err="1"/>
            <a:t>interconectados</a:t>
          </a:r>
          <a:r>
            <a:rPr lang="en-US" sz="1600" kern="1200" dirty="0"/>
            <a:t> que </a:t>
          </a:r>
          <a:r>
            <a:rPr lang="en-US" sz="1600" kern="1200" dirty="0" err="1"/>
            <a:t>procesan</a:t>
          </a:r>
          <a:r>
            <a:rPr lang="en-US" sz="1600" kern="1200" dirty="0"/>
            <a:t> y </a:t>
          </a:r>
          <a:r>
            <a:rPr lang="en-US" sz="1600" kern="1200" dirty="0" err="1"/>
            <a:t>transmiten</a:t>
          </a:r>
          <a:r>
            <a:rPr lang="en-US" sz="1600" kern="1200" dirty="0"/>
            <a:t> </a:t>
          </a:r>
          <a:r>
            <a:rPr lang="en-US" sz="1600" kern="1200" dirty="0" err="1"/>
            <a:t>información</a:t>
          </a:r>
          <a:r>
            <a:rPr lang="en-US" sz="1600" kern="1200" dirty="0"/>
            <a:t> a </a:t>
          </a:r>
          <a:r>
            <a:rPr lang="en-US" sz="1600" kern="1200" dirty="0" err="1"/>
            <a:t>través</a:t>
          </a:r>
          <a:r>
            <a:rPr lang="en-US" sz="1600" kern="1200" dirty="0"/>
            <a:t> de </a:t>
          </a:r>
          <a:r>
            <a:rPr lang="en-US" sz="1600" kern="1200" dirty="0" err="1"/>
            <a:t>conexiones</a:t>
          </a:r>
          <a:r>
            <a:rPr lang="en-US" sz="1600" kern="1200" dirty="0"/>
            <a:t> </a:t>
          </a:r>
          <a:r>
            <a:rPr lang="en-US" sz="1600" kern="1200" dirty="0" err="1"/>
            <a:t>ponderadas</a:t>
          </a:r>
        </a:p>
      </dsp:txBody>
      <dsp:txXfrm>
        <a:off x="3799946" y="1821138"/>
        <a:ext cx="2705630" cy="16799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29D75D-574F-4890-A9E1-F8057EA99EA5}">
      <dsp:nvSpPr>
        <dsp:cNvPr id="0" name=""/>
        <dsp:cNvSpPr/>
      </dsp:nvSpPr>
      <dsp:spPr>
        <a:xfrm>
          <a:off x="0" y="719"/>
          <a:ext cx="6776357" cy="16829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A9BD90-CE6B-4837-AD70-9DF8D274306B}">
      <dsp:nvSpPr>
        <dsp:cNvPr id="0" name=""/>
        <dsp:cNvSpPr/>
      </dsp:nvSpPr>
      <dsp:spPr>
        <a:xfrm>
          <a:off x="509103" y="379391"/>
          <a:ext cx="925642" cy="9256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E945CD-9B0C-40FB-86B0-BC5D4EAEBF9D}">
      <dsp:nvSpPr>
        <dsp:cNvPr id="0" name=""/>
        <dsp:cNvSpPr/>
      </dsp:nvSpPr>
      <dsp:spPr>
        <a:xfrm>
          <a:off x="1943849" y="719"/>
          <a:ext cx="4832507" cy="1682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116" tIns="178116" rIns="178116" bIns="178116" numCol="1" spcCol="1270" anchor="ctr" anchorCtr="0">
          <a:noAutofit/>
        </a:bodyPr>
        <a:lstStyle/>
        <a:p>
          <a:pPr marL="0" lvl="0" indent="0" algn="l" defTabSz="755650">
            <a:lnSpc>
              <a:spcPct val="90000"/>
            </a:lnSpc>
            <a:spcBef>
              <a:spcPct val="0"/>
            </a:spcBef>
            <a:spcAft>
              <a:spcPct val="35000"/>
            </a:spcAft>
            <a:buNone/>
          </a:pPr>
          <a:r>
            <a:rPr lang="en-US" sz="1700" kern="1200"/>
            <a:t>El algoritmo de retropropagación es una técnica comúnmente utilizada para entrenar redes neuronales</a:t>
          </a:r>
        </a:p>
      </dsp:txBody>
      <dsp:txXfrm>
        <a:off x="1943849" y="719"/>
        <a:ext cx="4832507" cy="1682986"/>
      </dsp:txXfrm>
    </dsp:sp>
    <dsp:sp modelId="{6E200E28-5697-4F4D-BCC3-EFD6A435CB91}">
      <dsp:nvSpPr>
        <dsp:cNvPr id="0" name=""/>
        <dsp:cNvSpPr/>
      </dsp:nvSpPr>
      <dsp:spPr>
        <a:xfrm>
          <a:off x="0" y="2104452"/>
          <a:ext cx="6776357" cy="16829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F403B6-0BAC-4DCB-BB5C-03B743C527F4}">
      <dsp:nvSpPr>
        <dsp:cNvPr id="0" name=""/>
        <dsp:cNvSpPr/>
      </dsp:nvSpPr>
      <dsp:spPr>
        <a:xfrm>
          <a:off x="509103" y="2483124"/>
          <a:ext cx="925642" cy="9256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87261C-B13A-4C35-ABC9-F22E8DB88DD7}">
      <dsp:nvSpPr>
        <dsp:cNvPr id="0" name=""/>
        <dsp:cNvSpPr/>
      </dsp:nvSpPr>
      <dsp:spPr>
        <a:xfrm>
          <a:off x="1943849" y="2104452"/>
          <a:ext cx="4832507" cy="1682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116" tIns="178116" rIns="178116" bIns="178116" numCol="1" spcCol="1270" anchor="ctr" anchorCtr="0">
          <a:noAutofit/>
        </a:bodyPr>
        <a:lstStyle/>
        <a:p>
          <a:pPr marL="0" lvl="0" indent="0" algn="l" defTabSz="755650">
            <a:lnSpc>
              <a:spcPct val="90000"/>
            </a:lnSpc>
            <a:spcBef>
              <a:spcPct val="0"/>
            </a:spcBef>
            <a:spcAft>
              <a:spcPct val="35000"/>
            </a:spcAft>
            <a:buNone/>
          </a:pPr>
          <a:r>
            <a:rPr lang="en-US" sz="1700" kern="1200"/>
            <a:t>El algoritmo funciona propagando primero una entrada hacia adelante a través de la red para producir una predicción, luego calculando el error entre la salida prevista y la salida objetivo real</a:t>
          </a:r>
        </a:p>
      </dsp:txBody>
      <dsp:txXfrm>
        <a:off x="1943849" y="2104452"/>
        <a:ext cx="4832507" cy="1682986"/>
      </dsp:txXfrm>
    </dsp:sp>
    <dsp:sp modelId="{BA4D4E9F-821A-4CFB-B086-15A22D73AB1F}">
      <dsp:nvSpPr>
        <dsp:cNvPr id="0" name=""/>
        <dsp:cNvSpPr/>
      </dsp:nvSpPr>
      <dsp:spPr>
        <a:xfrm>
          <a:off x="0" y="4208186"/>
          <a:ext cx="6776357" cy="16829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1E6D02-7CA4-4D2C-8FF3-A2378AED9574}">
      <dsp:nvSpPr>
        <dsp:cNvPr id="0" name=""/>
        <dsp:cNvSpPr/>
      </dsp:nvSpPr>
      <dsp:spPr>
        <a:xfrm>
          <a:off x="509103" y="4586858"/>
          <a:ext cx="925642" cy="9256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43F172-BD0E-45BE-AC21-DAD5A2737E40}">
      <dsp:nvSpPr>
        <dsp:cNvPr id="0" name=""/>
        <dsp:cNvSpPr/>
      </dsp:nvSpPr>
      <dsp:spPr>
        <a:xfrm>
          <a:off x="1943849" y="4208186"/>
          <a:ext cx="4832507" cy="1682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116" tIns="178116" rIns="178116" bIns="178116" numCol="1" spcCol="1270" anchor="ctr" anchorCtr="0">
          <a:noAutofit/>
        </a:bodyPr>
        <a:lstStyle/>
        <a:p>
          <a:pPr marL="0" lvl="0" indent="0" algn="l" defTabSz="755650">
            <a:lnSpc>
              <a:spcPct val="90000"/>
            </a:lnSpc>
            <a:spcBef>
              <a:spcPct val="0"/>
            </a:spcBef>
            <a:spcAft>
              <a:spcPct val="35000"/>
            </a:spcAft>
            <a:buNone/>
          </a:pPr>
          <a:r>
            <a:rPr lang="en-US" sz="1700" kern="1200" dirty="0"/>
            <a:t>La </a:t>
          </a:r>
          <a:r>
            <a:rPr lang="en-US" sz="1700" kern="1200" dirty="0" err="1"/>
            <a:t>retropropagación</a:t>
          </a:r>
          <a:r>
            <a:rPr lang="en-US" sz="1700" kern="1200" dirty="0"/>
            <a:t> es </a:t>
          </a:r>
          <a:r>
            <a:rPr lang="en-US" sz="1700" kern="1200" dirty="0" err="1"/>
            <a:t>una</a:t>
          </a:r>
          <a:r>
            <a:rPr lang="en-US" sz="1700" kern="1200" dirty="0"/>
            <a:t> forma </a:t>
          </a:r>
          <a:r>
            <a:rPr lang="en-US" sz="1700" kern="1200" dirty="0" err="1"/>
            <a:t>eficiente</a:t>
          </a:r>
          <a:r>
            <a:rPr lang="en-US" sz="1700" kern="1200" dirty="0"/>
            <a:t> de </a:t>
          </a:r>
          <a:r>
            <a:rPr lang="en-US" sz="1700" kern="1200" dirty="0" err="1"/>
            <a:t>entrenar</a:t>
          </a:r>
          <a:r>
            <a:rPr lang="en-US" sz="1700" kern="1200" dirty="0"/>
            <a:t> redes </a:t>
          </a:r>
          <a:r>
            <a:rPr lang="en-US" sz="1700" kern="1200" dirty="0" err="1"/>
            <a:t>neuronales</a:t>
          </a:r>
          <a:r>
            <a:rPr lang="en-US" sz="1700" kern="1200" dirty="0"/>
            <a:t> </a:t>
          </a:r>
          <a:r>
            <a:rPr lang="en-US" sz="1700" kern="1200" dirty="0" err="1"/>
            <a:t>profundas</a:t>
          </a:r>
          <a:r>
            <a:rPr lang="en-US" sz="1700" kern="1200" dirty="0"/>
            <a:t> con </a:t>
          </a:r>
          <a:r>
            <a:rPr lang="en-US" sz="1700" kern="1200" dirty="0" err="1"/>
            <a:t>muchas</a:t>
          </a:r>
          <a:r>
            <a:rPr lang="en-US" sz="1700" kern="1200" dirty="0"/>
            <a:t> </a:t>
          </a:r>
          <a:r>
            <a:rPr lang="en-US" sz="1700" kern="1200" dirty="0" err="1"/>
            <a:t>capas</a:t>
          </a:r>
          <a:r>
            <a:rPr lang="en-US" sz="1700" kern="1200" dirty="0"/>
            <a:t>, </a:t>
          </a:r>
          <a:r>
            <a:rPr lang="en-US" sz="1700" kern="1200" dirty="0" err="1"/>
            <a:t>ya</a:t>
          </a:r>
          <a:r>
            <a:rPr lang="en-US" sz="1700" kern="1200" dirty="0"/>
            <a:t> que </a:t>
          </a:r>
          <a:r>
            <a:rPr lang="en-US" sz="1700" kern="1200" dirty="0" err="1"/>
            <a:t>permite</a:t>
          </a:r>
          <a:r>
            <a:rPr lang="en-US" sz="1700" kern="1200" dirty="0"/>
            <a:t> que </a:t>
          </a:r>
          <a:r>
            <a:rPr lang="en-US" sz="1700" kern="1200" dirty="0" err="1"/>
            <a:t>los</a:t>
          </a:r>
          <a:r>
            <a:rPr lang="en-US" sz="1700" kern="1200" dirty="0"/>
            <a:t> </a:t>
          </a:r>
          <a:r>
            <a:rPr lang="en-US" sz="1700" kern="1200" dirty="0" err="1"/>
            <a:t>gradientes</a:t>
          </a:r>
          <a:r>
            <a:rPr lang="en-US" sz="1700" kern="1200" dirty="0"/>
            <a:t> se </a:t>
          </a:r>
          <a:r>
            <a:rPr lang="en-US" sz="1700" kern="1200" dirty="0" err="1"/>
            <a:t>calculen</a:t>
          </a:r>
          <a:r>
            <a:rPr lang="en-US" sz="1700" kern="1200" dirty="0"/>
            <a:t> de </a:t>
          </a:r>
          <a:r>
            <a:rPr lang="en-US" sz="1700" kern="1200" dirty="0" err="1"/>
            <a:t>manera</a:t>
          </a:r>
          <a:r>
            <a:rPr lang="en-US" sz="1700" kern="1200" dirty="0"/>
            <a:t> </a:t>
          </a:r>
          <a:r>
            <a:rPr lang="en-US" sz="1700" kern="1200" dirty="0" err="1"/>
            <a:t>eficiente</a:t>
          </a:r>
          <a:r>
            <a:rPr lang="en-US" sz="1700" kern="1200" dirty="0"/>
            <a:t> </a:t>
          </a:r>
          <a:r>
            <a:rPr lang="en-US" sz="1700" kern="1200" dirty="0" err="1"/>
            <a:t>utilizando</a:t>
          </a:r>
          <a:r>
            <a:rPr lang="en-US" sz="1700" kern="1200" dirty="0"/>
            <a:t> la </a:t>
          </a:r>
          <a:r>
            <a:rPr lang="en-US" sz="1700" kern="1200" dirty="0" err="1"/>
            <a:t>regla</a:t>
          </a:r>
          <a:r>
            <a:rPr lang="en-US" sz="1700" kern="1200" dirty="0"/>
            <a:t> de </a:t>
          </a:r>
          <a:r>
            <a:rPr lang="en-US" sz="1700" kern="1200" dirty="0" err="1"/>
            <a:t>cadena</a:t>
          </a:r>
          <a:r>
            <a:rPr lang="en-US" sz="1700" kern="1200" dirty="0"/>
            <a:t> del </a:t>
          </a:r>
          <a:r>
            <a:rPr lang="en-US" sz="1700" kern="1200" dirty="0" err="1"/>
            <a:t>cálculo</a:t>
          </a:r>
          <a:endParaRPr lang="en-US" sz="1700" kern="1200" dirty="0"/>
        </a:p>
      </dsp:txBody>
      <dsp:txXfrm>
        <a:off x="1943849" y="4208186"/>
        <a:ext cx="4832507" cy="16829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7B335A-39BA-43AC-A33B-6667A504DE2C}">
      <dsp:nvSpPr>
        <dsp:cNvPr id="0" name=""/>
        <dsp:cNvSpPr/>
      </dsp:nvSpPr>
      <dsp:spPr>
        <a:xfrm>
          <a:off x="-76331" y="9340"/>
          <a:ext cx="7508097" cy="15723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293B63-2416-4A3F-84D5-C44F861021FD}">
      <dsp:nvSpPr>
        <dsp:cNvPr id="0" name=""/>
        <dsp:cNvSpPr/>
      </dsp:nvSpPr>
      <dsp:spPr>
        <a:xfrm>
          <a:off x="0" y="422787"/>
          <a:ext cx="746896" cy="745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04DCCF-3D51-49A3-99C3-BD52C7AB22E5}">
      <dsp:nvSpPr>
        <dsp:cNvPr id="0" name=""/>
        <dsp:cNvSpPr/>
      </dsp:nvSpPr>
      <dsp:spPr>
        <a:xfrm>
          <a:off x="1490546" y="386800"/>
          <a:ext cx="5767962" cy="1356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581" tIns="143581" rIns="143581" bIns="143581" numCol="1" spcCol="1270" anchor="ctr" anchorCtr="0">
          <a:noAutofit/>
        </a:bodyPr>
        <a:lstStyle/>
        <a:p>
          <a:pPr marL="0" lvl="0" indent="0" algn="l" defTabSz="622300">
            <a:lnSpc>
              <a:spcPct val="100000"/>
            </a:lnSpc>
            <a:spcBef>
              <a:spcPct val="0"/>
            </a:spcBef>
            <a:spcAft>
              <a:spcPct val="35000"/>
            </a:spcAft>
            <a:buNone/>
          </a:pPr>
          <a:r>
            <a:rPr lang="en-US" sz="1400" kern="1200"/>
            <a:t>Visión por computadora: Las redes neuronales han demostrado ser muy efectivas en tareas de visión por computadora, como la clasificación de imágenes, la detección de objetos y la segmentación semántica</a:t>
          </a:r>
        </a:p>
      </dsp:txBody>
      <dsp:txXfrm>
        <a:off x="1490546" y="386800"/>
        <a:ext cx="5767962" cy="1356666"/>
      </dsp:txXfrm>
    </dsp:sp>
    <dsp:sp modelId="{25986842-AD5B-495A-98C1-28996DCBCBE3}">
      <dsp:nvSpPr>
        <dsp:cNvPr id="0" name=""/>
        <dsp:cNvSpPr/>
      </dsp:nvSpPr>
      <dsp:spPr>
        <a:xfrm>
          <a:off x="-37739" y="2345281"/>
          <a:ext cx="7508097" cy="8174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F441C1-0B66-4076-BB06-F0DF69C3C623}">
      <dsp:nvSpPr>
        <dsp:cNvPr id="0" name=""/>
        <dsp:cNvSpPr/>
      </dsp:nvSpPr>
      <dsp:spPr>
        <a:xfrm>
          <a:off x="72940" y="2374397"/>
          <a:ext cx="746896" cy="745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DEB67F-2E02-4469-9FC9-B6FC2E0BAB7D}">
      <dsp:nvSpPr>
        <dsp:cNvPr id="0" name=""/>
        <dsp:cNvSpPr/>
      </dsp:nvSpPr>
      <dsp:spPr>
        <a:xfrm>
          <a:off x="1204974" y="2072356"/>
          <a:ext cx="6339106" cy="1356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581" tIns="143581" rIns="143581" bIns="143581" numCol="1" spcCol="1270" anchor="ctr" anchorCtr="0">
          <a:noAutofit/>
        </a:bodyPr>
        <a:lstStyle/>
        <a:p>
          <a:pPr marL="0" lvl="0" indent="0" algn="l" defTabSz="622300">
            <a:lnSpc>
              <a:spcPct val="100000"/>
            </a:lnSpc>
            <a:spcBef>
              <a:spcPct val="0"/>
            </a:spcBef>
            <a:spcAft>
              <a:spcPct val="35000"/>
            </a:spcAft>
            <a:buNone/>
          </a:pPr>
          <a:r>
            <a:rPr lang="en-US" sz="1400" kern="1200" dirty="0" err="1"/>
            <a:t>Juegos</a:t>
          </a:r>
          <a:r>
            <a:rPr lang="en-US" sz="1400" kern="1200" dirty="0"/>
            <a:t> y </a:t>
          </a:r>
          <a:r>
            <a:rPr lang="en-US" sz="1400" kern="1200" dirty="0" err="1"/>
            <a:t>robótica</a:t>
          </a:r>
          <a:r>
            <a:rPr lang="en-US" sz="1400" kern="1200" dirty="0"/>
            <a:t>: Las redes </a:t>
          </a:r>
          <a:r>
            <a:rPr lang="en-US" sz="1400" kern="1200" dirty="0" err="1"/>
            <a:t>neuronales</a:t>
          </a:r>
          <a:r>
            <a:rPr lang="en-US" sz="1400" kern="1200" dirty="0"/>
            <a:t> </a:t>
          </a:r>
          <a:r>
            <a:rPr lang="en-US" sz="1400" kern="1200" dirty="0" err="1"/>
            <a:t>han</a:t>
          </a:r>
          <a:r>
            <a:rPr lang="en-US" sz="1400" kern="1200" dirty="0"/>
            <a:t> </a:t>
          </a:r>
          <a:r>
            <a:rPr lang="en-US" sz="1400" kern="1200" dirty="0" err="1"/>
            <a:t>sido</a:t>
          </a:r>
          <a:r>
            <a:rPr lang="en-US" sz="1400" kern="1200" dirty="0"/>
            <a:t> </a:t>
          </a:r>
          <a:r>
            <a:rPr lang="en-US" sz="1400" kern="1200" dirty="0" err="1"/>
            <a:t>utilizadas</a:t>
          </a:r>
          <a:r>
            <a:rPr lang="en-US" sz="1400" kern="1200" dirty="0"/>
            <a:t> con </a:t>
          </a:r>
          <a:r>
            <a:rPr lang="en-US" sz="1400" kern="1200" dirty="0" err="1"/>
            <a:t>éxito</a:t>
          </a:r>
          <a:r>
            <a:rPr lang="en-US" sz="1400" kern="1200" dirty="0"/>
            <a:t> </a:t>
          </a:r>
          <a:r>
            <a:rPr lang="en-US" sz="1400" kern="1200" dirty="0" err="1"/>
            <a:t>en</a:t>
          </a:r>
          <a:r>
            <a:rPr lang="en-US" sz="1400" kern="1200" dirty="0"/>
            <a:t> </a:t>
          </a:r>
          <a:r>
            <a:rPr lang="en-US" sz="1400" kern="1200" dirty="0" err="1"/>
            <a:t>juegos</a:t>
          </a:r>
          <a:r>
            <a:rPr lang="en-US" sz="1400" kern="1200" dirty="0"/>
            <a:t> </a:t>
          </a:r>
          <a:r>
            <a:rPr lang="en-US" sz="1400" kern="1200" dirty="0" err="1"/>
            <a:t>como</a:t>
          </a:r>
          <a:r>
            <a:rPr lang="en-US" sz="1400" kern="1200" dirty="0"/>
            <a:t> </a:t>
          </a:r>
          <a:r>
            <a:rPr lang="en-US" sz="1400" kern="1200" dirty="0" err="1"/>
            <a:t>el</a:t>
          </a:r>
          <a:r>
            <a:rPr lang="en-US" sz="1400" kern="1200" dirty="0"/>
            <a:t> </a:t>
          </a:r>
          <a:r>
            <a:rPr lang="en-US" sz="1400" kern="1200" dirty="0" err="1"/>
            <a:t>ajedrez</a:t>
          </a:r>
          <a:r>
            <a:rPr lang="en-US" sz="1400" kern="1200" dirty="0"/>
            <a:t> y </a:t>
          </a:r>
          <a:r>
            <a:rPr lang="en-US" sz="1400" kern="1200" dirty="0" err="1"/>
            <a:t>el</a:t>
          </a:r>
          <a:r>
            <a:rPr lang="en-US" sz="1400" kern="1200" dirty="0"/>
            <a:t> Go, </a:t>
          </a:r>
          <a:r>
            <a:rPr lang="en-US" sz="1400" kern="1200" dirty="0" err="1"/>
            <a:t>superando</a:t>
          </a:r>
          <a:r>
            <a:rPr lang="en-US" sz="1400" kern="1200" dirty="0"/>
            <a:t> a </a:t>
          </a:r>
          <a:r>
            <a:rPr lang="en-US" sz="1400" kern="1200" dirty="0" err="1"/>
            <a:t>los</a:t>
          </a:r>
          <a:r>
            <a:rPr lang="en-US" sz="1400" kern="1200" dirty="0"/>
            <a:t> </a:t>
          </a:r>
          <a:r>
            <a:rPr lang="en-US" sz="1400" kern="1200" dirty="0" err="1"/>
            <a:t>campeones</a:t>
          </a:r>
          <a:r>
            <a:rPr lang="en-US" sz="1400" kern="1200" dirty="0"/>
            <a:t> </a:t>
          </a:r>
          <a:r>
            <a:rPr lang="en-US" sz="1400" kern="1200" dirty="0" err="1"/>
            <a:t>mundiales</a:t>
          </a:r>
          <a:r>
            <a:rPr lang="en-US" sz="1400" kern="1200" dirty="0"/>
            <a:t> </a:t>
          </a:r>
          <a:r>
            <a:rPr lang="en-US" sz="1400" kern="1200" dirty="0" err="1"/>
            <a:t>en</a:t>
          </a:r>
          <a:r>
            <a:rPr lang="en-US" sz="1400" kern="1200" dirty="0"/>
            <a:t> ambos </a:t>
          </a:r>
          <a:r>
            <a:rPr lang="en-US" sz="1400" kern="1200" dirty="0" err="1"/>
            <a:t>casos</a:t>
          </a:r>
          <a:endParaRPr lang="en-US" sz="1400" kern="1200" dirty="0"/>
        </a:p>
      </dsp:txBody>
      <dsp:txXfrm>
        <a:off x="1204974" y="2072356"/>
        <a:ext cx="6339106" cy="1356666"/>
      </dsp:txXfrm>
    </dsp:sp>
    <dsp:sp modelId="{ED8DE945-8E74-4D9C-874A-76AC320CA4FC}">
      <dsp:nvSpPr>
        <dsp:cNvPr id="0" name=""/>
        <dsp:cNvSpPr/>
      </dsp:nvSpPr>
      <dsp:spPr>
        <a:xfrm>
          <a:off x="-76331" y="3757911"/>
          <a:ext cx="7508097" cy="13566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10610D-2FF2-45C9-A795-6C7E11597F8D}">
      <dsp:nvSpPr>
        <dsp:cNvPr id="0" name=""/>
        <dsp:cNvSpPr/>
      </dsp:nvSpPr>
      <dsp:spPr>
        <a:xfrm>
          <a:off x="0" y="4051203"/>
          <a:ext cx="746896" cy="745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462B93-882B-4203-944B-6AC85B2096C2}">
      <dsp:nvSpPr>
        <dsp:cNvPr id="0" name=""/>
        <dsp:cNvSpPr/>
      </dsp:nvSpPr>
      <dsp:spPr>
        <a:xfrm>
          <a:off x="1092470" y="3797095"/>
          <a:ext cx="6419800" cy="1356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581" tIns="143581" rIns="143581" bIns="143581" numCol="1" spcCol="1270" anchor="ctr" anchorCtr="0">
          <a:noAutofit/>
        </a:bodyPr>
        <a:lstStyle/>
        <a:p>
          <a:pPr marL="0" lvl="0" indent="0" algn="l" defTabSz="622300">
            <a:lnSpc>
              <a:spcPct val="100000"/>
            </a:lnSpc>
            <a:spcBef>
              <a:spcPct val="0"/>
            </a:spcBef>
            <a:spcAft>
              <a:spcPct val="35000"/>
            </a:spcAft>
            <a:buNone/>
          </a:pPr>
          <a:r>
            <a:rPr lang="en-US" sz="1400" kern="1200" dirty="0" err="1"/>
            <a:t>Reconocimiento</a:t>
          </a:r>
          <a:r>
            <a:rPr lang="en-US" sz="1400" kern="1200" dirty="0"/>
            <a:t> de </a:t>
          </a:r>
          <a:r>
            <a:rPr lang="en-US" sz="1400" kern="1200" dirty="0" err="1"/>
            <a:t>voz</a:t>
          </a:r>
          <a:r>
            <a:rPr lang="en-US" sz="1400" kern="1200" dirty="0"/>
            <a:t>: Las redes </a:t>
          </a:r>
          <a:r>
            <a:rPr lang="en-US" sz="1400" kern="1200" dirty="0" err="1"/>
            <a:t>neuronales</a:t>
          </a:r>
          <a:r>
            <a:rPr lang="en-US" sz="1400" kern="1200" dirty="0"/>
            <a:t> </a:t>
          </a:r>
          <a:r>
            <a:rPr lang="en-US" sz="1400" kern="1200" dirty="0" err="1"/>
            <a:t>han</a:t>
          </a:r>
          <a:r>
            <a:rPr lang="en-US" sz="1400" kern="1200" dirty="0"/>
            <a:t> </a:t>
          </a:r>
          <a:r>
            <a:rPr lang="en-US" sz="1400" kern="1200" dirty="0" err="1"/>
            <a:t>mejorado</a:t>
          </a:r>
          <a:r>
            <a:rPr lang="en-US" sz="1400" kern="1200" dirty="0"/>
            <a:t> </a:t>
          </a:r>
          <a:r>
            <a:rPr lang="en-US" sz="1400" kern="1200" dirty="0" err="1"/>
            <a:t>significativamente</a:t>
          </a:r>
          <a:r>
            <a:rPr lang="en-US" sz="1400" kern="1200" dirty="0"/>
            <a:t> la </a:t>
          </a:r>
          <a:r>
            <a:rPr lang="en-US" sz="1400" kern="1200" dirty="0" err="1"/>
            <a:t>precisión</a:t>
          </a:r>
          <a:r>
            <a:rPr lang="en-US" sz="1400" kern="1200" dirty="0"/>
            <a:t> del </a:t>
          </a:r>
          <a:r>
            <a:rPr lang="en-US" sz="1400" kern="1200" dirty="0" err="1"/>
            <a:t>reconocimiento</a:t>
          </a:r>
          <a:r>
            <a:rPr lang="en-US" sz="1400" kern="1200" dirty="0"/>
            <a:t> de </a:t>
          </a:r>
          <a:r>
            <a:rPr lang="en-US" sz="1400" kern="1200" dirty="0" err="1"/>
            <a:t>voz</a:t>
          </a:r>
          <a:r>
            <a:rPr lang="en-US" sz="1400" kern="1200" dirty="0"/>
            <a:t> </a:t>
          </a:r>
          <a:r>
            <a:rPr lang="en-US" sz="1400" kern="1200" dirty="0" err="1"/>
            <a:t>en</a:t>
          </a:r>
          <a:r>
            <a:rPr lang="en-US" sz="1400" kern="1200" dirty="0"/>
            <a:t> </a:t>
          </a:r>
          <a:r>
            <a:rPr lang="en-US" sz="1400" kern="1200" dirty="0" err="1"/>
            <a:t>sistemas</a:t>
          </a:r>
          <a:r>
            <a:rPr lang="en-US" sz="1400" kern="1200" dirty="0"/>
            <a:t> de </a:t>
          </a:r>
          <a:r>
            <a:rPr lang="en-US" sz="1400" kern="1200" dirty="0" err="1"/>
            <a:t>asistencia</a:t>
          </a:r>
          <a:r>
            <a:rPr lang="en-US" sz="1400" kern="1200" dirty="0"/>
            <a:t> virtual y </a:t>
          </a:r>
          <a:r>
            <a:rPr lang="en-US" sz="1400" kern="1200" dirty="0" err="1"/>
            <a:t>en</a:t>
          </a:r>
          <a:r>
            <a:rPr lang="en-US" sz="1400" kern="1200" dirty="0"/>
            <a:t> </a:t>
          </a:r>
          <a:r>
            <a:rPr lang="en-US" sz="1400" kern="1200" dirty="0" err="1"/>
            <a:t>aplicaciones</a:t>
          </a:r>
          <a:r>
            <a:rPr lang="en-US" sz="1400" kern="1200" dirty="0"/>
            <a:t> de </a:t>
          </a:r>
          <a:r>
            <a:rPr lang="en-US" sz="1400" kern="1200" dirty="0" err="1"/>
            <a:t>transcripción</a:t>
          </a:r>
          <a:r>
            <a:rPr lang="en-US" sz="1400" kern="1200" dirty="0"/>
            <a:t> </a:t>
          </a:r>
          <a:r>
            <a:rPr lang="en-US" sz="1400" kern="1200" dirty="0" err="1"/>
            <a:t>automática</a:t>
          </a:r>
          <a:r>
            <a:rPr lang="en-US" sz="1400" kern="1200" dirty="0"/>
            <a:t> de </a:t>
          </a:r>
          <a:r>
            <a:rPr lang="en-US" sz="1400" kern="1200" dirty="0" err="1"/>
            <a:t>voz</a:t>
          </a:r>
          <a:r>
            <a:rPr lang="en-US" sz="1400" kern="1200" dirty="0"/>
            <a:t> a </a:t>
          </a:r>
          <a:r>
            <a:rPr lang="en-US" sz="1400" kern="1200" dirty="0" err="1"/>
            <a:t>texto</a:t>
          </a:r>
          <a:r>
            <a:rPr lang="en-US" sz="1400" kern="1200" dirty="0"/>
            <a:t>. </a:t>
          </a:r>
          <a:r>
            <a:rPr lang="es-CL" sz="1400" kern="1200" dirty="0"/>
            <a:t>Esto ha permitido la creación de asistentes personales virtuales como Siri, Alexa y Google </a:t>
          </a:r>
          <a:r>
            <a:rPr lang="es-CL" sz="1400" kern="1200" dirty="0" err="1"/>
            <a:t>Assistant</a:t>
          </a:r>
          <a:r>
            <a:rPr lang="es-CL" sz="1400" kern="1200" dirty="0"/>
            <a:t>, que se basan en redes neuronales para procesar las solicitudes de los usuarios.</a:t>
          </a:r>
          <a:endParaRPr lang="en-US" sz="1400" kern="1200" dirty="0"/>
        </a:p>
      </dsp:txBody>
      <dsp:txXfrm>
        <a:off x="1092470" y="3797095"/>
        <a:ext cx="6419800" cy="13566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D2FCC5-5389-41F4-B5C7-45FE6ED129F2}">
      <dsp:nvSpPr>
        <dsp:cNvPr id="0" name=""/>
        <dsp:cNvSpPr/>
      </dsp:nvSpPr>
      <dsp:spPr>
        <a:xfrm>
          <a:off x="0" y="2177"/>
          <a:ext cx="5872194"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B7202F96-23A9-4846-8946-626C4ABF6BFC}">
      <dsp:nvSpPr>
        <dsp:cNvPr id="0" name=""/>
        <dsp:cNvSpPr/>
      </dsp:nvSpPr>
      <dsp:spPr>
        <a:xfrm>
          <a:off x="0" y="2177"/>
          <a:ext cx="5872194" cy="1485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defRPr cap="all"/>
          </a:pPr>
          <a:r>
            <a:rPr lang="en-US" sz="1800" kern="1200" cap="none" baseline="0" dirty="0"/>
            <a:t>Las redes </a:t>
          </a:r>
          <a:r>
            <a:rPr lang="en-US" sz="1800" kern="1200" cap="none" baseline="0" dirty="0" err="1"/>
            <a:t>neuronales</a:t>
          </a:r>
          <a:r>
            <a:rPr lang="en-US" sz="1800" kern="1200" cap="none" baseline="0" dirty="0"/>
            <a:t> </a:t>
          </a:r>
          <a:r>
            <a:rPr lang="en-US" sz="1800" kern="1200" cap="none" baseline="0" dirty="0" err="1"/>
            <a:t>recurrentes</a:t>
          </a:r>
          <a:r>
            <a:rPr lang="en-US" sz="1800" kern="1200" cap="none" baseline="0" dirty="0"/>
            <a:t> son un </a:t>
          </a:r>
          <a:r>
            <a:rPr lang="en-US" sz="1800" kern="1200" cap="none" baseline="0" dirty="0" err="1"/>
            <a:t>tipo</a:t>
          </a:r>
          <a:r>
            <a:rPr lang="en-US" sz="1800" kern="1200" cap="none" baseline="0" dirty="0"/>
            <a:t> de red neuronal </a:t>
          </a:r>
          <a:r>
            <a:rPr lang="en-US" sz="1800" kern="1200" cap="none" baseline="0" dirty="0" err="1"/>
            <a:t>diseñada</a:t>
          </a:r>
          <a:r>
            <a:rPr lang="en-US" sz="1800" kern="1200" cap="none" baseline="0" dirty="0"/>
            <a:t> para </a:t>
          </a:r>
          <a:r>
            <a:rPr lang="en-US" sz="1800" kern="1200" cap="none" baseline="0" dirty="0" err="1"/>
            <a:t>procesar</a:t>
          </a:r>
          <a:r>
            <a:rPr lang="en-US" sz="1800" kern="1200" cap="none" baseline="0" dirty="0"/>
            <a:t> </a:t>
          </a:r>
          <a:r>
            <a:rPr lang="en-US" sz="1800" kern="1200" cap="none" baseline="0" dirty="0" err="1"/>
            <a:t>datos</a:t>
          </a:r>
          <a:r>
            <a:rPr lang="en-US" sz="1800" kern="1200" cap="none" baseline="0" dirty="0"/>
            <a:t> </a:t>
          </a:r>
          <a:r>
            <a:rPr lang="en-US" sz="1800" kern="1200" cap="none" baseline="0" dirty="0" err="1"/>
            <a:t>secuenciales</a:t>
          </a:r>
          <a:r>
            <a:rPr lang="en-US" sz="1800" kern="1200" cap="none" baseline="0" dirty="0"/>
            <a:t>, </a:t>
          </a:r>
          <a:r>
            <a:rPr lang="en-US" sz="1800" kern="1200" cap="none" baseline="0" dirty="0" err="1"/>
            <a:t>como</a:t>
          </a:r>
          <a:r>
            <a:rPr lang="en-US" sz="1800" kern="1200" cap="none" baseline="0" dirty="0"/>
            <a:t> series </a:t>
          </a:r>
          <a:r>
            <a:rPr lang="en-US" sz="1800" kern="1200" cap="none" baseline="0" dirty="0" err="1"/>
            <a:t>temporales</a:t>
          </a:r>
          <a:r>
            <a:rPr lang="en-US" sz="1800" kern="1200" cap="none" baseline="0" dirty="0"/>
            <a:t> o </a:t>
          </a:r>
          <a:r>
            <a:rPr lang="en-US" sz="1800" kern="1200" cap="none" baseline="0" dirty="0" err="1"/>
            <a:t>texto</a:t>
          </a:r>
          <a:r>
            <a:rPr lang="en-US" sz="1800" kern="1200" cap="none" baseline="0" dirty="0"/>
            <a:t> </a:t>
          </a:r>
          <a:r>
            <a:rPr lang="en-US" sz="1800" kern="1200" cap="none" baseline="0" dirty="0" err="1"/>
            <a:t>en</a:t>
          </a:r>
          <a:r>
            <a:rPr lang="en-US" sz="1800" kern="1200" cap="none" baseline="0" dirty="0"/>
            <a:t> </a:t>
          </a:r>
          <a:r>
            <a:rPr lang="en-US" sz="1800" kern="1200" cap="none" baseline="0" dirty="0" err="1"/>
            <a:t>lenguaje</a:t>
          </a:r>
          <a:r>
            <a:rPr lang="en-US" sz="1800" kern="1200" cap="none" baseline="0" dirty="0"/>
            <a:t> natural</a:t>
          </a:r>
        </a:p>
      </dsp:txBody>
      <dsp:txXfrm>
        <a:off x="0" y="2177"/>
        <a:ext cx="5872194" cy="1485247"/>
      </dsp:txXfrm>
    </dsp:sp>
    <dsp:sp modelId="{B402E160-6C6D-4F74-B809-54FCE98D0DC0}">
      <dsp:nvSpPr>
        <dsp:cNvPr id="0" name=""/>
        <dsp:cNvSpPr/>
      </dsp:nvSpPr>
      <dsp:spPr>
        <a:xfrm>
          <a:off x="0" y="1487425"/>
          <a:ext cx="5872194" cy="0"/>
        </a:xfrm>
        <a:prstGeom prst="line">
          <a:avLst/>
        </a:prstGeom>
        <a:gradFill rotWithShape="0">
          <a:gsLst>
            <a:gs pos="0">
              <a:schemeClr val="accent5">
                <a:hueOff val="-758739"/>
                <a:satOff val="-410"/>
                <a:lumOff val="-980"/>
                <a:alphaOff val="0"/>
                <a:satMod val="103000"/>
                <a:lumMod val="102000"/>
                <a:tint val="94000"/>
              </a:schemeClr>
            </a:gs>
            <a:gs pos="50000">
              <a:schemeClr val="accent5">
                <a:hueOff val="-758739"/>
                <a:satOff val="-410"/>
                <a:lumOff val="-980"/>
                <a:alphaOff val="0"/>
                <a:satMod val="110000"/>
                <a:lumMod val="100000"/>
                <a:shade val="100000"/>
              </a:schemeClr>
            </a:gs>
            <a:gs pos="100000">
              <a:schemeClr val="accent5">
                <a:hueOff val="-758739"/>
                <a:satOff val="-410"/>
                <a:lumOff val="-980"/>
                <a:alphaOff val="0"/>
                <a:lumMod val="99000"/>
                <a:satMod val="120000"/>
                <a:shade val="78000"/>
              </a:schemeClr>
            </a:gs>
          </a:gsLst>
          <a:lin ang="5400000" scaled="0"/>
        </a:gradFill>
        <a:ln w="6350" cap="flat" cmpd="sng" algn="ctr">
          <a:solidFill>
            <a:schemeClr val="accent5">
              <a:hueOff val="-758739"/>
              <a:satOff val="-410"/>
              <a:lumOff val="-98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8ECAAA7-29D0-4007-BD78-06B1EEC6A3EE}">
      <dsp:nvSpPr>
        <dsp:cNvPr id="0" name=""/>
        <dsp:cNvSpPr/>
      </dsp:nvSpPr>
      <dsp:spPr>
        <a:xfrm>
          <a:off x="0" y="1487425"/>
          <a:ext cx="5872194" cy="1485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defRPr cap="all"/>
          </a:pPr>
          <a:r>
            <a:rPr lang="en-US" sz="1800" kern="1200" cap="none" baseline="0" dirty="0"/>
            <a:t>A </a:t>
          </a:r>
          <a:r>
            <a:rPr lang="en-US" sz="1800" kern="1200" cap="none" baseline="0" dirty="0" err="1"/>
            <a:t>diferencia</a:t>
          </a:r>
          <a:r>
            <a:rPr lang="en-US" sz="1800" kern="1200" cap="none" baseline="0" dirty="0"/>
            <a:t> de las redes </a:t>
          </a:r>
          <a:r>
            <a:rPr lang="en-US" sz="1800" kern="1200" cap="none" baseline="0" dirty="0" err="1"/>
            <a:t>neuronales</a:t>
          </a:r>
          <a:r>
            <a:rPr lang="en-US" sz="1800" kern="1200" cap="none" baseline="0" dirty="0"/>
            <a:t> feedforward </a:t>
          </a:r>
          <a:r>
            <a:rPr lang="en-US" sz="1800" kern="1200" cap="none" baseline="0" dirty="0" err="1"/>
            <a:t>tradicionales</a:t>
          </a:r>
          <a:r>
            <a:rPr lang="en-US" sz="1800" kern="1200" cap="none" baseline="0" dirty="0"/>
            <a:t>, que </a:t>
          </a:r>
          <a:r>
            <a:rPr lang="en-US" sz="1800" kern="1200" cap="none" baseline="0" dirty="0" err="1"/>
            <a:t>procesan</a:t>
          </a:r>
          <a:r>
            <a:rPr lang="en-US" sz="1800" kern="1200" cap="none" baseline="0" dirty="0"/>
            <a:t> entradas </a:t>
          </a:r>
          <a:r>
            <a:rPr lang="en-US" sz="1800" kern="1200" cap="none" baseline="0" dirty="0" err="1"/>
            <a:t>en</a:t>
          </a:r>
          <a:r>
            <a:rPr lang="en-US" sz="1800" kern="1200" cap="none" baseline="0" dirty="0"/>
            <a:t> </a:t>
          </a:r>
          <a:r>
            <a:rPr lang="en-US" sz="1800" kern="1200" cap="none" baseline="0" dirty="0" err="1"/>
            <a:t>una</a:t>
          </a:r>
          <a:r>
            <a:rPr lang="en-US" sz="1800" kern="1200" cap="none" baseline="0" dirty="0"/>
            <a:t> sola </a:t>
          </a:r>
          <a:r>
            <a:rPr lang="en-US" sz="1800" kern="1200" cap="none" baseline="0" dirty="0" err="1"/>
            <a:t>pasada</a:t>
          </a:r>
          <a:r>
            <a:rPr lang="en-US" sz="1800" kern="1200" cap="none" baseline="0" dirty="0"/>
            <a:t> y no </a:t>
          </a:r>
          <a:r>
            <a:rPr lang="en-US" sz="1800" kern="1200" cap="none" baseline="0" dirty="0" err="1"/>
            <a:t>tienen</a:t>
          </a:r>
          <a:r>
            <a:rPr lang="en-US" sz="1800" kern="1200" cap="none" baseline="0" dirty="0"/>
            <a:t> </a:t>
          </a:r>
          <a:r>
            <a:rPr lang="en-US" sz="1800" kern="1200" cap="none" baseline="0" dirty="0" err="1"/>
            <a:t>memoria</a:t>
          </a:r>
          <a:r>
            <a:rPr lang="en-US" sz="1800" kern="1200" cap="none" baseline="0" dirty="0"/>
            <a:t> de </a:t>
          </a:r>
          <a:r>
            <a:rPr lang="en-US" sz="1800" kern="1200" cap="none" baseline="0" dirty="0" err="1"/>
            <a:t>cálculos</a:t>
          </a:r>
          <a:r>
            <a:rPr lang="en-US" sz="1800" kern="1200" cap="none" baseline="0" dirty="0"/>
            <a:t> </a:t>
          </a:r>
          <a:r>
            <a:rPr lang="en-US" sz="1800" kern="1200" cap="none" baseline="0" dirty="0" err="1"/>
            <a:t>anteriores</a:t>
          </a:r>
          <a:r>
            <a:rPr lang="en-US" sz="1800" kern="1200" cap="none" baseline="0" dirty="0"/>
            <a:t>, las RNN </a:t>
          </a:r>
          <a:r>
            <a:rPr lang="en-US" sz="1800" kern="1200" cap="none" baseline="0" dirty="0" err="1"/>
            <a:t>tienen</a:t>
          </a:r>
          <a:r>
            <a:rPr lang="en-US" sz="1800" kern="1200" cap="none" baseline="0" dirty="0"/>
            <a:t> </a:t>
          </a:r>
          <a:r>
            <a:rPr lang="en-US" sz="1800" kern="1200" cap="none" baseline="0" dirty="0" err="1"/>
            <a:t>una</a:t>
          </a:r>
          <a:r>
            <a:rPr lang="en-US" sz="1800" kern="1200" cap="none" baseline="0" dirty="0"/>
            <a:t> "</a:t>
          </a:r>
          <a:r>
            <a:rPr lang="en-US" sz="1800" kern="1200" cap="none" baseline="0" dirty="0" err="1"/>
            <a:t>memoria</a:t>
          </a:r>
          <a:r>
            <a:rPr lang="en-US" sz="1800" kern="1200" cap="none" baseline="0" dirty="0"/>
            <a:t>" que les </a:t>
          </a:r>
          <a:r>
            <a:rPr lang="en-US" sz="1800" kern="1200" cap="none" baseline="0" dirty="0" err="1"/>
            <a:t>permite</a:t>
          </a:r>
          <a:r>
            <a:rPr lang="en-US" sz="1800" kern="1200" cap="none" baseline="0" dirty="0"/>
            <a:t> </a:t>
          </a:r>
          <a:r>
            <a:rPr lang="en-US" sz="1800" kern="1200" cap="none" baseline="0" dirty="0" err="1"/>
            <a:t>almacenar</a:t>
          </a:r>
          <a:r>
            <a:rPr lang="en-US" sz="1800" kern="1200" cap="none" baseline="0" dirty="0"/>
            <a:t> </a:t>
          </a:r>
          <a:r>
            <a:rPr lang="en-US" sz="1800" kern="1200" cap="none" baseline="0" dirty="0" err="1"/>
            <a:t>información</a:t>
          </a:r>
          <a:r>
            <a:rPr lang="en-US" sz="1800" kern="1200" cap="none" baseline="0" dirty="0"/>
            <a:t> </a:t>
          </a:r>
          <a:r>
            <a:rPr lang="en-US" sz="1800" kern="1200" cap="none" baseline="0" dirty="0" err="1"/>
            <a:t>sobre</a:t>
          </a:r>
          <a:r>
            <a:rPr lang="en-US" sz="1800" kern="1200" cap="none" baseline="0" dirty="0"/>
            <a:t> entradas y </a:t>
          </a:r>
          <a:r>
            <a:rPr lang="en-US" sz="1800" kern="1200" cap="none" baseline="0" dirty="0" err="1"/>
            <a:t>cálculos</a:t>
          </a:r>
          <a:r>
            <a:rPr lang="en-US" sz="1800" kern="1200" cap="none" baseline="0" dirty="0"/>
            <a:t> </a:t>
          </a:r>
          <a:r>
            <a:rPr lang="en-US" sz="1800" kern="1200" cap="none" baseline="0" dirty="0" err="1"/>
            <a:t>anteriores</a:t>
          </a:r>
          <a:endParaRPr lang="en-US" sz="1800" kern="1200" cap="none" baseline="0" dirty="0"/>
        </a:p>
      </dsp:txBody>
      <dsp:txXfrm>
        <a:off x="0" y="1487425"/>
        <a:ext cx="5872194" cy="1485247"/>
      </dsp:txXfrm>
    </dsp:sp>
    <dsp:sp modelId="{4FB2686B-D539-43AB-8DC9-FDF4C6AF96FE}">
      <dsp:nvSpPr>
        <dsp:cNvPr id="0" name=""/>
        <dsp:cNvSpPr/>
      </dsp:nvSpPr>
      <dsp:spPr>
        <a:xfrm>
          <a:off x="0" y="3122445"/>
          <a:ext cx="5872194" cy="0"/>
        </a:xfrm>
        <a:prstGeom prst="line">
          <a:avLst/>
        </a:prstGeom>
        <a:gradFill rotWithShape="0">
          <a:gsLst>
            <a:gs pos="0">
              <a:schemeClr val="accent5">
                <a:hueOff val="-1517477"/>
                <a:satOff val="-820"/>
                <a:lumOff val="-1961"/>
                <a:alphaOff val="0"/>
                <a:satMod val="103000"/>
                <a:lumMod val="102000"/>
                <a:tint val="94000"/>
              </a:schemeClr>
            </a:gs>
            <a:gs pos="50000">
              <a:schemeClr val="accent5">
                <a:hueOff val="-1517477"/>
                <a:satOff val="-820"/>
                <a:lumOff val="-1961"/>
                <a:alphaOff val="0"/>
                <a:satMod val="110000"/>
                <a:lumMod val="100000"/>
                <a:shade val="100000"/>
              </a:schemeClr>
            </a:gs>
            <a:gs pos="100000">
              <a:schemeClr val="accent5">
                <a:hueOff val="-1517477"/>
                <a:satOff val="-820"/>
                <a:lumOff val="-1961"/>
                <a:alphaOff val="0"/>
                <a:lumMod val="99000"/>
                <a:satMod val="120000"/>
                <a:shade val="78000"/>
              </a:schemeClr>
            </a:gs>
          </a:gsLst>
          <a:lin ang="5400000" scaled="0"/>
        </a:gradFill>
        <a:ln w="6350" cap="flat" cmpd="sng" algn="ctr">
          <a:solidFill>
            <a:schemeClr val="accent5">
              <a:hueOff val="-1517477"/>
              <a:satOff val="-820"/>
              <a:lumOff val="-196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1A4D5F9-0ADE-495E-933F-113E9D4547CB}">
      <dsp:nvSpPr>
        <dsp:cNvPr id="0" name=""/>
        <dsp:cNvSpPr/>
      </dsp:nvSpPr>
      <dsp:spPr>
        <a:xfrm>
          <a:off x="0" y="2972672"/>
          <a:ext cx="5872194" cy="1485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defRPr cap="all"/>
          </a:pPr>
          <a:endParaRPr lang="en-US" sz="1800" kern="1200" cap="none" baseline="0" dirty="0"/>
        </a:p>
        <a:p>
          <a:pPr marL="0" lvl="0" indent="0" algn="l" defTabSz="800100">
            <a:lnSpc>
              <a:spcPct val="90000"/>
            </a:lnSpc>
            <a:spcBef>
              <a:spcPct val="0"/>
            </a:spcBef>
            <a:spcAft>
              <a:spcPct val="35000"/>
            </a:spcAft>
            <a:buNone/>
            <a:defRPr cap="all"/>
          </a:pPr>
          <a:r>
            <a:rPr lang="en-US" sz="1800" kern="1200" cap="none" baseline="0" dirty="0"/>
            <a:t>Las RNN se </a:t>
          </a:r>
          <a:r>
            <a:rPr lang="en-US" sz="1800" kern="1200" cap="none" baseline="0" dirty="0" err="1"/>
            <a:t>han</a:t>
          </a:r>
          <a:r>
            <a:rPr lang="en-US" sz="1800" kern="1200" cap="none" baseline="0" dirty="0"/>
            <a:t> </a:t>
          </a:r>
          <a:r>
            <a:rPr lang="en-US" sz="1800" kern="1200" cap="none" baseline="0" dirty="0" err="1"/>
            <a:t>aplicado</a:t>
          </a:r>
          <a:r>
            <a:rPr lang="en-US" sz="1800" kern="1200" cap="none" baseline="0" dirty="0"/>
            <a:t> con </a:t>
          </a:r>
          <a:r>
            <a:rPr lang="en-US" sz="1800" kern="1200" cap="none" baseline="0" dirty="0" err="1"/>
            <a:t>éxito</a:t>
          </a:r>
          <a:r>
            <a:rPr lang="en-US" sz="1800" kern="1200" cap="none" baseline="0" dirty="0"/>
            <a:t> a </a:t>
          </a:r>
          <a:r>
            <a:rPr lang="en-US" sz="1800" kern="1200" cap="none" baseline="0" dirty="0" err="1"/>
            <a:t>una</a:t>
          </a:r>
          <a:r>
            <a:rPr lang="en-US" sz="1800" kern="1200" cap="none" baseline="0" dirty="0"/>
            <a:t> </a:t>
          </a:r>
          <a:r>
            <a:rPr lang="en-US" sz="1800" kern="1200" cap="none" baseline="0" dirty="0" err="1"/>
            <a:t>amplia</a:t>
          </a:r>
          <a:r>
            <a:rPr lang="en-US" sz="1800" kern="1200" cap="none" baseline="0" dirty="0"/>
            <a:t> </a:t>
          </a:r>
          <a:r>
            <a:rPr lang="en-US" sz="1800" kern="1200" cap="none" baseline="0" dirty="0" err="1"/>
            <a:t>gama</a:t>
          </a:r>
          <a:r>
            <a:rPr lang="en-US" sz="1800" kern="1200" cap="none" baseline="0" dirty="0"/>
            <a:t> de </a:t>
          </a:r>
          <a:r>
            <a:rPr lang="en-US" sz="1800" kern="1200" cap="none" baseline="0" dirty="0" err="1"/>
            <a:t>tareas</a:t>
          </a:r>
          <a:r>
            <a:rPr lang="en-US" sz="1800" kern="1200" cap="none" baseline="0" dirty="0"/>
            <a:t>, </a:t>
          </a:r>
          <a:r>
            <a:rPr lang="en-US" sz="1800" kern="1200" cap="none" baseline="0" dirty="0" err="1"/>
            <a:t>como</a:t>
          </a:r>
          <a:r>
            <a:rPr lang="en-US" sz="1800" kern="1200" cap="none" baseline="0" dirty="0"/>
            <a:t> </a:t>
          </a:r>
          <a:r>
            <a:rPr lang="en-US" sz="1800" kern="1200" cap="none" baseline="0" dirty="0" err="1"/>
            <a:t>el</a:t>
          </a:r>
          <a:r>
            <a:rPr lang="en-US" sz="1800" kern="1200" cap="none" baseline="0" dirty="0"/>
            <a:t> </a:t>
          </a:r>
          <a:r>
            <a:rPr lang="en-US" sz="1800" kern="1200" cap="none" baseline="0" dirty="0" err="1"/>
            <a:t>reconocimiento</a:t>
          </a:r>
          <a:r>
            <a:rPr lang="en-US" sz="1800" kern="1200" cap="none" baseline="0" dirty="0"/>
            <a:t> de </a:t>
          </a:r>
          <a:r>
            <a:rPr lang="en-US" sz="1800" kern="1200" cap="none" baseline="0" dirty="0" err="1"/>
            <a:t>voz</a:t>
          </a:r>
          <a:r>
            <a:rPr lang="en-US" sz="1800" kern="1200" cap="none" baseline="0" dirty="0"/>
            <a:t>, </a:t>
          </a:r>
          <a:r>
            <a:rPr lang="en-US" sz="1800" kern="1200" cap="none" baseline="0" dirty="0" err="1"/>
            <a:t>el</a:t>
          </a:r>
          <a:r>
            <a:rPr lang="en-US" sz="1800" kern="1200" cap="none" baseline="0" dirty="0"/>
            <a:t> </a:t>
          </a:r>
          <a:r>
            <a:rPr lang="en-US" sz="1800" kern="1200" cap="none" baseline="0" dirty="0" err="1"/>
            <a:t>modelado</a:t>
          </a:r>
          <a:r>
            <a:rPr lang="en-US" sz="1800" kern="1200" cap="none" baseline="0" dirty="0"/>
            <a:t> del </a:t>
          </a:r>
          <a:r>
            <a:rPr lang="en-US" sz="1800" kern="1200" cap="none" baseline="0" dirty="0" err="1"/>
            <a:t>lenguaje</a:t>
          </a:r>
          <a:r>
            <a:rPr lang="en-US" sz="1800" kern="1200" cap="none" baseline="0" dirty="0"/>
            <a:t>, la </a:t>
          </a:r>
          <a:r>
            <a:rPr lang="en-US" sz="1800" kern="1200" cap="none" baseline="0" dirty="0" err="1"/>
            <a:t>traducción</a:t>
          </a:r>
          <a:r>
            <a:rPr lang="en-US" sz="1800" kern="1200" cap="none" baseline="0" dirty="0"/>
            <a:t> </a:t>
          </a:r>
          <a:r>
            <a:rPr lang="en-US" sz="1800" kern="1200" cap="none" baseline="0" dirty="0" err="1"/>
            <a:t>automática</a:t>
          </a:r>
          <a:r>
            <a:rPr lang="en-US" sz="1800" kern="1200" cap="none" baseline="0" dirty="0"/>
            <a:t> y </a:t>
          </a:r>
          <a:r>
            <a:rPr lang="en-US" sz="1800" kern="1200" cap="none" baseline="0" dirty="0" err="1"/>
            <a:t>los</a:t>
          </a:r>
          <a:r>
            <a:rPr lang="en-US" sz="1800" kern="1200" cap="none" baseline="0" dirty="0"/>
            <a:t> </a:t>
          </a:r>
          <a:r>
            <a:rPr lang="en-US" sz="1800" kern="1200" cap="none" baseline="0" dirty="0" err="1"/>
            <a:t>subtítulos</a:t>
          </a:r>
          <a:r>
            <a:rPr lang="en-US" sz="1800" kern="1200" cap="none" baseline="0" dirty="0"/>
            <a:t> de </a:t>
          </a:r>
          <a:r>
            <a:rPr lang="en-US" sz="1800" kern="1200" cap="none" baseline="0" dirty="0" err="1"/>
            <a:t>imágenes</a:t>
          </a:r>
          <a:r>
            <a:rPr lang="en-US" sz="1800" kern="1200" cap="none" baseline="0" dirty="0"/>
            <a:t>, entre </a:t>
          </a:r>
          <a:r>
            <a:rPr lang="en-US" sz="1800" kern="1200" cap="none" baseline="0" dirty="0" err="1"/>
            <a:t>otros</a:t>
          </a:r>
          <a:endParaRPr lang="en-US" sz="1800" kern="1200" cap="none" baseline="0" dirty="0"/>
        </a:p>
      </dsp:txBody>
      <dsp:txXfrm>
        <a:off x="0" y="2972672"/>
        <a:ext cx="5872194" cy="148524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198EA-4259-4607-95E6-379B39A85A79}">
      <dsp:nvSpPr>
        <dsp:cNvPr id="0" name=""/>
        <dsp:cNvSpPr/>
      </dsp:nvSpPr>
      <dsp:spPr>
        <a:xfrm>
          <a:off x="0" y="0"/>
          <a:ext cx="63448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5EF02D-0F3C-4C45-BFC8-D2F12938210D}">
      <dsp:nvSpPr>
        <dsp:cNvPr id="0" name=""/>
        <dsp:cNvSpPr/>
      </dsp:nvSpPr>
      <dsp:spPr>
        <a:xfrm>
          <a:off x="0" y="0"/>
          <a:ext cx="6344856" cy="5908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CL" sz="2400" kern="1200" dirty="0"/>
            <a:t>Por ejemplo: </a:t>
          </a:r>
        </a:p>
        <a:p>
          <a:pPr marL="0" lvl="0" indent="0" algn="l" defTabSz="1066800">
            <a:lnSpc>
              <a:spcPct val="90000"/>
            </a:lnSpc>
            <a:spcBef>
              <a:spcPct val="0"/>
            </a:spcBef>
            <a:spcAft>
              <a:spcPct val="35000"/>
            </a:spcAft>
            <a:buNone/>
          </a:pPr>
          <a:endParaRPr lang="es-CL" sz="2400" kern="1200" dirty="0"/>
        </a:p>
        <a:p>
          <a:pPr marL="0" lvl="0" indent="0" algn="l" defTabSz="1066800">
            <a:lnSpc>
              <a:spcPct val="90000"/>
            </a:lnSpc>
            <a:spcBef>
              <a:spcPct val="0"/>
            </a:spcBef>
            <a:spcAft>
              <a:spcPct val="35000"/>
            </a:spcAft>
            <a:buNone/>
          </a:pPr>
          <a:r>
            <a:rPr lang="es-CL" sz="2400" kern="1200" dirty="0"/>
            <a:t>“</a:t>
          </a:r>
          <a:r>
            <a:rPr lang="es-CL" sz="2400" kern="1200" dirty="0">
              <a:solidFill>
                <a:srgbClr val="0070C0"/>
              </a:solidFill>
            </a:rPr>
            <a:t>Pedro</a:t>
          </a:r>
          <a:r>
            <a:rPr lang="es-CL" sz="2400" kern="1200" dirty="0"/>
            <a:t> salió de la biblioteca y se fue caminando hasta la oficina de </a:t>
          </a:r>
          <a:r>
            <a:rPr lang="es-CL" sz="2400" kern="1200" dirty="0">
              <a:solidFill>
                <a:srgbClr val="0070C0"/>
              </a:solidFill>
            </a:rPr>
            <a:t>Juan</a:t>
          </a:r>
          <a:r>
            <a:rPr lang="es-CL" sz="2400" kern="1200" dirty="0"/>
            <a:t>. Al llegar, </a:t>
          </a:r>
          <a:r>
            <a:rPr lang="es-CL" sz="2400" kern="1200" dirty="0">
              <a:solidFill>
                <a:srgbClr val="0070C0"/>
              </a:solidFill>
            </a:rPr>
            <a:t>él</a:t>
          </a:r>
          <a:r>
            <a:rPr lang="es-CL" sz="2400" kern="1200" dirty="0"/>
            <a:t> le comentó que se había </a:t>
          </a:r>
          <a:r>
            <a:rPr lang="es-CL" sz="2400" kern="1200" dirty="0">
              <a:solidFill>
                <a:srgbClr val="0070C0"/>
              </a:solidFill>
            </a:rPr>
            <a:t>cansado</a:t>
          </a:r>
          <a:r>
            <a:rPr lang="es-CL" sz="2400" kern="1200" dirty="0"/>
            <a:t>.”</a:t>
          </a:r>
        </a:p>
        <a:p>
          <a:pPr marL="0" lvl="0" indent="0" algn="l" defTabSz="1066800">
            <a:lnSpc>
              <a:spcPct val="90000"/>
            </a:lnSpc>
            <a:spcBef>
              <a:spcPct val="0"/>
            </a:spcBef>
            <a:spcAft>
              <a:spcPct val="35000"/>
            </a:spcAft>
            <a:buNone/>
          </a:pPr>
          <a:endParaRPr lang="es-CL" sz="2400" kern="1200" dirty="0"/>
        </a:p>
        <a:p>
          <a:pPr marL="0" lvl="0" indent="0" algn="l" defTabSz="1066800">
            <a:lnSpc>
              <a:spcPct val="90000"/>
            </a:lnSpc>
            <a:spcBef>
              <a:spcPct val="0"/>
            </a:spcBef>
            <a:spcAft>
              <a:spcPct val="35000"/>
            </a:spcAft>
            <a:buNone/>
          </a:pPr>
          <a:r>
            <a:rPr lang="es-CL" sz="2400" kern="1200" dirty="0"/>
            <a:t>Entender que el pronombre personal “él” se refiere a Pedro y no a Juan, es una dependencia de larga distancia.</a:t>
          </a:r>
          <a:endParaRPr lang="en-US" sz="2400" kern="1200" dirty="0"/>
        </a:p>
      </dsp:txBody>
      <dsp:txXfrm>
        <a:off x="0" y="0"/>
        <a:ext cx="6344856" cy="59088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198EA-4259-4607-95E6-379B39A85A79}">
      <dsp:nvSpPr>
        <dsp:cNvPr id="0" name=""/>
        <dsp:cNvSpPr/>
      </dsp:nvSpPr>
      <dsp:spPr>
        <a:xfrm>
          <a:off x="0" y="2885"/>
          <a:ext cx="63448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5EF02D-0F3C-4C45-BFC8-D2F12938210D}">
      <dsp:nvSpPr>
        <dsp:cNvPr id="0" name=""/>
        <dsp:cNvSpPr/>
      </dsp:nvSpPr>
      <dsp:spPr>
        <a:xfrm>
          <a:off x="0" y="2885"/>
          <a:ext cx="6344856" cy="5903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CL" sz="2400" kern="1200" dirty="0"/>
            <a:t>Supongamos, entonces, el siguiente “</a:t>
          </a:r>
          <a:r>
            <a:rPr lang="es-CL" sz="2400" kern="1200" dirty="0" err="1"/>
            <a:t>prompt</a:t>
          </a:r>
          <a:r>
            <a:rPr lang="es-CL" sz="2400" kern="1200" dirty="0"/>
            <a:t>”:</a:t>
          </a:r>
        </a:p>
        <a:p>
          <a:pPr marL="0" lvl="0" indent="0" algn="l" defTabSz="1066800">
            <a:lnSpc>
              <a:spcPct val="90000"/>
            </a:lnSpc>
            <a:spcBef>
              <a:spcPct val="0"/>
            </a:spcBef>
            <a:spcAft>
              <a:spcPct val="35000"/>
            </a:spcAft>
            <a:buNone/>
          </a:pPr>
          <a:endParaRPr lang="es-CL" sz="2400" kern="1200" dirty="0"/>
        </a:p>
        <a:p>
          <a:pPr marL="0" lvl="0" indent="0" algn="l" defTabSz="1066800">
            <a:lnSpc>
              <a:spcPct val="90000"/>
            </a:lnSpc>
            <a:spcBef>
              <a:spcPct val="0"/>
            </a:spcBef>
            <a:spcAft>
              <a:spcPct val="35000"/>
            </a:spcAft>
            <a:buNone/>
          </a:pPr>
          <a:r>
            <a:rPr lang="es-CL" sz="2400" kern="1200" dirty="0">
              <a:solidFill>
                <a:schemeClr val="tx1"/>
              </a:solidFill>
            </a:rPr>
            <a:t>Pedro salió de la biblioteca y se fue caminando hasta la oficina de Juan. Al llegar, él le comentó que se había cansado</a:t>
          </a:r>
          <a:r>
            <a:rPr lang="es-CL" sz="2400" kern="1200" dirty="0"/>
            <a:t>. ¿Quién se había cansado?</a:t>
          </a:r>
        </a:p>
        <a:p>
          <a:pPr marL="0" lvl="0" indent="0" algn="l" defTabSz="1066800">
            <a:lnSpc>
              <a:spcPct val="90000"/>
            </a:lnSpc>
            <a:spcBef>
              <a:spcPct val="0"/>
            </a:spcBef>
            <a:spcAft>
              <a:spcPct val="35000"/>
            </a:spcAft>
            <a:buNone/>
          </a:pPr>
          <a:endParaRPr lang="es-CL" sz="2400" kern="1200" dirty="0"/>
        </a:p>
        <a:p>
          <a:pPr marL="0" lvl="0" indent="0" algn="l" defTabSz="1066800">
            <a:lnSpc>
              <a:spcPct val="90000"/>
            </a:lnSpc>
            <a:spcBef>
              <a:spcPct val="0"/>
            </a:spcBef>
            <a:spcAft>
              <a:spcPct val="35000"/>
            </a:spcAft>
            <a:buNone/>
          </a:pPr>
          <a:r>
            <a:rPr lang="es-CL" sz="2400" kern="1200" dirty="0"/>
            <a:t>Dado que los </a:t>
          </a:r>
          <a:r>
            <a:rPr lang="es-CL" sz="2400" kern="1200" dirty="0" err="1"/>
            <a:t>embeddings</a:t>
          </a:r>
          <a:r>
            <a:rPr lang="es-CL" sz="2400" kern="1200" dirty="0"/>
            <a:t> y la capa de proyección pueden aprender todo tipo de relaciones, gramaticales, semánticas, temáticas y de todo tipo, son capaces de continuar apropiadamente el </a:t>
          </a:r>
          <a:r>
            <a:rPr lang="es-CL" sz="2400" kern="1200" dirty="0" err="1"/>
            <a:t>prompt</a:t>
          </a:r>
          <a:r>
            <a:rPr lang="es-CL" sz="2400" kern="1200" dirty="0"/>
            <a:t>.</a:t>
          </a:r>
        </a:p>
        <a:p>
          <a:pPr marL="0" lvl="0" indent="0" algn="l" defTabSz="1066800">
            <a:lnSpc>
              <a:spcPct val="90000"/>
            </a:lnSpc>
            <a:spcBef>
              <a:spcPct val="0"/>
            </a:spcBef>
            <a:spcAft>
              <a:spcPct val="35000"/>
            </a:spcAft>
            <a:buNone/>
          </a:pPr>
          <a:endParaRPr lang="es-CL" sz="2400" kern="1200" dirty="0"/>
        </a:p>
        <a:p>
          <a:pPr marL="0" lvl="0" indent="0" algn="l" defTabSz="1066800">
            <a:lnSpc>
              <a:spcPct val="90000"/>
            </a:lnSpc>
            <a:spcBef>
              <a:spcPct val="0"/>
            </a:spcBef>
            <a:spcAft>
              <a:spcPct val="35000"/>
            </a:spcAft>
            <a:buNone/>
          </a:pPr>
          <a:endParaRPr lang="es-CL" sz="2400" kern="1200" dirty="0"/>
        </a:p>
      </dsp:txBody>
      <dsp:txXfrm>
        <a:off x="0" y="2885"/>
        <a:ext cx="6344856" cy="590310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198EA-4259-4607-95E6-379B39A85A79}">
      <dsp:nvSpPr>
        <dsp:cNvPr id="0" name=""/>
        <dsp:cNvSpPr/>
      </dsp:nvSpPr>
      <dsp:spPr>
        <a:xfrm>
          <a:off x="0" y="2885"/>
          <a:ext cx="63448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5EF02D-0F3C-4C45-BFC8-D2F12938210D}">
      <dsp:nvSpPr>
        <dsp:cNvPr id="0" name=""/>
        <dsp:cNvSpPr/>
      </dsp:nvSpPr>
      <dsp:spPr>
        <a:xfrm>
          <a:off x="0" y="2885"/>
          <a:ext cx="6344856" cy="5903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CL" sz="2400" kern="1200" dirty="0"/>
            <a:t>Supongamos, entonces, el siguiente “</a:t>
          </a:r>
          <a:r>
            <a:rPr lang="es-CL" sz="2400" kern="1200" dirty="0" err="1"/>
            <a:t>prompt</a:t>
          </a:r>
          <a:r>
            <a:rPr lang="es-CL" sz="2400" kern="1200" dirty="0"/>
            <a:t>”:</a:t>
          </a:r>
        </a:p>
        <a:p>
          <a:pPr marL="0" lvl="0" indent="0" algn="l" defTabSz="1066800">
            <a:lnSpc>
              <a:spcPct val="90000"/>
            </a:lnSpc>
            <a:spcBef>
              <a:spcPct val="0"/>
            </a:spcBef>
            <a:spcAft>
              <a:spcPct val="35000"/>
            </a:spcAft>
            <a:buNone/>
          </a:pPr>
          <a:endParaRPr lang="es-CL" sz="2400" kern="1200" dirty="0"/>
        </a:p>
        <a:p>
          <a:pPr marL="0" lvl="0" indent="0" algn="l" defTabSz="1066800">
            <a:lnSpc>
              <a:spcPct val="90000"/>
            </a:lnSpc>
            <a:spcBef>
              <a:spcPct val="0"/>
            </a:spcBef>
            <a:spcAft>
              <a:spcPct val="35000"/>
            </a:spcAft>
            <a:buNone/>
          </a:pPr>
          <a:r>
            <a:rPr lang="es-CL" sz="2400" kern="1200" dirty="0">
              <a:solidFill>
                <a:schemeClr val="tx1"/>
              </a:solidFill>
              <a:highlight>
                <a:srgbClr val="00FF00"/>
              </a:highlight>
            </a:rPr>
            <a:t>Pedro</a:t>
          </a:r>
          <a:r>
            <a:rPr lang="es-CL" sz="2400" kern="1200" dirty="0">
              <a:solidFill>
                <a:schemeClr val="tx1"/>
              </a:solidFill>
            </a:rPr>
            <a:t> salió de la </a:t>
          </a:r>
          <a:r>
            <a:rPr lang="es-CL" sz="2400" kern="1200" dirty="0">
              <a:solidFill>
                <a:srgbClr val="FF0000"/>
              </a:solidFill>
            </a:rPr>
            <a:t>biblioteca</a:t>
          </a:r>
          <a:r>
            <a:rPr lang="es-CL" sz="2400" kern="1200" dirty="0">
              <a:solidFill>
                <a:schemeClr val="tx1"/>
              </a:solidFill>
            </a:rPr>
            <a:t> y se fue </a:t>
          </a:r>
          <a:r>
            <a:rPr lang="es-CL" sz="2400" kern="1200" dirty="0">
              <a:solidFill>
                <a:srgbClr val="FF0000"/>
              </a:solidFill>
            </a:rPr>
            <a:t>caminando</a:t>
          </a:r>
          <a:r>
            <a:rPr lang="es-CL" sz="2400" kern="1200" dirty="0">
              <a:solidFill>
                <a:schemeClr val="tx1"/>
              </a:solidFill>
            </a:rPr>
            <a:t> hasta la oficina de Juan. Al llegar, él le comentó que se había </a:t>
          </a:r>
          <a:r>
            <a:rPr lang="es-CL" sz="2400" kern="1200" dirty="0">
              <a:solidFill>
                <a:srgbClr val="FF0000"/>
              </a:solidFill>
            </a:rPr>
            <a:t>cansado</a:t>
          </a:r>
          <a:r>
            <a:rPr lang="es-CL" sz="2400" kern="1200" dirty="0"/>
            <a:t>. ¿</a:t>
          </a:r>
          <a:r>
            <a:rPr lang="es-CL" sz="2400" kern="1200" dirty="0">
              <a:solidFill>
                <a:srgbClr val="FF0000"/>
              </a:solidFill>
            </a:rPr>
            <a:t>Quién</a:t>
          </a:r>
          <a:r>
            <a:rPr lang="es-CL" sz="2400" kern="1200" dirty="0"/>
            <a:t> se había </a:t>
          </a:r>
          <a:r>
            <a:rPr lang="es-CL" sz="2400" kern="1200" dirty="0">
              <a:solidFill>
                <a:srgbClr val="FF0000"/>
              </a:solidFill>
            </a:rPr>
            <a:t>cansado</a:t>
          </a:r>
          <a:r>
            <a:rPr lang="es-CL" sz="2400" kern="1200" dirty="0"/>
            <a:t>?</a:t>
          </a:r>
        </a:p>
        <a:p>
          <a:pPr marL="0" lvl="0" indent="0" algn="l" defTabSz="1066800">
            <a:lnSpc>
              <a:spcPct val="90000"/>
            </a:lnSpc>
            <a:spcBef>
              <a:spcPct val="0"/>
            </a:spcBef>
            <a:spcAft>
              <a:spcPct val="35000"/>
            </a:spcAft>
            <a:buNone/>
          </a:pPr>
          <a:endParaRPr lang="es-CL" sz="2400" kern="1200" dirty="0"/>
        </a:p>
        <a:p>
          <a:pPr marL="0" lvl="0" indent="0" algn="l" defTabSz="1066800">
            <a:lnSpc>
              <a:spcPct val="90000"/>
            </a:lnSpc>
            <a:spcBef>
              <a:spcPct val="0"/>
            </a:spcBef>
            <a:spcAft>
              <a:spcPct val="35000"/>
            </a:spcAft>
            <a:buNone/>
          </a:pPr>
          <a:r>
            <a:rPr lang="es-CL" sz="2400" kern="1200" dirty="0"/>
            <a:t>Dado que el vector de contexto h incorporará que “caminando” se relaciona con “cansado” y que “Pedro” se relaciona con “caminando” más de lo que “Juan” se relaciona con “caminando”, el </a:t>
          </a:r>
          <a:r>
            <a:rPr lang="es-CL" sz="2400" kern="1200" dirty="0" err="1"/>
            <a:t>Transformer</a:t>
          </a:r>
          <a:r>
            <a:rPr lang="es-CL" sz="2400" kern="1200" dirty="0"/>
            <a:t> es capaz de responde “Juan se había cansado”.</a:t>
          </a:r>
        </a:p>
        <a:p>
          <a:pPr marL="0" lvl="0" indent="0" algn="l" defTabSz="1066800">
            <a:lnSpc>
              <a:spcPct val="90000"/>
            </a:lnSpc>
            <a:spcBef>
              <a:spcPct val="0"/>
            </a:spcBef>
            <a:spcAft>
              <a:spcPct val="35000"/>
            </a:spcAft>
            <a:buNone/>
          </a:pPr>
          <a:endParaRPr lang="es-CL" sz="2400" kern="1200" dirty="0"/>
        </a:p>
      </dsp:txBody>
      <dsp:txXfrm>
        <a:off x="0" y="2885"/>
        <a:ext cx="6344856" cy="590310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198EA-4259-4607-95E6-379B39A85A79}">
      <dsp:nvSpPr>
        <dsp:cNvPr id="0" name=""/>
        <dsp:cNvSpPr/>
      </dsp:nvSpPr>
      <dsp:spPr>
        <a:xfrm>
          <a:off x="0" y="0"/>
          <a:ext cx="63448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5EF02D-0F3C-4C45-BFC8-D2F12938210D}">
      <dsp:nvSpPr>
        <dsp:cNvPr id="0" name=""/>
        <dsp:cNvSpPr/>
      </dsp:nvSpPr>
      <dsp:spPr>
        <a:xfrm>
          <a:off x="0" y="0"/>
          <a:ext cx="6344856" cy="5908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s-CL" sz="2800" kern="1200" dirty="0"/>
            <a:t>Se entiende así que un </a:t>
          </a:r>
          <a:r>
            <a:rPr lang="es-CL" sz="2800" kern="1200" dirty="0" err="1"/>
            <a:t>prompt</a:t>
          </a:r>
          <a:r>
            <a:rPr lang="es-CL" sz="2800" kern="1200" dirty="0"/>
            <a:t> selecciona un significado para una palabra que es polisémica (por ej., banco, llave, pieza, mano, código, etc.).</a:t>
          </a:r>
        </a:p>
        <a:p>
          <a:pPr marL="0" lvl="0" indent="0" algn="l" defTabSz="1244600">
            <a:lnSpc>
              <a:spcPct val="90000"/>
            </a:lnSpc>
            <a:spcBef>
              <a:spcPct val="0"/>
            </a:spcBef>
            <a:spcAft>
              <a:spcPct val="35000"/>
            </a:spcAft>
            <a:buNone/>
          </a:pPr>
          <a:endParaRPr lang="es-CL" sz="2400" kern="1200" dirty="0"/>
        </a:p>
        <a:p>
          <a:pPr marL="0" lvl="0" indent="0" algn="l" defTabSz="1244600">
            <a:lnSpc>
              <a:spcPct val="90000"/>
            </a:lnSpc>
            <a:spcBef>
              <a:spcPct val="0"/>
            </a:spcBef>
            <a:spcAft>
              <a:spcPct val="35000"/>
            </a:spcAft>
            <a:buNone/>
          </a:pPr>
          <a:endParaRPr lang="es-CL" sz="2400" kern="1200" dirty="0"/>
        </a:p>
      </dsp:txBody>
      <dsp:txXfrm>
        <a:off x="0" y="0"/>
        <a:ext cx="6344856" cy="590887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198EA-4259-4607-95E6-379B39A85A79}">
      <dsp:nvSpPr>
        <dsp:cNvPr id="0" name=""/>
        <dsp:cNvSpPr/>
      </dsp:nvSpPr>
      <dsp:spPr>
        <a:xfrm>
          <a:off x="0" y="2885"/>
          <a:ext cx="63448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5EF02D-0F3C-4C45-BFC8-D2F12938210D}">
      <dsp:nvSpPr>
        <dsp:cNvPr id="0" name=""/>
        <dsp:cNvSpPr/>
      </dsp:nvSpPr>
      <dsp:spPr>
        <a:xfrm>
          <a:off x="0" y="2885"/>
          <a:ext cx="6344856" cy="5903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CL" sz="2400" kern="1200" dirty="0"/>
            <a:t>Supongamos, entonces, el siguiente “</a:t>
          </a:r>
          <a:r>
            <a:rPr lang="es-CL" sz="2400" kern="1200" dirty="0" err="1"/>
            <a:t>prompt</a:t>
          </a:r>
          <a:r>
            <a:rPr lang="es-CL" sz="2400" kern="1200" dirty="0"/>
            <a:t>”:</a:t>
          </a:r>
        </a:p>
        <a:p>
          <a:pPr marL="0" lvl="0" indent="0" algn="l" defTabSz="1066800">
            <a:lnSpc>
              <a:spcPct val="90000"/>
            </a:lnSpc>
            <a:spcBef>
              <a:spcPct val="0"/>
            </a:spcBef>
            <a:spcAft>
              <a:spcPct val="35000"/>
            </a:spcAft>
            <a:buNone/>
          </a:pPr>
          <a:endParaRPr lang="es-CL" sz="2400" kern="1200" dirty="0"/>
        </a:p>
        <a:p>
          <a:pPr marL="0" lvl="0" indent="0" algn="l" defTabSz="1066800">
            <a:lnSpc>
              <a:spcPct val="90000"/>
            </a:lnSpc>
            <a:spcBef>
              <a:spcPct val="0"/>
            </a:spcBef>
            <a:spcAft>
              <a:spcPct val="35000"/>
            </a:spcAft>
            <a:buNone/>
          </a:pPr>
          <a:r>
            <a:rPr lang="es-CL" sz="2400" kern="1200" dirty="0">
              <a:solidFill>
                <a:schemeClr val="tx1"/>
              </a:solidFill>
            </a:rPr>
            <a:t>Pedro salió de la biblioteca y se fue caminando hasta la </a:t>
          </a:r>
          <a:r>
            <a:rPr lang="es-CL" sz="2400" kern="1200" dirty="0">
              <a:solidFill>
                <a:srgbClr val="FF0000"/>
              </a:solidFill>
            </a:rPr>
            <a:t>oficina</a:t>
          </a:r>
          <a:r>
            <a:rPr lang="es-CL" sz="2400" kern="1200" dirty="0">
              <a:solidFill>
                <a:schemeClr val="tx1"/>
              </a:solidFill>
            </a:rPr>
            <a:t> de </a:t>
          </a:r>
          <a:r>
            <a:rPr lang="es-CL" sz="2400" kern="1200" dirty="0">
              <a:solidFill>
                <a:schemeClr val="tx1"/>
              </a:solidFill>
              <a:highlight>
                <a:srgbClr val="00FF00"/>
              </a:highlight>
            </a:rPr>
            <a:t>Juan</a:t>
          </a:r>
          <a:r>
            <a:rPr lang="es-CL" sz="2400" kern="1200" dirty="0">
              <a:solidFill>
                <a:schemeClr val="tx1"/>
              </a:solidFill>
            </a:rPr>
            <a:t>. Al llegar, él le comentó que se había cansado</a:t>
          </a:r>
          <a:r>
            <a:rPr lang="es-CL" sz="2400" kern="1200" dirty="0"/>
            <a:t>. ¿Quién se había cansado?</a:t>
          </a:r>
        </a:p>
        <a:p>
          <a:pPr marL="0" lvl="0" indent="0" algn="l" defTabSz="1066800">
            <a:lnSpc>
              <a:spcPct val="90000"/>
            </a:lnSpc>
            <a:spcBef>
              <a:spcPct val="0"/>
            </a:spcBef>
            <a:spcAft>
              <a:spcPct val="35000"/>
            </a:spcAft>
            <a:buNone/>
          </a:pPr>
          <a:endParaRPr lang="es-CL" sz="2400" kern="1200" dirty="0"/>
        </a:p>
        <a:p>
          <a:pPr marL="0" lvl="0" indent="0" algn="l" defTabSz="1066800">
            <a:lnSpc>
              <a:spcPct val="90000"/>
            </a:lnSpc>
            <a:spcBef>
              <a:spcPct val="0"/>
            </a:spcBef>
            <a:spcAft>
              <a:spcPct val="35000"/>
            </a:spcAft>
            <a:buNone/>
          </a:pPr>
          <a:r>
            <a:rPr lang="es-CL" sz="2400" kern="1200" dirty="0"/>
            <a:t>Dado que el vector de resumen h incorporará que “caminando” se relaciona con “cansado” y que “Pedro” se relaciona con “caminando” más de lo que “Juan” se relaciona con “caminando”, el </a:t>
          </a:r>
          <a:r>
            <a:rPr lang="es-CL" sz="2400" kern="1200" dirty="0" err="1"/>
            <a:t>Transformer</a:t>
          </a:r>
          <a:r>
            <a:rPr lang="es-CL" sz="2400" kern="1200" dirty="0"/>
            <a:t> es capaz de responde “Juan se había cansado”.</a:t>
          </a:r>
        </a:p>
        <a:p>
          <a:pPr marL="0" lvl="0" indent="0" algn="l" defTabSz="1066800">
            <a:lnSpc>
              <a:spcPct val="90000"/>
            </a:lnSpc>
            <a:spcBef>
              <a:spcPct val="0"/>
            </a:spcBef>
            <a:spcAft>
              <a:spcPct val="35000"/>
            </a:spcAft>
            <a:buNone/>
          </a:pPr>
          <a:endParaRPr lang="es-CL" sz="2400" kern="1200" dirty="0"/>
        </a:p>
      </dsp:txBody>
      <dsp:txXfrm>
        <a:off x="0" y="2885"/>
        <a:ext cx="6344856" cy="590310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198EA-4259-4607-95E6-379B39A85A79}">
      <dsp:nvSpPr>
        <dsp:cNvPr id="0" name=""/>
        <dsp:cNvSpPr/>
      </dsp:nvSpPr>
      <dsp:spPr>
        <a:xfrm>
          <a:off x="0" y="0"/>
          <a:ext cx="63448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5EF02D-0F3C-4C45-BFC8-D2F12938210D}">
      <dsp:nvSpPr>
        <dsp:cNvPr id="0" name=""/>
        <dsp:cNvSpPr/>
      </dsp:nvSpPr>
      <dsp:spPr>
        <a:xfrm>
          <a:off x="0" y="0"/>
          <a:ext cx="6344856" cy="5908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Font typeface="+mj-lt"/>
            <a:buNone/>
          </a:pPr>
          <a:r>
            <a:rPr lang="es-ES" sz="2400" b="1" kern="1200" dirty="0"/>
            <a:t>1. Vector de Contexto</a:t>
          </a:r>
          <a:r>
            <a:rPr lang="es-ES" sz="2400" kern="1200" dirty="0"/>
            <a:t>: La representación contextualizada de un </a:t>
          </a:r>
          <a:r>
            <a:rPr lang="es-ES" sz="2400" kern="1200" dirty="0" err="1"/>
            <a:t>prompt</a:t>
          </a:r>
          <a:r>
            <a:rPr lang="es-ES" sz="2400" kern="1200" dirty="0"/>
            <a:t>.</a:t>
          </a:r>
        </a:p>
        <a:p>
          <a:pPr marL="0" lvl="0" indent="0" algn="l" defTabSz="1066800">
            <a:lnSpc>
              <a:spcPct val="90000"/>
            </a:lnSpc>
            <a:spcBef>
              <a:spcPct val="0"/>
            </a:spcBef>
            <a:spcAft>
              <a:spcPct val="35000"/>
            </a:spcAft>
            <a:buFont typeface="+mj-lt"/>
            <a:buNone/>
          </a:pPr>
          <a:r>
            <a:rPr lang="es-ES" sz="2400" b="1" kern="1200" dirty="0"/>
            <a:t>2. Proyección</a:t>
          </a:r>
          <a:r>
            <a:rPr lang="es-ES" sz="2400" kern="1200" dirty="0"/>
            <a:t>: Esta representación se proyecta al espacio de vocabulario mediante una capa lineal, produciendo </a:t>
          </a:r>
          <a:r>
            <a:rPr lang="es-ES" sz="2400" kern="1200" dirty="0" err="1"/>
            <a:t>logits</a:t>
          </a:r>
          <a:r>
            <a:rPr lang="es-ES" sz="2400" kern="1200" dirty="0"/>
            <a:t>.</a:t>
          </a:r>
        </a:p>
        <a:p>
          <a:pPr marL="0" lvl="0" indent="0" algn="l" defTabSz="1066800">
            <a:lnSpc>
              <a:spcPct val="90000"/>
            </a:lnSpc>
            <a:spcBef>
              <a:spcPct val="0"/>
            </a:spcBef>
            <a:spcAft>
              <a:spcPct val="35000"/>
            </a:spcAft>
            <a:buFont typeface="+mj-lt"/>
            <a:buNone/>
          </a:pPr>
          <a:r>
            <a:rPr lang="es-ES" sz="2400" b="1" kern="1200" dirty="0"/>
            <a:t>3. </a:t>
          </a:r>
          <a:r>
            <a:rPr lang="es-ES" sz="2400" b="1" kern="1200" dirty="0" err="1"/>
            <a:t>Softmax</a:t>
          </a:r>
          <a:r>
            <a:rPr lang="es-ES" sz="2400" kern="1200" dirty="0"/>
            <a:t>: Los </a:t>
          </a:r>
          <a:r>
            <a:rPr lang="es-ES" sz="2400" kern="1200" dirty="0" err="1"/>
            <a:t>logits</a:t>
          </a:r>
          <a:r>
            <a:rPr lang="es-ES" sz="2400" kern="1200" dirty="0"/>
            <a:t> se convierten en probabilidades mediante la función </a:t>
          </a:r>
          <a:r>
            <a:rPr lang="es-ES" sz="2400" kern="1200" dirty="0" err="1"/>
            <a:t>softmax</a:t>
          </a:r>
          <a:r>
            <a:rPr lang="es-ES" sz="2400" kern="1200" dirty="0"/>
            <a:t>.</a:t>
          </a:r>
        </a:p>
        <a:p>
          <a:pPr marL="0" lvl="0" indent="0" algn="l" defTabSz="1066800">
            <a:lnSpc>
              <a:spcPct val="90000"/>
            </a:lnSpc>
            <a:spcBef>
              <a:spcPct val="0"/>
            </a:spcBef>
            <a:spcAft>
              <a:spcPct val="35000"/>
            </a:spcAft>
            <a:buFont typeface="+mj-lt"/>
            <a:buNone/>
          </a:pPr>
          <a:r>
            <a:rPr lang="es-ES" sz="2400" b="1" kern="1200" dirty="0"/>
            <a:t>4. Predicción</a:t>
          </a:r>
          <a:r>
            <a:rPr lang="es-ES" sz="2400" kern="1200" dirty="0"/>
            <a:t>: La palabra con la mayor probabilidad es seleccionada como la predicción de la próxima palabra.</a:t>
          </a:r>
          <a:endParaRPr lang="es-CL" sz="2400" kern="1200" dirty="0"/>
        </a:p>
      </dsp:txBody>
      <dsp:txXfrm>
        <a:off x="0" y="0"/>
        <a:ext cx="6344856" cy="590887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4896A2-6F2B-4F42-A406-E52894546A1B}">
      <dsp:nvSpPr>
        <dsp:cNvPr id="0" name=""/>
        <dsp:cNvSpPr/>
      </dsp:nvSpPr>
      <dsp:spPr>
        <a:xfrm>
          <a:off x="328103" y="251758"/>
          <a:ext cx="618574" cy="6185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7E774A-4749-40FE-A1AD-C3C98C32F7F7}">
      <dsp:nvSpPr>
        <dsp:cNvPr id="0" name=""/>
        <dsp:cNvSpPr/>
      </dsp:nvSpPr>
      <dsp:spPr>
        <a:xfrm>
          <a:off x="13453" y="1200627"/>
          <a:ext cx="1374609" cy="913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i="0" kern="1200" baseline="0" dirty="0"/>
            <a:t>Head 1 muestra que "quería" está prestando atención a "científica", lo que sugiere que aprendió una regla de </a:t>
          </a:r>
          <a:r>
            <a:rPr lang="es-CL" sz="1100" i="0" kern="1200" baseline="0" dirty="0" err="1"/>
            <a:t>coreferencia</a:t>
          </a:r>
          <a:r>
            <a:rPr lang="es-CL" sz="1100" i="0" kern="1200" baseline="0" dirty="0"/>
            <a:t>: "quién quería compartir".</a:t>
          </a:r>
          <a:endParaRPr lang="en-US" sz="1100" kern="1200" dirty="0"/>
        </a:p>
      </dsp:txBody>
      <dsp:txXfrm>
        <a:off x="13453" y="1200627"/>
        <a:ext cx="1374609" cy="913900"/>
      </dsp:txXfrm>
    </dsp:sp>
    <dsp:sp modelId="{6DE1E8E2-7C03-4D86-8F5A-05CB8DE5A29E}">
      <dsp:nvSpPr>
        <dsp:cNvPr id="0" name=""/>
        <dsp:cNvSpPr/>
      </dsp:nvSpPr>
      <dsp:spPr>
        <a:xfrm>
          <a:off x="1922466" y="240698"/>
          <a:ext cx="618574" cy="6185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08EA01-79A6-4BF6-A3A8-FEDDDB481C71}">
      <dsp:nvSpPr>
        <dsp:cNvPr id="0" name=""/>
        <dsp:cNvSpPr/>
      </dsp:nvSpPr>
      <dsp:spPr>
        <a:xfrm>
          <a:off x="1602859" y="1251010"/>
          <a:ext cx="1374609" cy="913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i="0" kern="1200" baseline="0" dirty="0"/>
            <a:t>Head 2 muestra relación entre "quería", "descubrimiento" y "compartirlo".</a:t>
          </a:r>
          <a:endParaRPr lang="en-US" sz="1100" kern="1200" dirty="0"/>
        </a:p>
      </dsp:txBody>
      <dsp:txXfrm>
        <a:off x="1602859" y="1251010"/>
        <a:ext cx="1374609" cy="913900"/>
      </dsp:txXfrm>
    </dsp:sp>
    <dsp:sp modelId="{C138C03B-2E28-4856-87F2-DD754781BE89}">
      <dsp:nvSpPr>
        <dsp:cNvPr id="0" name=""/>
        <dsp:cNvSpPr/>
      </dsp:nvSpPr>
      <dsp:spPr>
        <a:xfrm>
          <a:off x="378591" y="2951598"/>
          <a:ext cx="618574" cy="6185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703578-700A-49FF-989A-4972654C5848}">
      <dsp:nvSpPr>
        <dsp:cNvPr id="0" name=""/>
        <dsp:cNvSpPr/>
      </dsp:nvSpPr>
      <dsp:spPr>
        <a:xfrm>
          <a:off x="0" y="3992429"/>
          <a:ext cx="1374609" cy="913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i="0" kern="1200" baseline="0" dirty="0"/>
            <a:t>Head 3 se enfoca en la relación </a:t>
          </a:r>
          <a:r>
            <a:rPr lang="es-ES" sz="1100" kern="1200" dirty="0"/>
            <a:t>entre el sujeto ("</a:t>
          </a:r>
          <a:r>
            <a:rPr lang="es-ES" sz="1100" kern="1200" dirty="0" err="1"/>
            <a:t>scientist</a:t>
          </a:r>
          <a:r>
            <a:rPr lang="es-ES" sz="1100" kern="1200" dirty="0"/>
            <a:t>"), el objeto ("</a:t>
          </a:r>
          <a:r>
            <a:rPr lang="es-ES" sz="1100" kern="1200" dirty="0" err="1"/>
            <a:t>discovery</a:t>
          </a:r>
          <a:r>
            <a:rPr lang="es-ES" sz="1100" kern="1200" dirty="0"/>
            <a:t>"), y la conjunción causal ("</a:t>
          </a:r>
          <a:r>
            <a:rPr lang="es-ES" sz="1100" kern="1200" dirty="0" err="1"/>
            <a:t>because</a:t>
          </a:r>
          <a:r>
            <a:rPr lang="es-ES" sz="1100" kern="1200" dirty="0"/>
            <a:t>") (“quien hizo qué)</a:t>
          </a:r>
          <a:endParaRPr lang="en-US" sz="1100" kern="1200" dirty="0"/>
        </a:p>
      </dsp:txBody>
      <dsp:txXfrm>
        <a:off x="0" y="3992429"/>
        <a:ext cx="1374609" cy="913900"/>
      </dsp:txXfrm>
    </dsp:sp>
    <dsp:sp modelId="{A84DD09E-AD86-410C-AA1D-E4DE41E97A0C}">
      <dsp:nvSpPr>
        <dsp:cNvPr id="0" name=""/>
        <dsp:cNvSpPr/>
      </dsp:nvSpPr>
      <dsp:spPr>
        <a:xfrm>
          <a:off x="1980878" y="2964471"/>
          <a:ext cx="618574" cy="61857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0326A8-E01D-4A20-B6C3-3AC03D322F59}">
      <dsp:nvSpPr>
        <dsp:cNvPr id="0" name=""/>
        <dsp:cNvSpPr/>
      </dsp:nvSpPr>
      <dsp:spPr>
        <a:xfrm>
          <a:off x="1607148" y="3992429"/>
          <a:ext cx="1374609" cy="913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i="0" kern="1200" baseline="0" dirty="0"/>
            <a:t>Head 4 muestra que "porque" y "quería" están estrechamente conectados, lo que refleja la estructura causal.</a:t>
          </a:r>
          <a:endParaRPr lang="en-US" sz="1100" kern="1200" dirty="0"/>
        </a:p>
      </dsp:txBody>
      <dsp:txXfrm>
        <a:off x="1607148" y="3992429"/>
        <a:ext cx="1374609" cy="9139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5-15T14:30:40.76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0 212,'94'-3,"98"-15,89-29,-140 22,700-83,-643 98,0 18,-99 8,-63-9,66 5,200-12,-130-2,126-6,-225 4,1 3,0 4,-1 3,78 15,-115-13,36 7,140 12,-93-27,3-1,-107 3,0 0,-1 1,0 0,1 1,15 7,-18-7,28 8,52 8,-31-7,3-1,0-3,1-2,93-3,375-6,-426 2,3 7,-14-1,152-5,-129-1,-106 0,-1 2,0 0,23 6,-18-4,20 3,27-3,70-4,-51-1,57-3,-104 1,67-14,-72 11,-1 1,50-2,62 7,-51 2,-42-2,58-7,-101 5,0 1,1 0,-1 1,0 0,0 0,1 0,-1 1,0 0,0 0,1 0,6 3,0 2,1-1,0 0,0-1,0-1,1 0,-1-1,22 0,-34-2,5 0,1 0,-1 0,1 1,0 0,-1 0,0 1,10 3,-3 0,1-1,-1-1,26 4,12 1,-38-2,-3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5-15T14:30:46.41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81,'5'0,"-1"-1,1 0,-1 0,1 0,-1 0,0-1,8-3,2-2,36-15,-37 15,1 0,-1 2,2-1,-1 2,17-4,-7 6,0 1,1 1,-1 2,28 4,31 1,-51-6,-3 0,40 5,-31-2,0-1,54-4,-29 0,143 1,-189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5-15T14:30:54.48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0 158,'45'-2,"-1"-2,0-2,43-12,-51 10,71-21,-68 18,1 1,42-6,-26 13,69 4,-40 0,-24 0,65-2,-113-1,-1 0,0 0,0-1,0-1,0 0,12-6,-20 8,9-3,0 1,0 1,1-1,-1 2,15-1,68 1,-93 2,11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5-15T14:30:40.76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0 212,'94'-3,"98"-15,89-29,-140 22,700-83,-643 98,0 18,-99 8,-63-9,66 5,200-12,-130-2,126-6,-225 4,1 3,0 4,-1 3,78 15,-115-13,36 7,140 12,-93-27,3-1,-107 3,0 0,-1 1,0 0,1 1,15 7,-18-7,28 8,52 8,-31-7,3-1,0-3,1-2,93-3,375-6,-426 2,3 7,-14-1,152-5,-129-1,-106 0,-1 2,0 0,23 6,-18-4,20 3,27-3,70-4,-51-1,57-3,-104 1,67-14,-72 11,-1 1,50-2,62 7,-51 2,-42-2,58-7,-101 5,0 1,1 0,-1 1,0 0,0 0,1 0,-1 1,0 0,0 0,1 0,6 3,0 2,1-1,0 0,0-1,0-1,1 0,-1-1,22 0,-34-2,5 0,1 0,-1 0,1 1,0 0,-1 0,0 1,10 3,-3 0,1-1,-1-1,26 4,12 1,-38-2,-3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5-15T14:30:46.41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81,'5'0,"-1"-1,1 0,-1 0,1 0,-1 0,0-1,8-3,2-2,36-15,-37 15,1 0,-1 2,2-1,-1 2,17-4,-7 6,0 1,1 1,-1 2,28 4,31 1,-51-6,-3 0,40 5,-31-2,0-1,54-4,-29 0,143 1,-189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5-15T14:30:54.48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0 158,'45'-2,"-1"-2,0-2,43-12,-51 10,71-21,-68 18,1 1,42-6,-26 13,69 4,-40 0,-24 0,65-2,-113-1,-1 0,0 0,0-1,0-1,0 0,12-6,-20 8,9-3,0 1,0 1,1-1,-1 2,15-1,68 1,-93 2,11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212B1B-1E23-4E69-99F8-DC7BA403024E}" type="datetimeFigureOut">
              <a:rPr lang="es-CL" smtClean="0"/>
              <a:t>18-05-2025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D04AA7-1331-40AF-B68E-05510C0BF221}" type="slidenum">
              <a:rPr lang="es-CL" smtClean="0"/>
              <a:t>‹Nº›</a:t>
            </a:fld>
            <a:endParaRPr lang="es-CL"/>
          </a:p>
        </p:txBody>
      </p:sp>
    </p:spTree>
    <p:extLst>
      <p:ext uri="{BB962C8B-B14F-4D97-AF65-F5344CB8AC3E}">
        <p14:creationId xmlns:p14="http://schemas.microsoft.com/office/powerpoint/2010/main" val="2523212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a:t>Al abordar un problema complejo, es crucial considerar escenarios más realistas. Esto implica evaluar todas las variables y factores que pueden influir en la situación, desde limitaciones económicas hasta restricciones de tiempo y recursos. Un enfoque más pragmático permite diseñar soluciones viables y efectivas, adaptadas a las condiciones reales del entorno.</a:t>
            </a:r>
          </a:p>
        </p:txBody>
      </p:sp>
      <p:sp>
        <p:nvSpPr>
          <p:cNvPr id="4" name="Marcador de número de diapositiva 3"/>
          <p:cNvSpPr>
            <a:spLocks noGrp="1"/>
          </p:cNvSpPr>
          <p:nvPr>
            <p:ph type="sldNum" sz="quarter" idx="5"/>
          </p:nvPr>
        </p:nvSpPr>
        <p:spPr/>
        <p:txBody>
          <a:bodyPr/>
          <a:lstStyle/>
          <a:p>
            <a:fld id="{4898F9A3-59A8-4E0C-B4E1-EDDE51371AF0}" type="slidenum">
              <a:rPr lang="es-CL" smtClean="0"/>
              <a:t>53</a:t>
            </a:fld>
            <a:endParaRPr lang="es-CL"/>
          </a:p>
        </p:txBody>
      </p:sp>
    </p:spTree>
    <p:extLst>
      <p:ext uri="{BB962C8B-B14F-4D97-AF65-F5344CB8AC3E}">
        <p14:creationId xmlns:p14="http://schemas.microsoft.com/office/powerpoint/2010/main" val="68693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EEDC8-BECA-4F16-8E1D-D207FD67FD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F79F2D-19BA-50AA-40CB-0FC79DD0360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37207B-FEFA-7094-0189-6EE42FEB4ADB}"/>
              </a:ext>
            </a:extLst>
          </p:cNvPr>
          <p:cNvSpPr>
            <a:spLocks noGrp="1"/>
          </p:cNvSpPr>
          <p:nvPr>
            <p:ph type="body" idx="1"/>
          </p:nvPr>
        </p:nvSpPr>
        <p:spPr/>
        <p:txBody>
          <a:bodyPr/>
          <a:lstStyle/>
          <a:p>
            <a:r>
              <a:rPr lang="es-CL"/>
              <a:t>Al abordar un problema complejo, es crucial considerar escenarios más realistas. Esto implica evaluar todas las variables y factores que pueden influir en la situación, desde limitaciones económicas hasta restricciones de tiempo y recursos. Un enfoque más pragmático permite diseñar soluciones viables y efectivas, adaptadas a las condiciones reales del entorno.</a:t>
            </a:r>
          </a:p>
        </p:txBody>
      </p:sp>
      <p:sp>
        <p:nvSpPr>
          <p:cNvPr id="4" name="Marcador de número de diapositiva 3">
            <a:extLst>
              <a:ext uri="{FF2B5EF4-FFF2-40B4-BE49-F238E27FC236}">
                <a16:creationId xmlns:a16="http://schemas.microsoft.com/office/drawing/2014/main" id="{A194EE41-43D7-F914-954E-F2012E262DE4}"/>
              </a:ext>
            </a:extLst>
          </p:cNvPr>
          <p:cNvSpPr>
            <a:spLocks noGrp="1"/>
          </p:cNvSpPr>
          <p:nvPr>
            <p:ph type="sldNum" sz="quarter" idx="5"/>
          </p:nvPr>
        </p:nvSpPr>
        <p:spPr/>
        <p:txBody>
          <a:bodyPr/>
          <a:lstStyle/>
          <a:p>
            <a:fld id="{4898F9A3-59A8-4E0C-B4E1-EDDE51371AF0}" type="slidenum">
              <a:rPr lang="es-CL" smtClean="0"/>
              <a:t>54</a:t>
            </a:fld>
            <a:endParaRPr lang="es-CL"/>
          </a:p>
        </p:txBody>
      </p:sp>
    </p:spTree>
    <p:extLst>
      <p:ext uri="{BB962C8B-B14F-4D97-AF65-F5344CB8AC3E}">
        <p14:creationId xmlns:p14="http://schemas.microsoft.com/office/powerpoint/2010/main" val="3674192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D363D-8830-A907-A767-83D6A7EA7E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468B20-C070-4840-2D09-D99D276F203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0AC8DF4-0F13-A8F5-479B-76B4606F7B73}"/>
              </a:ext>
            </a:extLst>
          </p:cNvPr>
          <p:cNvSpPr>
            <a:spLocks noGrp="1"/>
          </p:cNvSpPr>
          <p:nvPr>
            <p:ph type="body" idx="1"/>
          </p:nvPr>
        </p:nvSpPr>
        <p:spPr/>
        <p:txBody>
          <a:bodyPr/>
          <a:lstStyle/>
          <a:p>
            <a:r>
              <a:rPr lang="es-CL"/>
              <a:t>Al abordar un problema complejo, es crucial considerar escenarios más realistas. Esto implica evaluar todas las variables y factores que pueden influir en la situación, desde limitaciones económicas hasta restricciones de tiempo y recursos. Un enfoque más pragmático permite diseñar soluciones viables y efectivas, adaptadas a las condiciones reales del entorno.</a:t>
            </a:r>
          </a:p>
        </p:txBody>
      </p:sp>
      <p:sp>
        <p:nvSpPr>
          <p:cNvPr id="4" name="Marcador de número de diapositiva 3">
            <a:extLst>
              <a:ext uri="{FF2B5EF4-FFF2-40B4-BE49-F238E27FC236}">
                <a16:creationId xmlns:a16="http://schemas.microsoft.com/office/drawing/2014/main" id="{8CB5F4A6-C10B-6CCD-B6C2-2C6FE5B5232C}"/>
              </a:ext>
            </a:extLst>
          </p:cNvPr>
          <p:cNvSpPr>
            <a:spLocks noGrp="1"/>
          </p:cNvSpPr>
          <p:nvPr>
            <p:ph type="sldNum" sz="quarter" idx="5"/>
          </p:nvPr>
        </p:nvSpPr>
        <p:spPr/>
        <p:txBody>
          <a:bodyPr/>
          <a:lstStyle/>
          <a:p>
            <a:fld id="{4898F9A3-59A8-4E0C-B4E1-EDDE51371AF0}" type="slidenum">
              <a:rPr lang="es-CL" smtClean="0"/>
              <a:t>55</a:t>
            </a:fld>
            <a:endParaRPr lang="es-CL"/>
          </a:p>
        </p:txBody>
      </p:sp>
    </p:spTree>
    <p:extLst>
      <p:ext uri="{BB962C8B-B14F-4D97-AF65-F5344CB8AC3E}">
        <p14:creationId xmlns:p14="http://schemas.microsoft.com/office/powerpoint/2010/main" val="1563568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3451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2686777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592063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4060486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1551402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537750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481112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538703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3448799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550113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1F0D7-112D-48B1-B32B-170B1AA2B51E}"/>
              </a:ext>
            </a:extLst>
          </p:cNvPr>
          <p:cNvSpPr>
            <a:spLocks noGrp="1"/>
          </p:cNvSpPr>
          <p:nvPr>
            <p:ph type="title" orient="vert"/>
          </p:nvPr>
        </p:nvSpPr>
        <p:spPr>
          <a:xfrm>
            <a:off x="9143998" y="761999"/>
            <a:ext cx="2286000" cy="5334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7A7C1-8E5B-41DA-9802-F242D382B66B}"/>
              </a:ext>
            </a:extLst>
          </p:cNvPr>
          <p:cNvSpPr>
            <a:spLocks noGrp="1"/>
          </p:cNvSpPr>
          <p:nvPr>
            <p:ph type="body" orient="vert" idx="1"/>
          </p:nvPr>
        </p:nvSpPr>
        <p:spPr>
          <a:xfrm>
            <a:off x="762001" y="761999"/>
            <a:ext cx="7619999" cy="5334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61CC7-F5B1-464A-8127-60645FB21081}"/>
              </a:ext>
            </a:extLst>
          </p:cNvPr>
          <p:cNvSpPr>
            <a:spLocks noGrp="1"/>
          </p:cNvSpPr>
          <p:nvPr>
            <p:ph type="dt" sz="half" idx="10"/>
          </p:nvPr>
        </p:nvSpPr>
        <p:spPr/>
        <p:txBody>
          <a:bodyPr/>
          <a:lstStyle/>
          <a:p>
            <a:fld id="{76969C88-B244-455D-A017-012B25B1ACDD}" type="datetimeFigureOut">
              <a:rPr lang="en-US" smtClean="0"/>
              <a:t>5/18/2025</a:t>
            </a:fld>
            <a:endParaRPr lang="en-US"/>
          </a:p>
        </p:txBody>
      </p:sp>
      <p:sp>
        <p:nvSpPr>
          <p:cNvPr id="5" name="Footer Placeholder 4">
            <a:extLst>
              <a:ext uri="{FF2B5EF4-FFF2-40B4-BE49-F238E27FC236}">
                <a16:creationId xmlns:a16="http://schemas.microsoft.com/office/drawing/2014/main" id="{53B94302-B381-4F37-A9FF-5CC55191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07151-541F-4104-B989-83A9DCA6E616}"/>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546102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76969C88-B244-455D-A017-012B25B1ACDD}" type="datetimeFigureOut">
              <a:rPr lang="en-US" smtClean="0"/>
              <a:pPr/>
              <a:t>5/18/2025</a:t>
            </a:fld>
            <a:endParaRPr lang="en-US"/>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‹Nº›</a:t>
            </a:fld>
            <a:endParaRPr lang="en-US"/>
          </a:p>
        </p:txBody>
      </p:sp>
    </p:spTree>
    <p:extLst>
      <p:ext uri="{BB962C8B-B14F-4D97-AF65-F5344CB8AC3E}">
        <p14:creationId xmlns:p14="http://schemas.microsoft.com/office/powerpoint/2010/main" val="150142308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480">
          <p15:clr>
            <a:srgbClr val="F26B43"/>
          </p15:clr>
        </p15:guide>
        <p15:guide id="3" pos="960">
          <p15:clr>
            <a:srgbClr val="F26B43"/>
          </p15:clr>
        </p15:guide>
        <p15:guide id="4" pos="1440">
          <p15:clr>
            <a:srgbClr val="F26B43"/>
          </p15:clr>
        </p15:guide>
        <p15:guide id="5" pos="1920">
          <p15:clr>
            <a:srgbClr val="F26B43"/>
          </p15:clr>
        </p15:guide>
        <p15:guide id="6" pos="2400">
          <p15:clr>
            <a:srgbClr val="F26B43"/>
          </p15:clr>
        </p15:guide>
        <p15:guide id="7" pos="2880">
          <p15:clr>
            <a:srgbClr val="F26B43"/>
          </p15:clr>
        </p15:guide>
        <p15:guide id="8" pos="3360">
          <p15:clr>
            <a:srgbClr val="F26B43"/>
          </p15:clr>
        </p15:guide>
        <p15:guide id="9" pos="3840">
          <p15:clr>
            <a:srgbClr val="F26B43"/>
          </p15:clr>
        </p15:guide>
        <p15:guide id="10" pos="4320">
          <p15:clr>
            <a:srgbClr val="F26B43"/>
          </p15:clr>
        </p15:guide>
        <p15:guide id="11" pos="4800">
          <p15:clr>
            <a:srgbClr val="F26B43"/>
          </p15:clr>
        </p15:guide>
        <p15:guide id="12" pos="5280">
          <p15:clr>
            <a:srgbClr val="F26B43"/>
          </p15:clr>
        </p15:guide>
        <p15:guide id="13" pos="5760">
          <p15:clr>
            <a:srgbClr val="F26B43"/>
          </p15:clr>
        </p15:guide>
        <p15:guide id="14" pos="6240">
          <p15:clr>
            <a:srgbClr val="F26B43"/>
          </p15:clr>
        </p15:guide>
        <p15:guide id="15" pos="6720">
          <p15:clr>
            <a:srgbClr val="F26B43"/>
          </p15:clr>
        </p15:guide>
        <p15:guide id="16" pos="7200">
          <p15:clr>
            <a:srgbClr val="F26B43"/>
          </p15:clr>
        </p15:guide>
        <p15:guide id="17" pos="7680">
          <p15:clr>
            <a:srgbClr val="F26B43"/>
          </p15:clr>
        </p15:guide>
        <p15:guide id="18" orient="horz">
          <p15:clr>
            <a:srgbClr val="F26B43"/>
          </p15:clr>
        </p15:guide>
        <p15:guide id="19" orient="horz" pos="480">
          <p15:clr>
            <a:srgbClr val="F26B43"/>
          </p15:clr>
        </p15:guide>
        <p15:guide id="20" orient="horz" pos="960">
          <p15:clr>
            <a:srgbClr val="F26B43"/>
          </p15:clr>
        </p15:guide>
        <p15:guide id="21" orient="horz" pos="1440">
          <p15:clr>
            <a:srgbClr val="F26B43"/>
          </p15:clr>
        </p15:guide>
        <p15:guide id="22" orient="horz" pos="1920">
          <p15:clr>
            <a:srgbClr val="F26B43"/>
          </p15:clr>
        </p15:guide>
        <p15:guide id="23" orient="horz" pos="2400">
          <p15:clr>
            <a:srgbClr val="F26B43"/>
          </p15:clr>
        </p15:guide>
        <p15:guide id="24" orient="horz" pos="2880">
          <p15:clr>
            <a:srgbClr val="F26B43"/>
          </p15:clr>
        </p15:guide>
        <p15:guide id="25" orient="horz" pos="3360">
          <p15:clr>
            <a:srgbClr val="F26B43"/>
          </p15:clr>
        </p15:guide>
        <p15:guide id="26" orient="horz" pos="3840">
          <p15:clr>
            <a:srgbClr val="F26B43"/>
          </p15:clr>
        </p15:guide>
        <p15:guide id="27" orient="horz" pos="43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hyperlink" Target="https://sintesis.uai.cl/index.php/intusfilosofia"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Layout" Target="../diagrams/layout1.xml"/><Relationship Id="rId7" Type="http://schemas.openxmlformats.org/officeDocument/2006/relationships/image" Target="../media/image1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hyperlink" Target="http://eltamiz.com/elcedazo/2008/10/21/inteligencia-artificial-redes-neuronales/" TargetMode="External"/><Relationship Id="rId7" Type="http://schemas.openxmlformats.org/officeDocument/2006/relationships/diagramColors" Target="../diagrams/colors3.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31.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hyperlink" Target="http://software-tecnico-libre.es/es/articulo-por-tema/todas-las-secciones/todos-los-temas/todos-los-articulos/redes-neuronales-recurrentes-y-series-de-tiempo" TargetMode="External"/><Relationship Id="rId7" Type="http://schemas.openxmlformats.org/officeDocument/2006/relationships/diagramColors" Target="../diagrams/colors6.xm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jpeg"/><Relationship Id="rId1" Type="http://schemas.openxmlformats.org/officeDocument/2006/relationships/slideLayout" Target="../slideLayouts/slideLayout2.xml"/><Relationship Id="rId4" Type="http://schemas.openxmlformats.org/officeDocument/2006/relationships/hyperlink" Target="http://software-tecnico-libre.es/es/articulo-por-tema/todas-las-secciones/todos-los-temas/todos-los-articulos/redes-neuronales-recurrentes-y-series-de-tiempo"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jpeg"/><Relationship Id="rId1" Type="http://schemas.openxmlformats.org/officeDocument/2006/relationships/slideLayout" Target="../slideLayouts/slideLayout2.xml"/><Relationship Id="rId4" Type="http://schemas.openxmlformats.org/officeDocument/2006/relationships/hyperlink" Target="http://software-tecnico-libre.es/es/articulo-por-tema/todas-las-secciones/todos-los-temas/todos-los-articulos/redes-neuronales-recurrentes-y-series-de-tiempo"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jpeg"/><Relationship Id="rId1" Type="http://schemas.openxmlformats.org/officeDocument/2006/relationships/slideLayout" Target="../slideLayouts/slideLayout2.xml"/><Relationship Id="rId4" Type="http://schemas.openxmlformats.org/officeDocument/2006/relationships/hyperlink" Target="http://software-tecnico-libre.es/es/articulo-por-tema/todas-las-secciones/todos-los-temas/todos-los-articulos/redes-neuronales-recurrentes-y-series-de-tiempo" TargetMode="Externa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34.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66.png"/><Relationship Id="rId7" Type="http://schemas.openxmlformats.org/officeDocument/2006/relationships/image" Target="../media/image460.png"/><Relationship Id="rId2" Type="http://schemas.openxmlformats.org/officeDocument/2006/relationships/image" Target="../media/image64.jpe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450.png"/><Relationship Id="rId4" Type="http://schemas.openxmlformats.org/officeDocument/2006/relationships/customXml" Target="../ink/ink1.xml"/><Relationship Id="rId9" Type="http://schemas.openxmlformats.org/officeDocument/2006/relationships/image" Target="../media/image470.png"/></Relationships>
</file>

<file path=ppt/slides/_rels/slide62.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600.png"/><Relationship Id="rId3" Type="http://schemas.openxmlformats.org/officeDocument/2006/relationships/customXml" Target="../ink/ink4.xml"/><Relationship Id="rId7" Type="http://schemas.openxmlformats.org/officeDocument/2006/relationships/customXml" Target="../ink/ink6.xml"/><Relationship Id="rId2" Type="http://schemas.openxmlformats.org/officeDocument/2006/relationships/image" Target="../media/image64.jpe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customXml" Target="../ink/ink5.xml"/><Relationship Id="rId4" Type="http://schemas.openxmlformats.org/officeDocument/2006/relationships/image" Target="../media/image580.png"/><Relationship Id="rId9"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3" name="Picture 2">
            <a:extLst>
              <a:ext uri="{FF2B5EF4-FFF2-40B4-BE49-F238E27FC236}">
                <a16:creationId xmlns:a16="http://schemas.microsoft.com/office/drawing/2014/main" id="{2A4AB6AC-B0B8-6D14-FA56-20CC0A1A5D6D}"/>
              </a:ext>
            </a:extLst>
          </p:cNvPr>
          <p:cNvPicPr>
            <a:picLocks noChangeAspect="1"/>
          </p:cNvPicPr>
          <p:nvPr/>
        </p:nvPicPr>
        <p:blipFill rotWithShape="1">
          <a:blip r:embed="rId2"/>
          <a:srcRect l="26559" r="2351" b="5"/>
          <a:stretch/>
        </p:blipFill>
        <p:spPr>
          <a:xfrm>
            <a:off x="686785" y="721499"/>
            <a:ext cx="6095980" cy="6857990"/>
          </a:xfrm>
          <a:custGeom>
            <a:avLst/>
            <a:gdLst/>
            <a:ahLst/>
            <a:cxnLst/>
            <a:rect l="l" t="t" r="r" b="b"/>
            <a:pathLst>
              <a:path w="6096000" h="6858000">
                <a:moveTo>
                  <a:pt x="0" y="0"/>
                </a:moveTo>
                <a:lnTo>
                  <a:pt x="2758239" y="0"/>
                </a:lnTo>
                <a:lnTo>
                  <a:pt x="2916747" y="218181"/>
                </a:lnTo>
                <a:cubicBezTo>
                  <a:pt x="3525935" y="1023180"/>
                  <a:pt x="4281133" y="1818277"/>
                  <a:pt x="4839749" y="2631787"/>
                </a:cubicBezTo>
                <a:cubicBezTo>
                  <a:pt x="5571203" y="3696928"/>
                  <a:pt x="6122704" y="4799581"/>
                  <a:pt x="6095001" y="5672947"/>
                </a:cubicBezTo>
                <a:cubicBezTo>
                  <a:pt x="6083564" y="6040467"/>
                  <a:pt x="5972980" y="6348559"/>
                  <a:pt x="5792922" y="6612444"/>
                </a:cubicBezTo>
                <a:cubicBezTo>
                  <a:pt x="5755410" y="6667420"/>
                  <a:pt x="5714882" y="6720477"/>
                  <a:pt x="5671607" y="6771753"/>
                </a:cubicBezTo>
                <a:lnTo>
                  <a:pt x="5591643" y="6858000"/>
                </a:lnTo>
                <a:lnTo>
                  <a:pt x="0" y="6858000"/>
                </a:lnTo>
                <a:close/>
              </a:path>
            </a:pathLst>
          </a:custGeom>
        </p:spPr>
      </p:pic>
      <p:sp>
        <p:nvSpPr>
          <p:cNvPr id="11" name="Freeform: Shape 10">
            <a:extLst>
              <a:ext uri="{FF2B5EF4-FFF2-40B4-BE49-F238E27FC236}">
                <a16:creationId xmlns:a16="http://schemas.microsoft.com/office/drawing/2014/main" id="{55F5D1E8-E605-4EFC-8912-6E191F84FE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789134">
            <a:off x="2400596" y="454890"/>
            <a:ext cx="3969651" cy="5948221"/>
          </a:xfrm>
          <a:custGeom>
            <a:avLst/>
            <a:gdLst>
              <a:gd name="connsiteX0" fmla="*/ 4594048 w 9861488"/>
              <a:gd name="connsiteY0" fmla="*/ 11458472 h 11458472"/>
              <a:gd name="connsiteX1" fmla="*/ 0 w 9861488"/>
              <a:gd name="connsiteY1" fmla="*/ 5948221 h 11458472"/>
              <a:gd name="connsiteX2" fmla="*/ 1863 w 9861488"/>
              <a:gd name="connsiteY2" fmla="*/ 5698862 h 11458472"/>
              <a:gd name="connsiteX3" fmla="*/ 320025 w 9861488"/>
              <a:gd name="connsiteY3" fmla="*/ 3799836 h 11458472"/>
              <a:gd name="connsiteX4" fmla="*/ 3430486 w 9861488"/>
              <a:gd name="connsiteY4" fmla="*/ 295907 h 11458472"/>
              <a:gd name="connsiteX5" fmla="*/ 3863859 w 9861488"/>
              <a:gd name="connsiteY5" fmla="*/ 55612 h 11458472"/>
              <a:gd name="connsiteX6" fmla="*/ 3969651 w 9861488"/>
              <a:gd name="connsiteY6" fmla="*/ 0 h 11458472"/>
              <a:gd name="connsiteX7" fmla="*/ 9861488 w 9861488"/>
              <a:gd name="connsiteY7" fmla="*/ 7066862 h 11458472"/>
              <a:gd name="connsiteX8" fmla="*/ 4594048 w 9861488"/>
              <a:gd name="connsiteY8" fmla="*/ 11458472 h 11458472"/>
              <a:gd name="connsiteX0" fmla="*/ 0 w 9861488"/>
              <a:gd name="connsiteY0" fmla="*/ 5948221 h 11549912"/>
              <a:gd name="connsiteX1" fmla="*/ 1863 w 9861488"/>
              <a:gd name="connsiteY1" fmla="*/ 5698862 h 11549912"/>
              <a:gd name="connsiteX2" fmla="*/ 320025 w 9861488"/>
              <a:gd name="connsiteY2" fmla="*/ 3799836 h 11549912"/>
              <a:gd name="connsiteX3" fmla="*/ 3430486 w 9861488"/>
              <a:gd name="connsiteY3" fmla="*/ 295907 h 11549912"/>
              <a:gd name="connsiteX4" fmla="*/ 3863859 w 9861488"/>
              <a:gd name="connsiteY4" fmla="*/ 55612 h 11549912"/>
              <a:gd name="connsiteX5" fmla="*/ 3969651 w 9861488"/>
              <a:gd name="connsiteY5" fmla="*/ 0 h 11549912"/>
              <a:gd name="connsiteX6" fmla="*/ 9861488 w 9861488"/>
              <a:gd name="connsiteY6" fmla="*/ 7066862 h 11549912"/>
              <a:gd name="connsiteX7" fmla="*/ 4685488 w 9861488"/>
              <a:gd name="connsiteY7" fmla="*/ 11549912 h 11549912"/>
              <a:gd name="connsiteX0" fmla="*/ 0 w 9861488"/>
              <a:gd name="connsiteY0" fmla="*/ 5948221 h 7066862"/>
              <a:gd name="connsiteX1" fmla="*/ 1863 w 9861488"/>
              <a:gd name="connsiteY1" fmla="*/ 5698862 h 7066862"/>
              <a:gd name="connsiteX2" fmla="*/ 320025 w 9861488"/>
              <a:gd name="connsiteY2" fmla="*/ 3799836 h 7066862"/>
              <a:gd name="connsiteX3" fmla="*/ 3430486 w 9861488"/>
              <a:gd name="connsiteY3" fmla="*/ 295907 h 7066862"/>
              <a:gd name="connsiteX4" fmla="*/ 3863859 w 9861488"/>
              <a:gd name="connsiteY4" fmla="*/ 55612 h 7066862"/>
              <a:gd name="connsiteX5" fmla="*/ 3969651 w 9861488"/>
              <a:gd name="connsiteY5" fmla="*/ 0 h 7066862"/>
              <a:gd name="connsiteX6" fmla="*/ 9861488 w 9861488"/>
              <a:gd name="connsiteY6" fmla="*/ 7066862 h 7066862"/>
              <a:gd name="connsiteX0" fmla="*/ 0 w 3969651"/>
              <a:gd name="connsiteY0" fmla="*/ 5948221 h 5948221"/>
              <a:gd name="connsiteX1" fmla="*/ 1863 w 3969651"/>
              <a:gd name="connsiteY1" fmla="*/ 5698862 h 5948221"/>
              <a:gd name="connsiteX2" fmla="*/ 320025 w 3969651"/>
              <a:gd name="connsiteY2" fmla="*/ 3799836 h 5948221"/>
              <a:gd name="connsiteX3" fmla="*/ 3430486 w 3969651"/>
              <a:gd name="connsiteY3" fmla="*/ 295907 h 5948221"/>
              <a:gd name="connsiteX4" fmla="*/ 3863859 w 3969651"/>
              <a:gd name="connsiteY4" fmla="*/ 55612 h 5948221"/>
              <a:gd name="connsiteX5" fmla="*/ 3969651 w 3969651"/>
              <a:gd name="connsiteY5" fmla="*/ 0 h 59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9651" h="5948221">
                <a:moveTo>
                  <a:pt x="0" y="5948221"/>
                </a:moveTo>
                <a:lnTo>
                  <a:pt x="1863" y="5698862"/>
                </a:lnTo>
                <a:cubicBezTo>
                  <a:pt x="27184" y="5017139"/>
                  <a:pt x="133214" y="4368297"/>
                  <a:pt x="320025" y="3799836"/>
                </a:cubicBezTo>
                <a:cubicBezTo>
                  <a:pt x="810579" y="2305232"/>
                  <a:pt x="2027133" y="1118138"/>
                  <a:pt x="3430486" y="295907"/>
                </a:cubicBezTo>
                <a:cubicBezTo>
                  <a:pt x="3545941" y="228312"/>
                  <a:pt x="3692079" y="146862"/>
                  <a:pt x="3863859" y="55612"/>
                </a:cubicBezTo>
                <a:lnTo>
                  <a:pt x="3969651" y="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6581321" y="3170465"/>
            <a:ext cx="5338536" cy="3102428"/>
          </a:xfrm>
        </p:spPr>
        <p:txBody>
          <a:bodyPr>
            <a:normAutofit/>
          </a:bodyPr>
          <a:lstStyle/>
          <a:p>
            <a:pPr algn="l"/>
            <a:r>
              <a:rPr lang="en-US" sz="4400" dirty="0"/>
              <a:t>DIPLOMADO EN IA</a:t>
            </a:r>
            <a:br>
              <a:rPr lang="en-US" sz="4400" dirty="0"/>
            </a:br>
            <a:br>
              <a:rPr lang="en-US" sz="4400" dirty="0"/>
            </a:br>
            <a:r>
              <a:rPr lang="en-US" sz="2800" dirty="0" err="1">
                <a:latin typeface="Times New Roman"/>
                <a:cs typeface="Times New Roman"/>
              </a:rPr>
              <a:t>Ciencias</a:t>
            </a:r>
            <a:r>
              <a:rPr lang="en-US" sz="2800" dirty="0">
                <a:latin typeface="Times New Roman"/>
                <a:cs typeface="Times New Roman"/>
              </a:rPr>
              <a:t> </a:t>
            </a:r>
            <a:r>
              <a:rPr lang="en-US" sz="2800" dirty="0" err="1">
                <a:latin typeface="Times New Roman"/>
                <a:cs typeface="Times New Roman"/>
              </a:rPr>
              <a:t>Cognitivas</a:t>
            </a:r>
            <a:r>
              <a:rPr lang="en-US" sz="2800" dirty="0">
                <a:latin typeface="Times New Roman"/>
                <a:cs typeface="Times New Roman"/>
              </a:rPr>
              <a:t> e IA</a:t>
            </a:r>
            <a:br>
              <a:rPr lang="en-US" sz="2800" dirty="0">
                <a:latin typeface="Times New Roman"/>
                <a:cs typeface="Times New Roman"/>
              </a:rPr>
            </a:br>
            <a:br>
              <a:rPr lang="en-US" sz="2800" dirty="0">
                <a:latin typeface="Times New Roman"/>
                <a:cs typeface="Times New Roman"/>
              </a:rPr>
            </a:br>
            <a:r>
              <a:rPr lang="en-US" sz="2800" dirty="0" err="1">
                <a:latin typeface="Times New Roman"/>
                <a:cs typeface="Times New Roman"/>
              </a:rPr>
              <a:t>Profesor</a:t>
            </a:r>
            <a:r>
              <a:rPr lang="en-US" sz="2800" dirty="0">
                <a:latin typeface="Times New Roman"/>
                <a:cs typeface="Times New Roman"/>
              </a:rPr>
              <a:t>: Sergio Chaigneau</a:t>
            </a:r>
          </a:p>
          <a:p>
            <a:pPr algn="l"/>
            <a:endParaRPr lang="en-US" sz="4400" dirty="0"/>
          </a:p>
        </p:txBody>
      </p:sp>
      <p:pic>
        <p:nvPicPr>
          <p:cNvPr id="4" name="Picture 4" descr="Text&#10;&#10;Description automatically generated">
            <a:extLst>
              <a:ext uri="{FF2B5EF4-FFF2-40B4-BE49-F238E27FC236}">
                <a16:creationId xmlns:a16="http://schemas.microsoft.com/office/drawing/2014/main" id="{DB8FD706-00AF-FA21-4253-C8D5268D14A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5827" y="5841"/>
            <a:ext cx="2743199" cy="931491"/>
          </a:xfrm>
          <a:prstGeom prst="rect">
            <a:avLst/>
          </a:prstGeom>
        </p:spPr>
      </p:pic>
    </p:spTree>
    <p:extLst>
      <p:ext uri="{BB962C8B-B14F-4D97-AF65-F5344CB8AC3E}">
        <p14:creationId xmlns:p14="http://schemas.microsoft.com/office/powerpoint/2010/main" val="3274885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4D23BA-9DE4-A1AC-8E41-B846AD5ADFBC}"/>
              </a:ext>
            </a:extLst>
          </p:cNvPr>
          <p:cNvSpPr>
            <a:spLocks noGrp="1"/>
          </p:cNvSpPr>
          <p:nvPr>
            <p:ph type="title"/>
          </p:nvPr>
        </p:nvSpPr>
        <p:spPr>
          <a:xfrm>
            <a:off x="762000" y="761998"/>
            <a:ext cx="7325710" cy="1524002"/>
          </a:xfrm>
        </p:spPr>
        <p:txBody>
          <a:bodyPr>
            <a:normAutofit fontScale="90000"/>
          </a:bodyPr>
          <a:lstStyle/>
          <a:p>
            <a:r>
              <a:rPr lang="es-CL" dirty="0"/>
              <a:t>¿Por qué los Transformers (</a:t>
            </a:r>
            <a:r>
              <a:rPr lang="es-CL" dirty="0" err="1"/>
              <a:t>ChatGPT</a:t>
            </a:r>
            <a:r>
              <a:rPr lang="es-CL" dirty="0"/>
              <a:t>, Bert </a:t>
            </a:r>
            <a:r>
              <a:rPr lang="es-CL" sz="3100" dirty="0"/>
              <a:t>(</a:t>
            </a:r>
            <a:r>
              <a:rPr lang="es-CL" sz="3100" dirty="0" err="1"/>
              <a:t>Bidirectional</a:t>
            </a:r>
            <a:r>
              <a:rPr lang="es-CL" sz="3100" dirty="0"/>
              <a:t> </a:t>
            </a:r>
            <a:r>
              <a:rPr lang="es-CL" sz="3100" dirty="0" err="1"/>
              <a:t>Encoder</a:t>
            </a:r>
            <a:r>
              <a:rPr lang="es-CL" sz="3100" dirty="0"/>
              <a:t> </a:t>
            </a:r>
            <a:r>
              <a:rPr lang="es-CL" sz="3100" dirty="0" err="1"/>
              <a:t>Representations</a:t>
            </a:r>
            <a:r>
              <a:rPr lang="es-CL" sz="3100" dirty="0"/>
              <a:t> </a:t>
            </a:r>
            <a:r>
              <a:rPr lang="es-CL" dirty="0" err="1"/>
              <a:t>from</a:t>
            </a:r>
            <a:r>
              <a:rPr lang="es-CL" dirty="0"/>
              <a:t> Transformers)), y otros son disruptivos?</a:t>
            </a:r>
          </a:p>
        </p:txBody>
      </p:sp>
      <p:pic>
        <p:nvPicPr>
          <p:cNvPr id="6" name="Marcador de contenido 5">
            <a:extLst>
              <a:ext uri="{FF2B5EF4-FFF2-40B4-BE49-F238E27FC236}">
                <a16:creationId xmlns:a16="http://schemas.microsoft.com/office/drawing/2014/main" id="{5B6E2947-8EA4-B655-3A04-6483A77570A6}"/>
              </a:ext>
            </a:extLst>
          </p:cNvPr>
          <p:cNvPicPr>
            <a:picLocks noGrp="1" noChangeAspect="1"/>
          </p:cNvPicPr>
          <p:nvPr>
            <p:ph idx="1"/>
          </p:nvPr>
        </p:nvPicPr>
        <p:blipFill>
          <a:blip r:embed="rId2"/>
          <a:stretch>
            <a:fillRect/>
          </a:stretch>
        </p:blipFill>
        <p:spPr>
          <a:xfrm>
            <a:off x="154165" y="3193336"/>
            <a:ext cx="11638509" cy="1378665"/>
          </a:xfrm>
        </p:spPr>
      </p:pic>
    </p:spTree>
    <p:extLst>
      <p:ext uri="{BB962C8B-B14F-4D97-AF65-F5344CB8AC3E}">
        <p14:creationId xmlns:p14="http://schemas.microsoft.com/office/powerpoint/2010/main" val="1369787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4D23BA-9DE4-A1AC-8E41-B846AD5ADFBC}"/>
              </a:ext>
            </a:extLst>
          </p:cNvPr>
          <p:cNvSpPr>
            <a:spLocks noGrp="1"/>
          </p:cNvSpPr>
          <p:nvPr>
            <p:ph type="title"/>
          </p:nvPr>
        </p:nvSpPr>
        <p:spPr>
          <a:xfrm>
            <a:off x="762000" y="761997"/>
            <a:ext cx="3810000" cy="2761595"/>
          </a:xfrm>
        </p:spPr>
        <p:txBody>
          <a:bodyPr>
            <a:normAutofit/>
          </a:bodyPr>
          <a:lstStyle/>
          <a:p>
            <a:r>
              <a:rPr lang="es-CL" dirty="0"/>
              <a:t>¿Por qué los Transformers (</a:t>
            </a:r>
            <a:r>
              <a:rPr lang="es-CL" dirty="0" err="1"/>
              <a:t>ChatGPT</a:t>
            </a:r>
            <a:r>
              <a:rPr lang="es-CL" dirty="0"/>
              <a:t>, Bert, otros) son disruptivos?</a:t>
            </a:r>
          </a:p>
        </p:txBody>
      </p:sp>
      <p:pic>
        <p:nvPicPr>
          <p:cNvPr id="7" name="Imagen 6">
            <a:extLst>
              <a:ext uri="{FF2B5EF4-FFF2-40B4-BE49-F238E27FC236}">
                <a16:creationId xmlns:a16="http://schemas.microsoft.com/office/drawing/2014/main" id="{96088C0B-A36E-D228-98F2-6935C0F536BA}"/>
              </a:ext>
            </a:extLst>
          </p:cNvPr>
          <p:cNvPicPr>
            <a:picLocks noChangeAspect="1"/>
          </p:cNvPicPr>
          <p:nvPr/>
        </p:nvPicPr>
        <p:blipFill>
          <a:blip r:embed="rId2"/>
          <a:stretch>
            <a:fillRect/>
          </a:stretch>
        </p:blipFill>
        <p:spPr>
          <a:xfrm>
            <a:off x="3784679" y="351199"/>
            <a:ext cx="7176546" cy="6414903"/>
          </a:xfrm>
          <a:prstGeom prst="rect">
            <a:avLst/>
          </a:prstGeom>
        </p:spPr>
      </p:pic>
    </p:spTree>
    <p:extLst>
      <p:ext uri="{BB962C8B-B14F-4D97-AF65-F5344CB8AC3E}">
        <p14:creationId xmlns:p14="http://schemas.microsoft.com/office/powerpoint/2010/main" val="1710117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B2F4C2E-53F2-38FC-3C98-B046D2870EF8}"/>
              </a:ext>
            </a:extLst>
          </p:cNvPr>
          <p:cNvPicPr>
            <a:picLocks noChangeAspect="1"/>
          </p:cNvPicPr>
          <p:nvPr/>
        </p:nvPicPr>
        <p:blipFill>
          <a:blip r:embed="rId2"/>
          <a:stretch>
            <a:fillRect/>
          </a:stretch>
        </p:blipFill>
        <p:spPr>
          <a:xfrm>
            <a:off x="243477" y="2914605"/>
            <a:ext cx="11276434" cy="1657396"/>
          </a:xfrm>
          <a:prstGeom prst="rect">
            <a:avLst/>
          </a:prstGeom>
        </p:spPr>
      </p:pic>
    </p:spTree>
    <p:extLst>
      <p:ext uri="{BB962C8B-B14F-4D97-AF65-F5344CB8AC3E}">
        <p14:creationId xmlns:p14="http://schemas.microsoft.com/office/powerpoint/2010/main" val="2246686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CB2860A-2B63-099D-37AD-567DCE1F7DB5}"/>
              </a:ext>
            </a:extLst>
          </p:cNvPr>
          <p:cNvPicPr>
            <a:picLocks noChangeAspect="1"/>
          </p:cNvPicPr>
          <p:nvPr/>
        </p:nvPicPr>
        <p:blipFill>
          <a:blip r:embed="rId2"/>
          <a:stretch>
            <a:fillRect/>
          </a:stretch>
        </p:blipFill>
        <p:spPr>
          <a:xfrm>
            <a:off x="2202898" y="260221"/>
            <a:ext cx="8319851" cy="6538983"/>
          </a:xfrm>
          <a:prstGeom prst="rect">
            <a:avLst/>
          </a:prstGeom>
        </p:spPr>
      </p:pic>
    </p:spTree>
    <p:extLst>
      <p:ext uri="{BB962C8B-B14F-4D97-AF65-F5344CB8AC3E}">
        <p14:creationId xmlns:p14="http://schemas.microsoft.com/office/powerpoint/2010/main" val="2795750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6651DF6-4659-F8BE-A762-BDBFE9381E51}"/>
              </a:ext>
            </a:extLst>
          </p:cNvPr>
          <p:cNvPicPr>
            <a:picLocks noChangeAspect="1"/>
          </p:cNvPicPr>
          <p:nvPr/>
        </p:nvPicPr>
        <p:blipFill>
          <a:blip r:embed="rId2"/>
          <a:stretch>
            <a:fillRect/>
          </a:stretch>
        </p:blipFill>
        <p:spPr>
          <a:xfrm>
            <a:off x="680083" y="2028148"/>
            <a:ext cx="10972824" cy="2801703"/>
          </a:xfrm>
          <a:prstGeom prst="rect">
            <a:avLst/>
          </a:prstGeom>
        </p:spPr>
      </p:pic>
    </p:spTree>
    <p:extLst>
      <p:ext uri="{BB962C8B-B14F-4D97-AF65-F5344CB8AC3E}">
        <p14:creationId xmlns:p14="http://schemas.microsoft.com/office/powerpoint/2010/main" val="3899683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D7C8F4E-D93E-E518-D44B-9091ECE3CCE5}"/>
              </a:ext>
            </a:extLst>
          </p:cNvPr>
          <p:cNvPicPr>
            <a:picLocks noChangeAspect="1"/>
          </p:cNvPicPr>
          <p:nvPr/>
        </p:nvPicPr>
        <p:blipFill>
          <a:blip r:embed="rId2"/>
          <a:stretch>
            <a:fillRect/>
          </a:stretch>
        </p:blipFill>
        <p:spPr>
          <a:xfrm>
            <a:off x="2184129" y="477332"/>
            <a:ext cx="8466394" cy="6060156"/>
          </a:xfrm>
          <a:prstGeom prst="rect">
            <a:avLst/>
          </a:prstGeom>
        </p:spPr>
      </p:pic>
    </p:spTree>
    <p:extLst>
      <p:ext uri="{BB962C8B-B14F-4D97-AF65-F5344CB8AC3E}">
        <p14:creationId xmlns:p14="http://schemas.microsoft.com/office/powerpoint/2010/main" val="3958553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34AB0B3-01BE-3F3A-9525-E3F23AC0CB8E}"/>
              </a:ext>
            </a:extLst>
          </p:cNvPr>
          <p:cNvPicPr>
            <a:picLocks noChangeAspect="1"/>
          </p:cNvPicPr>
          <p:nvPr/>
        </p:nvPicPr>
        <p:blipFill>
          <a:blip r:embed="rId2"/>
          <a:stretch>
            <a:fillRect/>
          </a:stretch>
        </p:blipFill>
        <p:spPr>
          <a:xfrm>
            <a:off x="2125311" y="918184"/>
            <a:ext cx="8492016" cy="4961905"/>
          </a:xfrm>
          <a:prstGeom prst="rect">
            <a:avLst/>
          </a:prstGeom>
        </p:spPr>
      </p:pic>
    </p:spTree>
    <p:extLst>
      <p:ext uri="{BB962C8B-B14F-4D97-AF65-F5344CB8AC3E}">
        <p14:creationId xmlns:p14="http://schemas.microsoft.com/office/powerpoint/2010/main" val="413869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3C7EB96-9B08-107F-CFD2-A837FC03CFE5}"/>
              </a:ext>
            </a:extLst>
          </p:cNvPr>
          <p:cNvPicPr>
            <a:picLocks noChangeAspect="1"/>
          </p:cNvPicPr>
          <p:nvPr/>
        </p:nvPicPr>
        <p:blipFill>
          <a:blip r:embed="rId2"/>
          <a:stretch>
            <a:fillRect/>
          </a:stretch>
        </p:blipFill>
        <p:spPr>
          <a:xfrm>
            <a:off x="931881" y="3101311"/>
            <a:ext cx="10736625" cy="1112470"/>
          </a:xfrm>
          <a:prstGeom prst="rect">
            <a:avLst/>
          </a:prstGeom>
        </p:spPr>
      </p:pic>
    </p:spTree>
    <p:extLst>
      <p:ext uri="{BB962C8B-B14F-4D97-AF65-F5344CB8AC3E}">
        <p14:creationId xmlns:p14="http://schemas.microsoft.com/office/powerpoint/2010/main" val="2752944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2373F46-58E9-5A68-E14C-8ACB74EC322F}"/>
              </a:ext>
            </a:extLst>
          </p:cNvPr>
          <p:cNvPicPr>
            <a:picLocks noChangeAspect="1"/>
          </p:cNvPicPr>
          <p:nvPr/>
        </p:nvPicPr>
        <p:blipFill>
          <a:blip r:embed="rId2"/>
          <a:stretch>
            <a:fillRect/>
          </a:stretch>
        </p:blipFill>
        <p:spPr>
          <a:xfrm>
            <a:off x="751323" y="1831762"/>
            <a:ext cx="10420857" cy="3539159"/>
          </a:xfrm>
          <a:prstGeom prst="rect">
            <a:avLst/>
          </a:prstGeom>
        </p:spPr>
      </p:pic>
    </p:spTree>
    <p:extLst>
      <p:ext uri="{BB962C8B-B14F-4D97-AF65-F5344CB8AC3E}">
        <p14:creationId xmlns:p14="http://schemas.microsoft.com/office/powerpoint/2010/main" val="2438840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94AD6C85-0F51-B31A-A46E-96ADF010E46E}"/>
              </a:ext>
            </a:extLst>
          </p:cNvPr>
          <p:cNvPicPr>
            <a:picLocks noChangeAspect="1"/>
          </p:cNvPicPr>
          <p:nvPr/>
        </p:nvPicPr>
        <p:blipFill>
          <a:blip r:embed="rId2"/>
          <a:stretch>
            <a:fillRect/>
          </a:stretch>
        </p:blipFill>
        <p:spPr>
          <a:xfrm>
            <a:off x="-401004" y="1748781"/>
            <a:ext cx="11200954" cy="3797471"/>
          </a:xfrm>
          <a:prstGeom prst="rect">
            <a:avLst/>
          </a:prstGeom>
        </p:spPr>
      </p:pic>
    </p:spTree>
    <p:extLst>
      <p:ext uri="{BB962C8B-B14F-4D97-AF65-F5344CB8AC3E}">
        <p14:creationId xmlns:p14="http://schemas.microsoft.com/office/powerpoint/2010/main" val="185999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2" name="Title"/>
          <p:cNvSpPr>
            <a:spLocks noGrp="1"/>
          </p:cNvSpPr>
          <p:nvPr>
            <p:ph type="ctrTitle"/>
          </p:nvPr>
        </p:nvSpPr>
        <p:spPr>
          <a:xfrm>
            <a:off x="721179" y="362857"/>
            <a:ext cx="5334000" cy="1524000"/>
          </a:xfrm>
        </p:spPr>
        <p:txBody>
          <a:bodyPr vert="horz" lIns="91440" tIns="45720" rIns="91440" bIns="45720" rtlCol="0">
            <a:normAutofit/>
          </a:bodyPr>
          <a:lstStyle/>
          <a:p>
            <a:r>
              <a:rPr lang="en-US" dirty="0"/>
              <a:t>Redes </a:t>
            </a:r>
            <a:r>
              <a:rPr lang="en-US" err="1"/>
              <a:t>neuronales</a:t>
            </a:r>
            <a:r>
              <a:rPr lang="en-US" dirty="0"/>
              <a:t> </a:t>
            </a:r>
            <a:r>
              <a:rPr lang="en-US" err="1"/>
              <a:t>artificiales</a:t>
            </a:r>
            <a:endParaRPr lang="en-US"/>
          </a:p>
        </p:txBody>
      </p:sp>
      <p:graphicFrame>
        <p:nvGraphicFramePr>
          <p:cNvPr id="6" name="Content Placeholder">
            <a:extLst>
              <a:ext uri="{FF2B5EF4-FFF2-40B4-BE49-F238E27FC236}">
                <a16:creationId xmlns:a16="http://schemas.microsoft.com/office/drawing/2014/main" id="{81C2FB28-68CB-D9F4-2FAA-DBA4C68A15C1}"/>
              </a:ext>
            </a:extLst>
          </p:cNvPr>
          <p:cNvGraphicFramePr>
            <a:graphicFrameLocks noGrp="1"/>
          </p:cNvGraphicFramePr>
          <p:nvPr>
            <p:ph idx="1"/>
            <p:extLst>
              <p:ext uri="{D42A27DB-BD31-4B8C-83A1-F6EECF244321}">
                <p14:modId xmlns:p14="http://schemas.microsoft.com/office/powerpoint/2010/main" val="1840534818"/>
              </p:ext>
            </p:extLst>
          </p:nvPr>
        </p:nvGraphicFramePr>
        <p:xfrm>
          <a:off x="417286" y="1428751"/>
          <a:ext cx="6558642" cy="50255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EAA22DDD-7250-571E-3025-AC1E065043FD}"/>
              </a:ext>
            </a:extLst>
          </p:cNvPr>
          <p:cNvPicPr>
            <a:picLocks noChangeAspect="1"/>
          </p:cNvPicPr>
          <p:nvPr/>
        </p:nvPicPr>
        <p:blipFill>
          <a:blip r:embed="rId7"/>
          <a:stretch>
            <a:fillRect/>
          </a:stretch>
        </p:blipFill>
        <p:spPr>
          <a:xfrm>
            <a:off x="7422151" y="458276"/>
            <a:ext cx="4401255" cy="2857162"/>
          </a:xfrm>
          <a:prstGeom prst="rect">
            <a:avLst/>
          </a:prstGeom>
        </p:spPr>
      </p:pic>
      <p:pic>
        <p:nvPicPr>
          <p:cNvPr id="4" name="Imagen 3">
            <a:extLst>
              <a:ext uri="{FF2B5EF4-FFF2-40B4-BE49-F238E27FC236}">
                <a16:creationId xmlns:a16="http://schemas.microsoft.com/office/drawing/2014/main" id="{830621CD-5E6F-7648-5BE5-10C9312E83C5}"/>
              </a:ext>
            </a:extLst>
          </p:cNvPr>
          <p:cNvPicPr>
            <a:picLocks noChangeAspect="1"/>
          </p:cNvPicPr>
          <p:nvPr/>
        </p:nvPicPr>
        <p:blipFill>
          <a:blip r:embed="rId8"/>
          <a:stretch>
            <a:fillRect/>
          </a:stretch>
        </p:blipFill>
        <p:spPr>
          <a:xfrm>
            <a:off x="7230358" y="4076008"/>
            <a:ext cx="4639565" cy="2319783"/>
          </a:xfrm>
          <a:prstGeom prst="rect">
            <a:avLst/>
          </a:prstGeom>
        </p:spPr>
      </p:pic>
    </p:spTree>
    <p:extLst>
      <p:ext uri="{BB962C8B-B14F-4D97-AF65-F5344CB8AC3E}">
        <p14:creationId xmlns:p14="http://schemas.microsoft.com/office/powerpoint/2010/main" val="3088734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2" name="Title"/>
          <p:cNvSpPr>
            <a:spLocks noGrp="1"/>
          </p:cNvSpPr>
          <p:nvPr>
            <p:ph type="ctrTitle"/>
          </p:nvPr>
        </p:nvSpPr>
        <p:spPr>
          <a:xfrm>
            <a:off x="721179" y="362857"/>
            <a:ext cx="5334000" cy="1524000"/>
          </a:xfrm>
        </p:spPr>
        <p:txBody>
          <a:bodyPr vert="horz" lIns="91440" tIns="45720" rIns="91440" bIns="45720" rtlCol="0">
            <a:normAutofit/>
          </a:bodyPr>
          <a:lstStyle/>
          <a:p>
            <a:r>
              <a:rPr lang="en-US" dirty="0"/>
              <a:t>Redes </a:t>
            </a:r>
            <a:r>
              <a:rPr lang="en-US" err="1"/>
              <a:t>neuronales</a:t>
            </a:r>
            <a:r>
              <a:rPr lang="en-US" dirty="0"/>
              <a:t> </a:t>
            </a:r>
            <a:r>
              <a:rPr lang="en-US" err="1"/>
              <a:t>artificiales</a:t>
            </a:r>
            <a:endParaRPr lang="en-US"/>
          </a:p>
        </p:txBody>
      </p:sp>
      <p:graphicFrame>
        <p:nvGraphicFramePr>
          <p:cNvPr id="6" name="Content Placeholder">
            <a:extLst>
              <a:ext uri="{FF2B5EF4-FFF2-40B4-BE49-F238E27FC236}">
                <a16:creationId xmlns:a16="http://schemas.microsoft.com/office/drawing/2014/main" id="{81C2FB28-68CB-D9F4-2FAA-DBA4C68A15C1}"/>
              </a:ext>
            </a:extLst>
          </p:cNvPr>
          <p:cNvGraphicFramePr>
            <a:graphicFrameLocks noGrp="1"/>
          </p:cNvGraphicFramePr>
          <p:nvPr>
            <p:ph idx="1"/>
          </p:nvPr>
        </p:nvGraphicFramePr>
        <p:xfrm>
          <a:off x="417286" y="1428751"/>
          <a:ext cx="6558642" cy="50255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EAA22DDD-7250-571E-3025-AC1E065043FD}"/>
              </a:ext>
            </a:extLst>
          </p:cNvPr>
          <p:cNvPicPr>
            <a:picLocks noChangeAspect="1"/>
          </p:cNvPicPr>
          <p:nvPr/>
        </p:nvPicPr>
        <p:blipFill>
          <a:blip r:embed="rId7"/>
          <a:stretch>
            <a:fillRect/>
          </a:stretch>
        </p:blipFill>
        <p:spPr>
          <a:xfrm>
            <a:off x="7422151" y="458276"/>
            <a:ext cx="4401255" cy="2857162"/>
          </a:xfrm>
          <a:prstGeom prst="rect">
            <a:avLst/>
          </a:prstGeom>
        </p:spPr>
      </p:pic>
      <p:pic>
        <p:nvPicPr>
          <p:cNvPr id="9" name="Imagen 8">
            <a:extLst>
              <a:ext uri="{FF2B5EF4-FFF2-40B4-BE49-F238E27FC236}">
                <a16:creationId xmlns:a16="http://schemas.microsoft.com/office/drawing/2014/main" id="{1DB3CEAE-7F1E-4601-0C03-2652D0E50A03}"/>
              </a:ext>
            </a:extLst>
          </p:cNvPr>
          <p:cNvPicPr>
            <a:picLocks noChangeAspect="1"/>
          </p:cNvPicPr>
          <p:nvPr/>
        </p:nvPicPr>
        <p:blipFill>
          <a:blip r:embed="rId8"/>
          <a:stretch>
            <a:fillRect/>
          </a:stretch>
        </p:blipFill>
        <p:spPr>
          <a:xfrm>
            <a:off x="7268066" y="4120562"/>
            <a:ext cx="4633696" cy="2333760"/>
          </a:xfrm>
          <a:prstGeom prst="rect">
            <a:avLst/>
          </a:prstGeom>
        </p:spPr>
      </p:pic>
    </p:spTree>
    <p:extLst>
      <p:ext uri="{BB962C8B-B14F-4D97-AF65-F5344CB8AC3E}">
        <p14:creationId xmlns:p14="http://schemas.microsoft.com/office/powerpoint/2010/main" val="2083626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2" name="Title"/>
          <p:cNvSpPr>
            <a:spLocks noGrp="1"/>
          </p:cNvSpPr>
          <p:nvPr>
            <p:ph type="ctrTitle"/>
          </p:nvPr>
        </p:nvSpPr>
        <p:spPr>
          <a:xfrm>
            <a:off x="721179" y="362857"/>
            <a:ext cx="5334000" cy="1524000"/>
          </a:xfrm>
        </p:spPr>
        <p:txBody>
          <a:bodyPr vert="horz" lIns="91440" tIns="45720" rIns="91440" bIns="45720" rtlCol="0">
            <a:normAutofit/>
          </a:bodyPr>
          <a:lstStyle/>
          <a:p>
            <a:r>
              <a:rPr lang="en-US" dirty="0"/>
              <a:t>Redes </a:t>
            </a:r>
            <a:r>
              <a:rPr lang="en-US" err="1"/>
              <a:t>neuronales</a:t>
            </a:r>
            <a:r>
              <a:rPr lang="en-US" dirty="0"/>
              <a:t> </a:t>
            </a:r>
            <a:r>
              <a:rPr lang="en-US" err="1"/>
              <a:t>artificiales</a:t>
            </a:r>
            <a:endParaRPr lang="en-US"/>
          </a:p>
        </p:txBody>
      </p:sp>
      <p:pic>
        <p:nvPicPr>
          <p:cNvPr id="22" name="Picture 23" descr="Chart, diagram&#10;&#10;Description automatically generated">
            <a:extLst>
              <a:ext uri="{FF2B5EF4-FFF2-40B4-BE49-F238E27FC236}">
                <a16:creationId xmlns:a16="http://schemas.microsoft.com/office/drawing/2014/main" id="{C93E99F9-30C7-E07C-AC19-6E3714BAA8D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483928" y="1767205"/>
            <a:ext cx="4708072" cy="2948033"/>
          </a:xfrm>
          <a:prstGeom prst="rect">
            <a:avLst/>
          </a:prstGeom>
        </p:spPr>
      </p:pic>
      <p:graphicFrame>
        <p:nvGraphicFramePr>
          <p:cNvPr id="6" name="Content Placeholder">
            <a:extLst>
              <a:ext uri="{FF2B5EF4-FFF2-40B4-BE49-F238E27FC236}">
                <a16:creationId xmlns:a16="http://schemas.microsoft.com/office/drawing/2014/main" id="{81C2FB28-68CB-D9F4-2FAA-DBA4C68A15C1}"/>
              </a:ext>
            </a:extLst>
          </p:cNvPr>
          <p:cNvGraphicFramePr>
            <a:graphicFrameLocks noGrp="1"/>
          </p:cNvGraphicFramePr>
          <p:nvPr>
            <p:ph idx="1"/>
          </p:nvPr>
        </p:nvGraphicFramePr>
        <p:xfrm>
          <a:off x="417286" y="1428751"/>
          <a:ext cx="6558642" cy="50255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92873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4" name="Marcador de contenido 3">
            <a:extLst>
              <a:ext uri="{FF2B5EF4-FFF2-40B4-BE49-F238E27FC236}">
                <a16:creationId xmlns:a16="http://schemas.microsoft.com/office/drawing/2014/main" id="{D2DE2778-1E27-3188-86B3-D4CCF830EA01}"/>
              </a:ext>
            </a:extLst>
          </p:cNvPr>
          <p:cNvSpPr>
            <a:spLocks noGrp="1"/>
          </p:cNvSpPr>
          <p:nvPr>
            <p:ph idx="1"/>
          </p:nvPr>
        </p:nvSpPr>
        <p:spPr>
          <a:xfrm>
            <a:off x="762000" y="2286000"/>
            <a:ext cx="5334000" cy="3810001"/>
          </a:xfrm>
        </p:spPr>
        <p:txBody>
          <a:bodyPr>
            <a:normAutofit/>
          </a:bodyPr>
          <a:lstStyle/>
          <a:p>
            <a:r>
              <a:rPr lang="es-ES" sz="2400" dirty="0"/>
              <a:t>En el contexto de las redes neuronales, red aprende reduciendo el error (“función de pérdida”) que representa la discrepancia entre las salidas de la red y las salidas esperadas. Este es un problema de optimización.</a:t>
            </a:r>
          </a:p>
          <a:p>
            <a:endParaRPr lang="es-CL" sz="2400" dirty="0"/>
          </a:p>
        </p:txBody>
      </p:sp>
      <p:sp>
        <p:nvSpPr>
          <p:cNvPr id="2" name="Title"/>
          <p:cNvSpPr>
            <a:spLocks noGrp="1"/>
          </p:cNvSpPr>
          <p:nvPr>
            <p:ph type="ctrTitle"/>
          </p:nvPr>
        </p:nvSpPr>
        <p:spPr>
          <a:xfrm>
            <a:off x="762000" y="762000"/>
            <a:ext cx="5334000" cy="1524000"/>
          </a:xfrm>
        </p:spPr>
        <p:txBody>
          <a:bodyPr>
            <a:normAutofit/>
          </a:bodyPr>
          <a:lstStyle/>
          <a:p>
            <a:r>
              <a:rPr lang="en-US" sz="3200"/>
              <a:t>Ajuste de los pesos</a:t>
            </a:r>
          </a:p>
        </p:txBody>
      </p:sp>
      <p:pic>
        <p:nvPicPr>
          <p:cNvPr id="5" name="Imagen 4">
            <a:extLst>
              <a:ext uri="{FF2B5EF4-FFF2-40B4-BE49-F238E27FC236}">
                <a16:creationId xmlns:a16="http://schemas.microsoft.com/office/drawing/2014/main" id="{1A977F9F-904D-079E-DD78-1EA47AB7EC3C}"/>
              </a:ext>
            </a:extLst>
          </p:cNvPr>
          <p:cNvPicPr>
            <a:picLocks noChangeAspect="1"/>
          </p:cNvPicPr>
          <p:nvPr/>
        </p:nvPicPr>
        <p:blipFill>
          <a:blip r:embed="rId2"/>
          <a:stretch>
            <a:fillRect/>
          </a:stretch>
        </p:blipFill>
        <p:spPr>
          <a:xfrm>
            <a:off x="6858000" y="1011555"/>
            <a:ext cx="5334000" cy="4853939"/>
          </a:xfrm>
          <a:prstGeom prst="rect">
            <a:avLst/>
          </a:prstGeom>
        </p:spPr>
      </p:pic>
    </p:spTree>
    <p:extLst>
      <p:ext uri="{BB962C8B-B14F-4D97-AF65-F5344CB8AC3E}">
        <p14:creationId xmlns:p14="http://schemas.microsoft.com/office/powerpoint/2010/main" val="4222402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8" name="Rectangle 2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1">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40" name="Freeform: Shape 33">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2700">
                <a:solidFill>
                  <a:srgbClr val="FFFFFF"/>
                </a:solidFill>
              </a:rPr>
              <a:t>Algoritmo de retropropagación</a:t>
            </a:r>
          </a:p>
        </p:txBody>
      </p:sp>
      <p:graphicFrame>
        <p:nvGraphicFramePr>
          <p:cNvPr id="6" name="Content Placeholder">
            <a:extLst>
              <a:ext uri="{FF2B5EF4-FFF2-40B4-BE49-F238E27FC236}">
                <a16:creationId xmlns:a16="http://schemas.microsoft.com/office/drawing/2014/main" id="{58E9050B-DEB8-C7E8-D297-08ED0DA57E55}"/>
              </a:ext>
            </a:extLst>
          </p:cNvPr>
          <p:cNvGraphicFramePr>
            <a:graphicFrameLocks noGrp="1"/>
          </p:cNvGraphicFramePr>
          <p:nvPr>
            <p:ph idx="1"/>
            <p:extLst>
              <p:ext uri="{D42A27DB-BD31-4B8C-83A1-F6EECF244321}">
                <p14:modId xmlns:p14="http://schemas.microsoft.com/office/powerpoint/2010/main" val="2817728766"/>
              </p:ext>
            </p:extLst>
          </p:nvPr>
        </p:nvGraphicFramePr>
        <p:xfrm>
          <a:off x="4653643" y="762000"/>
          <a:ext cx="6776357" cy="58918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0094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C75CD783-E708-4711-B23C-5B7B72A3D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5578824" cy="6028256"/>
          </a:xfrm>
          <a:custGeom>
            <a:avLst/>
            <a:gdLst>
              <a:gd name="connsiteX0" fmla="*/ 0 w 5578824"/>
              <a:gd name="connsiteY0" fmla="*/ 0 h 6028256"/>
              <a:gd name="connsiteX1" fmla="*/ 3897606 w 5578824"/>
              <a:gd name="connsiteY1" fmla="*/ 0 h 6028256"/>
              <a:gd name="connsiteX2" fmla="*/ 4274232 w 5578824"/>
              <a:gd name="connsiteY2" fmla="*/ 360545 h 6028256"/>
              <a:gd name="connsiteX3" fmla="*/ 4673934 w 5578824"/>
              <a:gd name="connsiteY3" fmla="*/ 738354 h 6028256"/>
              <a:gd name="connsiteX4" fmla="*/ 5421862 w 5578824"/>
              <a:gd name="connsiteY4" fmla="*/ 1773839 h 6028256"/>
              <a:gd name="connsiteX5" fmla="*/ 5469199 w 5578824"/>
              <a:gd name="connsiteY5" fmla="*/ 3329255 h 6028256"/>
              <a:gd name="connsiteX6" fmla="*/ 4741546 w 5578824"/>
              <a:gd name="connsiteY6" fmla="*/ 4877588 h 6028256"/>
              <a:gd name="connsiteX7" fmla="*/ 1325600 w 5578824"/>
              <a:gd name="connsiteY7" fmla="*/ 5980388 h 6028256"/>
              <a:gd name="connsiteX8" fmla="*/ 137593 w 5578824"/>
              <a:gd name="connsiteY8" fmla="*/ 5804042 h 6028256"/>
              <a:gd name="connsiteX9" fmla="*/ 0 w 5578824"/>
              <a:gd name="connsiteY9" fmla="*/ 5760161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9"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pic>
        <p:nvPicPr>
          <p:cNvPr id="3" name="Imagen 2">
            <a:extLst>
              <a:ext uri="{FF2B5EF4-FFF2-40B4-BE49-F238E27FC236}">
                <a16:creationId xmlns:a16="http://schemas.microsoft.com/office/drawing/2014/main" id="{3F4D968F-BB1A-A86C-C7CE-D50A9191BAD1}"/>
              </a:ext>
            </a:extLst>
          </p:cNvPr>
          <p:cNvPicPr>
            <a:picLocks noChangeAspect="1"/>
          </p:cNvPicPr>
          <p:nvPr/>
        </p:nvPicPr>
        <p:blipFill>
          <a:blip r:embed="rId2"/>
          <a:stretch>
            <a:fillRect/>
          </a:stretch>
        </p:blipFill>
        <p:spPr>
          <a:xfrm>
            <a:off x="752827" y="1730153"/>
            <a:ext cx="4581173" cy="4168867"/>
          </a:xfrm>
          <a:prstGeom prst="rect">
            <a:avLst/>
          </a:prstGeom>
        </p:spPr>
      </p:pic>
      <p:sp>
        <p:nvSpPr>
          <p:cNvPr id="4" name="Marcador de contenido 3">
            <a:extLst>
              <a:ext uri="{FF2B5EF4-FFF2-40B4-BE49-F238E27FC236}">
                <a16:creationId xmlns:a16="http://schemas.microsoft.com/office/drawing/2014/main" id="{D2DE2778-1E27-3188-86B3-D4CCF830EA01}"/>
              </a:ext>
            </a:extLst>
          </p:cNvPr>
          <p:cNvSpPr>
            <a:spLocks noGrp="1"/>
          </p:cNvSpPr>
          <p:nvPr>
            <p:ph idx="1"/>
          </p:nvPr>
        </p:nvSpPr>
        <p:spPr>
          <a:xfrm>
            <a:off x="6096000" y="2286000"/>
            <a:ext cx="5334000" cy="3810001"/>
          </a:xfrm>
        </p:spPr>
        <p:txBody>
          <a:bodyPr>
            <a:normAutofit/>
          </a:bodyPr>
          <a:lstStyle/>
          <a:p>
            <a:pPr>
              <a:lnSpc>
                <a:spcPct val="115000"/>
              </a:lnSpc>
            </a:pPr>
            <a:r>
              <a:rPr lang="es-ES" sz="1700"/>
              <a:t>La regla de la cadena es un concepto fundamental en cálculo que se utiliza en diversos campos, incluida la optimización de redes neuronales mediante retropropagación. </a:t>
            </a:r>
          </a:p>
          <a:p>
            <a:pPr>
              <a:lnSpc>
                <a:spcPct val="115000"/>
              </a:lnSpc>
            </a:pPr>
            <a:r>
              <a:rPr lang="es-ES" sz="1700"/>
              <a:t>La función de pérdida (o error) de la red es típicamente una función compuesta de varias capas (cada capa es una función simple), por lo que la regla de la cadena permite descomponer y calcular cómo pequeños cambios en los pesos afectan el error final. Esto es clave para ajustar los pesos y mejorar el rendimiento de la red mediante optimización.</a:t>
            </a:r>
          </a:p>
        </p:txBody>
      </p:sp>
      <p:sp>
        <p:nvSpPr>
          <p:cNvPr id="2" name="Title"/>
          <p:cNvSpPr>
            <a:spLocks noGrp="1"/>
          </p:cNvSpPr>
          <p:nvPr>
            <p:ph type="ctrTitle"/>
          </p:nvPr>
        </p:nvSpPr>
        <p:spPr>
          <a:xfrm>
            <a:off x="6096000" y="762000"/>
            <a:ext cx="5334000" cy="1524000"/>
          </a:xfrm>
        </p:spPr>
        <p:txBody>
          <a:bodyPr>
            <a:normAutofit/>
          </a:bodyPr>
          <a:lstStyle/>
          <a:p>
            <a:r>
              <a:rPr lang="en-US" sz="3200"/>
              <a:t>Algoritmo de retropropagación</a:t>
            </a:r>
          </a:p>
        </p:txBody>
      </p:sp>
    </p:spTree>
    <p:extLst>
      <p:ext uri="{BB962C8B-B14F-4D97-AF65-F5344CB8AC3E}">
        <p14:creationId xmlns:p14="http://schemas.microsoft.com/office/powerpoint/2010/main" val="3461998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55" name="Freeform: Shape 2054">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057" name="Freeform: Shape 2056">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2059" name="Freeform: Shape 2058">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2061" name="Rectangle 2060">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063" name="Freeform: Shape 2062">
            <a:extLst>
              <a:ext uri="{FF2B5EF4-FFF2-40B4-BE49-F238E27FC236}">
                <a16:creationId xmlns:a16="http://schemas.microsoft.com/office/drawing/2014/main" id="{BFC5A2D8-56E8-47FB-975D-D777AFEA4F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4728" y="3"/>
            <a:ext cx="6927272" cy="5330949"/>
          </a:xfrm>
          <a:custGeom>
            <a:avLst/>
            <a:gdLst>
              <a:gd name="connsiteX0" fmla="*/ 0 w 6927272"/>
              <a:gd name="connsiteY0" fmla="*/ 0 h 5330949"/>
              <a:gd name="connsiteX1" fmla="*/ 6927272 w 6927272"/>
              <a:gd name="connsiteY1" fmla="*/ 0 h 5330949"/>
              <a:gd name="connsiteX2" fmla="*/ 6927272 w 6927272"/>
              <a:gd name="connsiteY2" fmla="*/ 3912793 h 5330949"/>
              <a:gd name="connsiteX3" fmla="*/ 6884989 w 6927272"/>
              <a:gd name="connsiteY3" fmla="*/ 4002742 h 5330949"/>
              <a:gd name="connsiteX4" fmla="*/ 6592028 w 6927272"/>
              <a:gd name="connsiteY4" fmla="*/ 4494163 h 5330949"/>
              <a:gd name="connsiteX5" fmla="*/ 3742808 w 6927272"/>
              <a:gd name="connsiteY5" fmla="*/ 5122218 h 5330949"/>
              <a:gd name="connsiteX6" fmla="*/ 326623 w 6927272"/>
              <a:gd name="connsiteY6" fmla="*/ 2148182 h 5330949"/>
              <a:gd name="connsiteX7" fmla="*/ 13721 w 6927272"/>
              <a:gd name="connsiteY7" fmla="*/ 201231 h 5330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7272" h="5330949">
                <a:moveTo>
                  <a:pt x="0" y="0"/>
                </a:moveTo>
                <a:lnTo>
                  <a:pt x="6927272" y="0"/>
                </a:lnTo>
                <a:lnTo>
                  <a:pt x="6927272" y="3912793"/>
                </a:lnTo>
                <a:lnTo>
                  <a:pt x="6884989" y="4002742"/>
                </a:lnTo>
                <a:cubicBezTo>
                  <a:pt x="6799406" y="4174873"/>
                  <a:pt x="6702812" y="4339578"/>
                  <a:pt x="6592028" y="4494163"/>
                </a:cubicBezTo>
                <a:cubicBezTo>
                  <a:pt x="5802121" y="5596640"/>
                  <a:pt x="4821632" y="5380883"/>
                  <a:pt x="3742808" y="5122218"/>
                </a:cubicBezTo>
                <a:cubicBezTo>
                  <a:pt x="2131653" y="4735722"/>
                  <a:pt x="759367" y="4191689"/>
                  <a:pt x="326623" y="2148182"/>
                </a:cubicBezTo>
                <a:cubicBezTo>
                  <a:pt x="186907" y="1488770"/>
                  <a:pt x="67840" y="834043"/>
                  <a:pt x="13721" y="201231"/>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Freeform: Shape 2064">
            <a:extLst>
              <a:ext uri="{FF2B5EF4-FFF2-40B4-BE49-F238E27FC236}">
                <a16:creationId xmlns:a16="http://schemas.microsoft.com/office/drawing/2014/main" id="{A9896C11-F8DF-437A-B349-8AFD602D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791199" y="-1219198"/>
            <a:ext cx="5181601" cy="7620000"/>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636167" y="401763"/>
            <a:ext cx="3866561" cy="1285147"/>
          </a:xfrm>
        </p:spPr>
        <p:txBody>
          <a:bodyPr vert="horz" lIns="91440" tIns="45720" rIns="91440" bIns="45720" rtlCol="0" anchor="b">
            <a:noAutofit/>
          </a:bodyPr>
          <a:lstStyle/>
          <a:p>
            <a:r>
              <a:rPr lang="en-US" sz="2800" kern="1200" dirty="0" err="1">
                <a:solidFill>
                  <a:schemeClr val="tx1"/>
                </a:solidFill>
                <a:latin typeface="+mj-lt"/>
                <a:ea typeface="+mj-ea"/>
                <a:cs typeface="+mj-cs"/>
              </a:rPr>
              <a:t>Retropropagación</a:t>
            </a:r>
            <a:r>
              <a:rPr lang="en-US" sz="2800" kern="1200" dirty="0">
                <a:solidFill>
                  <a:schemeClr val="tx1"/>
                </a:solidFill>
                <a:latin typeface="+mj-lt"/>
                <a:ea typeface="+mj-ea"/>
                <a:cs typeface="+mj-cs"/>
              </a:rPr>
              <a:t> (backpropagation </a:t>
            </a:r>
            <a:r>
              <a:rPr lang="en-US" sz="2800" kern="1200" dirty="0" err="1">
                <a:solidFill>
                  <a:schemeClr val="tx1"/>
                </a:solidFill>
                <a:latin typeface="+mj-lt"/>
                <a:ea typeface="+mj-ea"/>
                <a:cs typeface="+mj-cs"/>
              </a:rPr>
              <a:t>en</a:t>
            </a:r>
            <a:r>
              <a:rPr lang="en-US" sz="2800" kern="1200" dirty="0">
                <a:solidFill>
                  <a:schemeClr val="tx1"/>
                </a:solidFill>
                <a:latin typeface="+mj-lt"/>
                <a:ea typeface="+mj-ea"/>
                <a:cs typeface="+mj-cs"/>
              </a:rPr>
              <a:t> </a:t>
            </a:r>
            <a:r>
              <a:rPr lang="en-US" sz="2800" kern="1200" dirty="0" err="1">
                <a:solidFill>
                  <a:schemeClr val="tx1"/>
                </a:solidFill>
                <a:latin typeface="+mj-lt"/>
                <a:ea typeface="+mj-ea"/>
                <a:cs typeface="+mj-cs"/>
              </a:rPr>
              <a:t>una</a:t>
            </a:r>
            <a:r>
              <a:rPr lang="en-US" sz="2800" kern="1200" dirty="0">
                <a:solidFill>
                  <a:schemeClr val="tx1"/>
                </a:solidFill>
                <a:latin typeface="+mj-lt"/>
                <a:ea typeface="+mj-ea"/>
                <a:cs typeface="+mj-cs"/>
              </a:rPr>
              <a:t> deep ANN)</a:t>
            </a:r>
          </a:p>
        </p:txBody>
      </p:sp>
      <p:pic>
        <p:nvPicPr>
          <p:cNvPr id="2050" name="Picture 2" descr="Gráfico&#10;&#10;Descripción generada automáticamente">
            <a:extLst>
              <a:ext uri="{FF2B5EF4-FFF2-40B4-BE49-F238E27FC236}">
                <a16:creationId xmlns:a16="http://schemas.microsoft.com/office/drawing/2014/main" id="{A6667F05-1B6B-AC2C-C899-B3F283A29F8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1179640"/>
            <a:ext cx="5334000" cy="4479192"/>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3">
            <a:extLst>
              <a:ext uri="{FF2B5EF4-FFF2-40B4-BE49-F238E27FC236}">
                <a16:creationId xmlns:a16="http://schemas.microsoft.com/office/drawing/2014/main" id="{D2DE2778-1E27-3188-86B3-D4CCF830EA01}"/>
              </a:ext>
            </a:extLst>
          </p:cNvPr>
          <p:cNvSpPr>
            <a:spLocks noGrp="1"/>
          </p:cNvSpPr>
          <p:nvPr>
            <p:ph idx="1"/>
          </p:nvPr>
        </p:nvSpPr>
        <p:spPr>
          <a:xfrm>
            <a:off x="636167" y="1900543"/>
            <a:ext cx="4516822" cy="4743823"/>
          </a:xfrm>
        </p:spPr>
        <p:txBody>
          <a:bodyPr>
            <a:normAutofit fontScale="62500" lnSpcReduction="20000"/>
          </a:bodyPr>
          <a:lstStyle/>
          <a:p>
            <a:r>
              <a:rPr lang="es-ES" sz="2900" dirty="0"/>
              <a:t>La idea básica detrás de la </a:t>
            </a:r>
            <a:r>
              <a:rPr lang="es-ES" sz="2900" dirty="0" err="1"/>
              <a:t>retropropagación</a:t>
            </a:r>
            <a:r>
              <a:rPr lang="es-ES" sz="2900" dirty="0"/>
              <a:t> es propagar el error desde la capa de salida de la red hacia atrás, calculando las contribuciones de cada peso en el error de salida. Esto se hace mediante la aplicación sucesiva de la regla de la cadena para calcular las derivadas parciales de la función de pérdida con respecto a cada peso en la red. Luego, estos gradientes se utilizan para ajustar los pesos de manera que la función de pérdida se minimice, utilizando algoritmos de optimización como el descenso de gradiente.</a:t>
            </a:r>
          </a:p>
          <a:p>
            <a:endParaRPr lang="es-CL" dirty="0"/>
          </a:p>
        </p:txBody>
      </p:sp>
    </p:spTree>
    <p:extLst>
      <p:ext uri="{BB962C8B-B14F-4D97-AF65-F5344CB8AC3E}">
        <p14:creationId xmlns:p14="http://schemas.microsoft.com/office/powerpoint/2010/main" val="2301503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3F3A0F6C-EB8F-4A4C-8258-23F6D815E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8352" cy="6438900"/>
          </a:xfrm>
          <a:custGeom>
            <a:avLst/>
            <a:gdLst>
              <a:gd name="connsiteX0" fmla="*/ 0 w 12198352"/>
              <a:gd name="connsiteY0" fmla="*/ 0 h 6438900"/>
              <a:gd name="connsiteX1" fmla="*/ 12198352 w 12198352"/>
              <a:gd name="connsiteY1" fmla="*/ 0 h 6438900"/>
              <a:gd name="connsiteX2" fmla="*/ 12198352 w 12198352"/>
              <a:gd name="connsiteY2" fmla="*/ 5644414 h 6438900"/>
              <a:gd name="connsiteX3" fmla="*/ 12042486 w 12198352"/>
              <a:gd name="connsiteY3" fmla="*/ 5750064 h 6438900"/>
              <a:gd name="connsiteX4" fmla="*/ 9483672 w 12198352"/>
              <a:gd name="connsiteY4" fmla="*/ 6432438 h 6438900"/>
              <a:gd name="connsiteX5" fmla="*/ 8500895 w 12198352"/>
              <a:gd name="connsiteY5" fmla="*/ 6437925 h 6438900"/>
              <a:gd name="connsiteX6" fmla="*/ 1629409 w 12198352"/>
              <a:gd name="connsiteY6" fmla="*/ 5170893 h 6438900"/>
              <a:gd name="connsiteX7" fmla="*/ 433424 w 12198352"/>
              <a:gd name="connsiteY7" fmla="*/ 4633819 h 6438900"/>
              <a:gd name="connsiteX8" fmla="*/ 0 w 12198352"/>
              <a:gd name="connsiteY8" fmla="*/ 4450771 h 643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8352" h="6438900">
                <a:moveTo>
                  <a:pt x="0" y="0"/>
                </a:moveTo>
                <a:lnTo>
                  <a:pt x="12198352" y="0"/>
                </a:lnTo>
                <a:lnTo>
                  <a:pt x="12198352" y="5644414"/>
                </a:lnTo>
                <a:lnTo>
                  <a:pt x="12042486" y="5750064"/>
                </a:lnTo>
                <a:cubicBezTo>
                  <a:pt x="11268689" y="6237466"/>
                  <a:pt x="10357585" y="6417714"/>
                  <a:pt x="9483672" y="6432438"/>
                </a:cubicBezTo>
                <a:cubicBezTo>
                  <a:pt x="9158751" y="6438062"/>
                  <a:pt x="8830819" y="6440385"/>
                  <a:pt x="8500895" y="6437925"/>
                </a:cubicBezTo>
                <a:cubicBezTo>
                  <a:pt x="6191416" y="6420695"/>
                  <a:pt x="3784289" y="6168856"/>
                  <a:pt x="1629409" y="5170893"/>
                </a:cubicBezTo>
                <a:cubicBezTo>
                  <a:pt x="1229906" y="4985892"/>
                  <a:pt x="831404" y="4807078"/>
                  <a:pt x="433424" y="4633819"/>
                </a:cubicBezTo>
                <a:lnTo>
                  <a:pt x="0" y="445077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solidFill>
                <a:prstClr val="white"/>
              </a:solidFill>
              <a:latin typeface="Avenir Next LT Pro" panose="020B0504020202020204" pitchFamily="34" charset="0"/>
            </a:endParaRPr>
          </a:p>
        </p:txBody>
      </p:sp>
      <p:sp>
        <p:nvSpPr>
          <p:cNvPr id="25" name="Freeform: Shape 24">
            <a:extLst>
              <a:ext uri="{FF2B5EF4-FFF2-40B4-BE49-F238E27FC236}">
                <a16:creationId xmlns:a16="http://schemas.microsoft.com/office/drawing/2014/main" id="{6A9C92F4-A4A4-42E0-9391-C666AAED1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817925">
            <a:off x="2322363" y="-118377"/>
            <a:ext cx="7900749" cy="9821966"/>
          </a:xfrm>
          <a:custGeom>
            <a:avLst/>
            <a:gdLst>
              <a:gd name="connsiteX0" fmla="*/ 589029 w 7858893"/>
              <a:gd name="connsiteY0" fmla="*/ 9827096 h 9827096"/>
              <a:gd name="connsiteX1" fmla="*/ 0 w 7858893"/>
              <a:gd name="connsiteY1" fmla="*/ 9338053 h 9827096"/>
              <a:gd name="connsiteX2" fmla="*/ 50440 w 7858893"/>
              <a:gd name="connsiteY2" fmla="*/ 9011561 h 9827096"/>
              <a:gd name="connsiteX3" fmla="*/ 398242 w 7858893"/>
              <a:gd name="connsiteY3" fmla="*/ 7620242 h 9827096"/>
              <a:gd name="connsiteX4" fmla="*/ 6756719 w 7858893"/>
              <a:gd name="connsiteY4" fmla="*/ 593416 h 9827096"/>
              <a:gd name="connsiteX5" fmla="*/ 7642630 w 7858893"/>
              <a:gd name="connsiteY5" fmla="*/ 111525 h 9827096"/>
              <a:gd name="connsiteX6" fmla="*/ 7858893 w 7858893"/>
              <a:gd name="connsiteY6" fmla="*/ 0 h 9827096"/>
              <a:gd name="connsiteX0" fmla="*/ 589029 w 8190490"/>
              <a:gd name="connsiteY0" fmla="*/ 9787128 h 9787128"/>
              <a:gd name="connsiteX1" fmla="*/ 0 w 8190490"/>
              <a:gd name="connsiteY1" fmla="*/ 9298085 h 9787128"/>
              <a:gd name="connsiteX2" fmla="*/ 50440 w 8190490"/>
              <a:gd name="connsiteY2" fmla="*/ 8971593 h 9787128"/>
              <a:gd name="connsiteX3" fmla="*/ 398242 w 8190490"/>
              <a:gd name="connsiteY3" fmla="*/ 7580274 h 9787128"/>
              <a:gd name="connsiteX4" fmla="*/ 6756719 w 8190490"/>
              <a:gd name="connsiteY4" fmla="*/ 553448 h 9787128"/>
              <a:gd name="connsiteX5" fmla="*/ 7642630 w 8190490"/>
              <a:gd name="connsiteY5" fmla="*/ 71557 h 9787128"/>
              <a:gd name="connsiteX6" fmla="*/ 8190490 w 8190490"/>
              <a:gd name="connsiteY6" fmla="*/ 0 h 9787128"/>
              <a:gd name="connsiteX7" fmla="*/ 589029 w 8190490"/>
              <a:gd name="connsiteY7" fmla="*/ 9787128 h 9787128"/>
              <a:gd name="connsiteX0" fmla="*/ 589029 w 8281930"/>
              <a:gd name="connsiteY0" fmla="*/ 9722690 h 9722690"/>
              <a:gd name="connsiteX1" fmla="*/ 0 w 8281930"/>
              <a:gd name="connsiteY1" fmla="*/ 9233647 h 9722690"/>
              <a:gd name="connsiteX2" fmla="*/ 50440 w 8281930"/>
              <a:gd name="connsiteY2" fmla="*/ 8907155 h 9722690"/>
              <a:gd name="connsiteX3" fmla="*/ 398242 w 8281930"/>
              <a:gd name="connsiteY3" fmla="*/ 7515836 h 9722690"/>
              <a:gd name="connsiteX4" fmla="*/ 6756719 w 8281930"/>
              <a:gd name="connsiteY4" fmla="*/ 489010 h 9722690"/>
              <a:gd name="connsiteX5" fmla="*/ 7642630 w 8281930"/>
              <a:gd name="connsiteY5" fmla="*/ 7119 h 9722690"/>
              <a:gd name="connsiteX6" fmla="*/ 8281930 w 8281930"/>
              <a:gd name="connsiteY6" fmla="*/ 27002 h 9722690"/>
              <a:gd name="connsiteX0" fmla="*/ 589029 w 7911958"/>
              <a:gd name="connsiteY0" fmla="*/ 9802819 h 9802819"/>
              <a:gd name="connsiteX1" fmla="*/ 0 w 7911958"/>
              <a:gd name="connsiteY1" fmla="*/ 9313776 h 9802819"/>
              <a:gd name="connsiteX2" fmla="*/ 50440 w 7911958"/>
              <a:gd name="connsiteY2" fmla="*/ 8987284 h 9802819"/>
              <a:gd name="connsiteX3" fmla="*/ 398242 w 7911958"/>
              <a:gd name="connsiteY3" fmla="*/ 7595965 h 9802819"/>
              <a:gd name="connsiteX4" fmla="*/ 6756719 w 7911958"/>
              <a:gd name="connsiteY4" fmla="*/ 569139 h 9802819"/>
              <a:gd name="connsiteX5" fmla="*/ 7642630 w 7911958"/>
              <a:gd name="connsiteY5" fmla="*/ 87248 h 9802819"/>
              <a:gd name="connsiteX6" fmla="*/ 7911958 w 7911958"/>
              <a:gd name="connsiteY6" fmla="*/ 0 h 9802819"/>
              <a:gd name="connsiteX0" fmla="*/ 589029 w 7642630"/>
              <a:gd name="connsiteY0" fmla="*/ 9715571 h 9715571"/>
              <a:gd name="connsiteX1" fmla="*/ 0 w 7642630"/>
              <a:gd name="connsiteY1" fmla="*/ 9226528 h 9715571"/>
              <a:gd name="connsiteX2" fmla="*/ 50440 w 7642630"/>
              <a:gd name="connsiteY2" fmla="*/ 8900036 h 9715571"/>
              <a:gd name="connsiteX3" fmla="*/ 398242 w 7642630"/>
              <a:gd name="connsiteY3" fmla="*/ 7508717 h 9715571"/>
              <a:gd name="connsiteX4" fmla="*/ 6756719 w 7642630"/>
              <a:gd name="connsiteY4" fmla="*/ 481891 h 9715571"/>
              <a:gd name="connsiteX5" fmla="*/ 7642630 w 7642630"/>
              <a:gd name="connsiteY5" fmla="*/ 0 h 9715571"/>
              <a:gd name="connsiteX0" fmla="*/ 589029 w 7900749"/>
              <a:gd name="connsiteY0" fmla="*/ 9821966 h 9821966"/>
              <a:gd name="connsiteX1" fmla="*/ 0 w 7900749"/>
              <a:gd name="connsiteY1" fmla="*/ 9332923 h 9821966"/>
              <a:gd name="connsiteX2" fmla="*/ 50440 w 7900749"/>
              <a:gd name="connsiteY2" fmla="*/ 9006431 h 9821966"/>
              <a:gd name="connsiteX3" fmla="*/ 398242 w 7900749"/>
              <a:gd name="connsiteY3" fmla="*/ 7615112 h 9821966"/>
              <a:gd name="connsiteX4" fmla="*/ 6756719 w 7900749"/>
              <a:gd name="connsiteY4" fmla="*/ 588286 h 9821966"/>
              <a:gd name="connsiteX5" fmla="*/ 7900749 w 7900749"/>
              <a:gd name="connsiteY5" fmla="*/ 0 h 98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00749" h="9821966">
                <a:moveTo>
                  <a:pt x="589029" y="9821966"/>
                </a:moveTo>
                <a:lnTo>
                  <a:pt x="0" y="9332923"/>
                </a:lnTo>
                <a:lnTo>
                  <a:pt x="50440" y="9006431"/>
                </a:lnTo>
                <a:cubicBezTo>
                  <a:pt x="119970" y="8604142"/>
                  <a:pt x="221982" y="8158814"/>
                  <a:pt x="398242" y="7615112"/>
                </a:cubicBezTo>
                <a:cubicBezTo>
                  <a:pt x="1372817" y="4608865"/>
                  <a:pt x="3887952" y="2237199"/>
                  <a:pt x="6756719" y="588286"/>
                </a:cubicBezTo>
                <a:cubicBezTo>
                  <a:pt x="6992735" y="452730"/>
                  <a:pt x="7549593" y="182994"/>
                  <a:pt x="7900749"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18751" y="762000"/>
            <a:ext cx="3598808" cy="2286000"/>
          </a:xfrm>
        </p:spPr>
        <p:txBody>
          <a:bodyPr anchor="t">
            <a:normAutofit/>
          </a:bodyPr>
          <a:lstStyle/>
          <a:p>
            <a:r>
              <a:rPr lang="en-US" sz="3200">
                <a:solidFill>
                  <a:srgbClr val="FFFFFF"/>
                </a:solidFill>
              </a:rPr>
              <a:t>Áreas de aplicación más exitosas</a:t>
            </a:r>
          </a:p>
        </p:txBody>
      </p:sp>
      <p:graphicFrame>
        <p:nvGraphicFramePr>
          <p:cNvPr id="6" name="Content Placeholder">
            <a:extLst>
              <a:ext uri="{FF2B5EF4-FFF2-40B4-BE49-F238E27FC236}">
                <a16:creationId xmlns:a16="http://schemas.microsoft.com/office/drawing/2014/main" id="{2144554D-9243-E4E1-E38D-7C4EBC038828}"/>
              </a:ext>
            </a:extLst>
          </p:cNvPr>
          <p:cNvGraphicFramePr>
            <a:graphicFrameLocks noGrp="1"/>
          </p:cNvGraphicFramePr>
          <p:nvPr>
            <p:ph idx="1"/>
            <p:extLst>
              <p:ext uri="{D42A27DB-BD31-4B8C-83A1-F6EECF244321}">
                <p14:modId xmlns:p14="http://schemas.microsoft.com/office/powerpoint/2010/main" val="2087355043"/>
              </p:ext>
            </p:extLst>
          </p:nvPr>
        </p:nvGraphicFramePr>
        <p:xfrm>
          <a:off x="3921903" y="766398"/>
          <a:ext cx="7508097" cy="53935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B77F4943-435F-823C-58F7-D10A4A7C12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1706" y="2375553"/>
            <a:ext cx="2958492" cy="2978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3032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2" name="Title"/>
          <p:cNvSpPr>
            <a:spLocks noGrp="1"/>
          </p:cNvSpPr>
          <p:nvPr>
            <p:ph type="ctrTitle"/>
          </p:nvPr>
        </p:nvSpPr>
        <p:spPr>
          <a:xfrm>
            <a:off x="719371" y="191832"/>
            <a:ext cx="5334000" cy="1524000"/>
          </a:xfrm>
        </p:spPr>
        <p:txBody>
          <a:bodyPr>
            <a:normAutofit/>
          </a:bodyPr>
          <a:lstStyle/>
          <a:p>
            <a:r>
              <a:rPr lang="en-US" sz="3200"/>
              <a:t>Redes neuronales recurrentes</a:t>
            </a:r>
          </a:p>
        </p:txBody>
      </p:sp>
      <p:pic>
        <p:nvPicPr>
          <p:cNvPr id="28" name="Picture 28">
            <a:extLst>
              <a:ext uri="{FF2B5EF4-FFF2-40B4-BE49-F238E27FC236}">
                <a16:creationId xmlns:a16="http://schemas.microsoft.com/office/drawing/2014/main" id="{EE0DA69C-699D-E335-FD6E-0D42E5BF1A4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667958" y="1151636"/>
            <a:ext cx="4444112" cy="1936084"/>
          </a:xfrm>
          <a:prstGeom prst="rect">
            <a:avLst/>
          </a:prstGeom>
        </p:spPr>
      </p:pic>
      <p:graphicFrame>
        <p:nvGraphicFramePr>
          <p:cNvPr id="6" name="Content Placeholder">
            <a:extLst>
              <a:ext uri="{FF2B5EF4-FFF2-40B4-BE49-F238E27FC236}">
                <a16:creationId xmlns:a16="http://schemas.microsoft.com/office/drawing/2014/main" id="{588C015F-0802-D279-DF02-D9AFF752A10A}"/>
              </a:ext>
            </a:extLst>
          </p:cNvPr>
          <p:cNvGraphicFramePr>
            <a:graphicFrameLocks noGrp="1"/>
          </p:cNvGraphicFramePr>
          <p:nvPr>
            <p:ph idx="1"/>
            <p:extLst>
              <p:ext uri="{D42A27DB-BD31-4B8C-83A1-F6EECF244321}">
                <p14:modId xmlns:p14="http://schemas.microsoft.com/office/powerpoint/2010/main" val="2885739093"/>
              </p:ext>
            </p:extLst>
          </p:nvPr>
        </p:nvGraphicFramePr>
        <p:xfrm>
          <a:off x="678335" y="1635902"/>
          <a:ext cx="5872194" cy="44600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47453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Fondo con diseño tecnológico">
            <a:extLst>
              <a:ext uri="{FF2B5EF4-FFF2-40B4-BE49-F238E27FC236}">
                <a16:creationId xmlns:a16="http://schemas.microsoft.com/office/drawing/2014/main" id="{6C0339B7-385A-6A78-BDB1-2A88556F61E7}"/>
              </a:ext>
            </a:extLst>
          </p:cNvPr>
          <p:cNvPicPr>
            <a:picLocks noChangeAspect="1"/>
          </p:cNvPicPr>
          <p:nvPr/>
        </p:nvPicPr>
        <p:blipFill rotWithShape="1">
          <a:blip r:embed="rId2"/>
          <a:srcRect l="12266" r="25961" b="1"/>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9" name="Freeform: Shape 18">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Content Placeholder"/>
          <p:cNvSpPr>
            <a:spLocks noGrp="1"/>
          </p:cNvSpPr>
          <p:nvPr>
            <p:ph idx="1"/>
          </p:nvPr>
        </p:nvSpPr>
        <p:spPr>
          <a:xfrm>
            <a:off x="5636172" y="311369"/>
            <a:ext cx="6120962" cy="3695023"/>
          </a:xfrm>
        </p:spPr>
        <p:txBody>
          <a:bodyPr>
            <a:normAutofit lnSpcReduction="10000"/>
          </a:bodyPr>
          <a:lstStyle/>
          <a:p>
            <a:r>
              <a:rPr lang="es-ES" sz="2000" dirty="0"/>
              <a:t>El problema de la fuga de gradiente en las redes neuronales recurrentes (</a:t>
            </a:r>
            <a:r>
              <a:rPr lang="es-ES" sz="2000" dirty="0" err="1"/>
              <a:t>RNNs</a:t>
            </a:r>
            <a:r>
              <a:rPr lang="es-ES" sz="2000" dirty="0"/>
              <a:t>) se refiere a la dificultad que enfrentan estas redes al propagar y actualizar los gradientes a través del tiempo durante el entrenamiento. En una RNN, las conexiones retroalimentadas permiten que la red recuerde información de pasos de tiempo anteriores, lo que es crucial para tareas como el procesamiento de secuencias o la predicción de series temporales.</a:t>
            </a:r>
          </a:p>
        </p:txBody>
      </p:sp>
      <p:sp>
        <p:nvSpPr>
          <p:cNvPr id="2" name="Title"/>
          <p:cNvSpPr>
            <a:spLocks noGrp="1"/>
          </p:cNvSpPr>
          <p:nvPr>
            <p:ph type="ctrTitle"/>
          </p:nvPr>
        </p:nvSpPr>
        <p:spPr>
          <a:xfrm>
            <a:off x="85397" y="706820"/>
            <a:ext cx="5334000" cy="1524000"/>
          </a:xfrm>
        </p:spPr>
        <p:txBody>
          <a:bodyPr>
            <a:normAutofit/>
          </a:bodyPr>
          <a:lstStyle/>
          <a:p>
            <a:r>
              <a:rPr lang="en-US" sz="3200"/>
              <a:t>Dificultades que enfrentan </a:t>
            </a:r>
            <a:r>
              <a:rPr lang="en-US" sz="3200" dirty="0"/>
              <a:t>las RNN </a:t>
            </a:r>
            <a:r>
              <a:rPr lang="en-US" sz="3200"/>
              <a:t>al procesar el lenguaje </a:t>
            </a:r>
            <a:r>
              <a:rPr lang="en-US" sz="3200" dirty="0"/>
              <a:t>natural</a:t>
            </a:r>
          </a:p>
        </p:txBody>
      </p:sp>
      <p:pic>
        <p:nvPicPr>
          <p:cNvPr id="4" name="Picture 28">
            <a:extLst>
              <a:ext uri="{FF2B5EF4-FFF2-40B4-BE49-F238E27FC236}">
                <a16:creationId xmlns:a16="http://schemas.microsoft.com/office/drawing/2014/main" id="{98AF5C90-C563-19A8-22D2-FF8029D727C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022980" y="4248341"/>
            <a:ext cx="4444112" cy="1936084"/>
          </a:xfrm>
          <a:prstGeom prst="rect">
            <a:avLst/>
          </a:prstGeom>
        </p:spPr>
      </p:pic>
    </p:spTree>
    <p:extLst>
      <p:ext uri="{BB962C8B-B14F-4D97-AF65-F5344CB8AC3E}">
        <p14:creationId xmlns:p14="http://schemas.microsoft.com/office/powerpoint/2010/main" val="958255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Fondo con diseño tecnológico">
            <a:extLst>
              <a:ext uri="{FF2B5EF4-FFF2-40B4-BE49-F238E27FC236}">
                <a16:creationId xmlns:a16="http://schemas.microsoft.com/office/drawing/2014/main" id="{6C0339B7-385A-6A78-BDB1-2A88556F61E7}"/>
              </a:ext>
            </a:extLst>
          </p:cNvPr>
          <p:cNvPicPr>
            <a:picLocks noChangeAspect="1"/>
          </p:cNvPicPr>
          <p:nvPr/>
        </p:nvPicPr>
        <p:blipFill rotWithShape="1">
          <a:blip r:embed="rId2"/>
          <a:srcRect l="12266" r="25961" b="1"/>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9" name="Freeform: Shape 18">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Content Placeholder"/>
          <p:cNvSpPr>
            <a:spLocks noGrp="1"/>
          </p:cNvSpPr>
          <p:nvPr>
            <p:ph idx="1"/>
          </p:nvPr>
        </p:nvSpPr>
        <p:spPr>
          <a:xfrm>
            <a:off x="5636172" y="311370"/>
            <a:ext cx="6120962" cy="3511200"/>
          </a:xfrm>
        </p:spPr>
        <p:txBody>
          <a:bodyPr>
            <a:normAutofit/>
          </a:bodyPr>
          <a:lstStyle/>
          <a:p>
            <a:r>
              <a:rPr lang="es-ES" sz="2000" dirty="0"/>
              <a:t>Sin embargo, debido a la naturaleza de la retroalimentación en las </a:t>
            </a:r>
            <a:r>
              <a:rPr lang="es-ES" sz="2000" dirty="0" err="1"/>
              <a:t>RNNs</a:t>
            </a:r>
            <a:r>
              <a:rPr lang="es-ES" sz="2000" dirty="0"/>
              <a:t>, los gradientes pueden desvanecerse (cuando se vuelven muy pequeños) o explotar (cuando se vuelven muy grandes) a medida que se propagan hacia atrás en el tiempo durante el entrenamiento. Este fenómeno se conoce como el problema de la fuga de gradiente.</a:t>
            </a:r>
          </a:p>
        </p:txBody>
      </p:sp>
      <p:sp>
        <p:nvSpPr>
          <p:cNvPr id="2" name="Title"/>
          <p:cNvSpPr>
            <a:spLocks noGrp="1"/>
          </p:cNvSpPr>
          <p:nvPr>
            <p:ph type="ctrTitle"/>
          </p:nvPr>
        </p:nvSpPr>
        <p:spPr>
          <a:xfrm>
            <a:off x="85397" y="706820"/>
            <a:ext cx="5334000" cy="1524000"/>
          </a:xfrm>
        </p:spPr>
        <p:txBody>
          <a:bodyPr>
            <a:normAutofit/>
          </a:bodyPr>
          <a:lstStyle/>
          <a:p>
            <a:r>
              <a:rPr lang="en-US" sz="3200"/>
              <a:t>Dificultades que enfrentan </a:t>
            </a:r>
            <a:r>
              <a:rPr lang="en-US" sz="3200" dirty="0"/>
              <a:t>las RNN </a:t>
            </a:r>
            <a:r>
              <a:rPr lang="en-US" sz="3200"/>
              <a:t>al procesar el lenguaje </a:t>
            </a:r>
            <a:r>
              <a:rPr lang="en-US" sz="3200" dirty="0"/>
              <a:t>natural</a:t>
            </a:r>
          </a:p>
        </p:txBody>
      </p:sp>
      <p:pic>
        <p:nvPicPr>
          <p:cNvPr id="4" name="Picture 28">
            <a:extLst>
              <a:ext uri="{FF2B5EF4-FFF2-40B4-BE49-F238E27FC236}">
                <a16:creationId xmlns:a16="http://schemas.microsoft.com/office/drawing/2014/main" id="{B4AA5FAF-43FD-F8EC-C7C2-8DC6D815141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022980" y="4248341"/>
            <a:ext cx="4444112" cy="1936084"/>
          </a:xfrm>
          <a:prstGeom prst="rect">
            <a:avLst/>
          </a:prstGeom>
        </p:spPr>
      </p:pic>
    </p:spTree>
    <p:extLst>
      <p:ext uri="{BB962C8B-B14F-4D97-AF65-F5344CB8AC3E}">
        <p14:creationId xmlns:p14="http://schemas.microsoft.com/office/powerpoint/2010/main" val="1466396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Fondo con diseño tecnológico">
            <a:extLst>
              <a:ext uri="{FF2B5EF4-FFF2-40B4-BE49-F238E27FC236}">
                <a16:creationId xmlns:a16="http://schemas.microsoft.com/office/drawing/2014/main" id="{6C0339B7-385A-6A78-BDB1-2A88556F61E7}"/>
              </a:ext>
            </a:extLst>
          </p:cNvPr>
          <p:cNvPicPr>
            <a:picLocks noChangeAspect="1"/>
          </p:cNvPicPr>
          <p:nvPr/>
        </p:nvPicPr>
        <p:blipFill rotWithShape="1">
          <a:blip r:embed="rId2"/>
          <a:srcRect l="12266" r="25961" b="1"/>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9" name="Freeform: Shape 18">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Content Placeholder"/>
          <p:cNvSpPr>
            <a:spLocks noGrp="1"/>
          </p:cNvSpPr>
          <p:nvPr>
            <p:ph idx="1"/>
          </p:nvPr>
        </p:nvSpPr>
        <p:spPr>
          <a:xfrm>
            <a:off x="5636172" y="311370"/>
            <a:ext cx="6120962" cy="3652602"/>
          </a:xfrm>
        </p:spPr>
        <p:txBody>
          <a:bodyPr>
            <a:normAutofit/>
          </a:bodyPr>
          <a:lstStyle/>
          <a:p>
            <a:r>
              <a:rPr lang="es-ES" sz="2000" dirty="0"/>
              <a:t>La fuga de gradiente puede hacer que el modelo tenga dificultades para aprender dependencias a largo plazo en las secuencias, ya que los gradientes pueden volverse demasiado débiles para actualizar efectivamente los pesos de las conexiones en capas anteriores. Como resultado, las </a:t>
            </a:r>
            <a:r>
              <a:rPr lang="es-ES" sz="2000" dirty="0" err="1"/>
              <a:t>RNNs</a:t>
            </a:r>
            <a:r>
              <a:rPr lang="es-ES" sz="2000" dirty="0"/>
              <a:t> pueden tener dificultades para recordar información relevante de pasos de tiempo distantes.</a:t>
            </a:r>
          </a:p>
        </p:txBody>
      </p:sp>
      <p:sp>
        <p:nvSpPr>
          <p:cNvPr id="2" name="Title"/>
          <p:cNvSpPr>
            <a:spLocks noGrp="1"/>
          </p:cNvSpPr>
          <p:nvPr>
            <p:ph type="ctrTitle"/>
          </p:nvPr>
        </p:nvSpPr>
        <p:spPr>
          <a:xfrm>
            <a:off x="85397" y="706820"/>
            <a:ext cx="5334000" cy="1524000"/>
          </a:xfrm>
        </p:spPr>
        <p:txBody>
          <a:bodyPr>
            <a:normAutofit/>
          </a:bodyPr>
          <a:lstStyle/>
          <a:p>
            <a:r>
              <a:rPr lang="en-US" sz="3200"/>
              <a:t>Dificultades que enfrentan </a:t>
            </a:r>
            <a:r>
              <a:rPr lang="en-US" sz="3200" dirty="0"/>
              <a:t>las RNN </a:t>
            </a:r>
            <a:r>
              <a:rPr lang="en-US" sz="3200"/>
              <a:t>al procesar el lenguaje </a:t>
            </a:r>
            <a:r>
              <a:rPr lang="en-US" sz="3200" dirty="0"/>
              <a:t>natural</a:t>
            </a:r>
          </a:p>
        </p:txBody>
      </p:sp>
      <p:pic>
        <p:nvPicPr>
          <p:cNvPr id="4" name="Picture 28">
            <a:extLst>
              <a:ext uri="{FF2B5EF4-FFF2-40B4-BE49-F238E27FC236}">
                <a16:creationId xmlns:a16="http://schemas.microsoft.com/office/drawing/2014/main" id="{FCE4FBF4-BFC2-547A-F4F3-DD69D415205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022980" y="4248341"/>
            <a:ext cx="4444112" cy="1936084"/>
          </a:xfrm>
          <a:prstGeom prst="rect">
            <a:avLst/>
          </a:prstGeom>
        </p:spPr>
      </p:pic>
    </p:spTree>
    <p:extLst>
      <p:ext uri="{BB962C8B-B14F-4D97-AF65-F5344CB8AC3E}">
        <p14:creationId xmlns:p14="http://schemas.microsoft.com/office/powerpoint/2010/main" val="1429659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3" name="Freeform: Shape 22">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3000">
                <a:solidFill>
                  <a:srgbClr val="FFFFFF"/>
                </a:solidFill>
              </a:rPr>
              <a:t>Dificultades que enfrentan las RNN al procesar el lenguaje natural</a:t>
            </a:r>
          </a:p>
        </p:txBody>
      </p:sp>
      <p:graphicFrame>
        <p:nvGraphicFramePr>
          <p:cNvPr id="6" name="Content Placeholder">
            <a:extLst>
              <a:ext uri="{FF2B5EF4-FFF2-40B4-BE49-F238E27FC236}">
                <a16:creationId xmlns:a16="http://schemas.microsoft.com/office/drawing/2014/main" id="{0CA89148-F346-2576-D8F6-5EB096A58EF9}"/>
              </a:ext>
            </a:extLst>
          </p:cNvPr>
          <p:cNvGraphicFramePr>
            <a:graphicFrameLocks noGrp="1"/>
          </p:cNvGraphicFramePr>
          <p:nvPr>
            <p:ph idx="1"/>
            <p:extLst>
              <p:ext uri="{D42A27DB-BD31-4B8C-83A1-F6EECF244321}">
                <p14:modId xmlns:p14="http://schemas.microsoft.com/office/powerpoint/2010/main" val="2258800267"/>
              </p:ext>
            </p:extLst>
          </p:nvPr>
        </p:nvGraphicFramePr>
        <p:xfrm>
          <a:off x="5334000" y="762000"/>
          <a:ext cx="6344856" cy="590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descr="Diagrama&#10;&#10;Descripción generada automáticamente">
            <a:extLst>
              <a:ext uri="{FF2B5EF4-FFF2-40B4-BE49-F238E27FC236}">
                <a16:creationId xmlns:a16="http://schemas.microsoft.com/office/drawing/2014/main" id="{36F80B7A-FDD0-FD84-CCAF-E5136D0B8F14}"/>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16339" y="4605856"/>
            <a:ext cx="3676650" cy="2065020"/>
          </a:xfrm>
          <a:prstGeom prst="rect">
            <a:avLst/>
          </a:prstGeom>
          <a:noFill/>
          <a:ln>
            <a:noFill/>
          </a:ln>
        </p:spPr>
      </p:pic>
    </p:spTree>
    <p:extLst>
      <p:ext uri="{BB962C8B-B14F-4D97-AF65-F5344CB8AC3E}">
        <p14:creationId xmlns:p14="http://schemas.microsoft.com/office/powerpoint/2010/main" val="2351911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Script de ordenador en una pantalla">
            <a:extLst>
              <a:ext uri="{FF2B5EF4-FFF2-40B4-BE49-F238E27FC236}">
                <a16:creationId xmlns:a16="http://schemas.microsoft.com/office/drawing/2014/main" id="{B8D04F07-C708-723B-2A9A-BCCC35303692}"/>
              </a:ext>
            </a:extLst>
          </p:cNvPr>
          <p:cNvPicPr>
            <a:picLocks noChangeAspect="1"/>
          </p:cNvPicPr>
          <p:nvPr/>
        </p:nvPicPr>
        <p:blipFill rotWithShape="1">
          <a:blip r:embed="rId2"/>
          <a:srcRect l="668" r="37646" b="-7"/>
          <a:stretch/>
        </p:blipFill>
        <p:spPr>
          <a:xfrm>
            <a:off x="62645" y="76200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2" name="Freeform: Shape 11">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Content Placeholder"/>
          <p:cNvSpPr>
            <a:spLocks noGrp="1"/>
          </p:cNvSpPr>
          <p:nvPr>
            <p:ph idx="1"/>
          </p:nvPr>
        </p:nvSpPr>
        <p:spPr>
          <a:xfrm>
            <a:off x="5851177" y="555734"/>
            <a:ext cx="5578823" cy="5540267"/>
          </a:xfrm>
        </p:spPr>
        <p:txBody>
          <a:bodyPr>
            <a:normAutofit/>
          </a:bodyPr>
          <a:lstStyle/>
          <a:p>
            <a:pPr lvl="0"/>
            <a:r>
              <a:rPr lang="en-US" sz="2400"/>
              <a:t>Dificultad para capturar información contextual: Las RNN procesan el texto de manera secuencial, lo que significa que solo pueden considerar la información que ha venido </a:t>
            </a:r>
            <a:r>
              <a:rPr lang="en-US" sz="2400" b="1"/>
              <a:t>antes</a:t>
            </a:r>
            <a:r>
              <a:rPr lang="en-US" sz="2400"/>
              <a:t> en la secuencia</a:t>
            </a:r>
          </a:p>
          <a:p>
            <a:r>
              <a:rPr lang="es-CL" sz="2400"/>
              <a:t>Por ejemplo: </a:t>
            </a:r>
          </a:p>
          <a:p>
            <a:pPr marL="0" indent="0">
              <a:buNone/>
            </a:pPr>
            <a:r>
              <a:rPr lang="es-CL" sz="2400"/>
              <a:t>“</a:t>
            </a:r>
            <a:r>
              <a:rPr lang="es-CL" sz="2400">
                <a:solidFill>
                  <a:srgbClr val="0070C0">
                    <a:alpha val="70000"/>
                  </a:srgbClr>
                </a:solidFill>
              </a:rPr>
              <a:t>Pedro</a:t>
            </a:r>
            <a:r>
              <a:rPr lang="es-CL" sz="2400"/>
              <a:t> salió de la biblioteca y se fue caminando hasta la oficina de </a:t>
            </a:r>
            <a:r>
              <a:rPr lang="es-CL" sz="2400">
                <a:solidFill>
                  <a:srgbClr val="0070C0">
                    <a:alpha val="70000"/>
                  </a:srgbClr>
                </a:solidFill>
              </a:rPr>
              <a:t>Juan</a:t>
            </a:r>
            <a:r>
              <a:rPr lang="es-CL" sz="2400"/>
              <a:t>. Al llegar, </a:t>
            </a:r>
            <a:r>
              <a:rPr lang="es-CL" sz="2400">
                <a:solidFill>
                  <a:srgbClr val="0070C0">
                    <a:alpha val="70000"/>
                  </a:srgbClr>
                </a:solidFill>
              </a:rPr>
              <a:t>él</a:t>
            </a:r>
            <a:r>
              <a:rPr lang="es-CL" sz="2400"/>
              <a:t> le comentó que se había </a:t>
            </a:r>
            <a:r>
              <a:rPr lang="es-CL" sz="2400">
                <a:solidFill>
                  <a:srgbClr val="0070C0">
                    <a:alpha val="70000"/>
                  </a:srgbClr>
                </a:solidFill>
              </a:rPr>
              <a:t>cansado</a:t>
            </a:r>
            <a:r>
              <a:rPr lang="es-CL" sz="2400"/>
              <a:t>.”</a:t>
            </a:r>
            <a:endParaRPr lang="en-US" sz="2400"/>
          </a:p>
          <a:p>
            <a:pPr lvl="0"/>
            <a:endParaRPr lang="en-US" sz="2400" dirty="0"/>
          </a:p>
        </p:txBody>
      </p:sp>
      <p:sp>
        <p:nvSpPr>
          <p:cNvPr id="2" name="Title"/>
          <p:cNvSpPr>
            <a:spLocks noGrp="1"/>
          </p:cNvSpPr>
          <p:nvPr>
            <p:ph type="ctrTitle"/>
          </p:nvPr>
        </p:nvSpPr>
        <p:spPr>
          <a:xfrm>
            <a:off x="329614" y="195182"/>
            <a:ext cx="5334000" cy="1524000"/>
          </a:xfrm>
        </p:spPr>
        <p:txBody>
          <a:bodyPr>
            <a:normAutofit/>
          </a:bodyPr>
          <a:lstStyle/>
          <a:p>
            <a:r>
              <a:rPr lang="en-US" sz="3200"/>
              <a:t>Dificultades que enfrentan </a:t>
            </a:r>
            <a:r>
              <a:rPr lang="en-US" sz="3200" dirty="0"/>
              <a:t>las RNN </a:t>
            </a:r>
            <a:r>
              <a:rPr lang="en-US" sz="3200"/>
              <a:t>al procesar el lenguaje </a:t>
            </a:r>
            <a:r>
              <a:rPr lang="en-US" sz="3200" dirty="0"/>
              <a:t>natural</a:t>
            </a:r>
          </a:p>
        </p:txBody>
      </p:sp>
    </p:spTree>
    <p:extLst>
      <p:ext uri="{BB962C8B-B14F-4D97-AF65-F5344CB8AC3E}">
        <p14:creationId xmlns:p14="http://schemas.microsoft.com/office/powerpoint/2010/main" val="3090646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Lupa resalta un rendimiento económico decreciente">
            <a:extLst>
              <a:ext uri="{FF2B5EF4-FFF2-40B4-BE49-F238E27FC236}">
                <a16:creationId xmlns:a16="http://schemas.microsoft.com/office/drawing/2014/main" id="{9A53140A-5793-0875-5062-E32AA2275A19}"/>
              </a:ext>
            </a:extLst>
          </p:cNvPr>
          <p:cNvPicPr>
            <a:picLocks noChangeAspect="1"/>
          </p:cNvPicPr>
          <p:nvPr/>
        </p:nvPicPr>
        <p:blipFill rotWithShape="1">
          <a:blip r:embed="rId2"/>
          <a:srcRect l="21129" r="17186" b="-7"/>
          <a:stretch/>
        </p:blipFill>
        <p:spPr>
          <a:xfrm>
            <a:off x="125293" y="33877"/>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2" name="Freeform: Shape 11">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Content Placeholder"/>
          <p:cNvSpPr>
            <a:spLocks noGrp="1"/>
          </p:cNvSpPr>
          <p:nvPr>
            <p:ph idx="1"/>
          </p:nvPr>
        </p:nvSpPr>
        <p:spPr>
          <a:xfrm>
            <a:off x="6096000" y="2286000"/>
            <a:ext cx="5334000" cy="3810001"/>
          </a:xfrm>
        </p:spPr>
        <p:txBody>
          <a:bodyPr>
            <a:normAutofit/>
          </a:bodyPr>
          <a:lstStyle/>
          <a:p>
            <a:pPr lvl="0"/>
            <a:r>
              <a:rPr lang="en-US" sz="2400" dirty="0" err="1"/>
              <a:t>Dificultad</a:t>
            </a:r>
            <a:r>
              <a:rPr lang="en-US" sz="2400" dirty="0"/>
              <a:t> para </a:t>
            </a:r>
            <a:r>
              <a:rPr lang="en-US" sz="2400" dirty="0" err="1"/>
              <a:t>modelar</a:t>
            </a:r>
            <a:r>
              <a:rPr lang="en-US" sz="2400" dirty="0"/>
              <a:t> </a:t>
            </a:r>
            <a:r>
              <a:rPr lang="en-US" sz="2400" dirty="0" err="1"/>
              <a:t>secuencias</a:t>
            </a:r>
            <a:r>
              <a:rPr lang="en-US" sz="2400" dirty="0"/>
              <a:t> de </a:t>
            </a:r>
            <a:r>
              <a:rPr lang="en-US" sz="2400" dirty="0" err="1"/>
              <a:t>longitud</a:t>
            </a:r>
            <a:r>
              <a:rPr lang="en-US" sz="2400" dirty="0"/>
              <a:t> variable: Las RNN </a:t>
            </a:r>
            <a:r>
              <a:rPr lang="en-US" sz="2400" dirty="0" err="1"/>
              <a:t>requieren</a:t>
            </a:r>
            <a:r>
              <a:rPr lang="en-US" sz="2400" dirty="0"/>
              <a:t> entradas y </a:t>
            </a:r>
            <a:r>
              <a:rPr lang="en-US" sz="2400" dirty="0" err="1"/>
              <a:t>salidas</a:t>
            </a:r>
            <a:r>
              <a:rPr lang="en-US" sz="2400" dirty="0"/>
              <a:t> de </a:t>
            </a:r>
            <a:r>
              <a:rPr lang="en-US" sz="2400" dirty="0" err="1"/>
              <a:t>longitud</a:t>
            </a:r>
            <a:r>
              <a:rPr lang="en-US" sz="2400" dirty="0"/>
              <a:t> </a:t>
            </a:r>
            <a:r>
              <a:rPr lang="en-US" sz="2400" dirty="0" err="1"/>
              <a:t>fija</a:t>
            </a:r>
            <a:r>
              <a:rPr lang="en-US" sz="2400" dirty="0"/>
              <a:t>, lo que </a:t>
            </a:r>
            <a:r>
              <a:rPr lang="en-US" sz="2400" dirty="0" err="1"/>
              <a:t>puede</a:t>
            </a:r>
            <a:r>
              <a:rPr lang="en-US" sz="2400" dirty="0"/>
              <a:t> ser un </a:t>
            </a:r>
            <a:r>
              <a:rPr lang="en-US" sz="2400" dirty="0" err="1"/>
              <a:t>problema</a:t>
            </a:r>
            <a:r>
              <a:rPr lang="en-US" sz="2400" dirty="0"/>
              <a:t> al </a:t>
            </a:r>
            <a:r>
              <a:rPr lang="en-US" sz="2400" dirty="0" err="1"/>
              <a:t>procesar</a:t>
            </a:r>
            <a:r>
              <a:rPr lang="en-US" sz="2400" dirty="0"/>
              <a:t> </a:t>
            </a:r>
            <a:r>
              <a:rPr lang="en-US" sz="2400" dirty="0" err="1"/>
              <a:t>texto</a:t>
            </a:r>
            <a:r>
              <a:rPr lang="en-US" sz="2400" dirty="0"/>
              <a:t> </a:t>
            </a:r>
            <a:r>
              <a:rPr lang="en-US" sz="2400" dirty="0" err="1"/>
              <a:t>en</a:t>
            </a:r>
            <a:r>
              <a:rPr lang="en-US" sz="2400" dirty="0"/>
              <a:t> </a:t>
            </a:r>
            <a:r>
              <a:rPr lang="en-US" sz="2400" dirty="0" err="1"/>
              <a:t>lenguaje</a:t>
            </a:r>
            <a:r>
              <a:rPr lang="en-US" sz="2400" dirty="0"/>
              <a:t> natural, </a:t>
            </a:r>
            <a:r>
              <a:rPr lang="en-US" sz="2400" dirty="0" err="1"/>
              <a:t>donde</a:t>
            </a:r>
            <a:r>
              <a:rPr lang="en-US" sz="2400" dirty="0"/>
              <a:t> las </a:t>
            </a:r>
            <a:r>
              <a:rPr lang="en-US" sz="2400" dirty="0" err="1"/>
              <a:t>oraciones</a:t>
            </a:r>
            <a:r>
              <a:rPr lang="en-US" sz="2400" dirty="0"/>
              <a:t> </a:t>
            </a:r>
            <a:r>
              <a:rPr lang="en-US" sz="2400" dirty="0" err="1"/>
              <a:t>pueden</a:t>
            </a:r>
            <a:r>
              <a:rPr lang="en-US" sz="2400" dirty="0"/>
              <a:t> </a:t>
            </a:r>
            <a:r>
              <a:rPr lang="en-US" sz="2400" dirty="0" err="1"/>
              <a:t>variar</a:t>
            </a:r>
            <a:r>
              <a:rPr lang="en-US" sz="2400" dirty="0"/>
              <a:t> </a:t>
            </a:r>
            <a:r>
              <a:rPr lang="en-US" sz="2400" dirty="0" err="1"/>
              <a:t>mucho</a:t>
            </a:r>
            <a:r>
              <a:rPr lang="en-US" sz="2400" dirty="0"/>
              <a:t> </a:t>
            </a:r>
            <a:r>
              <a:rPr lang="en-US" sz="2400" dirty="0" err="1"/>
              <a:t>en</a:t>
            </a:r>
            <a:r>
              <a:rPr lang="en-US" sz="2400" dirty="0"/>
              <a:t> </a:t>
            </a:r>
            <a:r>
              <a:rPr lang="en-US" sz="2400" dirty="0" err="1"/>
              <a:t>longitud</a:t>
            </a:r>
            <a:endParaRPr lang="en-US" sz="2400" dirty="0"/>
          </a:p>
        </p:txBody>
      </p:sp>
      <p:sp>
        <p:nvSpPr>
          <p:cNvPr id="2" name="Title"/>
          <p:cNvSpPr>
            <a:spLocks noGrp="1"/>
          </p:cNvSpPr>
          <p:nvPr>
            <p:ph type="ctrTitle"/>
          </p:nvPr>
        </p:nvSpPr>
        <p:spPr>
          <a:xfrm>
            <a:off x="5704116" y="134580"/>
            <a:ext cx="5334000" cy="1524000"/>
          </a:xfrm>
        </p:spPr>
        <p:txBody>
          <a:bodyPr>
            <a:normAutofit/>
          </a:bodyPr>
          <a:lstStyle/>
          <a:p>
            <a:r>
              <a:rPr lang="en-US" sz="3200" dirty="0" err="1"/>
              <a:t>Dificultades</a:t>
            </a:r>
            <a:r>
              <a:rPr lang="en-US" sz="3200" dirty="0"/>
              <a:t> que </a:t>
            </a:r>
            <a:r>
              <a:rPr lang="en-US" sz="3200" dirty="0" err="1"/>
              <a:t>enfrentan</a:t>
            </a:r>
            <a:r>
              <a:rPr lang="en-US" sz="3200" dirty="0"/>
              <a:t> las RNN al </a:t>
            </a:r>
            <a:r>
              <a:rPr lang="en-US" sz="3200" dirty="0" err="1"/>
              <a:t>procesar</a:t>
            </a:r>
            <a:r>
              <a:rPr lang="en-US" sz="3200" dirty="0"/>
              <a:t> </a:t>
            </a:r>
            <a:r>
              <a:rPr lang="en-US" sz="3200" dirty="0" err="1"/>
              <a:t>el</a:t>
            </a:r>
            <a:r>
              <a:rPr lang="en-US" sz="3200" dirty="0"/>
              <a:t> </a:t>
            </a:r>
            <a:r>
              <a:rPr lang="en-US" sz="3200" dirty="0" err="1"/>
              <a:t>lenguaje</a:t>
            </a:r>
            <a:r>
              <a:rPr lang="en-US" sz="3200" dirty="0"/>
              <a:t> natural</a:t>
            </a:r>
          </a:p>
        </p:txBody>
      </p:sp>
    </p:spTree>
    <p:extLst>
      <p:ext uri="{BB962C8B-B14F-4D97-AF65-F5344CB8AC3E}">
        <p14:creationId xmlns:p14="http://schemas.microsoft.com/office/powerpoint/2010/main" val="3633582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ubos conectados con una línea roja">
            <a:extLst>
              <a:ext uri="{FF2B5EF4-FFF2-40B4-BE49-F238E27FC236}">
                <a16:creationId xmlns:a16="http://schemas.microsoft.com/office/drawing/2014/main" id="{6588FC5E-7D90-9A87-CAC2-49A20C79C5D4}"/>
              </a:ext>
            </a:extLst>
          </p:cNvPr>
          <p:cNvPicPr>
            <a:picLocks noChangeAspect="1"/>
          </p:cNvPicPr>
          <p:nvPr/>
        </p:nvPicPr>
        <p:blipFill rotWithShape="1">
          <a:blip r:embed="rId2"/>
          <a:srcRect l="26972" r="16181" b="-1"/>
          <a:stretch/>
        </p:blipFill>
        <p:spPr>
          <a:xfrm>
            <a:off x="743802" y="832508"/>
            <a:ext cx="4448352" cy="6025492"/>
          </a:xfrm>
          <a:custGeom>
            <a:avLst/>
            <a:gdLst/>
            <a:ahLst/>
            <a:cxnLst/>
            <a:rect l="l" t="t" r="r" b="b"/>
            <a:pathLst>
              <a:path w="4448352" h="6025492">
                <a:moveTo>
                  <a:pt x="3173139" y="74"/>
                </a:moveTo>
                <a:cubicBezTo>
                  <a:pt x="3404376" y="2427"/>
                  <a:pt x="3621702" y="61078"/>
                  <a:pt x="3840337" y="136997"/>
                </a:cubicBezTo>
                <a:cubicBezTo>
                  <a:pt x="4230681" y="272614"/>
                  <a:pt x="4578505" y="404218"/>
                  <a:pt x="4400480" y="1061406"/>
                </a:cubicBezTo>
                <a:cubicBezTo>
                  <a:pt x="4294008" y="1454598"/>
                  <a:pt x="4050152" y="1868133"/>
                  <a:pt x="3812207" y="2268177"/>
                </a:cubicBezTo>
                <a:cubicBezTo>
                  <a:pt x="3397090" y="2966250"/>
                  <a:pt x="2981970" y="3664324"/>
                  <a:pt x="2566852" y="4362395"/>
                </a:cubicBezTo>
                <a:cubicBezTo>
                  <a:pt x="2261941" y="4875091"/>
                  <a:pt x="1813643" y="5542665"/>
                  <a:pt x="1381603" y="6002073"/>
                </a:cubicBezTo>
                <a:lnTo>
                  <a:pt x="1358105" y="6025492"/>
                </a:lnTo>
                <a:lnTo>
                  <a:pt x="147593" y="6025492"/>
                </a:lnTo>
                <a:lnTo>
                  <a:pt x="135095" y="5970139"/>
                </a:lnTo>
                <a:cubicBezTo>
                  <a:pt x="3334" y="5264474"/>
                  <a:pt x="25734" y="4338079"/>
                  <a:pt x="989" y="3558990"/>
                </a:cubicBezTo>
                <a:cubicBezTo>
                  <a:pt x="-7696" y="3286585"/>
                  <a:pt x="41149" y="3024098"/>
                  <a:pt x="134613" y="2769335"/>
                </a:cubicBezTo>
                <a:cubicBezTo>
                  <a:pt x="274734" y="2387350"/>
                  <a:pt x="515201" y="2023048"/>
                  <a:pt x="812398" y="1669996"/>
                </a:cubicBezTo>
                <a:cubicBezTo>
                  <a:pt x="1109596" y="1316945"/>
                  <a:pt x="1463524" y="975145"/>
                  <a:pt x="1830565" y="638164"/>
                </a:cubicBezTo>
                <a:cubicBezTo>
                  <a:pt x="2363706" y="148617"/>
                  <a:pt x="2787743" y="-3847"/>
                  <a:pt x="3173139" y="74"/>
                </a:cubicBezTo>
                <a:close/>
              </a:path>
            </a:pathLst>
          </a:custGeom>
        </p:spPr>
      </p:pic>
      <p:sp>
        <p:nvSpPr>
          <p:cNvPr id="19" name="Freeform: Shape 18">
            <a:extLst>
              <a:ext uri="{FF2B5EF4-FFF2-40B4-BE49-F238E27FC236}">
                <a16:creationId xmlns:a16="http://schemas.microsoft.com/office/drawing/2014/main" id="{424ECFA8-BE37-446C-B1BD-88D2981B6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197" y="533400"/>
            <a:ext cx="5085498" cy="6329048"/>
          </a:xfrm>
          <a:custGeom>
            <a:avLst/>
            <a:gdLst>
              <a:gd name="connsiteX0" fmla="*/ 3173139 w 4448352"/>
              <a:gd name="connsiteY0" fmla="*/ 74 h 6025492"/>
              <a:gd name="connsiteX1" fmla="*/ 3840337 w 4448352"/>
              <a:gd name="connsiteY1" fmla="*/ 136997 h 6025492"/>
              <a:gd name="connsiteX2" fmla="*/ 4400480 w 4448352"/>
              <a:gd name="connsiteY2" fmla="*/ 1061406 h 6025492"/>
              <a:gd name="connsiteX3" fmla="*/ 3812207 w 4448352"/>
              <a:gd name="connsiteY3" fmla="*/ 2268177 h 6025492"/>
              <a:gd name="connsiteX4" fmla="*/ 2566852 w 4448352"/>
              <a:gd name="connsiteY4" fmla="*/ 4362395 h 6025492"/>
              <a:gd name="connsiteX5" fmla="*/ 1381603 w 4448352"/>
              <a:gd name="connsiteY5" fmla="*/ 6002073 h 6025492"/>
              <a:gd name="connsiteX6" fmla="*/ 1358105 w 4448352"/>
              <a:gd name="connsiteY6" fmla="*/ 6025492 h 6025492"/>
              <a:gd name="connsiteX7" fmla="*/ 147593 w 4448352"/>
              <a:gd name="connsiteY7" fmla="*/ 6025492 h 6025492"/>
              <a:gd name="connsiteX8" fmla="*/ 135095 w 4448352"/>
              <a:gd name="connsiteY8" fmla="*/ 5970139 h 6025492"/>
              <a:gd name="connsiteX9" fmla="*/ 989 w 4448352"/>
              <a:gd name="connsiteY9" fmla="*/ 3558990 h 6025492"/>
              <a:gd name="connsiteX10" fmla="*/ 134613 w 4448352"/>
              <a:gd name="connsiteY10" fmla="*/ 2769335 h 6025492"/>
              <a:gd name="connsiteX11" fmla="*/ 812398 w 4448352"/>
              <a:gd name="connsiteY11" fmla="*/ 1669996 h 6025492"/>
              <a:gd name="connsiteX12" fmla="*/ 1830565 w 4448352"/>
              <a:gd name="connsiteY12" fmla="*/ 638164 h 6025492"/>
              <a:gd name="connsiteX13" fmla="*/ 3173139 w 4448352"/>
              <a:gd name="connsiteY13" fmla="*/ 74 h 6025492"/>
              <a:gd name="connsiteX0" fmla="*/ 147593 w 4448352"/>
              <a:gd name="connsiteY0" fmla="*/ 6025492 h 6112608"/>
              <a:gd name="connsiteX1" fmla="*/ 135095 w 4448352"/>
              <a:gd name="connsiteY1" fmla="*/ 5970139 h 6112608"/>
              <a:gd name="connsiteX2" fmla="*/ 989 w 4448352"/>
              <a:gd name="connsiteY2" fmla="*/ 3558990 h 6112608"/>
              <a:gd name="connsiteX3" fmla="*/ 134613 w 4448352"/>
              <a:gd name="connsiteY3" fmla="*/ 2769335 h 6112608"/>
              <a:gd name="connsiteX4" fmla="*/ 812398 w 4448352"/>
              <a:gd name="connsiteY4" fmla="*/ 1669996 h 6112608"/>
              <a:gd name="connsiteX5" fmla="*/ 1830565 w 4448352"/>
              <a:gd name="connsiteY5" fmla="*/ 638164 h 6112608"/>
              <a:gd name="connsiteX6" fmla="*/ 3173139 w 4448352"/>
              <a:gd name="connsiteY6" fmla="*/ 74 h 6112608"/>
              <a:gd name="connsiteX7" fmla="*/ 3840337 w 4448352"/>
              <a:gd name="connsiteY7" fmla="*/ 136997 h 6112608"/>
              <a:gd name="connsiteX8" fmla="*/ 4400480 w 4448352"/>
              <a:gd name="connsiteY8" fmla="*/ 1061406 h 6112608"/>
              <a:gd name="connsiteX9" fmla="*/ 3812207 w 4448352"/>
              <a:gd name="connsiteY9" fmla="*/ 2268177 h 6112608"/>
              <a:gd name="connsiteX10" fmla="*/ 2566852 w 4448352"/>
              <a:gd name="connsiteY10" fmla="*/ 4362395 h 6112608"/>
              <a:gd name="connsiteX11" fmla="*/ 1381603 w 4448352"/>
              <a:gd name="connsiteY11" fmla="*/ 6002073 h 6112608"/>
              <a:gd name="connsiteX12" fmla="*/ 1457187 w 4448352"/>
              <a:gd name="connsiteY12" fmla="*/ 6112608 h 6112608"/>
              <a:gd name="connsiteX0" fmla="*/ 147593 w 4448352"/>
              <a:gd name="connsiteY0" fmla="*/ 6025492 h 6025492"/>
              <a:gd name="connsiteX1" fmla="*/ 135095 w 4448352"/>
              <a:gd name="connsiteY1" fmla="*/ 5970139 h 6025492"/>
              <a:gd name="connsiteX2" fmla="*/ 989 w 4448352"/>
              <a:gd name="connsiteY2" fmla="*/ 3558990 h 6025492"/>
              <a:gd name="connsiteX3" fmla="*/ 134613 w 4448352"/>
              <a:gd name="connsiteY3" fmla="*/ 2769335 h 6025492"/>
              <a:gd name="connsiteX4" fmla="*/ 812398 w 4448352"/>
              <a:gd name="connsiteY4" fmla="*/ 1669996 h 6025492"/>
              <a:gd name="connsiteX5" fmla="*/ 1830565 w 4448352"/>
              <a:gd name="connsiteY5" fmla="*/ 638164 h 6025492"/>
              <a:gd name="connsiteX6" fmla="*/ 3173139 w 4448352"/>
              <a:gd name="connsiteY6" fmla="*/ 74 h 6025492"/>
              <a:gd name="connsiteX7" fmla="*/ 3840337 w 4448352"/>
              <a:gd name="connsiteY7" fmla="*/ 136997 h 6025492"/>
              <a:gd name="connsiteX8" fmla="*/ 4400480 w 4448352"/>
              <a:gd name="connsiteY8" fmla="*/ 1061406 h 6025492"/>
              <a:gd name="connsiteX9" fmla="*/ 3812207 w 4448352"/>
              <a:gd name="connsiteY9" fmla="*/ 2268177 h 6025492"/>
              <a:gd name="connsiteX10" fmla="*/ 2566852 w 4448352"/>
              <a:gd name="connsiteY10" fmla="*/ 4362395 h 6025492"/>
              <a:gd name="connsiteX11" fmla="*/ 1381603 w 4448352"/>
              <a:gd name="connsiteY11" fmla="*/ 6002073 h 6025492"/>
              <a:gd name="connsiteX0" fmla="*/ 147593 w 4448352"/>
              <a:gd name="connsiteY0" fmla="*/ 6025492 h 6029730"/>
              <a:gd name="connsiteX1" fmla="*/ 135095 w 4448352"/>
              <a:gd name="connsiteY1" fmla="*/ 5970139 h 6029730"/>
              <a:gd name="connsiteX2" fmla="*/ 989 w 4448352"/>
              <a:gd name="connsiteY2" fmla="*/ 3558990 h 6029730"/>
              <a:gd name="connsiteX3" fmla="*/ 134613 w 4448352"/>
              <a:gd name="connsiteY3" fmla="*/ 2769335 h 6029730"/>
              <a:gd name="connsiteX4" fmla="*/ 812398 w 4448352"/>
              <a:gd name="connsiteY4" fmla="*/ 1669996 h 6029730"/>
              <a:gd name="connsiteX5" fmla="*/ 1830565 w 4448352"/>
              <a:gd name="connsiteY5" fmla="*/ 638164 h 6029730"/>
              <a:gd name="connsiteX6" fmla="*/ 3173139 w 4448352"/>
              <a:gd name="connsiteY6" fmla="*/ 74 h 6029730"/>
              <a:gd name="connsiteX7" fmla="*/ 3840337 w 4448352"/>
              <a:gd name="connsiteY7" fmla="*/ 136997 h 6029730"/>
              <a:gd name="connsiteX8" fmla="*/ 4400480 w 4448352"/>
              <a:gd name="connsiteY8" fmla="*/ 1061406 h 6029730"/>
              <a:gd name="connsiteX9" fmla="*/ 3812207 w 4448352"/>
              <a:gd name="connsiteY9" fmla="*/ 2268177 h 6029730"/>
              <a:gd name="connsiteX10" fmla="*/ 2566852 w 4448352"/>
              <a:gd name="connsiteY10" fmla="*/ 4362395 h 6029730"/>
              <a:gd name="connsiteX11" fmla="*/ 1397330 w 4448352"/>
              <a:gd name="connsiteY11" fmla="*/ 6029730 h 6029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48352" h="6029730">
                <a:moveTo>
                  <a:pt x="147593" y="6025492"/>
                </a:moveTo>
                <a:lnTo>
                  <a:pt x="135095" y="5970139"/>
                </a:lnTo>
                <a:cubicBezTo>
                  <a:pt x="3334" y="5264474"/>
                  <a:pt x="25734" y="4338079"/>
                  <a:pt x="989" y="3558990"/>
                </a:cubicBezTo>
                <a:cubicBezTo>
                  <a:pt x="-7696" y="3286585"/>
                  <a:pt x="41149" y="3024098"/>
                  <a:pt x="134613" y="2769335"/>
                </a:cubicBezTo>
                <a:cubicBezTo>
                  <a:pt x="274734" y="2387350"/>
                  <a:pt x="515201" y="2023048"/>
                  <a:pt x="812398" y="1669996"/>
                </a:cubicBezTo>
                <a:cubicBezTo>
                  <a:pt x="1109596" y="1316945"/>
                  <a:pt x="1463524" y="975145"/>
                  <a:pt x="1830565" y="638164"/>
                </a:cubicBezTo>
                <a:cubicBezTo>
                  <a:pt x="2363706" y="148617"/>
                  <a:pt x="2787743" y="-3847"/>
                  <a:pt x="3173139" y="74"/>
                </a:cubicBezTo>
                <a:cubicBezTo>
                  <a:pt x="3404376" y="2427"/>
                  <a:pt x="3621702" y="61078"/>
                  <a:pt x="3840337" y="136997"/>
                </a:cubicBezTo>
                <a:cubicBezTo>
                  <a:pt x="4230681" y="272614"/>
                  <a:pt x="4578505" y="404218"/>
                  <a:pt x="4400480" y="1061406"/>
                </a:cubicBezTo>
                <a:cubicBezTo>
                  <a:pt x="4294008" y="1454598"/>
                  <a:pt x="4050152" y="1868133"/>
                  <a:pt x="3812207" y="2268177"/>
                </a:cubicBezTo>
                <a:cubicBezTo>
                  <a:pt x="3397089" y="2966250"/>
                  <a:pt x="2969331" y="3735470"/>
                  <a:pt x="2566852" y="4362395"/>
                </a:cubicBezTo>
                <a:cubicBezTo>
                  <a:pt x="2164373" y="4989320"/>
                  <a:pt x="1829370" y="5570322"/>
                  <a:pt x="1397330" y="602973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Content Placeholder"/>
          <p:cNvSpPr>
            <a:spLocks noGrp="1"/>
          </p:cNvSpPr>
          <p:nvPr>
            <p:ph idx="1"/>
          </p:nvPr>
        </p:nvSpPr>
        <p:spPr>
          <a:xfrm>
            <a:off x="6021399" y="1238916"/>
            <a:ext cx="5829566" cy="5098822"/>
          </a:xfrm>
        </p:spPr>
        <p:txBody>
          <a:bodyPr vert="horz" lIns="91440" tIns="45720" rIns="91440" bIns="45720" rtlCol="0" anchor="t">
            <a:noAutofit/>
          </a:bodyPr>
          <a:lstStyle/>
          <a:p>
            <a:pPr>
              <a:lnSpc>
                <a:spcPct val="115000"/>
              </a:lnSpc>
            </a:pPr>
            <a:r>
              <a:rPr lang="en-US" sz="2000" dirty="0"/>
              <a:t>El </a:t>
            </a:r>
            <a:r>
              <a:rPr lang="en-US" sz="2000" dirty="0" err="1"/>
              <a:t>artículo</a:t>
            </a:r>
            <a:r>
              <a:rPr lang="en-US" sz="2000" dirty="0"/>
              <a:t> original de Transformers es "La </a:t>
            </a:r>
            <a:r>
              <a:rPr lang="en-US" sz="2000" dirty="0" err="1"/>
              <a:t>atención</a:t>
            </a:r>
            <a:r>
              <a:rPr lang="en-US" sz="2000" dirty="0"/>
              <a:t> es </a:t>
            </a:r>
            <a:r>
              <a:rPr lang="en-US" sz="2000" dirty="0" err="1"/>
              <a:t>todo</a:t>
            </a:r>
            <a:r>
              <a:rPr lang="en-US" sz="2000" dirty="0"/>
              <a:t> lo que </a:t>
            </a:r>
            <a:r>
              <a:rPr lang="en-US" sz="2000" dirty="0" err="1"/>
              <a:t>necesitas</a:t>
            </a:r>
            <a:r>
              <a:rPr lang="en-US" sz="2000" dirty="0"/>
              <a:t>" de Vaswani et al., </a:t>
            </a:r>
            <a:r>
              <a:rPr lang="en-US" sz="2000" dirty="0" err="1"/>
              <a:t>publicado</a:t>
            </a:r>
            <a:r>
              <a:rPr lang="en-US" sz="2000" dirty="0"/>
              <a:t> </a:t>
            </a:r>
            <a:r>
              <a:rPr lang="en-US" sz="2000" dirty="0" err="1"/>
              <a:t>en</a:t>
            </a:r>
            <a:r>
              <a:rPr lang="en-US" sz="2000" dirty="0"/>
              <a:t> la </a:t>
            </a:r>
            <a:r>
              <a:rPr lang="en-US" sz="2000" dirty="0" err="1"/>
              <a:t>Conferencia</a:t>
            </a:r>
            <a:r>
              <a:rPr lang="en-US" sz="2000" dirty="0"/>
              <a:t> </a:t>
            </a:r>
            <a:r>
              <a:rPr lang="en-US" sz="2000" dirty="0" err="1"/>
              <a:t>sobre</a:t>
            </a:r>
            <a:r>
              <a:rPr lang="en-US" sz="2000" dirty="0"/>
              <a:t> Sistemas de Procesamiento de </a:t>
            </a:r>
            <a:r>
              <a:rPr lang="en-US" sz="2000" dirty="0" err="1"/>
              <a:t>Información</a:t>
            </a:r>
            <a:r>
              <a:rPr lang="en-US" sz="2000" dirty="0"/>
              <a:t> Neuronal 2017</a:t>
            </a:r>
            <a:endParaRPr lang="en-US" sz="2000" dirty="0">
              <a:solidFill>
                <a:srgbClr val="FFFFFF">
                  <a:alpha val="70000"/>
                </a:srgbClr>
              </a:solidFill>
            </a:endParaRPr>
          </a:p>
          <a:p>
            <a:pPr lvl="0">
              <a:lnSpc>
                <a:spcPct val="115000"/>
              </a:lnSpc>
            </a:pPr>
            <a:r>
              <a:rPr lang="en-US" sz="2000" dirty="0"/>
              <a:t>Este </a:t>
            </a:r>
            <a:r>
              <a:rPr lang="en-US" sz="2000" dirty="0" err="1"/>
              <a:t>documento</a:t>
            </a:r>
            <a:r>
              <a:rPr lang="en-US" sz="2000" dirty="0"/>
              <a:t> </a:t>
            </a:r>
            <a:r>
              <a:rPr lang="en-US" sz="2000" dirty="0" err="1"/>
              <a:t>introdujo</a:t>
            </a:r>
            <a:r>
              <a:rPr lang="en-US" sz="2000" dirty="0"/>
              <a:t> la </a:t>
            </a:r>
            <a:r>
              <a:rPr lang="en-US" sz="2000" dirty="0" err="1"/>
              <a:t>arquitectura</a:t>
            </a:r>
            <a:r>
              <a:rPr lang="en-US" sz="2000" dirty="0"/>
              <a:t> Transformer, que </a:t>
            </a:r>
            <a:r>
              <a:rPr lang="en-US" sz="2000" dirty="0" err="1"/>
              <a:t>desde</a:t>
            </a:r>
            <a:r>
              <a:rPr lang="en-US" sz="2000" dirty="0"/>
              <a:t> </a:t>
            </a:r>
            <a:r>
              <a:rPr lang="en-US" sz="2000" dirty="0" err="1"/>
              <a:t>entonces</a:t>
            </a:r>
            <a:r>
              <a:rPr lang="en-US" sz="2000" dirty="0"/>
              <a:t> se ha </a:t>
            </a:r>
            <a:r>
              <a:rPr lang="en-US" sz="2000" dirty="0" err="1"/>
              <a:t>convertido</a:t>
            </a:r>
            <a:r>
              <a:rPr lang="en-US" sz="2000" dirty="0"/>
              <a:t> </a:t>
            </a:r>
            <a:r>
              <a:rPr lang="en-US" sz="2000" dirty="0" err="1"/>
              <a:t>en</a:t>
            </a:r>
            <a:r>
              <a:rPr lang="en-US" sz="2000" dirty="0"/>
              <a:t> un </a:t>
            </a:r>
            <a:r>
              <a:rPr lang="en-US" sz="2000" dirty="0" err="1"/>
              <a:t>bloque</a:t>
            </a:r>
            <a:r>
              <a:rPr lang="en-US" sz="2000" dirty="0"/>
              <a:t> de </a:t>
            </a:r>
            <a:r>
              <a:rPr lang="en-US" sz="2000" dirty="0" err="1"/>
              <a:t>construcción</a:t>
            </a:r>
            <a:r>
              <a:rPr lang="en-US" sz="2000" dirty="0"/>
              <a:t> fundamental para </a:t>
            </a:r>
            <a:r>
              <a:rPr lang="en-US" sz="2000" dirty="0" err="1"/>
              <a:t>muchos</a:t>
            </a:r>
            <a:r>
              <a:rPr lang="en-US" sz="2000" dirty="0"/>
              <a:t> </a:t>
            </a:r>
            <a:r>
              <a:rPr lang="en-US" sz="2000" dirty="0" err="1"/>
              <a:t>modelos</a:t>
            </a:r>
            <a:r>
              <a:rPr lang="en-US" sz="2000" dirty="0"/>
              <a:t> de </a:t>
            </a:r>
            <a:r>
              <a:rPr lang="en-US" sz="2000" dirty="0" err="1"/>
              <a:t>aprendizaje</a:t>
            </a:r>
            <a:r>
              <a:rPr lang="en-US" sz="2000" dirty="0"/>
              <a:t> profundo de </a:t>
            </a:r>
            <a:r>
              <a:rPr lang="en-US" sz="2000" dirty="0" err="1"/>
              <a:t>vanguardia</a:t>
            </a:r>
            <a:r>
              <a:rPr lang="en-US" sz="2000" dirty="0"/>
              <a:t> </a:t>
            </a:r>
            <a:r>
              <a:rPr lang="en-US" sz="2000" dirty="0" err="1"/>
              <a:t>en</a:t>
            </a:r>
            <a:r>
              <a:rPr lang="en-US" sz="2000" dirty="0"/>
              <a:t> </a:t>
            </a:r>
            <a:r>
              <a:rPr lang="en-US" sz="2000" dirty="0" err="1"/>
              <a:t>el</a:t>
            </a:r>
            <a:r>
              <a:rPr lang="en-US" sz="2000" dirty="0"/>
              <a:t> </a:t>
            </a:r>
            <a:r>
              <a:rPr lang="en-US" sz="2000" dirty="0" err="1"/>
              <a:t>procesamiento</a:t>
            </a:r>
            <a:r>
              <a:rPr lang="en-US" sz="2000" dirty="0"/>
              <a:t> del </a:t>
            </a:r>
            <a:r>
              <a:rPr lang="en-US" sz="2000" dirty="0" err="1"/>
              <a:t>lenguaje</a:t>
            </a:r>
            <a:r>
              <a:rPr lang="en-US" sz="2000" dirty="0"/>
              <a:t> natural y </a:t>
            </a:r>
            <a:r>
              <a:rPr lang="en-US" sz="2000" dirty="0" err="1"/>
              <a:t>otros</a:t>
            </a:r>
            <a:r>
              <a:rPr lang="en-US" sz="2000" dirty="0"/>
              <a:t> campos</a:t>
            </a:r>
            <a:endParaRPr lang="en-US" sz="2000" dirty="0">
              <a:solidFill>
                <a:srgbClr val="FFFFFF">
                  <a:alpha val="70000"/>
                </a:srgbClr>
              </a:solidFill>
            </a:endParaRPr>
          </a:p>
        </p:txBody>
      </p:sp>
      <p:sp>
        <p:nvSpPr>
          <p:cNvPr id="2" name="Title"/>
          <p:cNvSpPr>
            <a:spLocks noGrp="1"/>
          </p:cNvSpPr>
          <p:nvPr>
            <p:ph type="ctrTitle"/>
          </p:nvPr>
        </p:nvSpPr>
        <p:spPr>
          <a:xfrm>
            <a:off x="6021399" y="431612"/>
            <a:ext cx="5334000" cy="1524010"/>
          </a:xfrm>
        </p:spPr>
        <p:txBody>
          <a:bodyPr anchor="t">
            <a:normAutofit/>
          </a:bodyPr>
          <a:lstStyle/>
          <a:p>
            <a:r>
              <a:rPr lang="en-US" sz="4000" dirty="0"/>
              <a:t>Transformers</a:t>
            </a:r>
          </a:p>
        </p:txBody>
      </p:sp>
    </p:spTree>
    <p:extLst>
      <p:ext uri="{BB962C8B-B14F-4D97-AF65-F5344CB8AC3E}">
        <p14:creationId xmlns:p14="http://schemas.microsoft.com/office/powerpoint/2010/main" val="764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4" name="Marcador de contenido 3">
            <a:extLst>
              <a:ext uri="{FF2B5EF4-FFF2-40B4-BE49-F238E27FC236}">
                <a16:creationId xmlns:a16="http://schemas.microsoft.com/office/drawing/2014/main" id="{DF395052-CCB7-863B-E34B-66B63B91A18A}"/>
              </a:ext>
            </a:extLst>
          </p:cNvPr>
          <p:cNvSpPr>
            <a:spLocks noGrp="1"/>
          </p:cNvSpPr>
          <p:nvPr>
            <p:ph idx="1"/>
          </p:nvPr>
        </p:nvSpPr>
        <p:spPr>
          <a:xfrm>
            <a:off x="5212348" y="658210"/>
            <a:ext cx="6395013" cy="4855780"/>
          </a:xfrm>
        </p:spPr>
        <p:txBody>
          <a:bodyPr>
            <a:normAutofit fontScale="85000" lnSpcReduction="20000"/>
          </a:bodyPr>
          <a:lstStyle/>
          <a:p>
            <a:r>
              <a:rPr lang="es-ES" dirty="0"/>
              <a:t>El </a:t>
            </a:r>
            <a:r>
              <a:rPr lang="es-ES" dirty="0" err="1"/>
              <a:t>Transformer</a:t>
            </a:r>
            <a:r>
              <a:rPr lang="es-ES" dirty="0"/>
              <a:t> es un tipo de modelo de aprendizaje profundo que se utiliza comúnmente en tareas de procesamiento del lenguaje natural (PLN) como la traducción, la generación de texto y el análisis de sentimientos (</a:t>
            </a:r>
            <a:r>
              <a:rPr lang="es-ES" dirty="0" err="1"/>
              <a:t>sentiment</a:t>
            </a:r>
            <a:r>
              <a:rPr lang="es-ES" dirty="0"/>
              <a:t> </a:t>
            </a:r>
            <a:r>
              <a:rPr lang="es-ES" dirty="0" err="1"/>
              <a:t>analysis</a:t>
            </a:r>
            <a:r>
              <a:rPr lang="es-ES" dirty="0"/>
              <a:t>).</a:t>
            </a:r>
          </a:p>
          <a:p>
            <a:endParaRPr lang="es-ES" dirty="0"/>
          </a:p>
          <a:p>
            <a:r>
              <a:rPr lang="es-ES" dirty="0"/>
              <a:t>También se puede usar para cualquier tipo de dato que se pueda tratar como una secuencia de tiempo.</a:t>
            </a:r>
            <a:endParaRPr lang="es-CL" dirty="0"/>
          </a:p>
        </p:txBody>
      </p:sp>
    </p:spTree>
    <p:extLst>
      <p:ext uri="{BB962C8B-B14F-4D97-AF65-F5344CB8AC3E}">
        <p14:creationId xmlns:p14="http://schemas.microsoft.com/office/powerpoint/2010/main" val="2669509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8FEF92DA-F2E3-AC76-DD02-D6A6183E2571}"/>
              </a:ext>
            </a:extLst>
          </p:cNvPr>
          <p:cNvSpPr>
            <a:spLocks noGrp="1"/>
          </p:cNvSpPr>
          <p:nvPr>
            <p:ph idx="1"/>
          </p:nvPr>
        </p:nvSpPr>
        <p:spPr>
          <a:xfrm>
            <a:off x="710763" y="1466193"/>
            <a:ext cx="5334000" cy="3810001"/>
          </a:xfrm>
        </p:spPr>
        <p:txBody>
          <a:bodyPr>
            <a:normAutofit fontScale="92500"/>
          </a:bodyPr>
          <a:lstStyle/>
          <a:p>
            <a:pPr>
              <a:lnSpc>
                <a:spcPct val="115000"/>
              </a:lnSpc>
            </a:pPr>
            <a:r>
              <a:rPr lang="es-CL" sz="2400" dirty="0">
                <a:effectLst/>
                <a:latin typeface="Aptos" panose="020B0004020202020204" pitchFamily="34" charset="0"/>
                <a:ea typeface="Aptos" panose="020B0004020202020204" pitchFamily="34" charset="0"/>
                <a:cs typeface="Times New Roman" panose="02020603050405020304" pitchFamily="18" charset="0"/>
              </a:rPr>
              <a:t>En un modelo de </a:t>
            </a:r>
            <a:r>
              <a:rPr lang="es-CL" sz="2400" dirty="0" err="1">
                <a:effectLst/>
                <a:latin typeface="Aptos" panose="020B0004020202020204" pitchFamily="34" charset="0"/>
                <a:ea typeface="Aptos" panose="020B0004020202020204" pitchFamily="34" charset="0"/>
                <a:cs typeface="Times New Roman" panose="02020603050405020304" pitchFamily="18" charset="0"/>
              </a:rPr>
              <a:t>Transformer</a:t>
            </a:r>
            <a:r>
              <a:rPr lang="es-CL" sz="2400" dirty="0">
                <a:effectLst/>
                <a:latin typeface="Aptos" panose="020B0004020202020204" pitchFamily="34" charset="0"/>
                <a:ea typeface="Aptos" panose="020B0004020202020204" pitchFamily="34" charset="0"/>
                <a:cs typeface="Times New Roman" panose="02020603050405020304" pitchFamily="18" charset="0"/>
              </a:rPr>
              <a:t>, las relaciones entre palabras se capturan en el espacio de </a:t>
            </a:r>
            <a:r>
              <a:rPr lang="es-CL" sz="2400" dirty="0" err="1">
                <a:effectLst/>
                <a:latin typeface="Aptos" panose="020B0004020202020204" pitchFamily="34" charset="0"/>
                <a:ea typeface="Aptos" panose="020B0004020202020204" pitchFamily="34" charset="0"/>
                <a:cs typeface="Times New Roman" panose="02020603050405020304" pitchFamily="18" charset="0"/>
              </a:rPr>
              <a:t>embeddings</a:t>
            </a:r>
            <a:r>
              <a:rPr lang="es-CL" sz="2400" dirty="0">
                <a:effectLst/>
                <a:latin typeface="Aptos" panose="020B0004020202020204" pitchFamily="34" charset="0"/>
                <a:ea typeface="Aptos" panose="020B0004020202020204" pitchFamily="34" charset="0"/>
                <a:cs typeface="Times New Roman" panose="02020603050405020304" pitchFamily="18" charset="0"/>
              </a:rPr>
              <a:t>, donde cada palabra se representa como un vector. </a:t>
            </a:r>
          </a:p>
          <a:p>
            <a:pPr>
              <a:lnSpc>
                <a:spcPct val="115000"/>
              </a:lnSpc>
            </a:pPr>
            <a:r>
              <a:rPr lang="es-CL" sz="2400" dirty="0">
                <a:latin typeface="Aptos" panose="020B0004020202020204" pitchFamily="34" charset="0"/>
                <a:cs typeface="Times New Roman" panose="02020603050405020304" pitchFamily="18" charset="0"/>
              </a:rPr>
              <a:t>Estos </a:t>
            </a:r>
            <a:r>
              <a:rPr lang="es-CL" sz="2400" dirty="0" err="1">
                <a:latin typeface="Aptos" panose="020B0004020202020204" pitchFamily="34" charset="0"/>
                <a:cs typeface="Times New Roman" panose="02020603050405020304" pitchFamily="18" charset="0"/>
              </a:rPr>
              <a:t>embeddings</a:t>
            </a:r>
            <a:r>
              <a:rPr lang="es-CL" sz="2400" dirty="0">
                <a:latin typeface="Aptos" panose="020B0004020202020204" pitchFamily="34" charset="0"/>
                <a:cs typeface="Times New Roman" panose="02020603050405020304" pitchFamily="18" charset="0"/>
              </a:rPr>
              <a:t> son redes neuronales que representan tokens (palabras o partes de palabras) en un espacio vectorial que ha sido aprendido durante el entrenamiento.</a:t>
            </a:r>
          </a:p>
          <a:p>
            <a:pPr>
              <a:lnSpc>
                <a:spcPct val="115000"/>
              </a:lnSpc>
            </a:pPr>
            <a:endParaRPr lang="es-CL" sz="2200" dirty="0"/>
          </a:p>
        </p:txBody>
      </p:sp>
      <p:sp>
        <p:nvSpPr>
          <p:cNvPr id="2" name="Title"/>
          <p:cNvSpPr>
            <a:spLocks noGrp="1"/>
          </p:cNvSpPr>
          <p:nvPr>
            <p:ph type="ctrTitle"/>
          </p:nvPr>
        </p:nvSpPr>
        <p:spPr>
          <a:xfrm>
            <a:off x="639817" y="202324"/>
            <a:ext cx="5334000" cy="1524000"/>
          </a:xfrm>
        </p:spPr>
        <p:txBody>
          <a:bodyPr>
            <a:normAutofit/>
          </a:bodyPr>
          <a:lstStyle/>
          <a:p>
            <a:r>
              <a:rPr lang="en-US" sz="3200" dirty="0"/>
              <a:t>Embeddings</a:t>
            </a:r>
          </a:p>
        </p:txBody>
      </p:sp>
      <p:pic>
        <p:nvPicPr>
          <p:cNvPr id="7" name="Imagen 6" descr="Imagen que contiene Gráfico&#10;&#10;Descripción generada automáticamente">
            <a:extLst>
              <a:ext uri="{FF2B5EF4-FFF2-40B4-BE49-F238E27FC236}">
                <a16:creationId xmlns:a16="http://schemas.microsoft.com/office/drawing/2014/main" id="{C51A83C4-4386-179F-44EC-5CB158230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1945005"/>
            <a:ext cx="5334000" cy="2987040"/>
          </a:xfrm>
          <a:prstGeom prst="rect">
            <a:avLst/>
          </a:prstGeom>
        </p:spPr>
      </p:pic>
    </p:spTree>
    <p:extLst>
      <p:ext uri="{BB962C8B-B14F-4D97-AF65-F5344CB8AC3E}">
        <p14:creationId xmlns:p14="http://schemas.microsoft.com/office/powerpoint/2010/main" val="865788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8FEF92DA-F2E3-AC76-DD02-D6A6183E2571}"/>
              </a:ext>
            </a:extLst>
          </p:cNvPr>
          <p:cNvSpPr>
            <a:spLocks noGrp="1"/>
          </p:cNvSpPr>
          <p:nvPr>
            <p:ph idx="1"/>
          </p:nvPr>
        </p:nvSpPr>
        <p:spPr>
          <a:xfrm>
            <a:off x="710763" y="1466193"/>
            <a:ext cx="5334000" cy="4623238"/>
          </a:xfrm>
        </p:spPr>
        <p:txBody>
          <a:bodyPr>
            <a:normAutofit fontScale="92500" lnSpcReduction="10000"/>
          </a:bodyPr>
          <a:lstStyle/>
          <a:p>
            <a:pPr>
              <a:lnSpc>
                <a:spcPct val="115000"/>
              </a:lnSpc>
            </a:pPr>
            <a:r>
              <a:rPr lang="es-CL" sz="2200" dirty="0"/>
              <a:t>Podemos manipular significados con operaciones matemáticas.</a:t>
            </a:r>
          </a:p>
          <a:p>
            <a:pPr>
              <a:lnSpc>
                <a:spcPct val="115000"/>
              </a:lnSpc>
            </a:pPr>
            <a:r>
              <a:rPr lang="es-CL" sz="2200" dirty="0"/>
              <a:t>Imaginemos un espacio vectorial muy simple </a:t>
            </a:r>
            <a:r>
              <a:rPr lang="es-CL" altLang="es-CL" sz="2200" dirty="0"/>
              <a:t>de dos dimensiones donde la primera dimensión representa la nobleza (1 = sin, 2 = con) y la segunda dimensión representa el género (1 = hombre, 2 = mujer), podemos denotar los vectores correspondientes a "rey", "reina", "hombre" y "mujer" de la siguiente manera:</a:t>
            </a:r>
          </a:p>
          <a:p>
            <a:pPr marL="0" indent="0">
              <a:lnSpc>
                <a:spcPct val="115000"/>
              </a:lnSpc>
              <a:buNone/>
            </a:pPr>
            <a:r>
              <a:rPr lang="es-CL" altLang="es-CL" sz="2200" dirty="0"/>
              <a:t>(usamos acá números positivos solo para evitar lidiar con los negativos).</a:t>
            </a:r>
          </a:p>
          <a:p>
            <a:pPr>
              <a:lnSpc>
                <a:spcPct val="115000"/>
              </a:lnSpc>
            </a:pPr>
            <a:endParaRPr lang="es-CL" sz="2200" dirty="0"/>
          </a:p>
          <a:p>
            <a:pPr>
              <a:lnSpc>
                <a:spcPct val="115000"/>
              </a:lnSpc>
            </a:pPr>
            <a:endParaRPr lang="es-CL" sz="2200" dirty="0"/>
          </a:p>
        </p:txBody>
      </p:sp>
      <p:sp>
        <p:nvSpPr>
          <p:cNvPr id="2" name="Title"/>
          <p:cNvSpPr>
            <a:spLocks noGrp="1"/>
          </p:cNvSpPr>
          <p:nvPr>
            <p:ph type="ctrTitle"/>
          </p:nvPr>
        </p:nvSpPr>
        <p:spPr>
          <a:xfrm>
            <a:off x="639817" y="202324"/>
            <a:ext cx="5334000" cy="1524000"/>
          </a:xfrm>
        </p:spPr>
        <p:txBody>
          <a:bodyPr>
            <a:normAutofit/>
          </a:bodyPr>
          <a:lstStyle/>
          <a:p>
            <a:r>
              <a:rPr lang="en-US" sz="3200" dirty="0"/>
              <a:t>Embeddings</a:t>
            </a:r>
          </a:p>
        </p:txBody>
      </p:sp>
      <p:pic>
        <p:nvPicPr>
          <p:cNvPr id="1025" name="Imagen 1" descr="Diagrama&#10;&#10;Descripción generada automáticamente">
            <a:extLst>
              <a:ext uri="{FF2B5EF4-FFF2-40B4-BE49-F238E27FC236}">
                <a16:creationId xmlns:a16="http://schemas.microsoft.com/office/drawing/2014/main" id="{E74501EC-9B4B-5648-C823-84AC460ED9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1355" y="1654175"/>
            <a:ext cx="3961085" cy="33728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11EAAF67-95AD-5A4C-4B14-D2E542D61AEF}"/>
              </a:ext>
            </a:extLst>
          </p:cNvPr>
          <p:cNvSpPr>
            <a:spLocks noChangeArrowheads="1"/>
          </p:cNvSpPr>
          <p:nvPr/>
        </p:nvSpPr>
        <p:spPr bwMode="auto">
          <a:xfrm>
            <a:off x="0" y="22320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spTree>
    <p:extLst>
      <p:ext uri="{BB962C8B-B14F-4D97-AF65-F5344CB8AC3E}">
        <p14:creationId xmlns:p14="http://schemas.microsoft.com/office/powerpoint/2010/main" val="2616333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8FEF92DA-F2E3-AC76-DD02-D6A6183E2571}"/>
              </a:ext>
            </a:extLst>
          </p:cNvPr>
          <p:cNvSpPr>
            <a:spLocks noGrp="1"/>
          </p:cNvSpPr>
          <p:nvPr>
            <p:ph idx="1"/>
          </p:nvPr>
        </p:nvSpPr>
        <p:spPr>
          <a:xfrm>
            <a:off x="710763" y="1466193"/>
            <a:ext cx="9021634" cy="4623238"/>
          </a:xfrm>
        </p:spPr>
        <p:txBody>
          <a:bodyPr>
            <a:normAutofit lnSpcReduction="10000"/>
          </a:bodyPr>
          <a:lstStyle/>
          <a:p>
            <a:pPr>
              <a:lnSpc>
                <a:spcPct val="115000"/>
              </a:lnSpc>
            </a:pPr>
            <a:r>
              <a:rPr lang="es-CL" sz="2400" dirty="0"/>
              <a:t>Para responder a la pregunta "mujer es a hombre como reina es a ___", primero encontramos la diferencia entre "mujer" y "hombre" en términos de género:</a:t>
            </a:r>
          </a:p>
          <a:p>
            <a:pPr>
              <a:lnSpc>
                <a:spcPct val="115000"/>
              </a:lnSpc>
            </a:pPr>
            <a:endParaRPr lang="es-CL" sz="3200" dirty="0"/>
          </a:p>
          <a:p>
            <a:pPr>
              <a:lnSpc>
                <a:spcPct val="115000"/>
              </a:lnSpc>
            </a:pPr>
            <a:endParaRPr lang="es-CL" sz="3200" dirty="0"/>
          </a:p>
          <a:p>
            <a:pPr>
              <a:lnSpc>
                <a:spcPct val="115000"/>
              </a:lnSpc>
            </a:pPr>
            <a:endParaRPr lang="es-CL" sz="3200" dirty="0"/>
          </a:p>
          <a:p>
            <a:pPr>
              <a:lnSpc>
                <a:spcPct val="115000"/>
              </a:lnSpc>
            </a:pPr>
            <a:r>
              <a:rPr lang="es-CL" dirty="0">
                <a:effectLst/>
                <a:latin typeface="Aptos" panose="020B0004020202020204" pitchFamily="34" charset="0"/>
                <a:ea typeface="Aptos" panose="020B0004020202020204" pitchFamily="34" charset="0"/>
                <a:cs typeface="Times New Roman" panose="02020603050405020304" pitchFamily="18" charset="0"/>
              </a:rPr>
              <a:t>Esta diferencia representa el cambio específico necesario para pasar de "hombre" a "mujer" en términos de género. </a:t>
            </a:r>
            <a:endParaRPr lang="es-CL" sz="3200" dirty="0"/>
          </a:p>
        </p:txBody>
      </p:sp>
      <p:sp>
        <p:nvSpPr>
          <p:cNvPr id="2" name="Title"/>
          <p:cNvSpPr>
            <a:spLocks noGrp="1"/>
          </p:cNvSpPr>
          <p:nvPr>
            <p:ph type="ctrTitle"/>
          </p:nvPr>
        </p:nvSpPr>
        <p:spPr>
          <a:xfrm>
            <a:off x="639817" y="202324"/>
            <a:ext cx="5334000" cy="1524000"/>
          </a:xfrm>
        </p:spPr>
        <p:txBody>
          <a:bodyPr>
            <a:normAutofit/>
          </a:bodyPr>
          <a:lstStyle/>
          <a:p>
            <a:r>
              <a:rPr lang="en-US" sz="3200" dirty="0"/>
              <a:t>Embeddings</a:t>
            </a:r>
          </a:p>
        </p:txBody>
      </p:sp>
      <p:pic>
        <p:nvPicPr>
          <p:cNvPr id="3" name="Imagen 2" descr="Imagen que contiene Diagrama&#10;&#10;Descripción generada automáticamente">
            <a:extLst>
              <a:ext uri="{FF2B5EF4-FFF2-40B4-BE49-F238E27FC236}">
                <a16:creationId xmlns:a16="http://schemas.microsoft.com/office/drawing/2014/main" id="{C173FE5D-7184-CF28-984E-55E4AC74DBF4}"/>
              </a:ext>
            </a:extLst>
          </p:cNvPr>
          <p:cNvPicPr>
            <a:picLocks noChangeAspect="1"/>
          </p:cNvPicPr>
          <p:nvPr/>
        </p:nvPicPr>
        <p:blipFill>
          <a:blip r:embed="rId2"/>
          <a:stretch>
            <a:fillRect/>
          </a:stretch>
        </p:blipFill>
        <p:spPr>
          <a:xfrm>
            <a:off x="1371339" y="3125893"/>
            <a:ext cx="6389136" cy="1080322"/>
          </a:xfrm>
          <a:prstGeom prst="rect">
            <a:avLst/>
          </a:prstGeom>
        </p:spPr>
      </p:pic>
    </p:spTree>
    <p:extLst>
      <p:ext uri="{BB962C8B-B14F-4D97-AF65-F5344CB8AC3E}">
        <p14:creationId xmlns:p14="http://schemas.microsoft.com/office/powerpoint/2010/main" val="19800300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8FEF92DA-F2E3-AC76-DD02-D6A6183E2571}"/>
              </a:ext>
            </a:extLst>
          </p:cNvPr>
          <p:cNvSpPr>
            <a:spLocks noGrp="1"/>
          </p:cNvSpPr>
          <p:nvPr>
            <p:ph idx="1"/>
          </p:nvPr>
        </p:nvSpPr>
        <p:spPr>
          <a:xfrm>
            <a:off x="710763" y="1466193"/>
            <a:ext cx="9021634" cy="4623238"/>
          </a:xfrm>
        </p:spPr>
        <p:txBody>
          <a:bodyPr>
            <a:normAutofit/>
          </a:bodyPr>
          <a:lstStyle/>
          <a:p>
            <a:pPr>
              <a:lnSpc>
                <a:spcPct val="115000"/>
              </a:lnSpc>
            </a:pPr>
            <a:r>
              <a:rPr lang="es-CL" sz="2400" dirty="0">
                <a:effectLst/>
                <a:latin typeface="Aptos" panose="020B0004020202020204" pitchFamily="34" charset="0"/>
                <a:ea typeface="Aptos" panose="020B0004020202020204" pitchFamily="34" charset="0"/>
                <a:cs typeface="Times New Roman" panose="02020603050405020304" pitchFamily="18" charset="0"/>
              </a:rPr>
              <a:t>Luego, aplicamos esta misma diferencia a "reina":</a:t>
            </a:r>
          </a:p>
          <a:p>
            <a:pPr>
              <a:lnSpc>
                <a:spcPct val="115000"/>
              </a:lnSpc>
            </a:pPr>
            <a:endParaRPr lang="es-CL" sz="24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pPr>
            <a:endParaRPr lang="es-CL" sz="24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pPr>
            <a:endParaRPr lang="es-CL" sz="24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pPr>
            <a:r>
              <a:rPr lang="es-CL" sz="2400" kern="100" dirty="0">
                <a:effectLst/>
                <a:latin typeface="Aptos" panose="020B0004020202020204" pitchFamily="34" charset="0"/>
                <a:ea typeface="Aptos" panose="020B0004020202020204" pitchFamily="34" charset="0"/>
                <a:cs typeface="Times New Roman" panose="02020603050405020304" pitchFamily="18" charset="0"/>
              </a:rPr>
              <a:t>Por lo tanto, matemáticamente, la respuesta sería "reina", ya que es la versión femenina de "rey" en términos de género, al igual que "mujer" es la versión femenina de "hombre".</a:t>
            </a:r>
          </a:p>
          <a:p>
            <a:pPr>
              <a:lnSpc>
                <a:spcPct val="115000"/>
              </a:lnSpc>
            </a:pPr>
            <a:endParaRPr lang="es-CL" sz="3200" dirty="0"/>
          </a:p>
        </p:txBody>
      </p:sp>
      <p:sp>
        <p:nvSpPr>
          <p:cNvPr id="2" name="Title"/>
          <p:cNvSpPr>
            <a:spLocks noGrp="1"/>
          </p:cNvSpPr>
          <p:nvPr>
            <p:ph type="ctrTitle"/>
          </p:nvPr>
        </p:nvSpPr>
        <p:spPr>
          <a:xfrm>
            <a:off x="639817" y="202324"/>
            <a:ext cx="5334000" cy="1524000"/>
          </a:xfrm>
        </p:spPr>
        <p:txBody>
          <a:bodyPr>
            <a:normAutofit/>
          </a:bodyPr>
          <a:lstStyle/>
          <a:p>
            <a:r>
              <a:rPr lang="en-US" sz="3200" dirty="0"/>
              <a:t>Embeddings</a:t>
            </a:r>
          </a:p>
        </p:txBody>
      </p:sp>
      <p:pic>
        <p:nvPicPr>
          <p:cNvPr id="5" name="Imagen 4" descr="Carta&#10;&#10;Descripción generada automáticamente con confianza baja">
            <a:extLst>
              <a:ext uri="{FF2B5EF4-FFF2-40B4-BE49-F238E27FC236}">
                <a16:creationId xmlns:a16="http://schemas.microsoft.com/office/drawing/2014/main" id="{18E4A495-5664-702C-1B03-4222B8395CD2}"/>
              </a:ext>
            </a:extLst>
          </p:cNvPr>
          <p:cNvPicPr>
            <a:picLocks noChangeAspect="1"/>
          </p:cNvPicPr>
          <p:nvPr/>
        </p:nvPicPr>
        <p:blipFill>
          <a:blip r:embed="rId2"/>
          <a:stretch>
            <a:fillRect/>
          </a:stretch>
        </p:blipFill>
        <p:spPr>
          <a:xfrm>
            <a:off x="1219199" y="2294444"/>
            <a:ext cx="7318167" cy="971944"/>
          </a:xfrm>
          <a:prstGeom prst="rect">
            <a:avLst/>
          </a:prstGeom>
        </p:spPr>
      </p:pic>
    </p:spTree>
    <p:extLst>
      <p:ext uri="{BB962C8B-B14F-4D97-AF65-F5344CB8AC3E}">
        <p14:creationId xmlns:p14="http://schemas.microsoft.com/office/powerpoint/2010/main" val="3617980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4" name="Marcador de contenido 3">
            <a:extLst>
              <a:ext uri="{FF2B5EF4-FFF2-40B4-BE49-F238E27FC236}">
                <a16:creationId xmlns:a16="http://schemas.microsoft.com/office/drawing/2014/main" id="{DF395052-CCB7-863B-E34B-66B63B91A18A}"/>
              </a:ext>
            </a:extLst>
          </p:cNvPr>
          <p:cNvSpPr>
            <a:spLocks noGrp="1"/>
          </p:cNvSpPr>
          <p:nvPr>
            <p:ph idx="1"/>
          </p:nvPr>
        </p:nvSpPr>
        <p:spPr>
          <a:xfrm>
            <a:off x="5082283" y="381664"/>
            <a:ext cx="6395013" cy="6154308"/>
          </a:xfrm>
        </p:spPr>
        <p:txBody>
          <a:bodyPr>
            <a:normAutofit fontScale="85000" lnSpcReduction="20000"/>
          </a:bodyPr>
          <a:lstStyle/>
          <a:p>
            <a:r>
              <a:rPr lang="es-ES" dirty="0"/>
              <a:t>El </a:t>
            </a:r>
            <a:r>
              <a:rPr lang="es-ES" dirty="0" err="1"/>
              <a:t>Transformer</a:t>
            </a:r>
            <a:r>
              <a:rPr lang="es-ES" dirty="0"/>
              <a:t> está compuesto por varias capas de neuronas artificiales que trabajan juntas para convertir el texto de entrada en texto de salida. </a:t>
            </a:r>
          </a:p>
          <a:p>
            <a:r>
              <a:rPr lang="es-ES" dirty="0"/>
              <a:t>El concepto central de los Transformers es el de “atención”. </a:t>
            </a:r>
          </a:p>
          <a:p>
            <a:r>
              <a:rPr lang="es-ES" dirty="0"/>
              <a:t>Intuitivamente, la atención se refiere a qué palabras se debe prestar atención al asignar significado a una palabra x de un texto.</a:t>
            </a:r>
          </a:p>
          <a:p>
            <a:r>
              <a:rPr lang="es-CL" dirty="0"/>
              <a:t>Para seguir con nuestro ejemplo: </a:t>
            </a:r>
            <a:r>
              <a:rPr lang="es-CL" sz="2800" dirty="0"/>
              <a:t>“</a:t>
            </a:r>
            <a:r>
              <a:rPr lang="es-CL" sz="2800" dirty="0">
                <a:solidFill>
                  <a:srgbClr val="0070C0">
                    <a:alpha val="70000"/>
                  </a:srgbClr>
                </a:solidFill>
              </a:rPr>
              <a:t>Pedro</a:t>
            </a:r>
            <a:r>
              <a:rPr lang="es-CL" sz="2800" dirty="0"/>
              <a:t> salió de la biblioteca y se fue caminando hasta la oficina de </a:t>
            </a:r>
            <a:r>
              <a:rPr lang="es-CL" sz="2800" dirty="0">
                <a:solidFill>
                  <a:srgbClr val="0070C0">
                    <a:alpha val="70000"/>
                  </a:srgbClr>
                </a:solidFill>
              </a:rPr>
              <a:t>Juan</a:t>
            </a:r>
            <a:r>
              <a:rPr lang="es-CL" sz="2800" dirty="0"/>
              <a:t>. Al llegar, </a:t>
            </a:r>
            <a:r>
              <a:rPr lang="es-CL" sz="2800" dirty="0">
                <a:solidFill>
                  <a:srgbClr val="0070C0">
                    <a:alpha val="70000"/>
                  </a:srgbClr>
                </a:solidFill>
              </a:rPr>
              <a:t>él</a:t>
            </a:r>
            <a:r>
              <a:rPr lang="es-CL" sz="2800" dirty="0"/>
              <a:t> le comentó que se había </a:t>
            </a:r>
            <a:r>
              <a:rPr lang="es-CL" sz="2800" dirty="0">
                <a:solidFill>
                  <a:srgbClr val="0070C0">
                    <a:alpha val="70000"/>
                  </a:srgbClr>
                </a:solidFill>
              </a:rPr>
              <a:t>cansado</a:t>
            </a:r>
            <a:r>
              <a:rPr lang="es-CL" sz="2800" dirty="0"/>
              <a:t>.”</a:t>
            </a:r>
            <a:endParaRPr lang="en-US" sz="2800" dirty="0"/>
          </a:p>
          <a:p>
            <a:endParaRPr lang="es-CL" dirty="0"/>
          </a:p>
        </p:txBody>
      </p:sp>
    </p:spTree>
    <p:extLst>
      <p:ext uri="{BB962C8B-B14F-4D97-AF65-F5344CB8AC3E}">
        <p14:creationId xmlns:p14="http://schemas.microsoft.com/office/powerpoint/2010/main" val="22950756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4" name="Marcador de contenido 3">
            <a:extLst>
              <a:ext uri="{FF2B5EF4-FFF2-40B4-BE49-F238E27FC236}">
                <a16:creationId xmlns:a16="http://schemas.microsoft.com/office/drawing/2014/main" id="{DF395052-CCB7-863B-E34B-66B63B91A18A}"/>
              </a:ext>
            </a:extLst>
          </p:cNvPr>
          <p:cNvSpPr>
            <a:spLocks noGrp="1"/>
          </p:cNvSpPr>
          <p:nvPr>
            <p:ph idx="1"/>
          </p:nvPr>
        </p:nvSpPr>
        <p:spPr>
          <a:xfrm>
            <a:off x="5034986" y="596348"/>
            <a:ext cx="6395013" cy="5844209"/>
          </a:xfrm>
        </p:spPr>
        <p:txBody>
          <a:bodyPr>
            <a:normAutofit fontScale="92500" lnSpcReduction="20000"/>
          </a:bodyPr>
          <a:lstStyle/>
          <a:p>
            <a:r>
              <a:rPr lang="es-ES" dirty="0"/>
              <a:t>Veamos un ejemplo sencillo para darnos una idea del funcionamiento de los Transformers, usando las palabras “gato”, “perro”, “león” y “tigre”.</a:t>
            </a:r>
          </a:p>
          <a:p>
            <a:r>
              <a:rPr lang="es-ES" dirty="0"/>
              <a:t>las dimensiones son "ferocidad" (1 para no feroz, 2 para feroz) y "familia" (1 para cánido, 2 para felino). Las representaciones vectoriales serán:</a:t>
            </a:r>
          </a:p>
          <a:p>
            <a:pPr>
              <a:buFont typeface="Arial" panose="020B0604020202020204" pitchFamily="34" charset="0"/>
              <a:buChar char="•"/>
            </a:pPr>
            <a:r>
              <a:rPr lang="es-ES" dirty="0"/>
              <a:t>"gato": (1, 2) // no feroz, felino</a:t>
            </a:r>
          </a:p>
          <a:p>
            <a:pPr>
              <a:buFont typeface="Arial" panose="020B0604020202020204" pitchFamily="34" charset="0"/>
              <a:buChar char="•"/>
            </a:pPr>
            <a:r>
              <a:rPr lang="es-ES" dirty="0"/>
              <a:t>"perro": (1, 1) // no feroz, cánido</a:t>
            </a:r>
          </a:p>
          <a:p>
            <a:pPr>
              <a:buFont typeface="Arial" panose="020B0604020202020204" pitchFamily="34" charset="0"/>
              <a:buChar char="•"/>
            </a:pPr>
            <a:r>
              <a:rPr lang="es-ES" dirty="0"/>
              <a:t>"león": (2, 2) // feroz, felino</a:t>
            </a:r>
          </a:p>
          <a:p>
            <a:pPr>
              <a:buFont typeface="Arial" panose="020B0604020202020204" pitchFamily="34" charset="0"/>
              <a:buChar char="•"/>
            </a:pPr>
            <a:r>
              <a:rPr lang="es-ES" dirty="0"/>
              <a:t>"tigre": (2, 2) // feroz, felino</a:t>
            </a:r>
          </a:p>
          <a:p>
            <a:endParaRPr lang="es-CL" dirty="0"/>
          </a:p>
        </p:txBody>
      </p:sp>
    </p:spTree>
    <p:extLst>
      <p:ext uri="{BB962C8B-B14F-4D97-AF65-F5344CB8AC3E}">
        <p14:creationId xmlns:p14="http://schemas.microsoft.com/office/powerpoint/2010/main" val="1725017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4" name="Marcador de contenido 3">
            <a:extLst>
              <a:ext uri="{FF2B5EF4-FFF2-40B4-BE49-F238E27FC236}">
                <a16:creationId xmlns:a16="http://schemas.microsoft.com/office/drawing/2014/main" id="{DF395052-CCB7-863B-E34B-66B63B91A18A}"/>
              </a:ext>
            </a:extLst>
          </p:cNvPr>
          <p:cNvSpPr>
            <a:spLocks noGrp="1"/>
          </p:cNvSpPr>
          <p:nvPr>
            <p:ph idx="1"/>
          </p:nvPr>
        </p:nvSpPr>
        <p:spPr>
          <a:xfrm>
            <a:off x="5034986" y="500932"/>
            <a:ext cx="6395013" cy="5603151"/>
          </a:xfrm>
        </p:spPr>
        <p:txBody>
          <a:bodyPr>
            <a:normAutofit fontScale="92500" lnSpcReduction="10000"/>
          </a:bodyPr>
          <a:lstStyle/>
          <a:p>
            <a:pPr>
              <a:buFont typeface="Arial" panose="020B0604020202020204" pitchFamily="34" charset="0"/>
              <a:buChar char="•"/>
            </a:pPr>
            <a:endParaRPr lang="es-ES" dirty="0"/>
          </a:p>
          <a:p>
            <a:r>
              <a:rPr lang="es-ES" dirty="0"/>
              <a:t>Supongamos que queremos calcular la atención en relación a la palabra "gato".</a:t>
            </a:r>
          </a:p>
          <a:p>
            <a:pPr>
              <a:buFont typeface="+mj-lt"/>
              <a:buAutoNum type="arabicPeriod"/>
            </a:pPr>
            <a:r>
              <a:rPr lang="es-ES" b="1" dirty="0"/>
              <a:t>Representaciones de Consulta, Clave y Valor</a:t>
            </a:r>
            <a:r>
              <a:rPr lang="es-ES" dirty="0"/>
              <a:t>:</a:t>
            </a:r>
          </a:p>
          <a:p>
            <a:pPr marL="742950" lvl="1" indent="-285750">
              <a:buFont typeface="+mj-lt"/>
              <a:buAutoNum type="arabicPeriod"/>
            </a:pPr>
            <a:r>
              <a:rPr lang="es-ES" b="1" dirty="0"/>
              <a:t>Consulta (</a:t>
            </a:r>
            <a:r>
              <a:rPr lang="es-ES" b="1" dirty="0" err="1"/>
              <a:t>Query</a:t>
            </a:r>
            <a:r>
              <a:rPr lang="es-ES" b="1" dirty="0"/>
              <a:t>)</a:t>
            </a:r>
            <a:r>
              <a:rPr lang="es-ES" dirty="0"/>
              <a:t>: El vector de "gato" es la consulta.</a:t>
            </a:r>
          </a:p>
          <a:p>
            <a:pPr marL="742950" lvl="1" indent="-285750">
              <a:buFont typeface="+mj-lt"/>
              <a:buAutoNum type="arabicPeriod"/>
            </a:pPr>
            <a:r>
              <a:rPr lang="es-ES" b="1" dirty="0"/>
              <a:t>Clave (Key)</a:t>
            </a:r>
            <a:r>
              <a:rPr lang="es-ES" dirty="0"/>
              <a:t>: Los vectores de todas las palabras en la oración son las claves.</a:t>
            </a:r>
          </a:p>
          <a:p>
            <a:pPr marL="742950" lvl="1" indent="-285750">
              <a:buFont typeface="+mj-lt"/>
              <a:buAutoNum type="arabicPeriod"/>
            </a:pPr>
            <a:r>
              <a:rPr lang="es-ES" b="1" dirty="0"/>
              <a:t>Valor (</a:t>
            </a:r>
            <a:r>
              <a:rPr lang="es-ES" b="1" dirty="0" err="1"/>
              <a:t>Value</a:t>
            </a:r>
            <a:r>
              <a:rPr lang="es-ES" b="1" dirty="0"/>
              <a:t>)</a:t>
            </a:r>
            <a:r>
              <a:rPr lang="es-ES" dirty="0"/>
              <a:t>: Los mismos vectores son los valores.</a:t>
            </a:r>
          </a:p>
          <a:p>
            <a:endParaRPr lang="es-CL" dirty="0"/>
          </a:p>
        </p:txBody>
      </p:sp>
    </p:spTree>
    <p:extLst>
      <p:ext uri="{BB962C8B-B14F-4D97-AF65-F5344CB8AC3E}">
        <p14:creationId xmlns:p14="http://schemas.microsoft.com/office/powerpoint/2010/main" val="35159907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4" name="Marcador de contenido 3">
            <a:extLst>
              <a:ext uri="{FF2B5EF4-FFF2-40B4-BE49-F238E27FC236}">
                <a16:creationId xmlns:a16="http://schemas.microsoft.com/office/drawing/2014/main" id="{DF395052-CCB7-863B-E34B-66B63B91A18A}"/>
              </a:ext>
            </a:extLst>
          </p:cNvPr>
          <p:cNvSpPr>
            <a:spLocks noGrp="1"/>
          </p:cNvSpPr>
          <p:nvPr>
            <p:ph idx="1"/>
          </p:nvPr>
        </p:nvSpPr>
        <p:spPr>
          <a:xfrm>
            <a:off x="5034986" y="500932"/>
            <a:ext cx="6395013" cy="5603151"/>
          </a:xfrm>
        </p:spPr>
        <p:txBody>
          <a:bodyPr>
            <a:normAutofit lnSpcReduction="10000"/>
          </a:bodyPr>
          <a:lstStyle/>
          <a:p>
            <a:pPr>
              <a:buFont typeface="Arial" panose="020B0604020202020204" pitchFamily="34" charset="0"/>
              <a:buChar char="•"/>
            </a:pPr>
            <a:endParaRPr lang="es-ES" dirty="0"/>
          </a:p>
          <a:p>
            <a:r>
              <a:rPr lang="es-ES" dirty="0"/>
              <a:t>Entones, </a:t>
            </a:r>
          </a:p>
          <a:p>
            <a:r>
              <a:rPr lang="es-CL" dirty="0"/>
              <a:t>Representaciones:</a:t>
            </a:r>
          </a:p>
          <a:p>
            <a:pPr>
              <a:buFont typeface="Arial" panose="020B0604020202020204" pitchFamily="34" charset="0"/>
              <a:buChar char="•"/>
            </a:pPr>
            <a:r>
              <a:rPr lang="es-CL" dirty="0"/>
              <a:t>Consulta (Q) para "gato": (1, 2)</a:t>
            </a:r>
          </a:p>
          <a:p>
            <a:pPr>
              <a:buFont typeface="Arial" panose="020B0604020202020204" pitchFamily="34" charset="0"/>
              <a:buChar char="•"/>
            </a:pPr>
            <a:r>
              <a:rPr lang="es-CL" dirty="0"/>
              <a:t>Claves (K) y Valores (V) para "gato", "perro", "león", "tigre":</a:t>
            </a:r>
          </a:p>
          <a:p>
            <a:pPr marL="742950" lvl="1" indent="-285750">
              <a:buFont typeface="Arial" panose="020B0604020202020204" pitchFamily="34" charset="0"/>
              <a:buChar char="•"/>
            </a:pPr>
            <a:r>
              <a:rPr lang="es-CL" dirty="0"/>
              <a:t>"gato": (1, 2)</a:t>
            </a:r>
          </a:p>
          <a:p>
            <a:pPr marL="742950" lvl="1" indent="-285750">
              <a:buFont typeface="Arial" panose="020B0604020202020204" pitchFamily="34" charset="0"/>
              <a:buChar char="•"/>
            </a:pPr>
            <a:r>
              <a:rPr lang="es-CL" dirty="0"/>
              <a:t>"perro": (1, 1)</a:t>
            </a:r>
          </a:p>
          <a:p>
            <a:pPr marL="742950" lvl="1" indent="-285750">
              <a:buFont typeface="Arial" panose="020B0604020202020204" pitchFamily="34" charset="0"/>
              <a:buChar char="•"/>
            </a:pPr>
            <a:r>
              <a:rPr lang="es-CL" dirty="0"/>
              <a:t>"león": (2, 2)</a:t>
            </a:r>
          </a:p>
          <a:p>
            <a:pPr marL="742950" lvl="1" indent="-285750">
              <a:buFont typeface="Arial" panose="020B0604020202020204" pitchFamily="34" charset="0"/>
              <a:buChar char="•"/>
            </a:pPr>
            <a:r>
              <a:rPr lang="es-CL" dirty="0"/>
              <a:t>"tigre": (2, 2)</a:t>
            </a:r>
          </a:p>
          <a:p>
            <a:endParaRPr lang="es-ES" dirty="0"/>
          </a:p>
          <a:p>
            <a:endParaRPr lang="es-CL" dirty="0"/>
          </a:p>
        </p:txBody>
      </p:sp>
    </p:spTree>
    <p:extLst>
      <p:ext uri="{BB962C8B-B14F-4D97-AF65-F5344CB8AC3E}">
        <p14:creationId xmlns:p14="http://schemas.microsoft.com/office/powerpoint/2010/main" val="2157693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10" name="CuadroTexto 9">
            <a:extLst>
              <a:ext uri="{FF2B5EF4-FFF2-40B4-BE49-F238E27FC236}">
                <a16:creationId xmlns:a16="http://schemas.microsoft.com/office/drawing/2014/main" id="{D547F8C3-4557-1DA4-8FFA-A30B0ED077B7}"/>
              </a:ext>
            </a:extLst>
          </p:cNvPr>
          <p:cNvSpPr txBox="1"/>
          <p:nvPr/>
        </p:nvSpPr>
        <p:spPr>
          <a:xfrm>
            <a:off x="4197568" y="2186739"/>
            <a:ext cx="7732849" cy="3701975"/>
          </a:xfrm>
          <a:prstGeom prst="rect">
            <a:avLst/>
          </a:prstGeom>
          <a:noFill/>
        </p:spPr>
        <p:txBody>
          <a:bodyPr wrap="square" rtlCol="0">
            <a:spAutoFit/>
          </a:bodyPr>
          <a:lstStyle/>
          <a:p>
            <a:pPr>
              <a:lnSpc>
                <a:spcPct val="107000"/>
              </a:lnSpc>
              <a:spcAft>
                <a:spcPts val="800"/>
              </a:spcAft>
            </a:pPr>
            <a:r>
              <a:rPr lang="es-CL" sz="2800" kern="0" dirty="0">
                <a:effectLst/>
                <a:latin typeface="Symbol" panose="05050102010706020507" pitchFamily="18" charset="2"/>
                <a:ea typeface="Times New Roman" panose="02020603050405020304" pitchFamily="18" charset="0"/>
                <a:cs typeface="Times New Roman" panose="02020603050405020304" pitchFamily="18" charset="0"/>
              </a:rPr>
              <a:t>·</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CL" sz="2800" b="1" kern="0" dirty="0">
                <a:effectLst/>
                <a:latin typeface="Times New Roman" panose="02020603050405020304" pitchFamily="18" charset="0"/>
                <a:ea typeface="Times New Roman" panose="02020603050405020304" pitchFamily="18" charset="0"/>
                <a:cs typeface="Times New Roman" panose="02020603050405020304" pitchFamily="18" charset="0"/>
              </a:rPr>
              <a:t>Cálculo de Similitud</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 Para simplificar, utilizamos el </a:t>
            </a:r>
            <a:r>
              <a:rPr lang="es-CL" sz="2800" u="sng" kern="0" dirty="0">
                <a:effectLst/>
                <a:latin typeface="Times New Roman" panose="02020603050405020304" pitchFamily="18" charset="0"/>
                <a:ea typeface="Times New Roman" panose="02020603050405020304" pitchFamily="18" charset="0"/>
                <a:cs typeface="Times New Roman" panose="02020603050405020304" pitchFamily="18" charset="0"/>
              </a:rPr>
              <a:t>producto escalar </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para calcular la similitud entre la consulta y cada clave.</a:t>
            </a:r>
            <a:endParaRPr lang="es-CL" sz="2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Similitud(Q</a:t>
            </a:r>
            <a:r>
              <a:rPr lang="es-CL" sz="2800" kern="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,Kgato) = (1</a:t>
            </a:r>
            <a:r>
              <a:rPr lang="es-CL" sz="2800" kern="0" dirty="0">
                <a:effectLst/>
                <a:latin typeface="Cambria Math" panose="02040503050406030204" pitchFamily="18" charset="0"/>
                <a:ea typeface="Times New Roman" panose="02020603050405020304" pitchFamily="18" charset="0"/>
                <a:cs typeface="Cambria Math" panose="02040503050406030204" pitchFamily="18" charset="0"/>
              </a:rPr>
              <a:t>⋅</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s-CL" sz="2800" kern="0" dirty="0">
                <a:effectLst/>
                <a:latin typeface="Cambria Math" panose="02040503050406030204" pitchFamily="18" charset="0"/>
                <a:ea typeface="Times New Roman" panose="02020603050405020304" pitchFamily="18" charset="0"/>
                <a:cs typeface="Cambria Math" panose="02040503050406030204" pitchFamily="18" charset="0"/>
              </a:rPr>
              <a:t>⋅</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2) = 1+4 = 5</a:t>
            </a:r>
          </a:p>
          <a:p>
            <a:pPr>
              <a:lnSpc>
                <a:spcPct val="107000"/>
              </a:lnSpc>
              <a:spcAft>
                <a:spcPts val="800"/>
              </a:spcAft>
            </a:pP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Similitud(Q</a:t>
            </a:r>
            <a:r>
              <a:rPr lang="es-CL" sz="2800" kern="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,Kperro) = (1</a:t>
            </a:r>
            <a:r>
              <a:rPr lang="es-CL" sz="2800" kern="0" dirty="0">
                <a:effectLst/>
                <a:latin typeface="Cambria Math" panose="02040503050406030204" pitchFamily="18" charset="0"/>
                <a:ea typeface="Times New Roman" panose="02020603050405020304" pitchFamily="18" charset="0"/>
                <a:cs typeface="Cambria Math" panose="02040503050406030204" pitchFamily="18" charset="0"/>
              </a:rPr>
              <a:t>⋅</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s-CL" sz="2800" kern="0" dirty="0">
                <a:effectLst/>
                <a:latin typeface="Cambria Math" panose="02040503050406030204" pitchFamily="18" charset="0"/>
                <a:ea typeface="Times New Roman" panose="02020603050405020304" pitchFamily="18" charset="0"/>
                <a:cs typeface="Cambria Math" panose="02040503050406030204" pitchFamily="18" charset="0"/>
              </a:rPr>
              <a:t>⋅</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1) = 1+2 =3</a:t>
            </a:r>
          </a:p>
          <a:p>
            <a:pPr>
              <a:lnSpc>
                <a:spcPct val="107000"/>
              </a:lnSpc>
              <a:spcAft>
                <a:spcPts val="800"/>
              </a:spcAft>
            </a:pP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Similitud(Q</a:t>
            </a:r>
            <a:r>
              <a:rPr lang="es-CL" sz="2800" kern="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,Kleón) = (1</a:t>
            </a:r>
            <a:r>
              <a:rPr lang="es-CL" sz="2800" kern="0" dirty="0">
                <a:effectLst/>
                <a:latin typeface="Cambria Math" panose="02040503050406030204" pitchFamily="18" charset="0"/>
                <a:ea typeface="Times New Roman" panose="02020603050405020304" pitchFamily="18" charset="0"/>
                <a:cs typeface="Cambria Math" panose="02040503050406030204" pitchFamily="18" charset="0"/>
              </a:rPr>
              <a:t>⋅</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2)+(2</a:t>
            </a:r>
            <a:r>
              <a:rPr lang="es-CL" sz="2800" kern="0" dirty="0">
                <a:effectLst/>
                <a:latin typeface="Cambria Math" panose="02040503050406030204" pitchFamily="18" charset="0"/>
                <a:ea typeface="Times New Roman" panose="02020603050405020304" pitchFamily="18" charset="0"/>
                <a:cs typeface="Cambria Math" panose="02040503050406030204" pitchFamily="18" charset="0"/>
              </a:rPr>
              <a:t>⋅</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2) = 2+4 = 6</a:t>
            </a:r>
          </a:p>
          <a:p>
            <a:pPr>
              <a:lnSpc>
                <a:spcPct val="107000"/>
              </a:lnSpc>
              <a:spcAft>
                <a:spcPts val="800"/>
              </a:spcAft>
            </a:pP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Similitud(Q</a:t>
            </a:r>
            <a:r>
              <a:rPr lang="es-CL" sz="2800" kern="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,Ktigre) = (1</a:t>
            </a:r>
            <a:r>
              <a:rPr lang="es-CL" sz="2800" kern="0" dirty="0">
                <a:effectLst/>
                <a:latin typeface="Cambria Math" panose="02040503050406030204" pitchFamily="18" charset="0"/>
                <a:ea typeface="Times New Roman" panose="02020603050405020304" pitchFamily="18" charset="0"/>
                <a:cs typeface="Cambria Math" panose="02040503050406030204" pitchFamily="18" charset="0"/>
              </a:rPr>
              <a:t>⋅</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2)+(2</a:t>
            </a:r>
            <a:r>
              <a:rPr lang="es-CL" sz="2800" kern="0" dirty="0">
                <a:effectLst/>
                <a:latin typeface="Cambria Math" panose="02040503050406030204" pitchFamily="18" charset="0"/>
                <a:ea typeface="Times New Roman" panose="02020603050405020304" pitchFamily="18" charset="0"/>
                <a:cs typeface="Cambria Math" panose="02040503050406030204" pitchFamily="18" charset="0"/>
              </a:rPr>
              <a:t>⋅</a:t>
            </a:r>
            <a:r>
              <a:rPr lang="es-CL" sz="2800" kern="0" dirty="0">
                <a:effectLst/>
                <a:latin typeface="Times New Roman" panose="02020603050405020304" pitchFamily="18" charset="0"/>
                <a:ea typeface="Times New Roman" panose="02020603050405020304" pitchFamily="18" charset="0"/>
                <a:cs typeface="Times New Roman" panose="02020603050405020304" pitchFamily="18" charset="0"/>
              </a:rPr>
              <a:t>2) = 2+4 =6</a:t>
            </a:r>
            <a:endParaRPr lang="es-CL" dirty="0"/>
          </a:p>
        </p:txBody>
      </p:sp>
    </p:spTree>
    <p:extLst>
      <p:ext uri="{BB962C8B-B14F-4D97-AF65-F5344CB8AC3E}">
        <p14:creationId xmlns:p14="http://schemas.microsoft.com/office/powerpoint/2010/main" val="12183950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10" name="CuadroTexto 9">
            <a:extLst>
              <a:ext uri="{FF2B5EF4-FFF2-40B4-BE49-F238E27FC236}">
                <a16:creationId xmlns:a16="http://schemas.microsoft.com/office/drawing/2014/main" id="{D547F8C3-4557-1DA4-8FFA-A30B0ED077B7}"/>
              </a:ext>
            </a:extLst>
          </p:cNvPr>
          <p:cNvSpPr txBox="1"/>
          <p:nvPr/>
        </p:nvSpPr>
        <p:spPr>
          <a:xfrm>
            <a:off x="4197568" y="2186739"/>
            <a:ext cx="7732849" cy="1864998"/>
          </a:xfrm>
          <a:prstGeom prst="rect">
            <a:avLst/>
          </a:prstGeom>
          <a:noFill/>
        </p:spPr>
        <p:txBody>
          <a:bodyPr wrap="square" rtlCol="0">
            <a:spAutoFit/>
          </a:bodyPr>
          <a:lstStyle/>
          <a:p>
            <a:pPr>
              <a:lnSpc>
                <a:spcPct val="107000"/>
              </a:lnSpc>
              <a:spcAft>
                <a:spcPts val="800"/>
              </a:spcAft>
            </a:pPr>
            <a:r>
              <a:rPr lang="es-ES" dirty="0"/>
              <a:t>Aplicamos la función </a:t>
            </a:r>
            <a:r>
              <a:rPr lang="es-ES" dirty="0" err="1"/>
              <a:t>softmax</a:t>
            </a:r>
            <a:r>
              <a:rPr lang="es-ES" dirty="0"/>
              <a:t> para obtener las puntuaciones de atención:</a:t>
            </a:r>
          </a:p>
          <a:p>
            <a:pPr>
              <a:lnSpc>
                <a:spcPct val="107000"/>
              </a:lnSpc>
              <a:spcAft>
                <a:spcPts val="800"/>
              </a:spcAft>
            </a:pPr>
            <a:endParaRPr lang="es-CL" dirty="0"/>
          </a:p>
          <a:p>
            <a:pPr>
              <a:lnSpc>
                <a:spcPct val="107000"/>
              </a:lnSpc>
              <a:spcAft>
                <a:spcPts val="800"/>
              </a:spcAft>
            </a:pPr>
            <a:endParaRPr lang="es-CL" dirty="0"/>
          </a:p>
          <a:p>
            <a:pPr>
              <a:lnSpc>
                <a:spcPct val="107000"/>
              </a:lnSpc>
              <a:spcAft>
                <a:spcPts val="800"/>
              </a:spcAft>
            </a:pPr>
            <a:endParaRPr lang="es-CL" dirty="0"/>
          </a:p>
        </p:txBody>
      </p:sp>
      <p:pic>
        <p:nvPicPr>
          <p:cNvPr id="4" name="Imagen 3">
            <a:extLst>
              <a:ext uri="{FF2B5EF4-FFF2-40B4-BE49-F238E27FC236}">
                <a16:creationId xmlns:a16="http://schemas.microsoft.com/office/drawing/2014/main" id="{01711318-2BC6-71E9-FBB0-273A2B0E9086}"/>
              </a:ext>
            </a:extLst>
          </p:cNvPr>
          <p:cNvPicPr>
            <a:picLocks noChangeAspect="1"/>
          </p:cNvPicPr>
          <p:nvPr/>
        </p:nvPicPr>
        <p:blipFill>
          <a:blip r:embed="rId2"/>
          <a:stretch>
            <a:fillRect/>
          </a:stretch>
        </p:blipFill>
        <p:spPr>
          <a:xfrm>
            <a:off x="4362300" y="3072734"/>
            <a:ext cx="3467400" cy="712532"/>
          </a:xfrm>
          <a:prstGeom prst="rect">
            <a:avLst/>
          </a:prstGeom>
        </p:spPr>
      </p:pic>
      <p:pic>
        <p:nvPicPr>
          <p:cNvPr id="5" name="Imagen 4">
            <a:extLst>
              <a:ext uri="{FF2B5EF4-FFF2-40B4-BE49-F238E27FC236}">
                <a16:creationId xmlns:a16="http://schemas.microsoft.com/office/drawing/2014/main" id="{5BB32806-532F-7998-DF77-BAD8BE24D303}"/>
              </a:ext>
            </a:extLst>
          </p:cNvPr>
          <p:cNvPicPr>
            <a:picLocks noChangeAspect="1"/>
          </p:cNvPicPr>
          <p:nvPr/>
        </p:nvPicPr>
        <p:blipFill>
          <a:blip r:embed="rId3"/>
          <a:stretch>
            <a:fillRect/>
          </a:stretch>
        </p:blipFill>
        <p:spPr>
          <a:xfrm>
            <a:off x="8107052" y="3880859"/>
            <a:ext cx="3573129" cy="2428635"/>
          </a:xfrm>
          <a:prstGeom prst="rect">
            <a:avLst/>
          </a:prstGeom>
        </p:spPr>
      </p:pic>
    </p:spTree>
    <p:extLst>
      <p:ext uri="{BB962C8B-B14F-4D97-AF65-F5344CB8AC3E}">
        <p14:creationId xmlns:p14="http://schemas.microsoft.com/office/powerpoint/2010/main" val="25095316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10" name="CuadroTexto 9">
            <a:extLst>
              <a:ext uri="{FF2B5EF4-FFF2-40B4-BE49-F238E27FC236}">
                <a16:creationId xmlns:a16="http://schemas.microsoft.com/office/drawing/2014/main" id="{D547F8C3-4557-1DA4-8FFA-A30B0ED077B7}"/>
              </a:ext>
            </a:extLst>
          </p:cNvPr>
          <p:cNvSpPr txBox="1"/>
          <p:nvPr/>
        </p:nvSpPr>
        <p:spPr>
          <a:xfrm>
            <a:off x="4197568" y="2186739"/>
            <a:ext cx="7732849" cy="2263953"/>
          </a:xfrm>
          <a:prstGeom prst="rect">
            <a:avLst/>
          </a:prstGeom>
          <a:noFill/>
        </p:spPr>
        <p:txBody>
          <a:bodyPr wrap="square" rtlCol="0">
            <a:spAutoFit/>
          </a:bodyPr>
          <a:lstStyle/>
          <a:p>
            <a:pPr>
              <a:lnSpc>
                <a:spcPct val="107000"/>
              </a:lnSpc>
              <a:spcAft>
                <a:spcPts val="800"/>
              </a:spcAft>
            </a:pPr>
            <a:r>
              <a:rPr lang="es-ES" dirty="0"/>
              <a:t>Aplicamos la función </a:t>
            </a:r>
            <a:r>
              <a:rPr lang="es-ES" dirty="0" err="1"/>
              <a:t>softmax</a:t>
            </a:r>
            <a:r>
              <a:rPr lang="es-ES" dirty="0"/>
              <a:t> para obtener las puntuaciones de atención:</a:t>
            </a:r>
          </a:p>
          <a:p>
            <a:pPr>
              <a:lnSpc>
                <a:spcPct val="107000"/>
              </a:lnSpc>
              <a:spcAft>
                <a:spcPts val="800"/>
              </a:spcAft>
            </a:pPr>
            <a:endParaRPr lang="es-CL" dirty="0"/>
          </a:p>
          <a:p>
            <a:pPr>
              <a:lnSpc>
                <a:spcPct val="107000"/>
              </a:lnSpc>
              <a:spcAft>
                <a:spcPts val="800"/>
              </a:spcAft>
            </a:pPr>
            <a:endParaRPr lang="es-CL" dirty="0"/>
          </a:p>
          <a:p>
            <a:pPr>
              <a:lnSpc>
                <a:spcPct val="107000"/>
              </a:lnSpc>
              <a:spcAft>
                <a:spcPts val="800"/>
              </a:spcAft>
            </a:pPr>
            <a:endParaRPr lang="es-CL" dirty="0"/>
          </a:p>
          <a:p>
            <a:pPr>
              <a:lnSpc>
                <a:spcPct val="107000"/>
              </a:lnSpc>
              <a:spcAft>
                <a:spcPts val="800"/>
              </a:spcAft>
            </a:pPr>
            <a:r>
              <a:rPr lang="es-CL" dirty="0"/>
              <a:t>Calculando los exponenciales y normalizando:</a:t>
            </a:r>
          </a:p>
        </p:txBody>
      </p:sp>
      <p:pic>
        <p:nvPicPr>
          <p:cNvPr id="4" name="Imagen 3">
            <a:extLst>
              <a:ext uri="{FF2B5EF4-FFF2-40B4-BE49-F238E27FC236}">
                <a16:creationId xmlns:a16="http://schemas.microsoft.com/office/drawing/2014/main" id="{01711318-2BC6-71E9-FBB0-273A2B0E9086}"/>
              </a:ext>
            </a:extLst>
          </p:cNvPr>
          <p:cNvPicPr>
            <a:picLocks noChangeAspect="1"/>
          </p:cNvPicPr>
          <p:nvPr/>
        </p:nvPicPr>
        <p:blipFill>
          <a:blip r:embed="rId2"/>
          <a:stretch>
            <a:fillRect/>
          </a:stretch>
        </p:blipFill>
        <p:spPr>
          <a:xfrm>
            <a:off x="4362300" y="3072734"/>
            <a:ext cx="3467400" cy="712532"/>
          </a:xfrm>
          <a:prstGeom prst="rect">
            <a:avLst/>
          </a:prstGeom>
        </p:spPr>
      </p:pic>
      <p:grpSp>
        <p:nvGrpSpPr>
          <p:cNvPr id="9" name="Grupo 8">
            <a:extLst>
              <a:ext uri="{FF2B5EF4-FFF2-40B4-BE49-F238E27FC236}">
                <a16:creationId xmlns:a16="http://schemas.microsoft.com/office/drawing/2014/main" id="{E05529EF-BE94-F783-2C2C-DA74BA6C29C7}"/>
              </a:ext>
            </a:extLst>
          </p:cNvPr>
          <p:cNvGrpSpPr/>
          <p:nvPr/>
        </p:nvGrpSpPr>
        <p:grpSpPr>
          <a:xfrm>
            <a:off x="3300902" y="4651298"/>
            <a:ext cx="7463101" cy="579170"/>
            <a:chOff x="3363964" y="4596081"/>
            <a:chExt cx="7463101" cy="579170"/>
          </a:xfrm>
        </p:grpSpPr>
        <p:pic>
          <p:nvPicPr>
            <p:cNvPr id="6" name="Imagen 5">
              <a:extLst>
                <a:ext uri="{FF2B5EF4-FFF2-40B4-BE49-F238E27FC236}">
                  <a16:creationId xmlns:a16="http://schemas.microsoft.com/office/drawing/2014/main" id="{1CD369EF-7AA6-38BF-DCBB-952E916EBBC4}"/>
                </a:ext>
              </a:extLst>
            </p:cNvPr>
            <p:cNvPicPr>
              <a:picLocks noChangeAspect="1"/>
            </p:cNvPicPr>
            <p:nvPr/>
          </p:nvPicPr>
          <p:blipFill>
            <a:blip r:embed="rId3"/>
            <a:stretch>
              <a:fillRect/>
            </a:stretch>
          </p:blipFill>
          <p:spPr>
            <a:xfrm>
              <a:off x="3363964" y="4596081"/>
              <a:ext cx="6046994" cy="579170"/>
            </a:xfrm>
            <a:prstGeom prst="rect">
              <a:avLst/>
            </a:prstGeom>
          </p:spPr>
        </p:pic>
        <p:pic>
          <p:nvPicPr>
            <p:cNvPr id="8" name="Imagen 7">
              <a:extLst>
                <a:ext uri="{FF2B5EF4-FFF2-40B4-BE49-F238E27FC236}">
                  <a16:creationId xmlns:a16="http://schemas.microsoft.com/office/drawing/2014/main" id="{C454D6AC-B260-10F5-9EB9-349A36D47427}"/>
                </a:ext>
              </a:extLst>
            </p:cNvPr>
            <p:cNvPicPr>
              <a:picLocks noChangeAspect="1"/>
            </p:cNvPicPr>
            <p:nvPr/>
          </p:nvPicPr>
          <p:blipFill>
            <a:blip r:embed="rId4"/>
            <a:stretch>
              <a:fillRect/>
            </a:stretch>
          </p:blipFill>
          <p:spPr>
            <a:xfrm>
              <a:off x="9417243" y="4596081"/>
              <a:ext cx="1409822" cy="579170"/>
            </a:xfrm>
            <a:prstGeom prst="rect">
              <a:avLst/>
            </a:prstGeom>
          </p:spPr>
        </p:pic>
      </p:grpSp>
    </p:spTree>
    <p:extLst>
      <p:ext uri="{BB962C8B-B14F-4D97-AF65-F5344CB8AC3E}">
        <p14:creationId xmlns:p14="http://schemas.microsoft.com/office/powerpoint/2010/main" val="259760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grpSp>
        <p:nvGrpSpPr>
          <p:cNvPr id="16" name="Grupo 15">
            <a:extLst>
              <a:ext uri="{FF2B5EF4-FFF2-40B4-BE49-F238E27FC236}">
                <a16:creationId xmlns:a16="http://schemas.microsoft.com/office/drawing/2014/main" id="{E36382DC-7F2E-5B7F-037B-E94F08257034}"/>
              </a:ext>
            </a:extLst>
          </p:cNvPr>
          <p:cNvGrpSpPr/>
          <p:nvPr/>
        </p:nvGrpSpPr>
        <p:grpSpPr>
          <a:xfrm>
            <a:off x="372884" y="3279352"/>
            <a:ext cx="11446232" cy="1891737"/>
            <a:chOff x="328326" y="3366063"/>
            <a:chExt cx="11446232" cy="1891737"/>
          </a:xfrm>
        </p:grpSpPr>
        <p:grpSp>
          <p:nvGrpSpPr>
            <p:cNvPr id="14" name="Grupo 13">
              <a:extLst>
                <a:ext uri="{FF2B5EF4-FFF2-40B4-BE49-F238E27FC236}">
                  <a16:creationId xmlns:a16="http://schemas.microsoft.com/office/drawing/2014/main" id="{79639E4D-9674-8448-9BA9-69469FDCEFC9}"/>
                </a:ext>
              </a:extLst>
            </p:cNvPr>
            <p:cNvGrpSpPr/>
            <p:nvPr/>
          </p:nvGrpSpPr>
          <p:grpSpPr>
            <a:xfrm>
              <a:off x="328326" y="3366063"/>
              <a:ext cx="11446232" cy="1764833"/>
              <a:chOff x="328326" y="3366063"/>
              <a:chExt cx="11446232" cy="1764833"/>
            </a:xfrm>
          </p:grpSpPr>
          <p:pic>
            <p:nvPicPr>
              <p:cNvPr id="5" name="Imagen 4">
                <a:extLst>
                  <a:ext uri="{FF2B5EF4-FFF2-40B4-BE49-F238E27FC236}">
                    <a16:creationId xmlns:a16="http://schemas.microsoft.com/office/drawing/2014/main" id="{A79FD4E9-A728-891C-9FB2-D32BFBE46F58}"/>
                  </a:ext>
                </a:extLst>
              </p:cNvPr>
              <p:cNvPicPr>
                <a:picLocks noChangeAspect="1"/>
              </p:cNvPicPr>
              <p:nvPr/>
            </p:nvPicPr>
            <p:blipFill>
              <a:blip r:embed="rId2"/>
              <a:stretch>
                <a:fillRect/>
              </a:stretch>
            </p:blipFill>
            <p:spPr>
              <a:xfrm>
                <a:off x="328326" y="3366063"/>
                <a:ext cx="5894581" cy="1619390"/>
              </a:xfrm>
              <a:prstGeom prst="rect">
                <a:avLst/>
              </a:prstGeom>
            </p:spPr>
          </p:pic>
          <p:pic>
            <p:nvPicPr>
              <p:cNvPr id="13" name="Imagen 12">
                <a:extLst>
                  <a:ext uri="{FF2B5EF4-FFF2-40B4-BE49-F238E27FC236}">
                    <a16:creationId xmlns:a16="http://schemas.microsoft.com/office/drawing/2014/main" id="{05777CC1-4E29-60C4-A1BD-B8D055D8A6E9}"/>
                  </a:ext>
                </a:extLst>
              </p:cNvPr>
              <p:cNvPicPr>
                <a:picLocks noChangeAspect="1"/>
              </p:cNvPicPr>
              <p:nvPr/>
            </p:nvPicPr>
            <p:blipFill>
              <a:blip r:embed="rId3"/>
              <a:stretch>
                <a:fillRect/>
              </a:stretch>
            </p:blipFill>
            <p:spPr>
              <a:xfrm>
                <a:off x="6222907" y="3397196"/>
                <a:ext cx="5551651" cy="1733700"/>
              </a:xfrm>
              <a:prstGeom prst="rect">
                <a:avLst/>
              </a:prstGeom>
            </p:spPr>
          </p:pic>
        </p:grpSp>
        <p:sp>
          <p:nvSpPr>
            <p:cNvPr id="15" name="Rectángulo 14">
              <a:extLst>
                <a:ext uri="{FF2B5EF4-FFF2-40B4-BE49-F238E27FC236}">
                  <a16:creationId xmlns:a16="http://schemas.microsoft.com/office/drawing/2014/main" id="{49A7BB5D-ED2E-0A1F-0804-04BEC50BC406}"/>
                </a:ext>
              </a:extLst>
            </p:cNvPr>
            <p:cNvSpPr/>
            <p:nvPr/>
          </p:nvSpPr>
          <p:spPr>
            <a:xfrm>
              <a:off x="328326" y="4946431"/>
              <a:ext cx="11446232" cy="311369"/>
            </a:xfrm>
            <a:prstGeom prst="rect">
              <a:avLst/>
            </a:prstGeom>
            <a:solidFill>
              <a:schemeClr val="bg2">
                <a:lumMod val="90000"/>
                <a:lumOff val="10000"/>
              </a:schemeClr>
            </a:solidFill>
            <a:ln>
              <a:solidFill>
                <a:schemeClr val="bg2">
                  <a:lumMod val="90000"/>
                  <a:lumOff val="1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L"/>
            </a:p>
          </p:txBody>
        </p:sp>
      </p:grpSp>
      <p:sp>
        <p:nvSpPr>
          <p:cNvPr id="17" name="CuadroTexto 16">
            <a:extLst>
              <a:ext uri="{FF2B5EF4-FFF2-40B4-BE49-F238E27FC236}">
                <a16:creationId xmlns:a16="http://schemas.microsoft.com/office/drawing/2014/main" id="{BB46A801-5902-FC7D-4E3F-94AAD1F0395B}"/>
              </a:ext>
            </a:extLst>
          </p:cNvPr>
          <p:cNvSpPr txBox="1"/>
          <p:nvPr/>
        </p:nvSpPr>
        <p:spPr>
          <a:xfrm>
            <a:off x="5230210" y="639580"/>
            <a:ext cx="6444156" cy="2031325"/>
          </a:xfrm>
          <a:prstGeom prst="rect">
            <a:avLst/>
          </a:prstGeom>
          <a:noFill/>
        </p:spPr>
        <p:txBody>
          <a:bodyPr wrap="square" rtlCol="0">
            <a:spAutoFit/>
          </a:bodyPr>
          <a:lstStyle/>
          <a:p>
            <a:r>
              <a:rPr lang="es-CL" dirty="0"/>
              <a:t>Estos valores de atención nos dicen que de acuerdo a los </a:t>
            </a:r>
            <a:r>
              <a:rPr lang="es-CL" dirty="0" err="1"/>
              <a:t>embeddings</a:t>
            </a:r>
            <a:r>
              <a:rPr lang="es-CL" dirty="0"/>
              <a:t>, y en el contexto de las 4 palabras, “gato” le “presta más atención” a “león” y “tigre” que a “perro” o que al mismo “gato”. </a:t>
            </a:r>
          </a:p>
          <a:p>
            <a:endParaRPr lang="es-CL" dirty="0"/>
          </a:p>
          <a:p>
            <a:r>
              <a:rPr lang="es-CL" dirty="0"/>
              <a:t>Otra forma de ver esto mismo es que “gato” se parece más a “león” y “tigre”.</a:t>
            </a:r>
          </a:p>
        </p:txBody>
      </p:sp>
    </p:spTree>
    <p:extLst>
      <p:ext uri="{BB962C8B-B14F-4D97-AF65-F5344CB8AC3E}">
        <p14:creationId xmlns:p14="http://schemas.microsoft.com/office/powerpoint/2010/main" val="39792220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10" name="CuadroTexto 9">
            <a:extLst>
              <a:ext uri="{FF2B5EF4-FFF2-40B4-BE49-F238E27FC236}">
                <a16:creationId xmlns:a16="http://schemas.microsoft.com/office/drawing/2014/main" id="{D547F8C3-4557-1DA4-8FFA-A30B0ED077B7}"/>
              </a:ext>
            </a:extLst>
          </p:cNvPr>
          <p:cNvSpPr txBox="1"/>
          <p:nvPr/>
        </p:nvSpPr>
        <p:spPr>
          <a:xfrm>
            <a:off x="4752687" y="885223"/>
            <a:ext cx="6716728" cy="5542992"/>
          </a:xfrm>
          <a:prstGeom prst="rect">
            <a:avLst/>
          </a:prstGeom>
          <a:noFill/>
        </p:spPr>
        <p:txBody>
          <a:bodyPr wrap="square" rtlCol="0">
            <a:spAutoFit/>
          </a:bodyPr>
          <a:lstStyle/>
          <a:p>
            <a:pPr>
              <a:lnSpc>
                <a:spcPct val="107000"/>
              </a:lnSpc>
              <a:spcAft>
                <a:spcPts val="800"/>
              </a:spcAft>
            </a:pPr>
            <a:r>
              <a:rPr lang="es-ES" sz="2400" b="1" dirty="0"/>
              <a:t>Ponderación y Combinación</a:t>
            </a:r>
          </a:p>
          <a:p>
            <a:pPr>
              <a:lnSpc>
                <a:spcPct val="107000"/>
              </a:lnSpc>
              <a:spcAft>
                <a:spcPts val="800"/>
              </a:spcAft>
            </a:pPr>
            <a:r>
              <a:rPr lang="es-ES" dirty="0"/>
              <a:t>Ahora, usamos estas puntuaciones de atención para ponderar los valores (V) y combinarlos.</a:t>
            </a:r>
          </a:p>
          <a:p>
            <a:pPr>
              <a:lnSpc>
                <a:spcPct val="107000"/>
              </a:lnSpc>
              <a:spcAft>
                <a:spcPts val="800"/>
              </a:spcAft>
            </a:pPr>
            <a:endParaRPr lang="es-ES" dirty="0"/>
          </a:p>
          <a:p>
            <a:pPr>
              <a:lnSpc>
                <a:spcPct val="107000"/>
              </a:lnSpc>
              <a:spcAft>
                <a:spcPts val="800"/>
              </a:spcAft>
            </a:pPr>
            <a:endParaRPr lang="es-ES" dirty="0"/>
          </a:p>
          <a:p>
            <a:pPr>
              <a:lnSpc>
                <a:spcPct val="107000"/>
              </a:lnSpc>
              <a:spcAft>
                <a:spcPts val="800"/>
              </a:spcAft>
            </a:pPr>
            <a:endParaRPr lang="es-ES" dirty="0"/>
          </a:p>
          <a:p>
            <a:pPr>
              <a:lnSpc>
                <a:spcPct val="107000"/>
              </a:lnSpc>
              <a:spcAft>
                <a:spcPts val="800"/>
              </a:spcAft>
            </a:pPr>
            <a:endParaRPr lang="es-ES" dirty="0"/>
          </a:p>
          <a:p>
            <a:pPr>
              <a:lnSpc>
                <a:spcPct val="107000"/>
              </a:lnSpc>
              <a:spcAft>
                <a:spcPts val="800"/>
              </a:spcAft>
            </a:pPr>
            <a:endParaRPr lang="es-ES" dirty="0"/>
          </a:p>
          <a:p>
            <a:pPr>
              <a:lnSpc>
                <a:spcPct val="107000"/>
              </a:lnSpc>
              <a:spcAft>
                <a:spcPts val="800"/>
              </a:spcAft>
            </a:pPr>
            <a:r>
              <a:rPr lang="es-ES" dirty="0"/>
              <a:t>El vector de salida resultante (1.829, 1.981) es una combinación ponderada de los vectores de entrada, y refleja que el vector de “gato” se acerca a los vectores de “león” y “tigre” por efecto de la presencia de estos dos en el contexto de “gato”.</a:t>
            </a:r>
            <a:endParaRPr lang="es-CL" dirty="0"/>
          </a:p>
          <a:p>
            <a:pPr>
              <a:lnSpc>
                <a:spcPct val="107000"/>
              </a:lnSpc>
              <a:spcAft>
                <a:spcPts val="800"/>
              </a:spcAft>
            </a:pPr>
            <a:endParaRPr lang="es-CL" dirty="0"/>
          </a:p>
          <a:p>
            <a:pPr>
              <a:lnSpc>
                <a:spcPct val="107000"/>
              </a:lnSpc>
              <a:spcAft>
                <a:spcPts val="800"/>
              </a:spcAft>
            </a:pPr>
            <a:endParaRPr lang="es-CL" dirty="0"/>
          </a:p>
        </p:txBody>
      </p:sp>
      <p:pic>
        <p:nvPicPr>
          <p:cNvPr id="4" name="Imagen 3">
            <a:extLst>
              <a:ext uri="{FF2B5EF4-FFF2-40B4-BE49-F238E27FC236}">
                <a16:creationId xmlns:a16="http://schemas.microsoft.com/office/drawing/2014/main" id="{35E71CE9-F4D4-8472-0FCA-32E0ACD02EE4}"/>
              </a:ext>
            </a:extLst>
          </p:cNvPr>
          <p:cNvPicPr>
            <a:picLocks noChangeAspect="1"/>
          </p:cNvPicPr>
          <p:nvPr/>
        </p:nvPicPr>
        <p:blipFill>
          <a:blip r:embed="rId2"/>
          <a:stretch>
            <a:fillRect/>
          </a:stretch>
        </p:blipFill>
        <p:spPr>
          <a:xfrm>
            <a:off x="4945815" y="2250197"/>
            <a:ext cx="6096528" cy="1524132"/>
          </a:xfrm>
          <a:prstGeom prst="rect">
            <a:avLst/>
          </a:prstGeom>
        </p:spPr>
      </p:pic>
    </p:spTree>
    <p:extLst>
      <p:ext uri="{BB962C8B-B14F-4D97-AF65-F5344CB8AC3E}">
        <p14:creationId xmlns:p14="http://schemas.microsoft.com/office/powerpoint/2010/main" val="6576614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10" name="CuadroTexto 9">
            <a:extLst>
              <a:ext uri="{FF2B5EF4-FFF2-40B4-BE49-F238E27FC236}">
                <a16:creationId xmlns:a16="http://schemas.microsoft.com/office/drawing/2014/main" id="{D547F8C3-4557-1DA4-8FFA-A30B0ED077B7}"/>
              </a:ext>
            </a:extLst>
          </p:cNvPr>
          <p:cNvSpPr txBox="1"/>
          <p:nvPr/>
        </p:nvSpPr>
        <p:spPr>
          <a:xfrm>
            <a:off x="4849092" y="353136"/>
            <a:ext cx="6716728" cy="6135719"/>
          </a:xfrm>
          <a:prstGeom prst="rect">
            <a:avLst/>
          </a:prstGeom>
          <a:noFill/>
        </p:spPr>
        <p:txBody>
          <a:bodyPr wrap="square" rtlCol="0">
            <a:spAutoFit/>
          </a:bodyPr>
          <a:lstStyle/>
          <a:p>
            <a:pPr>
              <a:lnSpc>
                <a:spcPct val="107000"/>
              </a:lnSpc>
              <a:spcAft>
                <a:spcPts val="800"/>
              </a:spcAft>
            </a:pPr>
            <a:r>
              <a:rPr lang="es-ES" sz="2400" b="1" dirty="0"/>
              <a:t>Predicción de la próxima palabra</a:t>
            </a:r>
          </a:p>
          <a:p>
            <a:pPr>
              <a:lnSpc>
                <a:spcPct val="107000"/>
              </a:lnSpc>
              <a:spcAft>
                <a:spcPts val="800"/>
              </a:spcAft>
            </a:pPr>
            <a:r>
              <a:rPr lang="es-CL" dirty="0"/>
              <a:t>Esto es lo esencial de los Transformers. Pueden predecir la próxima palabra. De ahí el nombre GPT: Generative </a:t>
            </a:r>
            <a:r>
              <a:rPr lang="es-CL" dirty="0" err="1"/>
              <a:t>Pretrained</a:t>
            </a:r>
            <a:r>
              <a:rPr lang="es-CL" dirty="0"/>
              <a:t> </a:t>
            </a:r>
            <a:r>
              <a:rPr lang="es-CL" dirty="0" err="1"/>
              <a:t>Transformer</a:t>
            </a:r>
            <a:r>
              <a:rPr lang="es-CL" dirty="0"/>
              <a:t>. </a:t>
            </a:r>
          </a:p>
          <a:p>
            <a:pPr>
              <a:lnSpc>
                <a:spcPct val="107000"/>
              </a:lnSpc>
              <a:spcAft>
                <a:spcPts val="800"/>
              </a:spcAft>
            </a:pPr>
            <a:endParaRPr lang="es-CL" dirty="0"/>
          </a:p>
          <a:p>
            <a:r>
              <a:rPr lang="es-ES" b="1" dirty="0"/>
              <a:t>Proyección al Espacio de Vocabulario</a:t>
            </a:r>
          </a:p>
          <a:p>
            <a:r>
              <a:rPr lang="es-ES" dirty="0"/>
              <a:t>Una vez que hemos obtenido la representación de contexto final para la palabra actual (por ejemplo, "gato"), necesitamos proyectar esta representación a un espacio donde cada dimensión corresponde a una palabra en el vocabulario. Este proceso implica varias etapas detalladas a continuación.</a:t>
            </a:r>
          </a:p>
          <a:p>
            <a:endParaRPr lang="es-ES" dirty="0"/>
          </a:p>
          <a:p>
            <a:r>
              <a:rPr lang="es-ES" dirty="0"/>
              <a:t>Entonces, tenemos la </a:t>
            </a:r>
            <a:r>
              <a:rPr lang="es-ES" b="1" dirty="0"/>
              <a:t>representación de contexto h</a:t>
            </a:r>
            <a:r>
              <a:rPr lang="es-ES" dirty="0"/>
              <a:t> para “gato”</a:t>
            </a:r>
          </a:p>
          <a:p>
            <a:endParaRPr lang="es-ES" dirty="0"/>
          </a:p>
          <a:p>
            <a:r>
              <a:rPr lang="es-ES" dirty="0"/>
              <a:t>h = (1.829, 1.981)</a:t>
            </a:r>
          </a:p>
          <a:p>
            <a:endParaRPr lang="es-ES" dirty="0"/>
          </a:p>
          <a:p>
            <a:r>
              <a:rPr lang="es-ES" dirty="0"/>
              <a:t>Y necesitamos proyectarlo al espacio de vocabulario (supongamos, gato, perro, león, tigre, ratón, pantera) para obtener las probabilidades de continuación.</a:t>
            </a:r>
            <a:endParaRPr lang="es-CL" dirty="0"/>
          </a:p>
        </p:txBody>
      </p:sp>
    </p:spTree>
    <p:extLst>
      <p:ext uri="{BB962C8B-B14F-4D97-AF65-F5344CB8AC3E}">
        <p14:creationId xmlns:p14="http://schemas.microsoft.com/office/powerpoint/2010/main" val="40799676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10" name="CuadroTexto 9">
            <a:extLst>
              <a:ext uri="{FF2B5EF4-FFF2-40B4-BE49-F238E27FC236}">
                <a16:creationId xmlns:a16="http://schemas.microsoft.com/office/drawing/2014/main" id="{D547F8C3-4557-1DA4-8FFA-A30B0ED077B7}"/>
              </a:ext>
            </a:extLst>
          </p:cNvPr>
          <p:cNvSpPr txBox="1"/>
          <p:nvPr/>
        </p:nvSpPr>
        <p:spPr>
          <a:xfrm>
            <a:off x="4849092" y="353136"/>
            <a:ext cx="6716728" cy="6355073"/>
          </a:xfrm>
          <a:prstGeom prst="rect">
            <a:avLst/>
          </a:prstGeom>
          <a:noFill/>
        </p:spPr>
        <p:txBody>
          <a:bodyPr wrap="square" rtlCol="0">
            <a:spAutoFit/>
          </a:bodyPr>
          <a:lstStyle/>
          <a:p>
            <a:r>
              <a:rPr lang="es-ES" b="1" dirty="0"/>
              <a:t>Paso 1: Capa de Proyección</a:t>
            </a:r>
          </a:p>
          <a:p>
            <a:endParaRPr lang="es-ES" b="1" dirty="0"/>
          </a:p>
          <a:p>
            <a:r>
              <a:rPr lang="es-ES" dirty="0"/>
              <a:t>La capa de proyección convierte la representación de contexto h en un vector de </a:t>
            </a:r>
            <a:r>
              <a:rPr lang="es-ES" dirty="0" err="1"/>
              <a:t>logits</a:t>
            </a:r>
            <a:r>
              <a:rPr lang="es-ES" dirty="0"/>
              <a:t> (los exponentes de la función </a:t>
            </a:r>
            <a:r>
              <a:rPr lang="es-ES" dirty="0" err="1"/>
              <a:t>softmax</a:t>
            </a:r>
            <a:r>
              <a:rPr lang="es-ES" dirty="0"/>
              <a:t>), uno para cada palabra en el vocabulario. </a:t>
            </a:r>
          </a:p>
          <a:p>
            <a:endParaRPr lang="es-ES" dirty="0"/>
          </a:p>
          <a:p>
            <a:r>
              <a:rPr lang="es-ES" dirty="0"/>
              <a:t>Para esto, necesitamos una matriz de pesos </a:t>
            </a:r>
            <a:r>
              <a:rPr lang="es-ES" dirty="0">
                <a:effectLst/>
              </a:rPr>
              <a:t>W</a:t>
            </a:r>
            <a:r>
              <a:rPr lang="es-ES" dirty="0"/>
              <a:t> de dimensión d (la dimensión de h) ×V (el tamaño del vocabulario) y un vector de sesgo b de dimensión V.</a:t>
            </a:r>
          </a:p>
          <a:p>
            <a:endParaRPr lang="es-ES" dirty="0"/>
          </a:p>
          <a:p>
            <a:r>
              <a:rPr lang="es-ES" dirty="0"/>
              <a:t>Supongamos que:</a:t>
            </a:r>
          </a:p>
          <a:p>
            <a:endParaRPr lang="es-ES" dirty="0"/>
          </a:p>
          <a:p>
            <a:endParaRPr lang="es-ES" dirty="0"/>
          </a:p>
          <a:p>
            <a:pPr>
              <a:lnSpc>
                <a:spcPct val="107000"/>
              </a:lnSpc>
              <a:spcAft>
                <a:spcPts val="800"/>
              </a:spcAft>
            </a:pPr>
            <a:endParaRPr lang="es-CL" dirty="0"/>
          </a:p>
          <a:p>
            <a:pPr>
              <a:lnSpc>
                <a:spcPct val="107000"/>
              </a:lnSpc>
              <a:spcAft>
                <a:spcPts val="800"/>
              </a:spcAft>
            </a:pPr>
            <a:endParaRPr lang="es-CL" dirty="0"/>
          </a:p>
          <a:p>
            <a:pPr>
              <a:lnSpc>
                <a:spcPct val="107000"/>
              </a:lnSpc>
              <a:spcAft>
                <a:spcPts val="800"/>
              </a:spcAft>
            </a:pPr>
            <a:endParaRPr lang="es-CL" dirty="0"/>
          </a:p>
          <a:p>
            <a:pPr>
              <a:lnSpc>
                <a:spcPct val="107000"/>
              </a:lnSpc>
              <a:spcAft>
                <a:spcPts val="800"/>
              </a:spcAft>
            </a:pPr>
            <a:r>
              <a:rPr lang="es-CL" dirty="0"/>
              <a:t>Esta capa de proyección es la que es entrenada. Es una RN que ajusta sus pesos con el algoritmo de </a:t>
            </a:r>
            <a:r>
              <a:rPr lang="es-CL" dirty="0" err="1"/>
              <a:t>retropropagación</a:t>
            </a:r>
            <a:r>
              <a:rPr lang="es-CL" dirty="0"/>
              <a:t>. Es entrenada intentando predecir la próxima palabra en textos de un corpus (puede ser tan grande como toda la internet) y recibiendo retroalimentación correctiva.</a:t>
            </a:r>
          </a:p>
        </p:txBody>
      </p:sp>
      <p:pic>
        <p:nvPicPr>
          <p:cNvPr id="4" name="Imagen 3">
            <a:extLst>
              <a:ext uri="{FF2B5EF4-FFF2-40B4-BE49-F238E27FC236}">
                <a16:creationId xmlns:a16="http://schemas.microsoft.com/office/drawing/2014/main" id="{05404D35-EF41-B570-08C8-3E7B83182D48}"/>
              </a:ext>
            </a:extLst>
          </p:cNvPr>
          <p:cNvPicPr>
            <a:picLocks noChangeAspect="1"/>
          </p:cNvPicPr>
          <p:nvPr/>
        </p:nvPicPr>
        <p:blipFill>
          <a:blip r:embed="rId2"/>
          <a:stretch>
            <a:fillRect/>
          </a:stretch>
        </p:blipFill>
        <p:spPr>
          <a:xfrm>
            <a:off x="5888184" y="3676078"/>
            <a:ext cx="3970364" cy="1074513"/>
          </a:xfrm>
          <a:prstGeom prst="rect">
            <a:avLst/>
          </a:prstGeom>
        </p:spPr>
      </p:pic>
    </p:spTree>
    <p:extLst>
      <p:ext uri="{BB962C8B-B14F-4D97-AF65-F5344CB8AC3E}">
        <p14:creationId xmlns:p14="http://schemas.microsoft.com/office/powerpoint/2010/main" val="2045869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10" name="CuadroTexto 9">
            <a:extLst>
              <a:ext uri="{FF2B5EF4-FFF2-40B4-BE49-F238E27FC236}">
                <a16:creationId xmlns:a16="http://schemas.microsoft.com/office/drawing/2014/main" id="{D547F8C3-4557-1DA4-8FFA-A30B0ED077B7}"/>
              </a:ext>
            </a:extLst>
          </p:cNvPr>
          <p:cNvSpPr txBox="1"/>
          <p:nvPr/>
        </p:nvSpPr>
        <p:spPr>
          <a:xfrm>
            <a:off x="4849092" y="353136"/>
            <a:ext cx="6919867" cy="6463308"/>
          </a:xfrm>
          <a:prstGeom prst="rect">
            <a:avLst/>
          </a:prstGeom>
          <a:noFill/>
        </p:spPr>
        <p:txBody>
          <a:bodyPr wrap="square" rtlCol="0">
            <a:spAutoFit/>
          </a:bodyPr>
          <a:lstStyle/>
          <a:p>
            <a:r>
              <a:rPr lang="es-ES" b="1" dirty="0"/>
              <a:t>Paso 2: Cálculo de </a:t>
            </a:r>
            <a:r>
              <a:rPr lang="es-ES" b="1" dirty="0" err="1"/>
              <a:t>Logits</a:t>
            </a:r>
            <a:endParaRPr lang="es-ES" b="1" dirty="0"/>
          </a:p>
          <a:p>
            <a:endParaRPr lang="es-ES" b="1" dirty="0"/>
          </a:p>
          <a:p>
            <a:r>
              <a:rPr lang="es-ES" dirty="0"/>
              <a:t>Multiplicamos el vector de contexto h por la matriz de pesos W y sumamos el vector de sesgo b:</a:t>
            </a:r>
          </a:p>
          <a:p>
            <a:endParaRPr lang="es-ES" dirty="0"/>
          </a:p>
          <a:p>
            <a:endParaRPr lang="es-ES" dirty="0"/>
          </a:p>
          <a:p>
            <a:endParaRPr lang="es-ES" dirty="0"/>
          </a:p>
          <a:p>
            <a:endParaRPr lang="es-ES" dirty="0"/>
          </a:p>
          <a:p>
            <a:r>
              <a:rPr lang="es-ES" dirty="0"/>
              <a:t>Realizamos las operaciones:</a:t>
            </a:r>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r>
              <a:rPr lang="es-ES" dirty="0"/>
              <a:t>Y obtenemos el vector de </a:t>
            </a:r>
            <a:r>
              <a:rPr lang="es-ES" dirty="0" err="1"/>
              <a:t>logits</a:t>
            </a:r>
            <a:endParaRPr lang="es-ES" dirty="0"/>
          </a:p>
          <a:p>
            <a:endParaRPr lang="es-ES" dirty="0"/>
          </a:p>
          <a:p>
            <a:endParaRPr lang="es-ES" dirty="0"/>
          </a:p>
          <a:p>
            <a:endParaRPr lang="es-ES" dirty="0"/>
          </a:p>
        </p:txBody>
      </p:sp>
      <p:pic>
        <p:nvPicPr>
          <p:cNvPr id="5" name="Imagen 4">
            <a:extLst>
              <a:ext uri="{FF2B5EF4-FFF2-40B4-BE49-F238E27FC236}">
                <a16:creationId xmlns:a16="http://schemas.microsoft.com/office/drawing/2014/main" id="{A3345A62-8F9B-EF17-B43F-259510CB9C95}"/>
              </a:ext>
            </a:extLst>
          </p:cNvPr>
          <p:cNvPicPr>
            <a:picLocks noChangeAspect="1"/>
          </p:cNvPicPr>
          <p:nvPr/>
        </p:nvPicPr>
        <p:blipFill>
          <a:blip r:embed="rId2"/>
          <a:stretch>
            <a:fillRect/>
          </a:stretch>
        </p:blipFill>
        <p:spPr>
          <a:xfrm>
            <a:off x="6786846" y="1816432"/>
            <a:ext cx="1733700" cy="426757"/>
          </a:xfrm>
          <a:prstGeom prst="rect">
            <a:avLst/>
          </a:prstGeom>
        </p:spPr>
      </p:pic>
      <p:pic>
        <p:nvPicPr>
          <p:cNvPr id="7" name="Imagen 6">
            <a:extLst>
              <a:ext uri="{FF2B5EF4-FFF2-40B4-BE49-F238E27FC236}">
                <a16:creationId xmlns:a16="http://schemas.microsoft.com/office/drawing/2014/main" id="{041B8510-6BE4-1202-4665-36C5DA1FE7E8}"/>
              </a:ext>
            </a:extLst>
          </p:cNvPr>
          <p:cNvPicPr>
            <a:picLocks noChangeAspect="1"/>
          </p:cNvPicPr>
          <p:nvPr/>
        </p:nvPicPr>
        <p:blipFill>
          <a:blip r:embed="rId3"/>
          <a:stretch>
            <a:fillRect/>
          </a:stretch>
        </p:blipFill>
        <p:spPr>
          <a:xfrm>
            <a:off x="4931382" y="3043272"/>
            <a:ext cx="6191787" cy="2286198"/>
          </a:xfrm>
          <a:prstGeom prst="rect">
            <a:avLst/>
          </a:prstGeom>
        </p:spPr>
      </p:pic>
      <p:pic>
        <p:nvPicPr>
          <p:cNvPr id="9" name="Imagen 8">
            <a:extLst>
              <a:ext uri="{FF2B5EF4-FFF2-40B4-BE49-F238E27FC236}">
                <a16:creationId xmlns:a16="http://schemas.microsoft.com/office/drawing/2014/main" id="{A0EDA01E-150F-A334-C990-B330553A69C6}"/>
              </a:ext>
            </a:extLst>
          </p:cNvPr>
          <p:cNvPicPr>
            <a:picLocks noChangeAspect="1"/>
          </p:cNvPicPr>
          <p:nvPr/>
        </p:nvPicPr>
        <p:blipFill>
          <a:blip r:embed="rId4"/>
          <a:stretch>
            <a:fillRect/>
          </a:stretch>
        </p:blipFill>
        <p:spPr>
          <a:xfrm>
            <a:off x="5231329" y="5986935"/>
            <a:ext cx="4496190" cy="457240"/>
          </a:xfrm>
          <a:prstGeom prst="rect">
            <a:avLst/>
          </a:prstGeom>
        </p:spPr>
      </p:pic>
    </p:spTree>
    <p:extLst>
      <p:ext uri="{BB962C8B-B14F-4D97-AF65-F5344CB8AC3E}">
        <p14:creationId xmlns:p14="http://schemas.microsoft.com/office/powerpoint/2010/main" val="7983184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10" name="CuadroTexto 9">
            <a:extLst>
              <a:ext uri="{FF2B5EF4-FFF2-40B4-BE49-F238E27FC236}">
                <a16:creationId xmlns:a16="http://schemas.microsoft.com/office/drawing/2014/main" id="{D547F8C3-4557-1DA4-8FFA-A30B0ED077B7}"/>
              </a:ext>
            </a:extLst>
          </p:cNvPr>
          <p:cNvSpPr txBox="1"/>
          <p:nvPr/>
        </p:nvSpPr>
        <p:spPr>
          <a:xfrm>
            <a:off x="4849092" y="353136"/>
            <a:ext cx="6919867" cy="5632311"/>
          </a:xfrm>
          <a:prstGeom prst="rect">
            <a:avLst/>
          </a:prstGeom>
          <a:noFill/>
        </p:spPr>
        <p:txBody>
          <a:bodyPr wrap="square" rtlCol="0">
            <a:spAutoFit/>
          </a:bodyPr>
          <a:lstStyle/>
          <a:p>
            <a:r>
              <a:rPr lang="es-ES" b="1" dirty="0"/>
              <a:t>Paso 3: Aplicación de </a:t>
            </a:r>
            <a:r>
              <a:rPr lang="es-ES" b="1" dirty="0" err="1"/>
              <a:t>Softmax</a:t>
            </a:r>
            <a:endParaRPr lang="es-ES" b="1" dirty="0"/>
          </a:p>
          <a:p>
            <a:endParaRPr lang="es-ES" b="1" dirty="0"/>
          </a:p>
          <a:p>
            <a:r>
              <a:rPr lang="es-ES" dirty="0"/>
              <a:t>Para convertir estos </a:t>
            </a:r>
            <a:r>
              <a:rPr lang="es-ES" dirty="0" err="1"/>
              <a:t>logits</a:t>
            </a:r>
            <a:r>
              <a:rPr lang="es-ES" dirty="0"/>
              <a:t> en probabilidades, aplicamos la función </a:t>
            </a:r>
            <a:r>
              <a:rPr lang="es-ES" dirty="0" err="1"/>
              <a:t>softmax</a:t>
            </a:r>
            <a:r>
              <a:rPr lang="es-ES" dirty="0"/>
              <a:t>:</a:t>
            </a:r>
          </a:p>
          <a:p>
            <a:endParaRPr lang="es-ES" dirty="0"/>
          </a:p>
          <a:p>
            <a:pPr>
              <a:buFont typeface="+mj-lt"/>
              <a:buAutoNum type="arabicPeriod"/>
            </a:pPr>
            <a:r>
              <a:rPr lang="es-ES" dirty="0"/>
              <a:t>Calculamos los exponentes de cada </a:t>
            </a:r>
            <a:r>
              <a:rPr lang="es-ES" dirty="0" err="1"/>
              <a:t>logit</a:t>
            </a:r>
            <a:r>
              <a:rPr lang="es-ES" dirty="0"/>
              <a:t>:</a:t>
            </a:r>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r>
              <a:rPr lang="es-CL" dirty="0"/>
              <a:t>2. Sumamos estos valores para la normalización (denominador):</a:t>
            </a:r>
            <a:endParaRPr lang="es-ES" dirty="0"/>
          </a:p>
          <a:p>
            <a:endParaRPr lang="es-ES" dirty="0"/>
          </a:p>
          <a:p>
            <a:endParaRPr lang="es-ES" dirty="0"/>
          </a:p>
        </p:txBody>
      </p:sp>
      <p:pic>
        <p:nvPicPr>
          <p:cNvPr id="4" name="Imagen 3">
            <a:extLst>
              <a:ext uri="{FF2B5EF4-FFF2-40B4-BE49-F238E27FC236}">
                <a16:creationId xmlns:a16="http://schemas.microsoft.com/office/drawing/2014/main" id="{CED4692C-88FB-CD83-3158-90F8B82FED70}"/>
              </a:ext>
            </a:extLst>
          </p:cNvPr>
          <p:cNvPicPr>
            <a:picLocks noChangeAspect="1"/>
          </p:cNvPicPr>
          <p:nvPr/>
        </p:nvPicPr>
        <p:blipFill>
          <a:blip r:embed="rId2"/>
          <a:stretch>
            <a:fillRect/>
          </a:stretch>
        </p:blipFill>
        <p:spPr>
          <a:xfrm>
            <a:off x="6803945" y="2392681"/>
            <a:ext cx="1505080" cy="2419560"/>
          </a:xfrm>
          <a:prstGeom prst="rect">
            <a:avLst/>
          </a:prstGeom>
        </p:spPr>
      </p:pic>
      <p:pic>
        <p:nvPicPr>
          <p:cNvPr id="8" name="Imagen 7">
            <a:extLst>
              <a:ext uri="{FF2B5EF4-FFF2-40B4-BE49-F238E27FC236}">
                <a16:creationId xmlns:a16="http://schemas.microsoft.com/office/drawing/2014/main" id="{3707D91C-9909-D0FE-988F-1FD3AD11BE6B}"/>
              </a:ext>
            </a:extLst>
          </p:cNvPr>
          <p:cNvPicPr>
            <a:picLocks noChangeAspect="1"/>
          </p:cNvPicPr>
          <p:nvPr/>
        </p:nvPicPr>
        <p:blipFill>
          <a:blip r:embed="rId3"/>
          <a:stretch>
            <a:fillRect/>
          </a:stretch>
        </p:blipFill>
        <p:spPr>
          <a:xfrm>
            <a:off x="5491219" y="5617562"/>
            <a:ext cx="5513548" cy="636325"/>
          </a:xfrm>
          <a:prstGeom prst="rect">
            <a:avLst/>
          </a:prstGeom>
        </p:spPr>
      </p:pic>
    </p:spTree>
    <p:extLst>
      <p:ext uri="{BB962C8B-B14F-4D97-AF65-F5344CB8AC3E}">
        <p14:creationId xmlns:p14="http://schemas.microsoft.com/office/powerpoint/2010/main" val="25942993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10" name="CuadroTexto 9">
            <a:extLst>
              <a:ext uri="{FF2B5EF4-FFF2-40B4-BE49-F238E27FC236}">
                <a16:creationId xmlns:a16="http://schemas.microsoft.com/office/drawing/2014/main" id="{D547F8C3-4557-1DA4-8FFA-A30B0ED077B7}"/>
              </a:ext>
            </a:extLst>
          </p:cNvPr>
          <p:cNvSpPr txBox="1"/>
          <p:nvPr/>
        </p:nvSpPr>
        <p:spPr>
          <a:xfrm>
            <a:off x="4849092" y="353136"/>
            <a:ext cx="6919867" cy="2585323"/>
          </a:xfrm>
          <a:prstGeom prst="rect">
            <a:avLst/>
          </a:prstGeom>
          <a:noFill/>
        </p:spPr>
        <p:txBody>
          <a:bodyPr wrap="square" rtlCol="0">
            <a:spAutoFit/>
          </a:bodyPr>
          <a:lstStyle/>
          <a:p>
            <a:r>
              <a:rPr lang="es-ES" b="1" dirty="0"/>
              <a:t>Paso 3: Aplicación de </a:t>
            </a:r>
            <a:r>
              <a:rPr lang="es-ES" b="1" dirty="0" err="1"/>
              <a:t>Softmax</a:t>
            </a:r>
            <a:endParaRPr lang="es-ES" b="1" dirty="0"/>
          </a:p>
          <a:p>
            <a:endParaRPr lang="es-ES" b="1" dirty="0"/>
          </a:p>
          <a:p>
            <a:r>
              <a:rPr lang="es-CL" dirty="0"/>
              <a:t>3. Y calculamos las probabilidades:</a:t>
            </a:r>
          </a:p>
          <a:p>
            <a:endParaRPr lang="es-CL" dirty="0"/>
          </a:p>
          <a:p>
            <a:endParaRPr lang="es-CL" dirty="0"/>
          </a:p>
          <a:p>
            <a:endParaRPr lang="es-CL" dirty="0"/>
          </a:p>
          <a:p>
            <a:endParaRPr lang="es-CL" dirty="0"/>
          </a:p>
          <a:p>
            <a:endParaRPr lang="es-CL" dirty="0"/>
          </a:p>
          <a:p>
            <a:endParaRPr lang="es-ES" dirty="0"/>
          </a:p>
        </p:txBody>
      </p:sp>
      <p:pic>
        <p:nvPicPr>
          <p:cNvPr id="5" name="Imagen 4">
            <a:extLst>
              <a:ext uri="{FF2B5EF4-FFF2-40B4-BE49-F238E27FC236}">
                <a16:creationId xmlns:a16="http://schemas.microsoft.com/office/drawing/2014/main" id="{C1900F45-094E-6508-4492-9BC3A41408AE}"/>
              </a:ext>
            </a:extLst>
          </p:cNvPr>
          <p:cNvPicPr>
            <a:picLocks noChangeAspect="1"/>
          </p:cNvPicPr>
          <p:nvPr/>
        </p:nvPicPr>
        <p:blipFill>
          <a:blip r:embed="rId2"/>
          <a:stretch>
            <a:fillRect/>
          </a:stretch>
        </p:blipFill>
        <p:spPr>
          <a:xfrm>
            <a:off x="6031488" y="1744380"/>
            <a:ext cx="3124471" cy="3227350"/>
          </a:xfrm>
          <a:prstGeom prst="rect">
            <a:avLst/>
          </a:prstGeom>
        </p:spPr>
      </p:pic>
    </p:spTree>
    <p:extLst>
      <p:ext uri="{BB962C8B-B14F-4D97-AF65-F5344CB8AC3E}">
        <p14:creationId xmlns:p14="http://schemas.microsoft.com/office/powerpoint/2010/main" val="38080503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A13B60C-56B1-46B4-98A6-1482A52E7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1865" y="-31864"/>
            <a:ext cx="4785362" cy="4849091"/>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5" name="Freeform: Shape 24">
            <a:extLst>
              <a:ext uri="{FF2B5EF4-FFF2-40B4-BE49-F238E27FC236}">
                <a16:creationId xmlns:a16="http://schemas.microsoft.com/office/drawing/2014/main" id="{F024A8E9-062E-406A-BE10-CED28001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341352" y="-341351"/>
            <a:ext cx="4651297" cy="533400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cNvSpPr>
            <a:spLocks noGrp="1"/>
          </p:cNvSpPr>
          <p:nvPr>
            <p:ph type="ctrTitle"/>
          </p:nvPr>
        </p:nvSpPr>
        <p:spPr>
          <a:xfrm>
            <a:off x="761999" y="762000"/>
            <a:ext cx="3048001" cy="2286000"/>
          </a:xfrm>
        </p:spPr>
        <p:txBody>
          <a:bodyPr anchor="b">
            <a:normAutofit/>
          </a:bodyPr>
          <a:lstStyle/>
          <a:p>
            <a:r>
              <a:rPr lang="en-US" sz="4000" dirty="0" err="1">
                <a:solidFill>
                  <a:srgbClr val="FFFFFF"/>
                </a:solidFill>
              </a:rPr>
              <a:t>Arquitectura</a:t>
            </a:r>
            <a:r>
              <a:rPr lang="en-US" sz="4000" dirty="0">
                <a:solidFill>
                  <a:srgbClr val="FFFFFF"/>
                </a:solidFill>
              </a:rPr>
              <a:t> transformer</a:t>
            </a:r>
          </a:p>
        </p:txBody>
      </p:sp>
      <p:sp>
        <p:nvSpPr>
          <p:cNvPr id="10" name="CuadroTexto 9">
            <a:extLst>
              <a:ext uri="{FF2B5EF4-FFF2-40B4-BE49-F238E27FC236}">
                <a16:creationId xmlns:a16="http://schemas.microsoft.com/office/drawing/2014/main" id="{D547F8C3-4557-1DA4-8FFA-A30B0ED077B7}"/>
              </a:ext>
            </a:extLst>
          </p:cNvPr>
          <p:cNvSpPr txBox="1"/>
          <p:nvPr/>
        </p:nvSpPr>
        <p:spPr>
          <a:xfrm>
            <a:off x="4849092" y="2061330"/>
            <a:ext cx="6919867" cy="5909310"/>
          </a:xfrm>
          <a:prstGeom prst="rect">
            <a:avLst/>
          </a:prstGeom>
          <a:noFill/>
        </p:spPr>
        <p:txBody>
          <a:bodyPr wrap="square" rtlCol="0">
            <a:spAutoFit/>
          </a:bodyPr>
          <a:lstStyle/>
          <a:p>
            <a:r>
              <a:rPr lang="es-ES" b="1" dirty="0"/>
              <a:t>Paso 4: Predicción de la Próxima Palabra</a:t>
            </a:r>
          </a:p>
          <a:p>
            <a:endParaRPr lang="es-ES" b="1" dirty="0"/>
          </a:p>
          <a:p>
            <a:r>
              <a:rPr lang="es-ES" dirty="0"/>
              <a:t>La palabra con la mayor probabilidad es "pantera", con una probabilidad de aproximadamente 0.6044. Por lo tanto, el modelo predice que la próxima palabra en la secuencia es "pantera".</a:t>
            </a:r>
          </a:p>
          <a:p>
            <a:endParaRPr lang="es-CL" dirty="0"/>
          </a:p>
          <a:p>
            <a:r>
              <a:rPr lang="es-CL" dirty="0"/>
              <a:t>El sistema, dados los </a:t>
            </a:r>
            <a:r>
              <a:rPr lang="es-CL" dirty="0" err="1"/>
              <a:t>embeddings</a:t>
            </a:r>
            <a:r>
              <a:rPr lang="es-CL" dirty="0"/>
              <a:t>, “conoce” todo tipo de relaciones, incluyendo relaciones gramaticales (género, número), temáticas (</a:t>
            </a:r>
            <a:r>
              <a:rPr lang="es-CL" dirty="0" err="1"/>
              <a:t>e.g</a:t>
            </a:r>
            <a:r>
              <a:rPr lang="es-CL" dirty="0"/>
              <a:t>., actividades), etc.</a:t>
            </a:r>
          </a:p>
          <a:p>
            <a:endParaRPr lang="es-CL" dirty="0"/>
          </a:p>
          <a:p>
            <a:r>
              <a:rPr lang="es-CL" dirty="0"/>
              <a:t>Además, el entrenamiento de la capa de proyección también enseña al </a:t>
            </a:r>
            <a:r>
              <a:rPr lang="es-CL" dirty="0" err="1"/>
              <a:t>Transformer</a:t>
            </a:r>
            <a:r>
              <a:rPr lang="es-CL" dirty="0"/>
              <a:t> a aprender continuaciones asociadas con, por ejemplo, relaciones gramaticales (</a:t>
            </a:r>
            <a:r>
              <a:rPr lang="es-CL" dirty="0" err="1"/>
              <a:t>e.g</a:t>
            </a:r>
            <a:r>
              <a:rPr lang="es-CL" dirty="0"/>
              <a:t>., que después de un artículo, es más probable que siga un sustantivo).</a:t>
            </a:r>
          </a:p>
          <a:p>
            <a:endParaRPr lang="es-CL" dirty="0"/>
          </a:p>
          <a:p>
            <a:endParaRPr lang="es-CL" dirty="0"/>
          </a:p>
          <a:p>
            <a:endParaRPr lang="es-CL" dirty="0"/>
          </a:p>
          <a:p>
            <a:endParaRPr lang="es-CL" dirty="0"/>
          </a:p>
          <a:p>
            <a:endParaRPr lang="es-CL" dirty="0"/>
          </a:p>
          <a:p>
            <a:endParaRPr lang="es-ES" dirty="0"/>
          </a:p>
        </p:txBody>
      </p:sp>
    </p:spTree>
    <p:extLst>
      <p:ext uri="{BB962C8B-B14F-4D97-AF65-F5344CB8AC3E}">
        <p14:creationId xmlns:p14="http://schemas.microsoft.com/office/powerpoint/2010/main" val="1132112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a:xfrm>
            <a:off x="761999" y="762000"/>
            <a:ext cx="3048001" cy="641131"/>
          </a:xfrm>
        </p:spPr>
        <p:txBody>
          <a:bodyPr anchor="b">
            <a:normAutofit/>
          </a:bodyPr>
          <a:lstStyle/>
          <a:p>
            <a:r>
              <a:rPr lang="en-US" sz="3000" dirty="0" err="1">
                <a:solidFill>
                  <a:srgbClr val="FFFFFF"/>
                </a:solidFill>
              </a:rPr>
              <a:t>Resumen</a:t>
            </a:r>
            <a:endParaRPr lang="en-US" sz="3000" dirty="0">
              <a:solidFill>
                <a:srgbClr val="FFFFFF"/>
              </a:solidFill>
            </a:endParaRPr>
          </a:p>
        </p:txBody>
      </p:sp>
      <p:graphicFrame>
        <p:nvGraphicFramePr>
          <p:cNvPr id="6" name="Content Placeholder">
            <a:extLst>
              <a:ext uri="{FF2B5EF4-FFF2-40B4-BE49-F238E27FC236}">
                <a16:creationId xmlns:a16="http://schemas.microsoft.com/office/drawing/2014/main" id="{0CA89148-F346-2576-D8F6-5EB096A58EF9}"/>
              </a:ext>
            </a:extLst>
          </p:cNvPr>
          <p:cNvGraphicFramePr>
            <a:graphicFrameLocks noGrp="1"/>
          </p:cNvGraphicFramePr>
          <p:nvPr>
            <p:ph idx="1"/>
            <p:extLst>
              <p:ext uri="{D42A27DB-BD31-4B8C-83A1-F6EECF244321}">
                <p14:modId xmlns:p14="http://schemas.microsoft.com/office/powerpoint/2010/main" val="4168997728"/>
              </p:ext>
            </p:extLst>
          </p:nvPr>
        </p:nvGraphicFramePr>
        <p:xfrm>
          <a:off x="5334000" y="762000"/>
          <a:ext cx="6344856" cy="590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69474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a:xfrm>
            <a:off x="761999" y="762000"/>
            <a:ext cx="3048001" cy="641131"/>
          </a:xfrm>
        </p:spPr>
        <p:txBody>
          <a:bodyPr anchor="b">
            <a:normAutofit/>
          </a:bodyPr>
          <a:lstStyle/>
          <a:p>
            <a:r>
              <a:rPr lang="en-US" sz="3000" dirty="0" err="1">
                <a:solidFill>
                  <a:srgbClr val="FFFFFF"/>
                </a:solidFill>
              </a:rPr>
              <a:t>Resumen</a:t>
            </a:r>
            <a:endParaRPr lang="en-US" sz="3000" dirty="0">
              <a:solidFill>
                <a:srgbClr val="FFFFFF"/>
              </a:solidFill>
            </a:endParaRPr>
          </a:p>
        </p:txBody>
      </p:sp>
      <p:graphicFrame>
        <p:nvGraphicFramePr>
          <p:cNvPr id="6" name="Content Placeholder">
            <a:extLst>
              <a:ext uri="{FF2B5EF4-FFF2-40B4-BE49-F238E27FC236}">
                <a16:creationId xmlns:a16="http://schemas.microsoft.com/office/drawing/2014/main" id="{0CA89148-F346-2576-D8F6-5EB096A58EF9}"/>
              </a:ext>
            </a:extLst>
          </p:cNvPr>
          <p:cNvGraphicFramePr>
            <a:graphicFrameLocks noGrp="1"/>
          </p:cNvGraphicFramePr>
          <p:nvPr>
            <p:ph idx="1"/>
            <p:extLst>
              <p:ext uri="{D42A27DB-BD31-4B8C-83A1-F6EECF244321}">
                <p14:modId xmlns:p14="http://schemas.microsoft.com/office/powerpoint/2010/main" val="361108228"/>
              </p:ext>
            </p:extLst>
          </p:nvPr>
        </p:nvGraphicFramePr>
        <p:xfrm>
          <a:off x="5334000" y="762000"/>
          <a:ext cx="6344856" cy="590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01702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51478-4A64-9131-F2C7-312B5AD1D093}"/>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901374BE-89B0-84B1-97E4-4B38C9B51D8E}"/>
              </a:ext>
            </a:extLst>
          </p:cNvPr>
          <p:cNvSpPr>
            <a:spLocks noGrp="1"/>
          </p:cNvSpPr>
          <p:nvPr>
            <p:ph type="ctrTitle"/>
          </p:nvPr>
        </p:nvSpPr>
        <p:spPr>
          <a:xfrm>
            <a:off x="761999" y="762000"/>
            <a:ext cx="3048001" cy="641131"/>
          </a:xfrm>
        </p:spPr>
        <p:txBody>
          <a:bodyPr anchor="b">
            <a:normAutofit/>
          </a:bodyPr>
          <a:lstStyle/>
          <a:p>
            <a:r>
              <a:rPr lang="en-US" sz="3000" dirty="0" err="1">
                <a:solidFill>
                  <a:srgbClr val="FFFFFF"/>
                </a:solidFill>
              </a:rPr>
              <a:t>Resumen</a:t>
            </a:r>
            <a:endParaRPr lang="en-US" sz="3000" dirty="0">
              <a:solidFill>
                <a:srgbClr val="FFFFFF"/>
              </a:solidFill>
            </a:endParaRPr>
          </a:p>
        </p:txBody>
      </p:sp>
      <p:graphicFrame>
        <p:nvGraphicFramePr>
          <p:cNvPr id="6" name="Content Placeholder">
            <a:extLst>
              <a:ext uri="{FF2B5EF4-FFF2-40B4-BE49-F238E27FC236}">
                <a16:creationId xmlns:a16="http://schemas.microsoft.com/office/drawing/2014/main" id="{6F6FA88F-7A90-6E92-6DA4-BD8A6E8971C1}"/>
              </a:ext>
            </a:extLst>
          </p:cNvPr>
          <p:cNvGraphicFramePr>
            <a:graphicFrameLocks noGrp="1"/>
          </p:cNvGraphicFramePr>
          <p:nvPr>
            <p:ph idx="1"/>
            <p:extLst>
              <p:ext uri="{D42A27DB-BD31-4B8C-83A1-F6EECF244321}">
                <p14:modId xmlns:p14="http://schemas.microsoft.com/office/powerpoint/2010/main" val="685293507"/>
              </p:ext>
            </p:extLst>
          </p:nvPr>
        </p:nvGraphicFramePr>
        <p:xfrm>
          <a:off x="5334000" y="762000"/>
          <a:ext cx="6344856" cy="590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85990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a:xfrm>
            <a:off x="761999" y="762000"/>
            <a:ext cx="3048001" cy="641131"/>
          </a:xfrm>
        </p:spPr>
        <p:txBody>
          <a:bodyPr anchor="b">
            <a:normAutofit/>
          </a:bodyPr>
          <a:lstStyle/>
          <a:p>
            <a:r>
              <a:rPr lang="en-US" sz="3000" dirty="0" err="1">
                <a:solidFill>
                  <a:srgbClr val="FFFFFF"/>
                </a:solidFill>
              </a:rPr>
              <a:t>Resumen</a:t>
            </a:r>
            <a:endParaRPr lang="en-US" sz="3000" dirty="0">
              <a:solidFill>
                <a:srgbClr val="FFFFFF"/>
              </a:solidFill>
            </a:endParaRPr>
          </a:p>
        </p:txBody>
      </p:sp>
      <p:graphicFrame>
        <p:nvGraphicFramePr>
          <p:cNvPr id="6" name="Content Placeholder">
            <a:extLst>
              <a:ext uri="{FF2B5EF4-FFF2-40B4-BE49-F238E27FC236}">
                <a16:creationId xmlns:a16="http://schemas.microsoft.com/office/drawing/2014/main" id="{0CA89148-F346-2576-D8F6-5EB096A58EF9}"/>
              </a:ext>
            </a:extLst>
          </p:cNvPr>
          <p:cNvGraphicFramePr>
            <a:graphicFrameLocks noGrp="1"/>
          </p:cNvGraphicFramePr>
          <p:nvPr>
            <p:ph idx="1"/>
            <p:extLst>
              <p:ext uri="{D42A27DB-BD31-4B8C-83A1-F6EECF244321}">
                <p14:modId xmlns:p14="http://schemas.microsoft.com/office/powerpoint/2010/main" val="750891136"/>
              </p:ext>
            </p:extLst>
          </p:nvPr>
        </p:nvGraphicFramePr>
        <p:xfrm>
          <a:off x="5334000" y="762000"/>
          <a:ext cx="6344856" cy="590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09814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a:xfrm>
            <a:off x="761999" y="762000"/>
            <a:ext cx="3048001" cy="641131"/>
          </a:xfrm>
        </p:spPr>
        <p:txBody>
          <a:bodyPr anchor="b">
            <a:normAutofit/>
          </a:bodyPr>
          <a:lstStyle/>
          <a:p>
            <a:r>
              <a:rPr lang="en-US" sz="3000" dirty="0" err="1">
                <a:solidFill>
                  <a:srgbClr val="FFFFFF"/>
                </a:solidFill>
              </a:rPr>
              <a:t>Resumen</a:t>
            </a:r>
            <a:endParaRPr lang="en-US" sz="3000" dirty="0">
              <a:solidFill>
                <a:srgbClr val="FFFFFF"/>
              </a:solidFill>
            </a:endParaRPr>
          </a:p>
        </p:txBody>
      </p:sp>
      <p:graphicFrame>
        <p:nvGraphicFramePr>
          <p:cNvPr id="6" name="Content Placeholder">
            <a:extLst>
              <a:ext uri="{FF2B5EF4-FFF2-40B4-BE49-F238E27FC236}">
                <a16:creationId xmlns:a16="http://schemas.microsoft.com/office/drawing/2014/main" id="{0CA89148-F346-2576-D8F6-5EB096A58EF9}"/>
              </a:ext>
            </a:extLst>
          </p:cNvPr>
          <p:cNvGraphicFramePr>
            <a:graphicFrameLocks noGrp="1"/>
          </p:cNvGraphicFramePr>
          <p:nvPr>
            <p:ph idx="1"/>
            <p:extLst>
              <p:ext uri="{D42A27DB-BD31-4B8C-83A1-F6EECF244321}">
                <p14:modId xmlns:p14="http://schemas.microsoft.com/office/powerpoint/2010/main" val="1840584178"/>
              </p:ext>
            </p:extLst>
          </p:nvPr>
        </p:nvGraphicFramePr>
        <p:xfrm>
          <a:off x="3249011" y="998483"/>
          <a:ext cx="6344856" cy="590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60126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2" name="Freeform: Shape 11">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4" name="Freeform: Shape 13">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16" name="Rectangle 15">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6FC6F62-FEC6-45C4-B697-39FDA62A96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653162" y="-776838"/>
            <a:ext cx="762001"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prstClr val="white"/>
              </a:solidFill>
              <a:latin typeface="Avenir Next LT Pro" panose="020B0504020202020204" pitchFamily="34" charset="0"/>
            </a:endParaRPr>
          </a:p>
        </p:txBody>
      </p:sp>
      <p:grpSp>
        <p:nvGrpSpPr>
          <p:cNvPr id="20" name="Group 19">
            <a:extLst>
              <a:ext uri="{FF2B5EF4-FFF2-40B4-BE49-F238E27FC236}">
                <a16:creationId xmlns:a16="http://schemas.microsoft.com/office/drawing/2014/main" id="{F8D7210F-BCFD-46C1-9A2C-3717368B1A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 y="5829359"/>
            <a:ext cx="4333875" cy="1028642"/>
            <a:chOff x="7153921" y="5829359"/>
            <a:chExt cx="5038079" cy="1028642"/>
          </a:xfrm>
        </p:grpSpPr>
        <p:sp>
          <p:nvSpPr>
            <p:cNvPr id="21" name="Freeform: Shape 20">
              <a:extLst>
                <a:ext uri="{FF2B5EF4-FFF2-40B4-BE49-F238E27FC236}">
                  <a16:creationId xmlns:a16="http://schemas.microsoft.com/office/drawing/2014/main" id="{2C96BB9F-FD85-4689-A888-9A5AA0A14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63906" y="5913098"/>
              <a:ext cx="4228094" cy="944903"/>
            </a:xfrm>
            <a:custGeom>
              <a:avLst/>
              <a:gdLst>
                <a:gd name="connsiteX0" fmla="*/ 1673074 w 4228094"/>
                <a:gd name="connsiteY0" fmla="*/ 230 h 1137038"/>
                <a:gd name="connsiteX1" fmla="*/ 3676781 w 4228094"/>
                <a:gd name="connsiteY1" fmla="*/ 298555 h 1137038"/>
                <a:gd name="connsiteX2" fmla="*/ 4025527 w 4228094"/>
                <a:gd name="connsiteY2" fmla="*/ 425010 h 1137038"/>
                <a:gd name="connsiteX3" fmla="*/ 4228094 w 4228094"/>
                <a:gd name="connsiteY3" fmla="*/ 494088 h 1137038"/>
                <a:gd name="connsiteX4" fmla="*/ 4228094 w 4228094"/>
                <a:gd name="connsiteY4" fmla="*/ 1137038 h 1137038"/>
                <a:gd name="connsiteX5" fmla="*/ 0 w 4228094"/>
                <a:gd name="connsiteY5" fmla="*/ 1137038 h 1137038"/>
                <a:gd name="connsiteX6" fmla="*/ 18109 w 4228094"/>
                <a:gd name="connsiteY6" fmla="*/ 1068877 h 1137038"/>
                <a:gd name="connsiteX7" fmla="*/ 362264 w 4228094"/>
                <a:gd name="connsiteY7" fmla="*/ 366637 h 1137038"/>
                <a:gd name="connsiteX8" fmla="*/ 1386499 w 4228094"/>
                <a:gd name="connsiteY8" fmla="*/ 1522 h 1137038"/>
                <a:gd name="connsiteX9" fmla="*/ 1673074 w 4228094"/>
                <a:gd name="connsiteY9" fmla="*/ 230 h 113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094" h="1137038">
                  <a:moveTo>
                    <a:pt x="1673074" y="230"/>
                  </a:moveTo>
                  <a:cubicBezTo>
                    <a:pt x="2346512" y="4287"/>
                    <a:pt x="3048424" y="63583"/>
                    <a:pt x="3676781" y="298555"/>
                  </a:cubicBezTo>
                  <a:cubicBezTo>
                    <a:pt x="3793275" y="342114"/>
                    <a:pt x="3909477" y="384216"/>
                    <a:pt x="4025527" y="425010"/>
                  </a:cubicBezTo>
                  <a:lnTo>
                    <a:pt x="4228094" y="494088"/>
                  </a:lnTo>
                  <a:lnTo>
                    <a:pt x="4228094" y="1137038"/>
                  </a:lnTo>
                  <a:lnTo>
                    <a:pt x="0" y="1137038"/>
                  </a:lnTo>
                  <a:lnTo>
                    <a:pt x="18109" y="1068877"/>
                  </a:lnTo>
                  <a:cubicBezTo>
                    <a:pt x="95047" y="799139"/>
                    <a:pt x="194962" y="542008"/>
                    <a:pt x="362264" y="366637"/>
                  </a:cubicBezTo>
                  <a:cubicBezTo>
                    <a:pt x="622229" y="94062"/>
                    <a:pt x="1015836" y="6565"/>
                    <a:pt x="1386499" y="1522"/>
                  </a:cubicBezTo>
                  <a:cubicBezTo>
                    <a:pt x="1481245" y="198"/>
                    <a:pt x="1576869" y="-349"/>
                    <a:pt x="1673074"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500">
                <a:solidFill>
                  <a:schemeClr val="bg1"/>
                </a:solidFill>
                <a:latin typeface="Avenir Next LT Pro" panose="020B0504020202020204" pitchFamily="34" charset="0"/>
              </a:endParaRPr>
            </a:p>
          </p:txBody>
        </p:sp>
        <p:sp>
          <p:nvSpPr>
            <p:cNvPr id="22" name="Freeform: Shape 21">
              <a:extLst>
                <a:ext uri="{FF2B5EF4-FFF2-40B4-BE49-F238E27FC236}">
                  <a16:creationId xmlns:a16="http://schemas.microsoft.com/office/drawing/2014/main" id="{78545FC7-27EF-4BF9-A88F-35F089DF69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53921" y="5829359"/>
              <a:ext cx="5038078" cy="1028642"/>
            </a:xfrm>
            <a:custGeom>
              <a:avLst/>
              <a:gdLst>
                <a:gd name="connsiteX0" fmla="*/ 1576991 w 5038078"/>
                <a:gd name="connsiteY0" fmla="*/ 210 h 1238015"/>
                <a:gd name="connsiteX1" fmla="*/ 3403320 w 5038078"/>
                <a:gd name="connsiteY1" fmla="*/ 272125 h 1238015"/>
                <a:gd name="connsiteX2" fmla="*/ 4672870 w 5038078"/>
                <a:gd name="connsiteY2" fmla="*/ 693604 h 1238015"/>
                <a:gd name="connsiteX3" fmla="*/ 5038078 w 5038078"/>
                <a:gd name="connsiteY3" fmla="*/ 795929 h 1238015"/>
                <a:gd name="connsiteX4" fmla="*/ 5038078 w 5038078"/>
                <a:gd name="connsiteY4" fmla="*/ 1238015 h 1238015"/>
                <a:gd name="connsiteX5" fmla="*/ 0 w 5038078"/>
                <a:gd name="connsiteY5" fmla="*/ 1238015 h 1238015"/>
                <a:gd name="connsiteX6" fmla="*/ 19230 w 5038078"/>
                <a:gd name="connsiteY6" fmla="*/ 1159819 h 1238015"/>
                <a:gd name="connsiteX7" fmla="*/ 382219 w 5038078"/>
                <a:gd name="connsiteY7" fmla="*/ 334180 h 1238015"/>
                <a:gd name="connsiteX8" fmla="*/ 1315784 w 5038078"/>
                <a:gd name="connsiteY8" fmla="*/ 1388 h 1238015"/>
                <a:gd name="connsiteX9" fmla="*/ 1576991 w 5038078"/>
                <a:gd name="connsiteY9" fmla="*/ 210 h 123801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049689"/>
                <a:gd name="connsiteY0" fmla="*/ 1237805 h 1423588"/>
                <a:gd name="connsiteX1" fmla="*/ 19230 w 5049689"/>
                <a:gd name="connsiteY1" fmla="*/ 1159609 h 1423588"/>
                <a:gd name="connsiteX2" fmla="*/ 382219 w 5049689"/>
                <a:gd name="connsiteY2" fmla="*/ 333970 h 1423588"/>
                <a:gd name="connsiteX3" fmla="*/ 1315784 w 5049689"/>
                <a:gd name="connsiteY3" fmla="*/ 1178 h 1423588"/>
                <a:gd name="connsiteX4" fmla="*/ 1576991 w 5049689"/>
                <a:gd name="connsiteY4" fmla="*/ 0 h 1423588"/>
                <a:gd name="connsiteX5" fmla="*/ 3403320 w 5049689"/>
                <a:gd name="connsiteY5" fmla="*/ 271915 h 1423588"/>
                <a:gd name="connsiteX6" fmla="*/ 4672870 w 5049689"/>
                <a:gd name="connsiteY6" fmla="*/ 693394 h 1423588"/>
                <a:gd name="connsiteX7" fmla="*/ 5038078 w 5049689"/>
                <a:gd name="connsiteY7" fmla="*/ 795719 h 1423588"/>
                <a:gd name="connsiteX8" fmla="*/ 5049689 w 5049689"/>
                <a:gd name="connsiteY8" fmla="*/ 1423588 h 1423588"/>
                <a:gd name="connsiteX0" fmla="*/ 0 w 5038078"/>
                <a:gd name="connsiteY0" fmla="*/ 1237805 h 1237805"/>
                <a:gd name="connsiteX1" fmla="*/ 19230 w 5038078"/>
                <a:gd name="connsiteY1" fmla="*/ 1159609 h 1237805"/>
                <a:gd name="connsiteX2" fmla="*/ 382219 w 5038078"/>
                <a:gd name="connsiteY2" fmla="*/ 333970 h 1237805"/>
                <a:gd name="connsiteX3" fmla="*/ 1315784 w 5038078"/>
                <a:gd name="connsiteY3" fmla="*/ 1178 h 1237805"/>
                <a:gd name="connsiteX4" fmla="*/ 1576991 w 5038078"/>
                <a:gd name="connsiteY4" fmla="*/ 0 h 1237805"/>
                <a:gd name="connsiteX5" fmla="*/ 3403320 w 5038078"/>
                <a:gd name="connsiteY5" fmla="*/ 271915 h 1237805"/>
                <a:gd name="connsiteX6" fmla="*/ 4672870 w 5038078"/>
                <a:gd name="connsiteY6" fmla="*/ 693394 h 1237805"/>
                <a:gd name="connsiteX7" fmla="*/ 5038078 w 5038078"/>
                <a:gd name="connsiteY7" fmla="*/ 795719 h 123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38078" h="1237805">
                  <a:moveTo>
                    <a:pt x="0" y="1237805"/>
                  </a:moveTo>
                  <a:lnTo>
                    <a:pt x="19230" y="1159609"/>
                  </a:lnTo>
                  <a:cubicBezTo>
                    <a:pt x="96961" y="850027"/>
                    <a:pt x="191605" y="533778"/>
                    <a:pt x="382219" y="333970"/>
                  </a:cubicBezTo>
                  <a:cubicBezTo>
                    <a:pt x="619171" y="85526"/>
                    <a:pt x="977934" y="5774"/>
                    <a:pt x="1315784" y="1178"/>
                  </a:cubicBezTo>
                  <a:lnTo>
                    <a:pt x="1576991" y="0"/>
                  </a:lnTo>
                  <a:cubicBezTo>
                    <a:pt x="2190813" y="3698"/>
                    <a:pt x="2830589" y="57744"/>
                    <a:pt x="3403320" y="271915"/>
                  </a:cubicBezTo>
                  <a:cubicBezTo>
                    <a:pt x="3828046" y="430728"/>
                    <a:pt x="4248519" y="568281"/>
                    <a:pt x="4672870" y="693394"/>
                  </a:cubicBezTo>
                  <a:lnTo>
                    <a:pt x="5038078" y="795719"/>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grpSp>
      <p:sp>
        <p:nvSpPr>
          <p:cNvPr id="4" name="Marcador de contenido 3">
            <a:extLst>
              <a:ext uri="{FF2B5EF4-FFF2-40B4-BE49-F238E27FC236}">
                <a16:creationId xmlns:a16="http://schemas.microsoft.com/office/drawing/2014/main" id="{63723AC7-6699-C59E-82A9-3934A7FAF7A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82332" y="1977488"/>
            <a:ext cx="6542468" cy="3810001"/>
          </a:xfrm>
        </p:spPr>
        <p:txBody>
          <a:bodyPr>
            <a:normAutofit/>
          </a:bodyPr>
          <a:lstStyle/>
          <a:p>
            <a:pPr>
              <a:buNone/>
            </a:pPr>
            <a:r>
              <a:rPr lang="es-ES" sz="2000" b="1" dirty="0"/>
              <a:t>En realidad, se requieren varias cabezas de atención (10 o más).</a:t>
            </a:r>
          </a:p>
          <a:p>
            <a:r>
              <a:rPr lang="es-ES" sz="2000" dirty="0"/>
              <a:t>¿Por qué? </a:t>
            </a:r>
          </a:p>
          <a:p>
            <a:r>
              <a:rPr lang="es-ES" sz="2000" dirty="0"/>
              <a:t>No hay una sola forma de atender: a veces se necesita ver relaciones gramaticales, otras veces semánticas o estructurales. Cada cabeza de atención aprende un patrón distinto de relaciones.</a:t>
            </a:r>
          </a:p>
          <a:p>
            <a:pPr marL="0" indent="0">
              <a:lnSpc>
                <a:spcPct val="115000"/>
              </a:lnSpc>
              <a:spcBef>
                <a:spcPts val="2500"/>
              </a:spcBef>
              <a:buNone/>
            </a:pPr>
            <a:endParaRPr lang="es-CL" sz="1400" dirty="0"/>
          </a:p>
        </p:txBody>
      </p:sp>
      <p:sp>
        <p:nvSpPr>
          <p:cNvPr id="2" name="Título 1">
            <a:extLst>
              <a:ext uri="{FF2B5EF4-FFF2-40B4-BE49-F238E27FC236}">
                <a16:creationId xmlns:a16="http://schemas.microsoft.com/office/drawing/2014/main" id="{F32F74FF-6708-59FC-6BD9-3AE42B85746F}"/>
              </a:ext>
            </a:extLst>
          </p:cNvPr>
          <p:cNvSpPr>
            <a:spLocks noGrp="1"/>
          </p:cNvSpPr>
          <p:nvPr>
            <p:ph type="title"/>
          </p:nvPr>
        </p:nvSpPr>
        <p:spPr>
          <a:xfrm>
            <a:off x="769756" y="628680"/>
            <a:ext cx="5334000" cy="1524000"/>
          </a:xfrm>
        </p:spPr>
        <p:txBody>
          <a:bodyPr vert="horz" lIns="91440" tIns="45720" rIns="91440" bIns="45720" rtlCol="0" anchor="ctr">
            <a:normAutofit/>
          </a:bodyPr>
          <a:lstStyle/>
          <a:p>
            <a:r>
              <a:rPr lang="en-US" sz="3200"/>
              <a:t>Un caso más realista</a:t>
            </a:r>
          </a:p>
        </p:txBody>
      </p:sp>
    </p:spTree>
    <p:extLst>
      <p:ext uri="{BB962C8B-B14F-4D97-AF65-F5344CB8AC3E}">
        <p14:creationId xmlns:p14="http://schemas.microsoft.com/office/powerpoint/2010/main" val="1824909146"/>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04673F5-D1DF-D1EA-DBB7-600E9E734885}"/>
            </a:ext>
          </a:extLst>
        </p:cNvPr>
        <p:cNvGrpSpPr/>
        <p:nvPr/>
      </p:nvGrpSpPr>
      <p:grpSpPr>
        <a:xfrm>
          <a:off x="0" y="0"/>
          <a:ext cx="0" cy="0"/>
          <a:chOff x="0" y="0"/>
          <a:chExt cx="0" cy="0"/>
        </a:xfrm>
      </p:grpSpPr>
      <p:sp>
        <p:nvSpPr>
          <p:cNvPr id="10" name="Freeform: Shape 9">
            <a:extLst>
              <a:ext uri="{FF2B5EF4-FFF2-40B4-BE49-F238E27FC236}">
                <a16:creationId xmlns:a16="http://schemas.microsoft.com/office/drawing/2014/main" id="{BFFAF5A3-44D1-3274-2FBF-7362EF058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2" name="Freeform: Shape 11">
            <a:extLst>
              <a:ext uri="{FF2B5EF4-FFF2-40B4-BE49-F238E27FC236}">
                <a16:creationId xmlns:a16="http://schemas.microsoft.com/office/drawing/2014/main" id="{2A1F085F-0E48-3A10-4751-45EAB5DAA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4" name="Freeform: Shape 13">
            <a:extLst>
              <a:ext uri="{FF2B5EF4-FFF2-40B4-BE49-F238E27FC236}">
                <a16:creationId xmlns:a16="http://schemas.microsoft.com/office/drawing/2014/main" id="{49936718-6059-F584-8ED4-EABC0FC90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16" name="Rectangle 15">
            <a:extLst>
              <a:ext uri="{FF2B5EF4-FFF2-40B4-BE49-F238E27FC236}">
                <a16:creationId xmlns:a16="http://schemas.microsoft.com/office/drawing/2014/main" id="{BA2057F3-59AF-F048-6E14-3423FFFD2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C62A7-1061-44B0-E2D7-7F2583AC7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653162" y="-776838"/>
            <a:ext cx="762001"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prstClr val="white"/>
              </a:solidFill>
              <a:latin typeface="Avenir Next LT Pro" panose="020B0504020202020204" pitchFamily="34" charset="0"/>
            </a:endParaRPr>
          </a:p>
        </p:txBody>
      </p:sp>
      <p:grpSp>
        <p:nvGrpSpPr>
          <p:cNvPr id="20" name="Group 19">
            <a:extLst>
              <a:ext uri="{FF2B5EF4-FFF2-40B4-BE49-F238E27FC236}">
                <a16:creationId xmlns:a16="http://schemas.microsoft.com/office/drawing/2014/main" id="{A4D993BE-EC1E-6D13-7D04-B58A7072BB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 y="5829359"/>
            <a:ext cx="4333875" cy="1028642"/>
            <a:chOff x="7153921" y="5829359"/>
            <a:chExt cx="5038079" cy="1028642"/>
          </a:xfrm>
        </p:grpSpPr>
        <p:sp>
          <p:nvSpPr>
            <p:cNvPr id="21" name="Freeform: Shape 20">
              <a:extLst>
                <a:ext uri="{FF2B5EF4-FFF2-40B4-BE49-F238E27FC236}">
                  <a16:creationId xmlns:a16="http://schemas.microsoft.com/office/drawing/2014/main" id="{8488FCF5-701B-D02E-5602-18A706166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63906" y="5913098"/>
              <a:ext cx="4228094" cy="944903"/>
            </a:xfrm>
            <a:custGeom>
              <a:avLst/>
              <a:gdLst>
                <a:gd name="connsiteX0" fmla="*/ 1673074 w 4228094"/>
                <a:gd name="connsiteY0" fmla="*/ 230 h 1137038"/>
                <a:gd name="connsiteX1" fmla="*/ 3676781 w 4228094"/>
                <a:gd name="connsiteY1" fmla="*/ 298555 h 1137038"/>
                <a:gd name="connsiteX2" fmla="*/ 4025527 w 4228094"/>
                <a:gd name="connsiteY2" fmla="*/ 425010 h 1137038"/>
                <a:gd name="connsiteX3" fmla="*/ 4228094 w 4228094"/>
                <a:gd name="connsiteY3" fmla="*/ 494088 h 1137038"/>
                <a:gd name="connsiteX4" fmla="*/ 4228094 w 4228094"/>
                <a:gd name="connsiteY4" fmla="*/ 1137038 h 1137038"/>
                <a:gd name="connsiteX5" fmla="*/ 0 w 4228094"/>
                <a:gd name="connsiteY5" fmla="*/ 1137038 h 1137038"/>
                <a:gd name="connsiteX6" fmla="*/ 18109 w 4228094"/>
                <a:gd name="connsiteY6" fmla="*/ 1068877 h 1137038"/>
                <a:gd name="connsiteX7" fmla="*/ 362264 w 4228094"/>
                <a:gd name="connsiteY7" fmla="*/ 366637 h 1137038"/>
                <a:gd name="connsiteX8" fmla="*/ 1386499 w 4228094"/>
                <a:gd name="connsiteY8" fmla="*/ 1522 h 1137038"/>
                <a:gd name="connsiteX9" fmla="*/ 1673074 w 4228094"/>
                <a:gd name="connsiteY9" fmla="*/ 230 h 113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094" h="1137038">
                  <a:moveTo>
                    <a:pt x="1673074" y="230"/>
                  </a:moveTo>
                  <a:cubicBezTo>
                    <a:pt x="2346512" y="4287"/>
                    <a:pt x="3048424" y="63583"/>
                    <a:pt x="3676781" y="298555"/>
                  </a:cubicBezTo>
                  <a:cubicBezTo>
                    <a:pt x="3793275" y="342114"/>
                    <a:pt x="3909477" y="384216"/>
                    <a:pt x="4025527" y="425010"/>
                  </a:cubicBezTo>
                  <a:lnTo>
                    <a:pt x="4228094" y="494088"/>
                  </a:lnTo>
                  <a:lnTo>
                    <a:pt x="4228094" y="1137038"/>
                  </a:lnTo>
                  <a:lnTo>
                    <a:pt x="0" y="1137038"/>
                  </a:lnTo>
                  <a:lnTo>
                    <a:pt x="18109" y="1068877"/>
                  </a:lnTo>
                  <a:cubicBezTo>
                    <a:pt x="95047" y="799139"/>
                    <a:pt x="194962" y="542008"/>
                    <a:pt x="362264" y="366637"/>
                  </a:cubicBezTo>
                  <a:cubicBezTo>
                    <a:pt x="622229" y="94062"/>
                    <a:pt x="1015836" y="6565"/>
                    <a:pt x="1386499" y="1522"/>
                  </a:cubicBezTo>
                  <a:cubicBezTo>
                    <a:pt x="1481245" y="198"/>
                    <a:pt x="1576869" y="-349"/>
                    <a:pt x="1673074"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500">
                <a:solidFill>
                  <a:schemeClr val="bg1"/>
                </a:solidFill>
                <a:latin typeface="Avenir Next LT Pro" panose="020B0504020202020204" pitchFamily="34" charset="0"/>
              </a:endParaRPr>
            </a:p>
          </p:txBody>
        </p:sp>
        <p:sp>
          <p:nvSpPr>
            <p:cNvPr id="22" name="Freeform: Shape 21">
              <a:extLst>
                <a:ext uri="{FF2B5EF4-FFF2-40B4-BE49-F238E27FC236}">
                  <a16:creationId xmlns:a16="http://schemas.microsoft.com/office/drawing/2014/main" id="{FD2D68C6-715D-4209-6298-29E9DA088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53921" y="5829359"/>
              <a:ext cx="5038078" cy="1028642"/>
            </a:xfrm>
            <a:custGeom>
              <a:avLst/>
              <a:gdLst>
                <a:gd name="connsiteX0" fmla="*/ 1576991 w 5038078"/>
                <a:gd name="connsiteY0" fmla="*/ 210 h 1238015"/>
                <a:gd name="connsiteX1" fmla="*/ 3403320 w 5038078"/>
                <a:gd name="connsiteY1" fmla="*/ 272125 h 1238015"/>
                <a:gd name="connsiteX2" fmla="*/ 4672870 w 5038078"/>
                <a:gd name="connsiteY2" fmla="*/ 693604 h 1238015"/>
                <a:gd name="connsiteX3" fmla="*/ 5038078 w 5038078"/>
                <a:gd name="connsiteY3" fmla="*/ 795929 h 1238015"/>
                <a:gd name="connsiteX4" fmla="*/ 5038078 w 5038078"/>
                <a:gd name="connsiteY4" fmla="*/ 1238015 h 1238015"/>
                <a:gd name="connsiteX5" fmla="*/ 0 w 5038078"/>
                <a:gd name="connsiteY5" fmla="*/ 1238015 h 1238015"/>
                <a:gd name="connsiteX6" fmla="*/ 19230 w 5038078"/>
                <a:gd name="connsiteY6" fmla="*/ 1159819 h 1238015"/>
                <a:gd name="connsiteX7" fmla="*/ 382219 w 5038078"/>
                <a:gd name="connsiteY7" fmla="*/ 334180 h 1238015"/>
                <a:gd name="connsiteX8" fmla="*/ 1315784 w 5038078"/>
                <a:gd name="connsiteY8" fmla="*/ 1388 h 1238015"/>
                <a:gd name="connsiteX9" fmla="*/ 1576991 w 5038078"/>
                <a:gd name="connsiteY9" fmla="*/ 210 h 123801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049689"/>
                <a:gd name="connsiteY0" fmla="*/ 1237805 h 1423588"/>
                <a:gd name="connsiteX1" fmla="*/ 19230 w 5049689"/>
                <a:gd name="connsiteY1" fmla="*/ 1159609 h 1423588"/>
                <a:gd name="connsiteX2" fmla="*/ 382219 w 5049689"/>
                <a:gd name="connsiteY2" fmla="*/ 333970 h 1423588"/>
                <a:gd name="connsiteX3" fmla="*/ 1315784 w 5049689"/>
                <a:gd name="connsiteY3" fmla="*/ 1178 h 1423588"/>
                <a:gd name="connsiteX4" fmla="*/ 1576991 w 5049689"/>
                <a:gd name="connsiteY4" fmla="*/ 0 h 1423588"/>
                <a:gd name="connsiteX5" fmla="*/ 3403320 w 5049689"/>
                <a:gd name="connsiteY5" fmla="*/ 271915 h 1423588"/>
                <a:gd name="connsiteX6" fmla="*/ 4672870 w 5049689"/>
                <a:gd name="connsiteY6" fmla="*/ 693394 h 1423588"/>
                <a:gd name="connsiteX7" fmla="*/ 5038078 w 5049689"/>
                <a:gd name="connsiteY7" fmla="*/ 795719 h 1423588"/>
                <a:gd name="connsiteX8" fmla="*/ 5049689 w 5049689"/>
                <a:gd name="connsiteY8" fmla="*/ 1423588 h 1423588"/>
                <a:gd name="connsiteX0" fmla="*/ 0 w 5038078"/>
                <a:gd name="connsiteY0" fmla="*/ 1237805 h 1237805"/>
                <a:gd name="connsiteX1" fmla="*/ 19230 w 5038078"/>
                <a:gd name="connsiteY1" fmla="*/ 1159609 h 1237805"/>
                <a:gd name="connsiteX2" fmla="*/ 382219 w 5038078"/>
                <a:gd name="connsiteY2" fmla="*/ 333970 h 1237805"/>
                <a:gd name="connsiteX3" fmla="*/ 1315784 w 5038078"/>
                <a:gd name="connsiteY3" fmla="*/ 1178 h 1237805"/>
                <a:gd name="connsiteX4" fmla="*/ 1576991 w 5038078"/>
                <a:gd name="connsiteY4" fmla="*/ 0 h 1237805"/>
                <a:gd name="connsiteX5" fmla="*/ 3403320 w 5038078"/>
                <a:gd name="connsiteY5" fmla="*/ 271915 h 1237805"/>
                <a:gd name="connsiteX6" fmla="*/ 4672870 w 5038078"/>
                <a:gd name="connsiteY6" fmla="*/ 693394 h 1237805"/>
                <a:gd name="connsiteX7" fmla="*/ 5038078 w 5038078"/>
                <a:gd name="connsiteY7" fmla="*/ 795719 h 123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38078" h="1237805">
                  <a:moveTo>
                    <a:pt x="0" y="1237805"/>
                  </a:moveTo>
                  <a:lnTo>
                    <a:pt x="19230" y="1159609"/>
                  </a:lnTo>
                  <a:cubicBezTo>
                    <a:pt x="96961" y="850027"/>
                    <a:pt x="191605" y="533778"/>
                    <a:pt x="382219" y="333970"/>
                  </a:cubicBezTo>
                  <a:cubicBezTo>
                    <a:pt x="619171" y="85526"/>
                    <a:pt x="977934" y="5774"/>
                    <a:pt x="1315784" y="1178"/>
                  </a:cubicBezTo>
                  <a:lnTo>
                    <a:pt x="1576991" y="0"/>
                  </a:lnTo>
                  <a:cubicBezTo>
                    <a:pt x="2190813" y="3698"/>
                    <a:pt x="2830589" y="57744"/>
                    <a:pt x="3403320" y="271915"/>
                  </a:cubicBezTo>
                  <a:cubicBezTo>
                    <a:pt x="3828046" y="430728"/>
                    <a:pt x="4248519" y="568281"/>
                    <a:pt x="4672870" y="693394"/>
                  </a:cubicBezTo>
                  <a:lnTo>
                    <a:pt x="5038078" y="795719"/>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grpSp>
      <p:sp>
        <p:nvSpPr>
          <p:cNvPr id="4" name="Marcador de contenido 3">
            <a:extLst>
              <a:ext uri="{FF2B5EF4-FFF2-40B4-BE49-F238E27FC236}">
                <a16:creationId xmlns:a16="http://schemas.microsoft.com/office/drawing/2014/main" id="{A74E4D43-0F1D-5E83-27EB-830930F454E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82332" y="1977488"/>
            <a:ext cx="6542468" cy="3810001"/>
          </a:xfrm>
        </p:spPr>
        <p:txBody>
          <a:bodyPr>
            <a:normAutofit/>
          </a:bodyPr>
          <a:lstStyle/>
          <a:p>
            <a:pPr>
              <a:buNone/>
            </a:pPr>
            <a:r>
              <a:rPr lang="es-ES" sz="2000" b="1" dirty="0"/>
              <a:t>"La científica presentó su descubrimiento porque quería compartirlo."</a:t>
            </a:r>
            <a:endParaRPr lang="es-ES" sz="2000" dirty="0"/>
          </a:p>
          <a:p>
            <a:r>
              <a:rPr lang="es-ES" sz="2000" dirty="0"/>
              <a:t>Queremos ver a qué palabras presta atención el modelo cuando procesa cada palabra. Aquí nos enfocamos en la palabra </a:t>
            </a:r>
            <a:r>
              <a:rPr lang="es-ES" sz="2000" b="1" dirty="0"/>
              <a:t>"quería"</a:t>
            </a:r>
            <a:r>
              <a:rPr lang="es-ES" sz="2000" dirty="0"/>
              <a:t>.</a:t>
            </a:r>
          </a:p>
          <a:p>
            <a:pPr marL="0" indent="0">
              <a:lnSpc>
                <a:spcPct val="115000"/>
              </a:lnSpc>
              <a:spcBef>
                <a:spcPts val="2500"/>
              </a:spcBef>
              <a:buNone/>
            </a:pPr>
            <a:endParaRPr lang="es-CL" sz="1400" dirty="0"/>
          </a:p>
        </p:txBody>
      </p:sp>
      <p:sp>
        <p:nvSpPr>
          <p:cNvPr id="2" name="Título 1">
            <a:extLst>
              <a:ext uri="{FF2B5EF4-FFF2-40B4-BE49-F238E27FC236}">
                <a16:creationId xmlns:a16="http://schemas.microsoft.com/office/drawing/2014/main" id="{8142C4C9-FDDC-4AF9-3640-F4256480C253}"/>
              </a:ext>
            </a:extLst>
          </p:cNvPr>
          <p:cNvSpPr>
            <a:spLocks noGrp="1"/>
          </p:cNvSpPr>
          <p:nvPr>
            <p:ph type="title"/>
          </p:nvPr>
        </p:nvSpPr>
        <p:spPr>
          <a:xfrm>
            <a:off x="769756" y="628680"/>
            <a:ext cx="5334000" cy="1524000"/>
          </a:xfrm>
        </p:spPr>
        <p:txBody>
          <a:bodyPr vert="horz" lIns="91440" tIns="45720" rIns="91440" bIns="45720" rtlCol="0" anchor="ctr">
            <a:normAutofit/>
          </a:bodyPr>
          <a:lstStyle/>
          <a:p>
            <a:r>
              <a:rPr lang="en-US" sz="3200"/>
              <a:t>Un caso más realista</a:t>
            </a:r>
          </a:p>
        </p:txBody>
      </p:sp>
    </p:spTree>
    <p:extLst>
      <p:ext uri="{BB962C8B-B14F-4D97-AF65-F5344CB8AC3E}">
        <p14:creationId xmlns:p14="http://schemas.microsoft.com/office/powerpoint/2010/main" val="1338410930"/>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838A9D1-444C-192E-DFAD-9C114F261FE1}"/>
            </a:ext>
          </a:extLst>
        </p:cNvPr>
        <p:cNvGrpSpPr/>
        <p:nvPr/>
      </p:nvGrpSpPr>
      <p:grpSpPr>
        <a:xfrm>
          <a:off x="0" y="0"/>
          <a:ext cx="0" cy="0"/>
          <a:chOff x="0" y="0"/>
          <a:chExt cx="0" cy="0"/>
        </a:xfrm>
      </p:grpSpPr>
      <p:sp>
        <p:nvSpPr>
          <p:cNvPr id="10" name="Freeform: Shape 9">
            <a:extLst>
              <a:ext uri="{FF2B5EF4-FFF2-40B4-BE49-F238E27FC236}">
                <a16:creationId xmlns:a16="http://schemas.microsoft.com/office/drawing/2014/main" id="{A7E61FC4-DDA3-5025-FFBE-3C8F7943D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2" name="Freeform: Shape 11">
            <a:extLst>
              <a:ext uri="{FF2B5EF4-FFF2-40B4-BE49-F238E27FC236}">
                <a16:creationId xmlns:a16="http://schemas.microsoft.com/office/drawing/2014/main" id="{25FC184B-DA7D-6560-F680-C4990ACEFC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4" name="Freeform: Shape 13">
            <a:extLst>
              <a:ext uri="{FF2B5EF4-FFF2-40B4-BE49-F238E27FC236}">
                <a16:creationId xmlns:a16="http://schemas.microsoft.com/office/drawing/2014/main" id="{7915003B-FB6B-34A9-099A-4F2096794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16" name="Rectangle 15">
            <a:extLst>
              <a:ext uri="{FF2B5EF4-FFF2-40B4-BE49-F238E27FC236}">
                <a16:creationId xmlns:a16="http://schemas.microsoft.com/office/drawing/2014/main" id="{F200C0D0-F7F4-A181-5B2E-ACD7B4D40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8BDFBA4-DF04-5D9F-076C-6E3D84B9F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653162" y="-776838"/>
            <a:ext cx="762001"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prstClr val="white"/>
              </a:solidFill>
              <a:latin typeface="Avenir Next LT Pro" panose="020B0504020202020204" pitchFamily="34" charset="0"/>
            </a:endParaRPr>
          </a:p>
        </p:txBody>
      </p:sp>
      <p:grpSp>
        <p:nvGrpSpPr>
          <p:cNvPr id="20" name="Group 19">
            <a:extLst>
              <a:ext uri="{FF2B5EF4-FFF2-40B4-BE49-F238E27FC236}">
                <a16:creationId xmlns:a16="http://schemas.microsoft.com/office/drawing/2014/main" id="{01A94D3B-27C9-B656-6A2B-D13CE63CB4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 y="5829359"/>
            <a:ext cx="4333875" cy="1028642"/>
            <a:chOff x="7153921" y="5829359"/>
            <a:chExt cx="5038079" cy="1028642"/>
          </a:xfrm>
        </p:grpSpPr>
        <p:sp>
          <p:nvSpPr>
            <p:cNvPr id="21" name="Freeform: Shape 20">
              <a:extLst>
                <a:ext uri="{FF2B5EF4-FFF2-40B4-BE49-F238E27FC236}">
                  <a16:creationId xmlns:a16="http://schemas.microsoft.com/office/drawing/2014/main" id="{E90FC0AD-E693-91F0-211A-8103D6CF4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63906" y="5913098"/>
              <a:ext cx="4228094" cy="944903"/>
            </a:xfrm>
            <a:custGeom>
              <a:avLst/>
              <a:gdLst>
                <a:gd name="connsiteX0" fmla="*/ 1673074 w 4228094"/>
                <a:gd name="connsiteY0" fmla="*/ 230 h 1137038"/>
                <a:gd name="connsiteX1" fmla="*/ 3676781 w 4228094"/>
                <a:gd name="connsiteY1" fmla="*/ 298555 h 1137038"/>
                <a:gd name="connsiteX2" fmla="*/ 4025527 w 4228094"/>
                <a:gd name="connsiteY2" fmla="*/ 425010 h 1137038"/>
                <a:gd name="connsiteX3" fmla="*/ 4228094 w 4228094"/>
                <a:gd name="connsiteY3" fmla="*/ 494088 h 1137038"/>
                <a:gd name="connsiteX4" fmla="*/ 4228094 w 4228094"/>
                <a:gd name="connsiteY4" fmla="*/ 1137038 h 1137038"/>
                <a:gd name="connsiteX5" fmla="*/ 0 w 4228094"/>
                <a:gd name="connsiteY5" fmla="*/ 1137038 h 1137038"/>
                <a:gd name="connsiteX6" fmla="*/ 18109 w 4228094"/>
                <a:gd name="connsiteY6" fmla="*/ 1068877 h 1137038"/>
                <a:gd name="connsiteX7" fmla="*/ 362264 w 4228094"/>
                <a:gd name="connsiteY7" fmla="*/ 366637 h 1137038"/>
                <a:gd name="connsiteX8" fmla="*/ 1386499 w 4228094"/>
                <a:gd name="connsiteY8" fmla="*/ 1522 h 1137038"/>
                <a:gd name="connsiteX9" fmla="*/ 1673074 w 4228094"/>
                <a:gd name="connsiteY9" fmla="*/ 230 h 113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094" h="1137038">
                  <a:moveTo>
                    <a:pt x="1673074" y="230"/>
                  </a:moveTo>
                  <a:cubicBezTo>
                    <a:pt x="2346512" y="4287"/>
                    <a:pt x="3048424" y="63583"/>
                    <a:pt x="3676781" y="298555"/>
                  </a:cubicBezTo>
                  <a:cubicBezTo>
                    <a:pt x="3793275" y="342114"/>
                    <a:pt x="3909477" y="384216"/>
                    <a:pt x="4025527" y="425010"/>
                  </a:cubicBezTo>
                  <a:lnTo>
                    <a:pt x="4228094" y="494088"/>
                  </a:lnTo>
                  <a:lnTo>
                    <a:pt x="4228094" y="1137038"/>
                  </a:lnTo>
                  <a:lnTo>
                    <a:pt x="0" y="1137038"/>
                  </a:lnTo>
                  <a:lnTo>
                    <a:pt x="18109" y="1068877"/>
                  </a:lnTo>
                  <a:cubicBezTo>
                    <a:pt x="95047" y="799139"/>
                    <a:pt x="194962" y="542008"/>
                    <a:pt x="362264" y="366637"/>
                  </a:cubicBezTo>
                  <a:cubicBezTo>
                    <a:pt x="622229" y="94062"/>
                    <a:pt x="1015836" y="6565"/>
                    <a:pt x="1386499" y="1522"/>
                  </a:cubicBezTo>
                  <a:cubicBezTo>
                    <a:pt x="1481245" y="198"/>
                    <a:pt x="1576869" y="-349"/>
                    <a:pt x="1673074"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500">
                <a:solidFill>
                  <a:schemeClr val="bg1"/>
                </a:solidFill>
                <a:latin typeface="Avenir Next LT Pro" panose="020B0504020202020204" pitchFamily="34" charset="0"/>
              </a:endParaRPr>
            </a:p>
          </p:txBody>
        </p:sp>
        <p:sp>
          <p:nvSpPr>
            <p:cNvPr id="22" name="Freeform: Shape 21">
              <a:extLst>
                <a:ext uri="{FF2B5EF4-FFF2-40B4-BE49-F238E27FC236}">
                  <a16:creationId xmlns:a16="http://schemas.microsoft.com/office/drawing/2014/main" id="{538B2E09-E7AA-4AAE-86E1-11093A7F0D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53921" y="5829359"/>
              <a:ext cx="5038078" cy="1028642"/>
            </a:xfrm>
            <a:custGeom>
              <a:avLst/>
              <a:gdLst>
                <a:gd name="connsiteX0" fmla="*/ 1576991 w 5038078"/>
                <a:gd name="connsiteY0" fmla="*/ 210 h 1238015"/>
                <a:gd name="connsiteX1" fmla="*/ 3403320 w 5038078"/>
                <a:gd name="connsiteY1" fmla="*/ 272125 h 1238015"/>
                <a:gd name="connsiteX2" fmla="*/ 4672870 w 5038078"/>
                <a:gd name="connsiteY2" fmla="*/ 693604 h 1238015"/>
                <a:gd name="connsiteX3" fmla="*/ 5038078 w 5038078"/>
                <a:gd name="connsiteY3" fmla="*/ 795929 h 1238015"/>
                <a:gd name="connsiteX4" fmla="*/ 5038078 w 5038078"/>
                <a:gd name="connsiteY4" fmla="*/ 1238015 h 1238015"/>
                <a:gd name="connsiteX5" fmla="*/ 0 w 5038078"/>
                <a:gd name="connsiteY5" fmla="*/ 1238015 h 1238015"/>
                <a:gd name="connsiteX6" fmla="*/ 19230 w 5038078"/>
                <a:gd name="connsiteY6" fmla="*/ 1159819 h 1238015"/>
                <a:gd name="connsiteX7" fmla="*/ 382219 w 5038078"/>
                <a:gd name="connsiteY7" fmla="*/ 334180 h 1238015"/>
                <a:gd name="connsiteX8" fmla="*/ 1315784 w 5038078"/>
                <a:gd name="connsiteY8" fmla="*/ 1388 h 1238015"/>
                <a:gd name="connsiteX9" fmla="*/ 1576991 w 5038078"/>
                <a:gd name="connsiteY9" fmla="*/ 210 h 123801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049689"/>
                <a:gd name="connsiteY0" fmla="*/ 1237805 h 1423588"/>
                <a:gd name="connsiteX1" fmla="*/ 19230 w 5049689"/>
                <a:gd name="connsiteY1" fmla="*/ 1159609 h 1423588"/>
                <a:gd name="connsiteX2" fmla="*/ 382219 w 5049689"/>
                <a:gd name="connsiteY2" fmla="*/ 333970 h 1423588"/>
                <a:gd name="connsiteX3" fmla="*/ 1315784 w 5049689"/>
                <a:gd name="connsiteY3" fmla="*/ 1178 h 1423588"/>
                <a:gd name="connsiteX4" fmla="*/ 1576991 w 5049689"/>
                <a:gd name="connsiteY4" fmla="*/ 0 h 1423588"/>
                <a:gd name="connsiteX5" fmla="*/ 3403320 w 5049689"/>
                <a:gd name="connsiteY5" fmla="*/ 271915 h 1423588"/>
                <a:gd name="connsiteX6" fmla="*/ 4672870 w 5049689"/>
                <a:gd name="connsiteY6" fmla="*/ 693394 h 1423588"/>
                <a:gd name="connsiteX7" fmla="*/ 5038078 w 5049689"/>
                <a:gd name="connsiteY7" fmla="*/ 795719 h 1423588"/>
                <a:gd name="connsiteX8" fmla="*/ 5049689 w 5049689"/>
                <a:gd name="connsiteY8" fmla="*/ 1423588 h 1423588"/>
                <a:gd name="connsiteX0" fmla="*/ 0 w 5038078"/>
                <a:gd name="connsiteY0" fmla="*/ 1237805 h 1237805"/>
                <a:gd name="connsiteX1" fmla="*/ 19230 w 5038078"/>
                <a:gd name="connsiteY1" fmla="*/ 1159609 h 1237805"/>
                <a:gd name="connsiteX2" fmla="*/ 382219 w 5038078"/>
                <a:gd name="connsiteY2" fmla="*/ 333970 h 1237805"/>
                <a:gd name="connsiteX3" fmla="*/ 1315784 w 5038078"/>
                <a:gd name="connsiteY3" fmla="*/ 1178 h 1237805"/>
                <a:gd name="connsiteX4" fmla="*/ 1576991 w 5038078"/>
                <a:gd name="connsiteY4" fmla="*/ 0 h 1237805"/>
                <a:gd name="connsiteX5" fmla="*/ 3403320 w 5038078"/>
                <a:gd name="connsiteY5" fmla="*/ 271915 h 1237805"/>
                <a:gd name="connsiteX6" fmla="*/ 4672870 w 5038078"/>
                <a:gd name="connsiteY6" fmla="*/ 693394 h 1237805"/>
                <a:gd name="connsiteX7" fmla="*/ 5038078 w 5038078"/>
                <a:gd name="connsiteY7" fmla="*/ 795719 h 123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38078" h="1237805">
                  <a:moveTo>
                    <a:pt x="0" y="1237805"/>
                  </a:moveTo>
                  <a:lnTo>
                    <a:pt x="19230" y="1159609"/>
                  </a:lnTo>
                  <a:cubicBezTo>
                    <a:pt x="96961" y="850027"/>
                    <a:pt x="191605" y="533778"/>
                    <a:pt x="382219" y="333970"/>
                  </a:cubicBezTo>
                  <a:cubicBezTo>
                    <a:pt x="619171" y="85526"/>
                    <a:pt x="977934" y="5774"/>
                    <a:pt x="1315784" y="1178"/>
                  </a:cubicBezTo>
                  <a:lnTo>
                    <a:pt x="1576991" y="0"/>
                  </a:lnTo>
                  <a:cubicBezTo>
                    <a:pt x="2190813" y="3698"/>
                    <a:pt x="2830589" y="57744"/>
                    <a:pt x="3403320" y="271915"/>
                  </a:cubicBezTo>
                  <a:cubicBezTo>
                    <a:pt x="3828046" y="430728"/>
                    <a:pt x="4248519" y="568281"/>
                    <a:pt x="4672870" y="693394"/>
                  </a:cubicBezTo>
                  <a:lnTo>
                    <a:pt x="5038078" y="795719"/>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grpSp>
      <p:graphicFrame>
        <p:nvGraphicFramePr>
          <p:cNvPr id="3" name="Marcador de contenido 2">
            <a:extLst>
              <a:ext uri="{FF2B5EF4-FFF2-40B4-BE49-F238E27FC236}">
                <a16:creationId xmlns:a16="http://schemas.microsoft.com/office/drawing/2014/main" id="{79FCA30B-8C0C-F354-6F92-C9DE81A7A9EF}"/>
              </a:ext>
            </a:extLst>
          </p:cNvPr>
          <p:cNvGraphicFramePr>
            <a:graphicFrameLocks noGrp="1"/>
          </p:cNvGraphicFramePr>
          <p:nvPr>
            <p:ph sz="half" idx="2"/>
            <p:extLst>
              <p:ext uri="{D42A27DB-BD31-4B8C-83A1-F6EECF244321}">
                <p14:modId xmlns:p14="http://schemas.microsoft.com/office/powerpoint/2010/main" val="1224352064"/>
              </p:ext>
            </p:extLst>
          </p:nvPr>
        </p:nvGraphicFramePr>
        <p:xfrm>
          <a:off x="944451" y="2236419"/>
          <a:ext cx="6622945" cy="2803750"/>
        </p:xfrm>
        <a:graphic>
          <a:graphicData uri="http://schemas.openxmlformats.org/drawingml/2006/table">
            <a:tbl>
              <a:tblPr/>
              <a:tblGrid>
                <a:gridCol w="1054945">
                  <a:extLst>
                    <a:ext uri="{9D8B030D-6E8A-4147-A177-3AD203B41FA5}">
                      <a16:colId xmlns:a16="http://schemas.microsoft.com/office/drawing/2014/main" val="646219534"/>
                    </a:ext>
                  </a:extLst>
                </a:gridCol>
                <a:gridCol w="696000">
                  <a:extLst>
                    <a:ext uri="{9D8B030D-6E8A-4147-A177-3AD203B41FA5}">
                      <a16:colId xmlns:a16="http://schemas.microsoft.com/office/drawing/2014/main" val="1507194504"/>
                    </a:ext>
                  </a:extLst>
                </a:gridCol>
                <a:gridCol w="696000">
                  <a:extLst>
                    <a:ext uri="{9D8B030D-6E8A-4147-A177-3AD203B41FA5}">
                      <a16:colId xmlns:a16="http://schemas.microsoft.com/office/drawing/2014/main" val="3970052578"/>
                    </a:ext>
                  </a:extLst>
                </a:gridCol>
                <a:gridCol w="696000">
                  <a:extLst>
                    <a:ext uri="{9D8B030D-6E8A-4147-A177-3AD203B41FA5}">
                      <a16:colId xmlns:a16="http://schemas.microsoft.com/office/drawing/2014/main" val="3426598337"/>
                    </a:ext>
                  </a:extLst>
                </a:gridCol>
                <a:gridCol w="518948">
                  <a:extLst>
                    <a:ext uri="{9D8B030D-6E8A-4147-A177-3AD203B41FA5}">
                      <a16:colId xmlns:a16="http://schemas.microsoft.com/office/drawing/2014/main" val="1196156362"/>
                    </a:ext>
                  </a:extLst>
                </a:gridCol>
                <a:gridCol w="686873">
                  <a:extLst>
                    <a:ext uri="{9D8B030D-6E8A-4147-A177-3AD203B41FA5}">
                      <a16:colId xmlns:a16="http://schemas.microsoft.com/office/drawing/2014/main" val="1689862824"/>
                    </a:ext>
                  </a:extLst>
                </a:gridCol>
                <a:gridCol w="712631">
                  <a:extLst>
                    <a:ext uri="{9D8B030D-6E8A-4147-A177-3AD203B41FA5}">
                      <a16:colId xmlns:a16="http://schemas.microsoft.com/office/drawing/2014/main" val="4281922211"/>
                    </a:ext>
                  </a:extLst>
                </a:gridCol>
                <a:gridCol w="618186">
                  <a:extLst>
                    <a:ext uri="{9D8B030D-6E8A-4147-A177-3AD203B41FA5}">
                      <a16:colId xmlns:a16="http://schemas.microsoft.com/office/drawing/2014/main" val="3735963885"/>
                    </a:ext>
                  </a:extLst>
                </a:gridCol>
                <a:gridCol w="943362">
                  <a:extLst>
                    <a:ext uri="{9D8B030D-6E8A-4147-A177-3AD203B41FA5}">
                      <a16:colId xmlns:a16="http://schemas.microsoft.com/office/drawing/2014/main" val="2193848781"/>
                    </a:ext>
                  </a:extLst>
                </a:gridCol>
              </a:tblGrid>
              <a:tr h="392525">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La</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a:t>científica</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presentó</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a:t>su</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descubrimiento</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porque</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quería</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compartirlo</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2399652"/>
                  </a:ext>
                </a:extLst>
              </a:tr>
              <a:tr h="560750">
                <a:tc>
                  <a:txBody>
                    <a:bodyPr/>
                    <a:lstStyle/>
                    <a:p>
                      <a:r>
                        <a:rPr lang="es-CL" sz="1100" b="1" dirty="0"/>
                        <a:t>Head 1</a:t>
                      </a:r>
                      <a:r>
                        <a:rPr lang="es-CL" sz="1100" dirty="0"/>
                        <a:t> (</a:t>
                      </a:r>
                      <a:r>
                        <a:rPr lang="es-CL" sz="1100" i="1" dirty="0" err="1"/>
                        <a:t>coreferencia</a:t>
                      </a:r>
                      <a:r>
                        <a:rPr lang="es-CL" sz="1100" dirty="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100" dirty="0"/>
                        <a:t>🔥🔥</a:t>
                      </a:r>
                    </a:p>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100" dirty="0"/>
                        <a:t>🔥</a:t>
                      </a:r>
                    </a:p>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8242452"/>
                  </a:ext>
                </a:extLst>
              </a:tr>
              <a:tr h="560750">
                <a:tc>
                  <a:txBody>
                    <a:bodyPr/>
                    <a:lstStyle/>
                    <a:p>
                      <a:r>
                        <a:rPr lang="es-CL" sz="1100" b="1"/>
                        <a:t>Head 2</a:t>
                      </a:r>
                      <a:r>
                        <a:rPr lang="es-CL" sz="1100"/>
                        <a:t> (</a:t>
                      </a:r>
                      <a:r>
                        <a:rPr lang="es-CL" sz="1100" i="1"/>
                        <a:t>verbo-objeto</a:t>
                      </a:r>
                      <a:r>
                        <a:rPr lang="es-CL" sz="110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2381310"/>
                  </a:ext>
                </a:extLst>
              </a:tr>
              <a:tr h="560750">
                <a:tc>
                  <a:txBody>
                    <a:bodyPr/>
                    <a:lstStyle/>
                    <a:p>
                      <a:r>
                        <a:rPr lang="es-CL" sz="1100" b="1"/>
                        <a:t>Head 3</a:t>
                      </a:r>
                      <a:r>
                        <a:rPr lang="es-CL" sz="1100"/>
                        <a:t> (</a:t>
                      </a:r>
                      <a:r>
                        <a:rPr lang="es-CL" sz="1100" i="1"/>
                        <a:t>sujeto-acción</a:t>
                      </a:r>
                      <a:r>
                        <a:rPr lang="es-CL" sz="110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907843"/>
                  </a:ext>
                </a:extLst>
              </a:tr>
              <a:tr h="728975">
                <a:tc>
                  <a:txBody>
                    <a:bodyPr/>
                    <a:lstStyle/>
                    <a:p>
                      <a:r>
                        <a:rPr lang="es-CL" sz="1100" b="1"/>
                        <a:t>Head 4</a:t>
                      </a:r>
                      <a:r>
                        <a:rPr lang="es-CL" sz="1100"/>
                        <a:t> (</a:t>
                      </a:r>
                      <a:r>
                        <a:rPr lang="es-CL" sz="1100" i="1"/>
                        <a:t>conjunción causal</a:t>
                      </a:r>
                      <a:r>
                        <a:rPr lang="es-CL" sz="110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CL" sz="1100" dirty="0"/>
                        <a:t>🔥🔥</a:t>
                      </a:r>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CL" sz="1100" dirty="0"/>
                    </a:p>
                  </a:txBody>
                  <a:tcPr marL="56075" marR="56075" marT="28038" marB="280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50666"/>
                  </a:ext>
                </a:extLst>
              </a:tr>
            </a:tbl>
          </a:graphicData>
        </a:graphic>
      </p:graphicFrame>
      <p:sp>
        <p:nvSpPr>
          <p:cNvPr id="2" name="Título 1">
            <a:extLst>
              <a:ext uri="{FF2B5EF4-FFF2-40B4-BE49-F238E27FC236}">
                <a16:creationId xmlns:a16="http://schemas.microsoft.com/office/drawing/2014/main" id="{59718D12-6D67-AC27-FE2C-CF5DA4E05758}"/>
              </a:ext>
            </a:extLst>
          </p:cNvPr>
          <p:cNvSpPr>
            <a:spLocks noGrp="1"/>
          </p:cNvSpPr>
          <p:nvPr>
            <p:ph type="title"/>
          </p:nvPr>
        </p:nvSpPr>
        <p:spPr>
          <a:xfrm>
            <a:off x="769756" y="628680"/>
            <a:ext cx="5334000" cy="1524000"/>
          </a:xfrm>
        </p:spPr>
        <p:txBody>
          <a:bodyPr vert="horz" lIns="91440" tIns="45720" rIns="91440" bIns="45720" rtlCol="0" anchor="ctr">
            <a:normAutofit/>
          </a:bodyPr>
          <a:lstStyle/>
          <a:p>
            <a:r>
              <a:rPr lang="en-US" sz="3200"/>
              <a:t>Un caso más realista</a:t>
            </a:r>
          </a:p>
        </p:txBody>
      </p:sp>
      <p:graphicFrame>
        <p:nvGraphicFramePr>
          <p:cNvPr id="24" name="CuadroTexto 7">
            <a:extLst>
              <a:ext uri="{FF2B5EF4-FFF2-40B4-BE49-F238E27FC236}">
                <a16:creationId xmlns:a16="http://schemas.microsoft.com/office/drawing/2014/main" id="{397DBDB3-6F9A-1BA2-8323-FE738146C8C3}"/>
              </a:ext>
            </a:extLst>
          </p:cNvPr>
          <p:cNvGraphicFramePr/>
          <p:nvPr>
            <p:extLst>
              <p:ext uri="{D42A27DB-BD31-4B8C-83A1-F6EECF244321}">
                <p14:modId xmlns:p14="http://schemas.microsoft.com/office/powerpoint/2010/main" val="2283954277"/>
              </p:ext>
            </p:extLst>
          </p:nvPr>
        </p:nvGraphicFramePr>
        <p:xfrm>
          <a:off x="8380863" y="898727"/>
          <a:ext cx="2990923" cy="61863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2497509"/>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CA9E87F-57B7-6E77-7F38-7734FEDE231F}"/>
              </a:ext>
            </a:extLst>
          </p:cNvPr>
          <p:cNvSpPr txBox="1"/>
          <p:nvPr/>
        </p:nvSpPr>
        <p:spPr>
          <a:xfrm>
            <a:off x="1592687" y="1524000"/>
            <a:ext cx="8637431" cy="3314882"/>
          </a:xfrm>
          <a:prstGeom prst="rect">
            <a:avLst/>
          </a:prstGeom>
          <a:noFill/>
        </p:spPr>
        <p:txBody>
          <a:bodyPr wrap="square" rtlCol="0">
            <a:spAutoFit/>
          </a:bodyPr>
          <a:lstStyle/>
          <a:p>
            <a:r>
              <a:rPr lang="es-ES" dirty="0"/>
              <a:t>Importante:</a:t>
            </a:r>
          </a:p>
          <a:p>
            <a:endParaRPr lang="es-ES" dirty="0"/>
          </a:p>
          <a:p>
            <a:pPr>
              <a:lnSpc>
                <a:spcPct val="107000"/>
              </a:lnSpc>
              <a:spcAft>
                <a:spcPts val="800"/>
              </a:spcAft>
              <a:buNone/>
            </a:pPr>
            <a:r>
              <a:rPr lang="es-CL" sz="1800" b="1" kern="100" dirty="0">
                <a:effectLst/>
                <a:latin typeface="Aptos" panose="020B0004020202020204" pitchFamily="34" charset="0"/>
                <a:ea typeface="Aptos" panose="020B0004020202020204" pitchFamily="34" charset="0"/>
                <a:cs typeface="Times New Roman" panose="02020603050405020304" pitchFamily="18" charset="0"/>
              </a:rPr>
              <a:t>1. Los </a:t>
            </a:r>
            <a:r>
              <a:rPr lang="es-CL" sz="1800" b="1" kern="100" dirty="0" err="1">
                <a:effectLst/>
                <a:latin typeface="Aptos" panose="020B0004020202020204" pitchFamily="34" charset="0"/>
                <a:ea typeface="Aptos" panose="020B0004020202020204" pitchFamily="34" charset="0"/>
                <a:cs typeface="Times New Roman" panose="02020603050405020304" pitchFamily="18" charset="0"/>
              </a:rPr>
              <a:t>embeddings</a:t>
            </a:r>
            <a:r>
              <a:rPr lang="es-CL" sz="1800" b="1" kern="100" dirty="0">
                <a:effectLst/>
                <a:latin typeface="Aptos" panose="020B0004020202020204" pitchFamily="34" charset="0"/>
                <a:ea typeface="Aptos" panose="020B0004020202020204" pitchFamily="34" charset="0"/>
                <a:cs typeface="Times New Roman" panose="02020603050405020304" pitchFamily="18" charset="0"/>
              </a:rPr>
              <a:t> no son directamente interpretables</a:t>
            </a:r>
            <a:endParaRPr lang="es-CL"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Los </a:t>
            </a:r>
            <a:r>
              <a:rPr lang="es-CL" sz="1800" i="1" kern="100" dirty="0" err="1">
                <a:effectLst/>
                <a:latin typeface="Aptos" panose="020B0004020202020204" pitchFamily="34" charset="0"/>
                <a:ea typeface="Aptos" panose="020B0004020202020204" pitchFamily="34" charset="0"/>
                <a:cs typeface="Times New Roman" panose="02020603050405020304" pitchFamily="18" charset="0"/>
              </a:rPr>
              <a:t>embeddings</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son vectores de alta dimensión (por ejemplo, 768, 1024, o más) que representan palabras o conceptos de manera distribuida. Eso significa:</a:t>
            </a:r>
          </a:p>
          <a:p>
            <a:pPr marL="342900" lvl="0" indent="-342900">
              <a:lnSpc>
                <a:spcPct val="107000"/>
              </a:lnSpc>
              <a:spcAft>
                <a:spcPts val="800"/>
              </a:spcAft>
              <a:buSzPts val="1000"/>
              <a:buFont typeface="Symbol" panose="05050102010706020507" pitchFamily="18" charset="2"/>
              <a:buChar char=""/>
              <a:tabLst>
                <a:tab pos="457200" algn="l"/>
              </a:tabLst>
            </a:pPr>
            <a:r>
              <a:rPr lang="es-CL" sz="1800" b="1" kern="100" dirty="0">
                <a:effectLst/>
                <a:latin typeface="Aptos" panose="020B0004020202020204" pitchFamily="34" charset="0"/>
                <a:ea typeface="Aptos" panose="020B0004020202020204" pitchFamily="34" charset="0"/>
                <a:cs typeface="Times New Roman" panose="02020603050405020304" pitchFamily="18" charset="0"/>
              </a:rPr>
              <a:t>Cada dimensión del vector no tiene un significado claro o aislado.</a:t>
            </a:r>
            <a:br>
              <a:rPr lang="es-CL" sz="1800" kern="100" dirty="0">
                <a:effectLst/>
                <a:latin typeface="Aptos" panose="020B0004020202020204" pitchFamily="34" charset="0"/>
                <a:ea typeface="Aptos" panose="020B0004020202020204" pitchFamily="34" charset="0"/>
                <a:cs typeface="Times New Roman" panose="02020603050405020304" pitchFamily="18" charset="0"/>
              </a:rPr>
            </a:br>
            <a:r>
              <a:rPr lang="es-CL" sz="1800" kern="100" dirty="0">
                <a:effectLst/>
                <a:latin typeface="Aptos" panose="020B0004020202020204" pitchFamily="34" charset="0"/>
                <a:ea typeface="Aptos" panose="020B0004020202020204" pitchFamily="34" charset="0"/>
                <a:cs typeface="Times New Roman" panose="02020603050405020304" pitchFamily="18" charset="0"/>
              </a:rPr>
              <a:t>No puedes decir "la dimensión 23 representa género" o "la dimensión 712 representa causalidad".</a:t>
            </a:r>
          </a:p>
          <a:p>
            <a:pPr marL="342900" lvl="0" indent="-342900">
              <a:lnSpc>
                <a:spcPct val="107000"/>
              </a:lnSpc>
              <a:spcAft>
                <a:spcPts val="800"/>
              </a:spcAft>
              <a:buSzPts val="1000"/>
              <a:buFont typeface="Symbol" panose="05050102010706020507" pitchFamily="18" charset="2"/>
              <a:buChar char=""/>
              <a:tabLst>
                <a:tab pos="457200" algn="l"/>
              </a:tabLst>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El significado está </a:t>
            </a:r>
            <a:r>
              <a:rPr lang="es-CL" sz="1800" b="1" kern="100" dirty="0">
                <a:effectLst/>
                <a:latin typeface="Aptos" panose="020B0004020202020204" pitchFamily="34" charset="0"/>
                <a:ea typeface="Aptos" panose="020B0004020202020204" pitchFamily="34" charset="0"/>
                <a:cs typeface="Times New Roman" panose="02020603050405020304" pitchFamily="18" charset="0"/>
              </a:rPr>
              <a:t>codificado en patrones distribuidos</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a través de todas las dimensiones.</a:t>
            </a:r>
          </a:p>
        </p:txBody>
      </p:sp>
    </p:spTree>
    <p:extLst>
      <p:ext uri="{BB962C8B-B14F-4D97-AF65-F5344CB8AC3E}">
        <p14:creationId xmlns:p14="http://schemas.microsoft.com/office/powerpoint/2010/main" val="4129557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EA4C7-3A2C-57D1-1D17-452893BDA5C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F04D86E-E1E3-D522-08F7-CC04C8856F07}"/>
              </a:ext>
            </a:extLst>
          </p:cNvPr>
          <p:cNvSpPr txBox="1"/>
          <p:nvPr/>
        </p:nvSpPr>
        <p:spPr>
          <a:xfrm>
            <a:off x="1485363" y="425003"/>
            <a:ext cx="8637431" cy="5799793"/>
          </a:xfrm>
          <a:prstGeom prst="rect">
            <a:avLst/>
          </a:prstGeom>
          <a:noFill/>
        </p:spPr>
        <p:txBody>
          <a:bodyPr wrap="square" rtlCol="0">
            <a:spAutoFit/>
          </a:bodyPr>
          <a:lstStyle/>
          <a:p>
            <a:r>
              <a:rPr lang="es-ES" dirty="0"/>
              <a:t>Importante:</a:t>
            </a:r>
          </a:p>
          <a:p>
            <a:endParaRPr lang="es-ES" dirty="0"/>
          </a:p>
          <a:p>
            <a:pPr>
              <a:lnSpc>
                <a:spcPct val="107000"/>
              </a:lnSpc>
              <a:spcAft>
                <a:spcPts val="800"/>
              </a:spcAft>
              <a:buNone/>
            </a:pPr>
            <a:r>
              <a:rPr lang="es-CL" sz="1800" b="1" kern="100" dirty="0">
                <a:effectLst/>
                <a:latin typeface="Aptos" panose="020B0004020202020204" pitchFamily="34" charset="0"/>
                <a:ea typeface="Aptos" panose="020B0004020202020204" pitchFamily="34" charset="0"/>
                <a:cs typeface="Times New Roman" panose="02020603050405020304" pitchFamily="18" charset="0"/>
              </a:rPr>
              <a:t>2. Las cabezas de atención no siempre reflejan relaciones humanamente comprensibles</a:t>
            </a:r>
            <a:endParaRPr lang="es-CL"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Aunque las </a:t>
            </a:r>
            <a:r>
              <a:rPr lang="es-CL" sz="1800" b="1" kern="100" dirty="0">
                <a:effectLst/>
                <a:latin typeface="Aptos" panose="020B0004020202020204" pitchFamily="34" charset="0"/>
                <a:ea typeface="Aptos" panose="020B0004020202020204" pitchFamily="34" charset="0"/>
                <a:cs typeface="Times New Roman" panose="02020603050405020304" pitchFamily="18" charset="0"/>
              </a:rPr>
              <a:t>atenciones</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pueden ser visualizadas y a veces muestran alineamientos interesantes (</a:t>
            </a:r>
            <a:r>
              <a:rPr lang="es-CL" sz="1800" kern="100" dirty="0" err="1">
                <a:effectLst/>
                <a:latin typeface="Aptos" panose="020B0004020202020204" pitchFamily="34" charset="0"/>
                <a:ea typeface="Aptos" panose="020B0004020202020204" pitchFamily="34" charset="0"/>
                <a:cs typeface="Times New Roman" panose="02020603050405020304" pitchFamily="18" charset="0"/>
              </a:rPr>
              <a:t>e.g</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L" sz="1800" kern="100" dirty="0" err="1">
                <a:effectLst/>
                <a:latin typeface="Aptos" panose="020B0004020202020204" pitchFamily="34" charset="0"/>
                <a:ea typeface="Aptos" panose="020B0004020202020204" pitchFamily="34" charset="0"/>
                <a:cs typeface="Times New Roman" panose="02020603050405020304" pitchFamily="18" charset="0"/>
              </a:rPr>
              <a:t>coreferencia</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relaciones sintácticas, dependencias semánticas), esto </a:t>
            </a:r>
            <a:r>
              <a:rPr lang="es-CL" sz="1800" b="1" kern="100" dirty="0">
                <a:effectLst/>
                <a:latin typeface="Aptos" panose="020B0004020202020204" pitchFamily="34" charset="0"/>
                <a:ea typeface="Aptos" panose="020B0004020202020204" pitchFamily="34" charset="0"/>
                <a:cs typeface="Times New Roman" panose="02020603050405020304" pitchFamily="18" charset="0"/>
              </a:rPr>
              <a:t>no garantiza</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Que cada cabeza de atención tenga una </a:t>
            </a:r>
            <a:r>
              <a:rPr lang="es-CL" sz="1800" b="1" kern="100" dirty="0">
                <a:effectLst/>
                <a:latin typeface="Aptos" panose="020B0004020202020204" pitchFamily="34" charset="0"/>
                <a:ea typeface="Aptos" panose="020B0004020202020204" pitchFamily="34" charset="0"/>
                <a:cs typeface="Times New Roman" panose="02020603050405020304" pitchFamily="18" charset="0"/>
              </a:rPr>
              <a:t>función estable y semánticamente interpretable</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Que las conexiones que hace el modelo </a:t>
            </a:r>
            <a:r>
              <a:rPr lang="es-CL" sz="1800" b="1" kern="100" dirty="0">
                <a:effectLst/>
                <a:latin typeface="Aptos" panose="020B0004020202020204" pitchFamily="34" charset="0"/>
                <a:ea typeface="Aptos" panose="020B0004020202020204" pitchFamily="34" charset="0"/>
                <a:cs typeface="Times New Roman" panose="02020603050405020304" pitchFamily="18" charset="0"/>
              </a:rPr>
              <a:t>sean las mismas</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que haría un humano razonando.</a:t>
            </a:r>
          </a:p>
          <a:p>
            <a:pPr>
              <a:lnSpc>
                <a:spcPct val="107000"/>
              </a:lnSpc>
              <a:spcAft>
                <a:spcPts val="800"/>
              </a:spcAft>
              <a:buNone/>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De hecho:</a:t>
            </a:r>
          </a:p>
          <a:p>
            <a:pPr marL="342900" lvl="0" indent="-342900">
              <a:lnSpc>
                <a:spcPct val="107000"/>
              </a:lnSpc>
              <a:spcAft>
                <a:spcPts val="800"/>
              </a:spcAft>
              <a:buSzPts val="1000"/>
              <a:buFont typeface="Symbol" panose="05050102010706020507" pitchFamily="18" charset="2"/>
              <a:buChar char=""/>
              <a:tabLst>
                <a:tab pos="457200" algn="l"/>
              </a:tabLst>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Muchas cabezas de atención </a:t>
            </a:r>
            <a:r>
              <a:rPr lang="es-CL" sz="1800" b="1" kern="100" dirty="0">
                <a:effectLst/>
                <a:latin typeface="Aptos" panose="020B0004020202020204" pitchFamily="34" charset="0"/>
                <a:ea typeface="Aptos" panose="020B0004020202020204" pitchFamily="34" charset="0"/>
                <a:cs typeface="Times New Roman" panose="02020603050405020304" pitchFamily="18" charset="0"/>
              </a:rPr>
              <a:t>no muestran patrones claros</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o consistentes entre tareas.</a:t>
            </a:r>
          </a:p>
          <a:p>
            <a:pPr marL="342900" lvl="0" indent="-342900">
              <a:lnSpc>
                <a:spcPct val="107000"/>
              </a:lnSpc>
              <a:spcAft>
                <a:spcPts val="800"/>
              </a:spcAft>
              <a:buSzPts val="1000"/>
              <a:buFont typeface="Symbol" panose="05050102010706020507" pitchFamily="18" charset="2"/>
              <a:buChar char=""/>
              <a:tabLst>
                <a:tab pos="457200" algn="l"/>
              </a:tabLst>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Algunas atenciones parecen atender de forma "difusa" o redundante.</a:t>
            </a:r>
          </a:p>
          <a:p>
            <a:pPr marL="342900" lvl="0" indent="-342900">
              <a:lnSpc>
                <a:spcPct val="107000"/>
              </a:lnSpc>
              <a:spcAft>
                <a:spcPts val="800"/>
              </a:spcAft>
              <a:buSzPts val="1000"/>
              <a:buFont typeface="Symbol" panose="05050102010706020507" pitchFamily="18" charset="2"/>
              <a:buChar char=""/>
              <a:tabLst>
                <a:tab pos="457200" algn="l"/>
              </a:tabLst>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Solo algunas cabezas en algunas capas hacen cosas humanamente reconocibles (como seguir sujetos o causas), y estas </a:t>
            </a:r>
            <a:r>
              <a:rPr lang="es-CL" sz="1800" b="1" kern="100" dirty="0">
                <a:effectLst/>
                <a:latin typeface="Aptos" panose="020B0004020202020204" pitchFamily="34" charset="0"/>
                <a:ea typeface="Aptos" panose="020B0004020202020204" pitchFamily="34" charset="0"/>
                <a:cs typeface="Times New Roman" panose="02020603050405020304" pitchFamily="18" charset="0"/>
              </a:rPr>
              <a:t>emergen sin supervisión</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no por diseño.</a:t>
            </a:r>
          </a:p>
        </p:txBody>
      </p:sp>
    </p:spTree>
    <p:extLst>
      <p:ext uri="{BB962C8B-B14F-4D97-AF65-F5344CB8AC3E}">
        <p14:creationId xmlns:p14="http://schemas.microsoft.com/office/powerpoint/2010/main" val="2206388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AE2DC-6BF2-A8CE-57B5-77E216376F9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A488166-F98C-A8AA-F36C-81218667EC74}"/>
              </a:ext>
            </a:extLst>
          </p:cNvPr>
          <p:cNvSpPr txBox="1"/>
          <p:nvPr/>
        </p:nvSpPr>
        <p:spPr>
          <a:xfrm>
            <a:off x="1373746" y="1382333"/>
            <a:ext cx="8637431" cy="1924245"/>
          </a:xfrm>
          <a:prstGeom prst="rect">
            <a:avLst/>
          </a:prstGeom>
          <a:noFill/>
        </p:spPr>
        <p:txBody>
          <a:bodyPr wrap="square" rtlCol="0">
            <a:spAutoFit/>
          </a:bodyPr>
          <a:lstStyle/>
          <a:p>
            <a:r>
              <a:rPr lang="es-ES" dirty="0"/>
              <a:t>Importante:</a:t>
            </a:r>
          </a:p>
          <a:p>
            <a:endParaRPr lang="es-ES" dirty="0"/>
          </a:p>
          <a:p>
            <a:pPr>
              <a:lnSpc>
                <a:spcPct val="107000"/>
              </a:lnSpc>
              <a:spcAft>
                <a:spcPts val="800"/>
              </a:spcAft>
              <a:buNone/>
            </a:pPr>
            <a:r>
              <a:rPr lang="es-CL" sz="1800" b="1" kern="100" dirty="0">
                <a:effectLst/>
                <a:latin typeface="Aptos" panose="020B0004020202020204" pitchFamily="34" charset="0"/>
                <a:ea typeface="Aptos" panose="020B0004020202020204" pitchFamily="34" charset="0"/>
                <a:cs typeface="Times New Roman" panose="02020603050405020304" pitchFamily="18" charset="0"/>
              </a:rPr>
              <a:t>3. ¿Entonces por qué el modelo funciona tan bien?</a:t>
            </a:r>
            <a:endParaRPr lang="es-CL"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Porque </a:t>
            </a:r>
            <a:r>
              <a:rPr lang="es-CL" sz="1800" b="1" kern="100" dirty="0">
                <a:effectLst/>
                <a:latin typeface="Aptos" panose="020B0004020202020204" pitchFamily="34" charset="0"/>
                <a:ea typeface="Aptos" panose="020B0004020202020204" pitchFamily="34" charset="0"/>
                <a:cs typeface="Times New Roman" panose="02020603050405020304" pitchFamily="18" charset="0"/>
              </a:rPr>
              <a:t>los patrones complejos y distribuidos son extremadamente efectivos</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para predecir la próxima palabra, identificar relaciones, y generar texto coherente. Pero ese éxito no implica que sepamos </a:t>
            </a:r>
            <a:r>
              <a:rPr lang="es-CL" sz="1800" b="1" kern="100" dirty="0">
                <a:effectLst/>
                <a:latin typeface="Aptos" panose="020B0004020202020204" pitchFamily="34" charset="0"/>
                <a:ea typeface="Aptos" panose="020B0004020202020204" pitchFamily="34" charset="0"/>
                <a:cs typeface="Times New Roman" panose="02020603050405020304" pitchFamily="18" charset="0"/>
              </a:rPr>
              <a:t>cómo</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lo hizo en términos humanos.</a:t>
            </a:r>
          </a:p>
        </p:txBody>
      </p:sp>
    </p:spTree>
    <p:extLst>
      <p:ext uri="{BB962C8B-B14F-4D97-AF65-F5344CB8AC3E}">
        <p14:creationId xmlns:p14="http://schemas.microsoft.com/office/powerpoint/2010/main" val="1094330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75CD783-E708-4711-B23C-5B7B72A3D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5578824" cy="6028256"/>
          </a:xfrm>
          <a:custGeom>
            <a:avLst/>
            <a:gdLst>
              <a:gd name="connsiteX0" fmla="*/ 0 w 5578824"/>
              <a:gd name="connsiteY0" fmla="*/ 0 h 6028256"/>
              <a:gd name="connsiteX1" fmla="*/ 3897606 w 5578824"/>
              <a:gd name="connsiteY1" fmla="*/ 0 h 6028256"/>
              <a:gd name="connsiteX2" fmla="*/ 4274232 w 5578824"/>
              <a:gd name="connsiteY2" fmla="*/ 360545 h 6028256"/>
              <a:gd name="connsiteX3" fmla="*/ 4673934 w 5578824"/>
              <a:gd name="connsiteY3" fmla="*/ 738354 h 6028256"/>
              <a:gd name="connsiteX4" fmla="*/ 5421862 w 5578824"/>
              <a:gd name="connsiteY4" fmla="*/ 1773839 h 6028256"/>
              <a:gd name="connsiteX5" fmla="*/ 5469199 w 5578824"/>
              <a:gd name="connsiteY5" fmla="*/ 3329255 h 6028256"/>
              <a:gd name="connsiteX6" fmla="*/ 4741546 w 5578824"/>
              <a:gd name="connsiteY6" fmla="*/ 4877588 h 6028256"/>
              <a:gd name="connsiteX7" fmla="*/ 1325600 w 5578824"/>
              <a:gd name="connsiteY7" fmla="*/ 5980388 h 6028256"/>
              <a:gd name="connsiteX8" fmla="*/ 137593 w 5578824"/>
              <a:gd name="connsiteY8" fmla="*/ 5804042 h 6028256"/>
              <a:gd name="connsiteX9" fmla="*/ 0 w 5578824"/>
              <a:gd name="connsiteY9" fmla="*/ 5760161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9"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pic>
        <p:nvPicPr>
          <p:cNvPr id="6" name="Picture 5">
            <a:extLst>
              <a:ext uri="{FF2B5EF4-FFF2-40B4-BE49-F238E27FC236}">
                <a16:creationId xmlns:a16="http://schemas.microsoft.com/office/drawing/2014/main" id="{268A388A-11B6-0951-FA08-E2DF3572B1AE}"/>
              </a:ext>
            </a:extLst>
          </p:cNvPr>
          <p:cNvPicPr>
            <a:picLocks noChangeAspect="1"/>
          </p:cNvPicPr>
          <p:nvPr/>
        </p:nvPicPr>
        <p:blipFill rotWithShape="1">
          <a:blip r:embed="rId2"/>
          <a:srcRect l="7835" r="40111" b="3"/>
          <a:stretch/>
        </p:blipFill>
        <p:spPr>
          <a:xfrm>
            <a:off x="923631" y="1524000"/>
            <a:ext cx="4239565" cy="4581173"/>
          </a:xfrm>
          <a:prstGeom prst="rect">
            <a:avLst/>
          </a:prstGeom>
        </p:spPr>
      </p:pic>
      <p:sp>
        <p:nvSpPr>
          <p:cNvPr id="3" name="Content Placeholder"/>
          <p:cNvSpPr>
            <a:spLocks noGrp="1"/>
          </p:cNvSpPr>
          <p:nvPr>
            <p:ph idx="1"/>
          </p:nvPr>
        </p:nvSpPr>
        <p:spPr>
          <a:xfrm>
            <a:off x="6096000" y="2286000"/>
            <a:ext cx="5334000" cy="3810001"/>
          </a:xfrm>
        </p:spPr>
        <p:txBody>
          <a:bodyPr>
            <a:normAutofit/>
          </a:bodyPr>
          <a:lstStyle/>
          <a:p>
            <a:pPr lvl="0"/>
            <a:r>
              <a:rPr lang="en-US" sz="2400"/>
              <a:t>Se discute si ChatGPT y otros sistemas similares que utilizan la arquitectura de transformers pueden considerarse un tipo de inteligencia general que emula la inteligencia humana</a:t>
            </a:r>
          </a:p>
        </p:txBody>
      </p:sp>
      <p:sp>
        <p:nvSpPr>
          <p:cNvPr id="2" name="Title"/>
          <p:cNvSpPr>
            <a:spLocks noGrp="1"/>
          </p:cNvSpPr>
          <p:nvPr>
            <p:ph type="ctrTitle"/>
          </p:nvPr>
        </p:nvSpPr>
        <p:spPr>
          <a:xfrm>
            <a:off x="6096000" y="762000"/>
            <a:ext cx="5334000" cy="1524000"/>
          </a:xfrm>
        </p:spPr>
        <p:txBody>
          <a:bodyPr>
            <a:normAutofit/>
          </a:bodyPr>
          <a:lstStyle/>
          <a:p>
            <a:r>
              <a:rPr lang="en-US" sz="2500" dirty="0"/>
              <a:t>¿</a:t>
            </a:r>
            <a:r>
              <a:rPr lang="en-US" sz="2500"/>
              <a:t>Muestran</a:t>
            </a:r>
            <a:r>
              <a:rPr lang="en-US" sz="2500" dirty="0"/>
              <a:t> </a:t>
            </a:r>
            <a:r>
              <a:rPr lang="en-US" sz="2500"/>
              <a:t>ChatGPT</a:t>
            </a:r>
            <a:r>
              <a:rPr lang="en-US" sz="2500" dirty="0"/>
              <a:t> y </a:t>
            </a:r>
            <a:r>
              <a:rPr lang="en-US" sz="2500"/>
              <a:t>otros</a:t>
            </a:r>
            <a:r>
              <a:rPr lang="en-US" sz="2500" dirty="0"/>
              <a:t> </a:t>
            </a:r>
            <a:r>
              <a:rPr lang="en-US" sz="2500"/>
              <a:t>sistemas</a:t>
            </a:r>
            <a:r>
              <a:rPr lang="en-US" sz="2500" dirty="0"/>
              <a:t> </a:t>
            </a:r>
            <a:r>
              <a:rPr lang="en-US" sz="2500"/>
              <a:t>similares</a:t>
            </a:r>
            <a:r>
              <a:rPr lang="en-US" sz="2500" dirty="0"/>
              <a:t> </a:t>
            </a:r>
            <a:r>
              <a:rPr lang="en-US" sz="2500"/>
              <a:t>una</a:t>
            </a:r>
            <a:r>
              <a:rPr lang="en-US" sz="2500" dirty="0"/>
              <a:t> </a:t>
            </a:r>
            <a:r>
              <a:rPr lang="en-US" sz="2500"/>
              <a:t>inteligencia</a:t>
            </a:r>
            <a:r>
              <a:rPr lang="en-US" sz="2500" dirty="0"/>
              <a:t> general </a:t>
            </a:r>
            <a:r>
              <a:rPr lang="en-US" sz="2500"/>
              <a:t>como</a:t>
            </a:r>
            <a:r>
              <a:rPr lang="en-US" sz="2500" dirty="0"/>
              <a:t> la </a:t>
            </a:r>
            <a:r>
              <a:rPr lang="en-US" sz="2500"/>
              <a:t>humana</a:t>
            </a:r>
            <a:r>
              <a:rPr lang="en-US" sz="2500" dirty="0"/>
              <a:t>?</a:t>
            </a:r>
          </a:p>
        </p:txBody>
      </p:sp>
    </p:spTree>
    <p:extLst>
      <p:ext uri="{BB962C8B-B14F-4D97-AF65-F5344CB8AC3E}">
        <p14:creationId xmlns:p14="http://schemas.microsoft.com/office/powerpoint/2010/main" val="18489492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68A388A-11B6-0951-FA08-E2DF3572B1AE}"/>
              </a:ext>
            </a:extLst>
          </p:cNvPr>
          <p:cNvPicPr>
            <a:picLocks noChangeAspect="1"/>
          </p:cNvPicPr>
          <p:nvPr/>
        </p:nvPicPr>
        <p:blipFill rotWithShape="1">
          <a:blip r:embed="rId2"/>
          <a:srcRect l="7835" r="40111" b="3"/>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2" name="Freeform: Shape 11">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2" name="Title"/>
          <p:cNvSpPr>
            <a:spLocks noGrp="1"/>
          </p:cNvSpPr>
          <p:nvPr>
            <p:ph type="ctrTitle"/>
          </p:nvPr>
        </p:nvSpPr>
        <p:spPr>
          <a:xfrm>
            <a:off x="6096000" y="762000"/>
            <a:ext cx="5334000" cy="1524000"/>
          </a:xfrm>
        </p:spPr>
        <p:txBody>
          <a:bodyPr>
            <a:normAutofit/>
          </a:bodyPr>
          <a:lstStyle/>
          <a:p>
            <a:r>
              <a:rPr lang="en-US" sz="2500" dirty="0" err="1"/>
              <a:t>Errores</a:t>
            </a:r>
            <a:r>
              <a:rPr lang="en-US" sz="2500" dirty="0"/>
              <a:t> que </a:t>
            </a:r>
            <a:r>
              <a:rPr lang="en-US" sz="2500" dirty="0" err="1"/>
              <a:t>comete</a:t>
            </a:r>
            <a:r>
              <a:rPr lang="en-US" sz="2500" dirty="0"/>
              <a:t> ChatGPT y </a:t>
            </a:r>
            <a:r>
              <a:rPr lang="en-US" sz="2500" dirty="0" err="1"/>
              <a:t>por</a:t>
            </a:r>
            <a:r>
              <a:rPr lang="en-US" sz="2500" dirty="0"/>
              <a:t> </a:t>
            </a:r>
            <a:r>
              <a:rPr lang="en-US" sz="2500" dirty="0" err="1"/>
              <a:t>qué</a:t>
            </a:r>
            <a:r>
              <a:rPr lang="en-US" sz="2500" dirty="0"/>
              <a:t>: </a:t>
            </a:r>
            <a:r>
              <a:rPr lang="en-US" sz="2500" dirty="0" err="1"/>
              <a:t>coherencia</a:t>
            </a:r>
            <a:r>
              <a:rPr lang="en-US" sz="2500" dirty="0"/>
              <a:t> no es </a:t>
            </a:r>
            <a:r>
              <a:rPr lang="en-US" sz="2500" dirty="0" err="1"/>
              <a:t>igual</a:t>
            </a:r>
            <a:r>
              <a:rPr lang="en-US" sz="2500" dirty="0"/>
              <a:t> a </a:t>
            </a:r>
            <a:r>
              <a:rPr lang="en-US" sz="2500" dirty="0" err="1"/>
              <a:t>veracidad</a:t>
            </a:r>
            <a:r>
              <a:rPr lang="en-US" sz="2500"/>
              <a:t>.</a:t>
            </a:r>
            <a:endParaRPr lang="en-US" sz="2500" dirty="0"/>
          </a:p>
        </p:txBody>
      </p:sp>
      <p:pic>
        <p:nvPicPr>
          <p:cNvPr id="8" name="Imagen 7">
            <a:extLst>
              <a:ext uri="{FF2B5EF4-FFF2-40B4-BE49-F238E27FC236}">
                <a16:creationId xmlns:a16="http://schemas.microsoft.com/office/drawing/2014/main" id="{9037CFA5-FE4F-4661-4BCB-AFDF9254E2E3}"/>
              </a:ext>
            </a:extLst>
          </p:cNvPr>
          <p:cNvPicPr>
            <a:picLocks noChangeAspect="1"/>
          </p:cNvPicPr>
          <p:nvPr/>
        </p:nvPicPr>
        <p:blipFill>
          <a:blip r:embed="rId3"/>
          <a:stretch>
            <a:fillRect/>
          </a:stretch>
        </p:blipFill>
        <p:spPr>
          <a:xfrm>
            <a:off x="337094" y="3002438"/>
            <a:ext cx="11556488" cy="1871396"/>
          </a:xfrm>
          <a:prstGeom prst="rect">
            <a:avLst/>
          </a:prstGeom>
        </p:spPr>
      </p:pic>
    </p:spTree>
    <p:extLst>
      <p:ext uri="{BB962C8B-B14F-4D97-AF65-F5344CB8AC3E}">
        <p14:creationId xmlns:p14="http://schemas.microsoft.com/office/powerpoint/2010/main" val="24619890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68A388A-11B6-0951-FA08-E2DF3572B1AE}"/>
              </a:ext>
            </a:extLst>
          </p:cNvPr>
          <p:cNvPicPr>
            <a:picLocks noChangeAspect="1"/>
          </p:cNvPicPr>
          <p:nvPr/>
        </p:nvPicPr>
        <p:blipFill rotWithShape="1">
          <a:blip r:embed="rId2"/>
          <a:srcRect l="7835" r="40111" b="3"/>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2" name="Freeform: Shape 11">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2" name="Title"/>
          <p:cNvSpPr>
            <a:spLocks noGrp="1"/>
          </p:cNvSpPr>
          <p:nvPr>
            <p:ph type="ctrTitle"/>
          </p:nvPr>
        </p:nvSpPr>
        <p:spPr>
          <a:xfrm>
            <a:off x="6096000" y="762000"/>
            <a:ext cx="5334000" cy="1524000"/>
          </a:xfrm>
        </p:spPr>
        <p:txBody>
          <a:bodyPr>
            <a:normAutofit/>
          </a:bodyPr>
          <a:lstStyle/>
          <a:p>
            <a:r>
              <a:rPr lang="en-US" sz="2500" dirty="0" err="1"/>
              <a:t>Errores</a:t>
            </a:r>
            <a:r>
              <a:rPr lang="en-US" sz="2500" dirty="0"/>
              <a:t> que </a:t>
            </a:r>
            <a:r>
              <a:rPr lang="en-US" sz="2500" dirty="0" err="1"/>
              <a:t>comete</a:t>
            </a:r>
            <a:r>
              <a:rPr lang="en-US" sz="2500" dirty="0"/>
              <a:t> </a:t>
            </a:r>
            <a:r>
              <a:rPr lang="en-US" sz="2500" dirty="0" err="1"/>
              <a:t>ChatGPT</a:t>
            </a:r>
            <a:r>
              <a:rPr lang="en-US" sz="2500" dirty="0"/>
              <a:t> y </a:t>
            </a:r>
            <a:r>
              <a:rPr lang="en-US" sz="2500" dirty="0" err="1"/>
              <a:t>por</a:t>
            </a:r>
            <a:r>
              <a:rPr lang="en-US" sz="2500" dirty="0"/>
              <a:t> </a:t>
            </a:r>
            <a:r>
              <a:rPr lang="en-US" sz="2500" dirty="0" err="1"/>
              <a:t>qué</a:t>
            </a:r>
            <a:endParaRPr lang="en-US" sz="2500" dirty="0"/>
          </a:p>
        </p:txBody>
      </p:sp>
      <p:pic>
        <p:nvPicPr>
          <p:cNvPr id="4" name="Imagen 3">
            <a:extLst>
              <a:ext uri="{FF2B5EF4-FFF2-40B4-BE49-F238E27FC236}">
                <a16:creationId xmlns:a16="http://schemas.microsoft.com/office/drawing/2014/main" id="{F4989F7F-3111-4C68-2B1B-30B98A1D6107}"/>
              </a:ext>
            </a:extLst>
          </p:cNvPr>
          <p:cNvPicPr>
            <a:picLocks noChangeAspect="1"/>
          </p:cNvPicPr>
          <p:nvPr/>
        </p:nvPicPr>
        <p:blipFill>
          <a:blip r:embed="rId3"/>
          <a:stretch>
            <a:fillRect/>
          </a:stretch>
        </p:blipFill>
        <p:spPr>
          <a:xfrm>
            <a:off x="2385297" y="2176074"/>
            <a:ext cx="8568650" cy="4267448"/>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Entrada de lápiz 4">
                <a:extLst>
                  <a:ext uri="{FF2B5EF4-FFF2-40B4-BE49-F238E27FC236}">
                    <a16:creationId xmlns:a16="http://schemas.microsoft.com/office/drawing/2014/main" id="{DDA62F58-BB02-6564-3A7C-5B3A30087DF8}"/>
                  </a:ext>
                </a:extLst>
              </p14:cNvPr>
              <p14:cNvContentPartPr/>
              <p14:nvPr/>
            </p14:nvContentPartPr>
            <p14:xfrm>
              <a:off x="3412525" y="5961440"/>
              <a:ext cx="2698560" cy="103680"/>
            </p14:xfrm>
          </p:contentPart>
        </mc:Choice>
        <mc:Fallback xmlns="">
          <p:pic>
            <p:nvPicPr>
              <p:cNvPr id="5" name="Entrada de lápiz 4">
                <a:extLst>
                  <a:ext uri="{FF2B5EF4-FFF2-40B4-BE49-F238E27FC236}">
                    <a16:creationId xmlns:a16="http://schemas.microsoft.com/office/drawing/2014/main" id="{DDA62F58-BB02-6564-3A7C-5B3A30087DF8}"/>
                  </a:ext>
                </a:extLst>
              </p:cNvPr>
              <p:cNvPicPr/>
              <p:nvPr/>
            </p:nvPicPr>
            <p:blipFill>
              <a:blip r:embed="rId5"/>
              <a:stretch>
                <a:fillRect/>
              </a:stretch>
            </p:blipFill>
            <p:spPr>
              <a:xfrm>
                <a:off x="3358525" y="5853800"/>
                <a:ext cx="280620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Entrada de lápiz 6">
                <a:extLst>
                  <a:ext uri="{FF2B5EF4-FFF2-40B4-BE49-F238E27FC236}">
                    <a16:creationId xmlns:a16="http://schemas.microsoft.com/office/drawing/2014/main" id="{6D470FF2-D411-93EE-17EB-EF22ACB46498}"/>
                  </a:ext>
                </a:extLst>
              </p14:cNvPr>
              <p14:cNvContentPartPr/>
              <p14:nvPr/>
            </p14:nvContentPartPr>
            <p14:xfrm>
              <a:off x="6226285" y="5009600"/>
              <a:ext cx="368640" cy="29520"/>
            </p14:xfrm>
          </p:contentPart>
        </mc:Choice>
        <mc:Fallback xmlns="">
          <p:pic>
            <p:nvPicPr>
              <p:cNvPr id="7" name="Entrada de lápiz 6">
                <a:extLst>
                  <a:ext uri="{FF2B5EF4-FFF2-40B4-BE49-F238E27FC236}">
                    <a16:creationId xmlns:a16="http://schemas.microsoft.com/office/drawing/2014/main" id="{6D470FF2-D411-93EE-17EB-EF22ACB46498}"/>
                  </a:ext>
                </a:extLst>
              </p:cNvPr>
              <p:cNvPicPr/>
              <p:nvPr/>
            </p:nvPicPr>
            <p:blipFill>
              <a:blip r:embed="rId7"/>
              <a:stretch>
                <a:fillRect/>
              </a:stretch>
            </p:blipFill>
            <p:spPr>
              <a:xfrm>
                <a:off x="6172285" y="4901600"/>
                <a:ext cx="47628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Entrada de lápiz 8">
                <a:extLst>
                  <a:ext uri="{FF2B5EF4-FFF2-40B4-BE49-F238E27FC236}">
                    <a16:creationId xmlns:a16="http://schemas.microsoft.com/office/drawing/2014/main" id="{A2D4CCC8-A4CB-09B0-E73A-665F70A2F323}"/>
                  </a:ext>
                </a:extLst>
              </p14:cNvPr>
              <p14:cNvContentPartPr/>
              <p14:nvPr/>
            </p14:nvContentPartPr>
            <p14:xfrm>
              <a:off x="6476125" y="3633680"/>
              <a:ext cx="462600" cy="57240"/>
            </p14:xfrm>
          </p:contentPart>
        </mc:Choice>
        <mc:Fallback xmlns="">
          <p:pic>
            <p:nvPicPr>
              <p:cNvPr id="9" name="Entrada de lápiz 8">
                <a:extLst>
                  <a:ext uri="{FF2B5EF4-FFF2-40B4-BE49-F238E27FC236}">
                    <a16:creationId xmlns:a16="http://schemas.microsoft.com/office/drawing/2014/main" id="{A2D4CCC8-A4CB-09B0-E73A-665F70A2F323}"/>
                  </a:ext>
                </a:extLst>
              </p:cNvPr>
              <p:cNvPicPr/>
              <p:nvPr/>
            </p:nvPicPr>
            <p:blipFill>
              <a:blip r:embed="rId9"/>
              <a:stretch>
                <a:fillRect/>
              </a:stretch>
            </p:blipFill>
            <p:spPr>
              <a:xfrm>
                <a:off x="6422125" y="3526040"/>
                <a:ext cx="570240" cy="272880"/>
              </a:xfrm>
              <a:prstGeom prst="rect">
                <a:avLst/>
              </a:prstGeom>
            </p:spPr>
          </p:pic>
        </mc:Fallback>
      </mc:AlternateContent>
    </p:spTree>
    <p:extLst>
      <p:ext uri="{BB962C8B-B14F-4D97-AF65-F5344CB8AC3E}">
        <p14:creationId xmlns:p14="http://schemas.microsoft.com/office/powerpoint/2010/main" val="42606590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68A388A-11B6-0951-FA08-E2DF3572B1AE}"/>
              </a:ext>
            </a:extLst>
          </p:cNvPr>
          <p:cNvPicPr>
            <a:picLocks noChangeAspect="1"/>
          </p:cNvPicPr>
          <p:nvPr/>
        </p:nvPicPr>
        <p:blipFill rotWithShape="1">
          <a:blip r:embed="rId2"/>
          <a:srcRect l="7835" r="40111" b="3"/>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2" name="Freeform: Shape 11">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2" name="Title"/>
          <p:cNvSpPr>
            <a:spLocks noGrp="1"/>
          </p:cNvSpPr>
          <p:nvPr>
            <p:ph type="ctrTitle"/>
          </p:nvPr>
        </p:nvSpPr>
        <p:spPr>
          <a:xfrm>
            <a:off x="6096000" y="762000"/>
            <a:ext cx="5334000" cy="1524000"/>
          </a:xfrm>
        </p:spPr>
        <p:txBody>
          <a:bodyPr>
            <a:normAutofit/>
          </a:bodyPr>
          <a:lstStyle/>
          <a:p>
            <a:r>
              <a:rPr lang="en-US" sz="2500" dirty="0" err="1"/>
              <a:t>Errores</a:t>
            </a:r>
            <a:r>
              <a:rPr lang="en-US" sz="2500" dirty="0"/>
              <a:t> que </a:t>
            </a:r>
            <a:r>
              <a:rPr lang="en-US" sz="2500" dirty="0" err="1"/>
              <a:t>comete</a:t>
            </a:r>
            <a:r>
              <a:rPr lang="en-US" sz="2500" dirty="0"/>
              <a:t> </a:t>
            </a:r>
            <a:r>
              <a:rPr lang="en-US" sz="2500" dirty="0" err="1"/>
              <a:t>ChatGPT</a:t>
            </a:r>
            <a:r>
              <a:rPr lang="en-US" sz="2500" dirty="0"/>
              <a:t> y </a:t>
            </a:r>
            <a:r>
              <a:rPr lang="en-US" sz="2500" dirty="0" err="1"/>
              <a:t>por</a:t>
            </a:r>
            <a:r>
              <a:rPr lang="en-US" sz="2500" dirty="0"/>
              <a:t> </a:t>
            </a:r>
            <a:r>
              <a:rPr lang="en-US" sz="2500" dirty="0" err="1"/>
              <a:t>qué</a:t>
            </a:r>
            <a:endParaRPr lang="en-US" sz="2500" dirty="0"/>
          </a:p>
        </p:txBody>
      </p:sp>
      <p:sp>
        <p:nvSpPr>
          <p:cNvPr id="3" name="CuadroTexto 2">
            <a:extLst>
              <a:ext uri="{FF2B5EF4-FFF2-40B4-BE49-F238E27FC236}">
                <a16:creationId xmlns:a16="http://schemas.microsoft.com/office/drawing/2014/main" id="{D5B02EC9-DED4-C26D-6EA5-39C3E282573E}"/>
              </a:ext>
            </a:extLst>
          </p:cNvPr>
          <p:cNvSpPr txBox="1"/>
          <p:nvPr/>
        </p:nvSpPr>
        <p:spPr>
          <a:xfrm>
            <a:off x="6057900" y="2550072"/>
            <a:ext cx="5517931" cy="1015663"/>
          </a:xfrm>
          <a:prstGeom prst="rect">
            <a:avLst/>
          </a:prstGeom>
          <a:noFill/>
        </p:spPr>
        <p:txBody>
          <a:bodyPr wrap="square" rtlCol="0">
            <a:spAutoFit/>
          </a:bodyPr>
          <a:lstStyle/>
          <a:p>
            <a:r>
              <a:rPr lang="es-ES" sz="2000" dirty="0"/>
              <a:t>Sin embargo, estos errores se han ido subsanando a medida que tenemos modelos más desarrollados.</a:t>
            </a:r>
            <a:endParaRPr lang="es-CL" sz="2000" dirty="0"/>
          </a:p>
        </p:txBody>
      </p:sp>
    </p:spTree>
    <p:extLst>
      <p:ext uri="{BB962C8B-B14F-4D97-AF65-F5344CB8AC3E}">
        <p14:creationId xmlns:p14="http://schemas.microsoft.com/office/powerpoint/2010/main" val="24064612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68A388A-11B6-0951-FA08-E2DF3572B1AE}"/>
              </a:ext>
            </a:extLst>
          </p:cNvPr>
          <p:cNvPicPr>
            <a:picLocks noChangeAspect="1"/>
          </p:cNvPicPr>
          <p:nvPr/>
        </p:nvPicPr>
        <p:blipFill rotWithShape="1">
          <a:blip r:embed="rId2"/>
          <a:srcRect l="7835" r="40111" b="3"/>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2" name="Freeform: Shape 11">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2" name="Title"/>
          <p:cNvSpPr>
            <a:spLocks noGrp="1"/>
          </p:cNvSpPr>
          <p:nvPr>
            <p:ph type="ctrTitle"/>
          </p:nvPr>
        </p:nvSpPr>
        <p:spPr>
          <a:xfrm>
            <a:off x="6096000" y="762000"/>
            <a:ext cx="5334000" cy="1524000"/>
          </a:xfrm>
        </p:spPr>
        <p:txBody>
          <a:bodyPr>
            <a:normAutofit/>
          </a:bodyPr>
          <a:lstStyle/>
          <a:p>
            <a:r>
              <a:rPr lang="en-US" sz="2500" dirty="0" err="1"/>
              <a:t>Muchas</a:t>
            </a:r>
            <a:r>
              <a:rPr lang="en-US" sz="2500" dirty="0"/>
              <a:t> </a:t>
            </a:r>
            <a:r>
              <a:rPr lang="en-US" sz="2500" dirty="0" err="1"/>
              <a:t>otras</a:t>
            </a:r>
            <a:r>
              <a:rPr lang="en-US" sz="2500" dirty="0"/>
              <a:t> </a:t>
            </a:r>
            <a:r>
              <a:rPr lang="en-US" sz="2500" dirty="0" err="1"/>
              <a:t>aplicaciones</a:t>
            </a:r>
            <a:r>
              <a:rPr lang="en-US" sz="2500" dirty="0"/>
              <a:t>…</a:t>
            </a:r>
          </a:p>
        </p:txBody>
      </p:sp>
      <mc:AlternateContent xmlns:mc="http://schemas.openxmlformats.org/markup-compatibility/2006" xmlns:p14="http://schemas.microsoft.com/office/powerpoint/2010/main">
        <mc:Choice Requires="p14">
          <p:contentPart p14:bwMode="auto" r:id="rId3">
            <p14:nvContentPartPr>
              <p14:cNvPr id="5" name="Entrada de lápiz 4">
                <a:extLst>
                  <a:ext uri="{FF2B5EF4-FFF2-40B4-BE49-F238E27FC236}">
                    <a16:creationId xmlns:a16="http://schemas.microsoft.com/office/drawing/2014/main" id="{DDA62F58-BB02-6564-3A7C-5B3A30087DF8}"/>
                  </a:ext>
                </a:extLst>
              </p14:cNvPr>
              <p14:cNvContentPartPr/>
              <p14:nvPr/>
            </p14:nvContentPartPr>
            <p14:xfrm>
              <a:off x="3412525" y="5961440"/>
              <a:ext cx="2698560" cy="103680"/>
            </p14:xfrm>
          </p:contentPart>
        </mc:Choice>
        <mc:Fallback xmlns="">
          <p:pic>
            <p:nvPicPr>
              <p:cNvPr id="5" name="Entrada de lápiz 4">
                <a:extLst>
                  <a:ext uri="{FF2B5EF4-FFF2-40B4-BE49-F238E27FC236}">
                    <a16:creationId xmlns:a16="http://schemas.microsoft.com/office/drawing/2014/main" id="{DDA62F58-BB02-6564-3A7C-5B3A30087DF8}"/>
                  </a:ext>
                </a:extLst>
              </p:cNvPr>
              <p:cNvPicPr/>
              <p:nvPr/>
            </p:nvPicPr>
            <p:blipFill>
              <a:blip r:embed="rId4"/>
              <a:stretch>
                <a:fillRect/>
              </a:stretch>
            </p:blipFill>
            <p:spPr>
              <a:xfrm>
                <a:off x="3358525" y="5853440"/>
                <a:ext cx="280620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Entrada de lápiz 6">
                <a:extLst>
                  <a:ext uri="{FF2B5EF4-FFF2-40B4-BE49-F238E27FC236}">
                    <a16:creationId xmlns:a16="http://schemas.microsoft.com/office/drawing/2014/main" id="{6D470FF2-D411-93EE-17EB-EF22ACB46498}"/>
                  </a:ext>
                </a:extLst>
              </p14:cNvPr>
              <p14:cNvContentPartPr/>
              <p14:nvPr/>
            </p14:nvContentPartPr>
            <p14:xfrm>
              <a:off x="6226285" y="5009600"/>
              <a:ext cx="368640" cy="29520"/>
            </p14:xfrm>
          </p:contentPart>
        </mc:Choice>
        <mc:Fallback xmlns="">
          <p:pic>
            <p:nvPicPr>
              <p:cNvPr id="7" name="Entrada de lápiz 6">
                <a:extLst>
                  <a:ext uri="{FF2B5EF4-FFF2-40B4-BE49-F238E27FC236}">
                    <a16:creationId xmlns:a16="http://schemas.microsoft.com/office/drawing/2014/main" id="{6D470FF2-D411-93EE-17EB-EF22ACB46498}"/>
                  </a:ext>
                </a:extLst>
              </p:cNvPr>
              <p:cNvPicPr/>
              <p:nvPr/>
            </p:nvPicPr>
            <p:blipFill>
              <a:blip r:embed="rId6"/>
              <a:stretch>
                <a:fillRect/>
              </a:stretch>
            </p:blipFill>
            <p:spPr>
              <a:xfrm>
                <a:off x="6172285" y="4901600"/>
                <a:ext cx="47628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Entrada de lápiz 8">
                <a:extLst>
                  <a:ext uri="{FF2B5EF4-FFF2-40B4-BE49-F238E27FC236}">
                    <a16:creationId xmlns:a16="http://schemas.microsoft.com/office/drawing/2014/main" id="{A2D4CCC8-A4CB-09B0-E73A-665F70A2F323}"/>
                  </a:ext>
                </a:extLst>
              </p14:cNvPr>
              <p14:cNvContentPartPr/>
              <p14:nvPr/>
            </p14:nvContentPartPr>
            <p14:xfrm>
              <a:off x="6476125" y="3633680"/>
              <a:ext cx="462600" cy="57240"/>
            </p14:xfrm>
          </p:contentPart>
        </mc:Choice>
        <mc:Fallback xmlns="">
          <p:pic>
            <p:nvPicPr>
              <p:cNvPr id="9" name="Entrada de lápiz 8">
                <a:extLst>
                  <a:ext uri="{FF2B5EF4-FFF2-40B4-BE49-F238E27FC236}">
                    <a16:creationId xmlns:a16="http://schemas.microsoft.com/office/drawing/2014/main" id="{A2D4CCC8-A4CB-09B0-E73A-665F70A2F323}"/>
                  </a:ext>
                </a:extLst>
              </p:cNvPr>
              <p:cNvPicPr/>
              <p:nvPr/>
            </p:nvPicPr>
            <p:blipFill>
              <a:blip r:embed="rId8"/>
              <a:stretch>
                <a:fillRect/>
              </a:stretch>
            </p:blipFill>
            <p:spPr>
              <a:xfrm>
                <a:off x="6422167" y="3524996"/>
                <a:ext cx="570156" cy="274245"/>
              </a:xfrm>
              <a:prstGeom prst="rect">
                <a:avLst/>
              </a:prstGeom>
            </p:spPr>
          </p:pic>
        </mc:Fallback>
      </mc:AlternateContent>
      <p:pic>
        <p:nvPicPr>
          <p:cNvPr id="13" name="Imagen 12" descr="Diagrama&#10;&#10;Descripción generada automáticamente">
            <a:extLst>
              <a:ext uri="{FF2B5EF4-FFF2-40B4-BE49-F238E27FC236}">
                <a16:creationId xmlns:a16="http://schemas.microsoft.com/office/drawing/2014/main" id="{AAF9629F-8A33-855E-479F-C9D0797DD2F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13079" y="1948044"/>
            <a:ext cx="6048151" cy="4597347"/>
          </a:xfrm>
          <a:prstGeom prst="rect">
            <a:avLst/>
          </a:prstGeom>
        </p:spPr>
      </p:pic>
    </p:spTree>
    <p:extLst>
      <p:ext uri="{BB962C8B-B14F-4D97-AF65-F5344CB8AC3E}">
        <p14:creationId xmlns:p14="http://schemas.microsoft.com/office/powerpoint/2010/main" val="1643270230"/>
      </p:ext>
    </p:extLst>
  </p:cSld>
  <p:clrMapOvr>
    <a:masterClrMapping/>
  </p:clrMapOvr>
</p:sld>
</file>

<file path=ppt/theme/theme1.xml><?xml version="1.0" encoding="utf-8"?>
<a:theme xmlns:a="http://schemas.openxmlformats.org/drawingml/2006/main" name="PebbleVTI">
  <a:themeElements>
    <a:clrScheme name="AnalogousFromLightSeedLeftStep">
      <a:dk1>
        <a:srgbClr val="000000"/>
      </a:dk1>
      <a:lt1>
        <a:srgbClr val="FFFFFF"/>
      </a:lt1>
      <a:dk2>
        <a:srgbClr val="243541"/>
      </a:dk2>
      <a:lt2>
        <a:srgbClr val="E8E7E2"/>
      </a:lt2>
      <a:accent1>
        <a:srgbClr val="7F8FDE"/>
      </a:accent1>
      <a:accent2>
        <a:srgbClr val="62A7D6"/>
      </a:accent2>
      <a:accent3>
        <a:srgbClr val="63B1B0"/>
      </a:accent3>
      <a:accent4>
        <a:srgbClr val="53B68C"/>
      </a:accent4>
      <a:accent5>
        <a:srgbClr val="58B867"/>
      </a:accent5>
      <a:accent6>
        <a:srgbClr val="6CB452"/>
      </a:accent6>
      <a:hlink>
        <a:srgbClr val="8D8355"/>
      </a:hlink>
      <a:folHlink>
        <a:srgbClr val="7F7F7F"/>
      </a:folHlink>
    </a:clrScheme>
    <a:fontScheme name="Custom 4">
      <a:majorFont>
        <a:latin typeface="Sitka Subhead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1029</TotalTime>
  <Words>3768</Words>
  <Application>Microsoft Office PowerPoint</Application>
  <PresentationFormat>Panorámica</PresentationFormat>
  <Paragraphs>310</Paragraphs>
  <Slides>63</Slides>
  <Notes>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63</vt:i4>
      </vt:variant>
    </vt:vector>
  </HeadingPairs>
  <TitlesOfParts>
    <vt:vector size="72" baseType="lpstr">
      <vt:lpstr>Aptos</vt:lpstr>
      <vt:lpstr>Arial</vt:lpstr>
      <vt:lpstr>Avenir Next LT Pro</vt:lpstr>
      <vt:lpstr>Avenir Next LT Pro Light</vt:lpstr>
      <vt:lpstr>Cambria Math</vt:lpstr>
      <vt:lpstr>Sitka Subheading</vt:lpstr>
      <vt:lpstr>Symbol</vt:lpstr>
      <vt:lpstr>Times New Roman</vt:lpstr>
      <vt:lpstr>PebbleVTI</vt:lpstr>
      <vt:lpstr>DIPLOMADO EN IA  Ciencias Cognitivas e IA  Profesor: Sergio Chaigneau </vt:lpstr>
      <vt:lpstr>¿Por qué los Transformers (ChatGPT, Bert (Bidirectional Encoder Representations from Transformers)), y otros son disruptivos?</vt:lpstr>
      <vt:lpstr>¿Por qué los Transformers (ChatGPT, Bert, otros) son disruptivos?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Redes neuronales artificiales</vt:lpstr>
      <vt:lpstr>Redes neuronales artificiales</vt:lpstr>
      <vt:lpstr>Redes neuronales artificiales</vt:lpstr>
      <vt:lpstr>Ajuste de los pesos</vt:lpstr>
      <vt:lpstr>Algoritmo de retropropagación</vt:lpstr>
      <vt:lpstr>Algoritmo de retropropagación</vt:lpstr>
      <vt:lpstr>Retropropagación (backpropagation en una deep ANN)</vt:lpstr>
      <vt:lpstr>Áreas de aplicación más exitosas</vt:lpstr>
      <vt:lpstr>Redes neuronales recurrentes</vt:lpstr>
      <vt:lpstr>Dificultades que enfrentan las RNN al procesar el lenguaje natural</vt:lpstr>
      <vt:lpstr>Dificultades que enfrentan las RNN al procesar el lenguaje natural</vt:lpstr>
      <vt:lpstr>Dificultades que enfrentan las RNN al procesar el lenguaje natural</vt:lpstr>
      <vt:lpstr>Dificultades que enfrentan las RNN al procesar el lenguaje natural</vt:lpstr>
      <vt:lpstr>Dificultades que enfrentan las RNN al procesar el lenguaje natural</vt:lpstr>
      <vt:lpstr>Dificultades que enfrentan las RNN al procesar el lenguaje natural</vt:lpstr>
      <vt:lpstr>Transformers</vt:lpstr>
      <vt:lpstr>Arquitectura transformer</vt:lpstr>
      <vt:lpstr>Embeddings</vt:lpstr>
      <vt:lpstr>Embeddings</vt:lpstr>
      <vt:lpstr>Embeddings</vt:lpstr>
      <vt:lpstr>Embeddings</vt:lpstr>
      <vt:lpstr>Arquitectura transformer</vt:lpstr>
      <vt:lpstr>Arquitectura transformer</vt:lpstr>
      <vt:lpstr>Arquitectura transformer</vt:lpstr>
      <vt:lpstr>Arquitectura transformer</vt:lpstr>
      <vt:lpstr>Arquitectura transformer</vt:lpstr>
      <vt:lpstr>Arquitectura transformer</vt:lpstr>
      <vt:lpstr>Arquitectura transformer</vt:lpstr>
      <vt:lpstr>Arquitectura transformer</vt:lpstr>
      <vt:lpstr>Arquitectura transformer</vt:lpstr>
      <vt:lpstr>Arquitectura transformer</vt:lpstr>
      <vt:lpstr>Arquitectura transformer</vt:lpstr>
      <vt:lpstr>Arquitectura transformer</vt:lpstr>
      <vt:lpstr>Arquitectura transformer</vt:lpstr>
      <vt:lpstr>Arquitectura transformer</vt:lpstr>
      <vt:lpstr>Arquitectura transformer</vt:lpstr>
      <vt:lpstr>Resumen</vt:lpstr>
      <vt:lpstr>Resumen</vt:lpstr>
      <vt:lpstr>Resumen</vt:lpstr>
      <vt:lpstr>Resumen</vt:lpstr>
      <vt:lpstr>Resumen</vt:lpstr>
      <vt:lpstr>Un caso más realista</vt:lpstr>
      <vt:lpstr>Un caso más realista</vt:lpstr>
      <vt:lpstr>Un caso más realista</vt:lpstr>
      <vt:lpstr>Presentación de PowerPoint</vt:lpstr>
      <vt:lpstr>Presentación de PowerPoint</vt:lpstr>
      <vt:lpstr>Presentación de PowerPoint</vt:lpstr>
      <vt:lpstr>¿Muestran ChatGPT y otros sistemas similares una inteligencia general como la humana?</vt:lpstr>
      <vt:lpstr>Errores que comete ChatGPT y por qué: coherencia no es igual a veracidad.</vt:lpstr>
      <vt:lpstr>Errores que comete ChatGPT y por qué</vt:lpstr>
      <vt:lpstr>Errores que comete ChatGPT y por qué</vt:lpstr>
      <vt:lpstr>Muchas otras aplicaciones…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Sergio Chaigneau</cp:lastModifiedBy>
  <cp:revision>92</cp:revision>
  <dcterms:created xsi:type="dcterms:W3CDTF">2023-05-12T20:23:55Z</dcterms:created>
  <dcterms:modified xsi:type="dcterms:W3CDTF">2025-05-19T00:01:05Z</dcterms:modified>
</cp:coreProperties>
</file>