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1"/>
  </p:notesMasterIdLst>
  <p:sldIdLst>
    <p:sldId id="256" r:id="rId2"/>
    <p:sldId id="354" r:id="rId3"/>
    <p:sldId id="357" r:id="rId4"/>
    <p:sldId id="358" r:id="rId5"/>
    <p:sldId id="359" r:id="rId6"/>
    <p:sldId id="363" r:id="rId7"/>
    <p:sldId id="379" r:id="rId8"/>
    <p:sldId id="362" r:id="rId9"/>
    <p:sldId id="377" r:id="rId10"/>
    <p:sldId id="378" r:id="rId11"/>
    <p:sldId id="380" r:id="rId12"/>
    <p:sldId id="355" r:id="rId13"/>
    <p:sldId id="364" r:id="rId14"/>
    <p:sldId id="259" r:id="rId15"/>
    <p:sldId id="260" r:id="rId16"/>
    <p:sldId id="269" r:id="rId17"/>
    <p:sldId id="261" r:id="rId18"/>
    <p:sldId id="270" r:id="rId19"/>
    <p:sldId id="263" r:id="rId20"/>
    <p:sldId id="264" r:id="rId21"/>
    <p:sldId id="271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1" r:id="rId37"/>
    <p:sldId id="295" r:id="rId38"/>
    <p:sldId id="296" r:id="rId39"/>
    <p:sldId id="297" r:id="rId40"/>
    <p:sldId id="298" r:id="rId41"/>
    <p:sldId id="366" r:id="rId42"/>
    <p:sldId id="367" r:id="rId43"/>
    <p:sldId id="365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20" r:id="rId54"/>
    <p:sldId id="309" r:id="rId55"/>
    <p:sldId id="316" r:id="rId56"/>
    <p:sldId id="312" r:id="rId57"/>
    <p:sldId id="313" r:id="rId58"/>
    <p:sldId id="315" r:id="rId59"/>
    <p:sldId id="317" r:id="rId60"/>
    <p:sldId id="318" r:id="rId61"/>
    <p:sldId id="311" r:id="rId62"/>
    <p:sldId id="369" r:id="rId63"/>
    <p:sldId id="368" r:id="rId64"/>
    <p:sldId id="376" r:id="rId65"/>
    <p:sldId id="381" r:id="rId66"/>
    <p:sldId id="371" r:id="rId67"/>
    <p:sldId id="370" r:id="rId68"/>
    <p:sldId id="383" r:id="rId69"/>
    <p:sldId id="372" r:id="rId7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E3DE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575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F047DBA-6DE6-4C0F-9DC3-26342948F40F}" type="slidenum">
              <a:rPr lang="en-US" altLang="es-CL"/>
              <a:pPr>
                <a:defRPr/>
              </a:pPr>
              <a:t>‹Nº›</a:t>
            </a:fld>
            <a:endParaRPr lang="en-US" altLang="es-CL"/>
          </a:p>
        </p:txBody>
      </p:sp>
    </p:spTree>
    <p:extLst>
      <p:ext uri="{BB962C8B-B14F-4D97-AF65-F5344CB8AC3E}">
        <p14:creationId xmlns:p14="http://schemas.microsoft.com/office/powerpoint/2010/main" val="2281505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CE18B6-D749-4F7B-A2E5-EDEA513CFB9C}" type="slidenum">
              <a:rPr lang="es-CL" altLang="en-US"/>
              <a:pPr/>
              <a:t>5</a:t>
            </a:fld>
            <a:endParaRPr lang="es-CL" alt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3133240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3133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CE18B6-D749-4F7B-A2E5-EDEA513CFB9C}" type="slidenum">
              <a:rPr lang="es-CL" altLang="en-US"/>
              <a:pPr/>
              <a:t>43</a:t>
            </a:fld>
            <a:endParaRPr lang="es-CL" alt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1735744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47DBA-6DE6-4C0F-9DC3-26342948F40F}" type="slidenum">
              <a:rPr lang="en-US" altLang="es-CL" smtClean="0"/>
              <a:pPr>
                <a:defRPr/>
              </a:pPr>
              <a:t>50</a:t>
            </a:fld>
            <a:endParaRPr lang="en-US" altLang="es-CL"/>
          </a:p>
        </p:txBody>
      </p:sp>
    </p:spTree>
    <p:extLst>
      <p:ext uri="{BB962C8B-B14F-4D97-AF65-F5344CB8AC3E}">
        <p14:creationId xmlns:p14="http://schemas.microsoft.com/office/powerpoint/2010/main" val="1282105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BBC347-B651-42D4-B78A-1A8ABCF9DB71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17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17118-7733-455E-9381-65FD24AAC89D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62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253CC-BD46-4F9E-AAEC-D551EA2704BB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14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D4FEA-4FC4-4382-97EB-DF3FD54B0C86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21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E5861-6DC5-4C58-A285-FF81ABC5A5C0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67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15F237-56F9-47F8-BAD7-D65263452141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62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F429E-11C4-49E9-A432-40C675F0C87B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04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B0635-1CA0-4885-AB5C-6DBC9E693D1E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70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122B1-3F68-487F-9795-AD561211F475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38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FD927-8337-45C7-AF30-30D3529CEBBF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54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C7D43-EF71-40D7-BC84-D8DDB17A84D5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30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9B92BF9C-285B-4F81-8147-EE886DC7EF26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gpt.reworkd.ai/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AnFAp22ReA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hyperlink" Target="https://www.youtube.com/watch?v=OirmFenH9bw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gpt.reworkd.ai/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youtube.com/watch?v=mAnFAp22Re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reverie.herokuapp.com/arXiv_Demo/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D98B8A-DA0B-4476-B3F9-DCB597283FB7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2438400"/>
          </a:xfrm>
        </p:spPr>
        <p:txBody>
          <a:bodyPr/>
          <a:lstStyle/>
          <a:p>
            <a:pPr algn="ctr" eaLnBrk="1" hangingPunct="1"/>
            <a:r>
              <a:rPr lang="en-US" altLang="es-CL" dirty="0"/>
              <a:t>ARQUITECTURAS</a:t>
            </a:r>
            <a:br>
              <a:rPr lang="en-US" altLang="es-CL" dirty="0"/>
            </a:br>
            <a:r>
              <a:rPr lang="en-US" altLang="es-CL" dirty="0"/>
              <a:t>PARA AGENTES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310DE6-93AF-4ECB-9FEB-413A03D62BE1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Arquitecturas</a:t>
            </a:r>
            <a:r>
              <a:rPr lang="en-US" altLang="es-CL"/>
              <a:t> para Agentes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3038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Un </a:t>
            </a:r>
            <a:r>
              <a:rPr lang="en-US" altLang="es-CL" sz="2000" i="1" dirty="0" err="1">
                <a:solidFill>
                  <a:srgbClr val="003399"/>
                </a:solidFill>
              </a:rPr>
              <a:t>agente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i="1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sistema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computacional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capaz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realizar</a:t>
            </a:r>
            <a:r>
              <a:rPr lang="en-US" altLang="es-CL" sz="2000" dirty="0"/>
              <a:t> </a:t>
            </a:r>
            <a:r>
              <a:rPr lang="en-US" altLang="es-CL" sz="2000" i="1" dirty="0" err="1">
                <a:solidFill>
                  <a:srgbClr val="003399"/>
                </a:solidFill>
              </a:rPr>
              <a:t>acciones</a:t>
            </a:r>
            <a:r>
              <a:rPr lang="en-US" altLang="es-CL" sz="2000" dirty="0"/>
              <a:t> </a:t>
            </a:r>
            <a:r>
              <a:rPr lang="en-US" altLang="es-CL" sz="2000" i="1" dirty="0" err="1">
                <a:solidFill>
                  <a:srgbClr val="003399"/>
                </a:solidFill>
              </a:rPr>
              <a:t>autónomas</a:t>
            </a:r>
            <a:r>
              <a:rPr lang="en-US" altLang="es-CL" sz="2000" dirty="0"/>
              <a:t> y </a:t>
            </a:r>
            <a:r>
              <a:rPr lang="en-US" altLang="es-CL" sz="2000" i="1" dirty="0">
                <a:solidFill>
                  <a:srgbClr val="003399"/>
                </a:solidFill>
              </a:rPr>
              <a:t>flexibles</a:t>
            </a:r>
            <a:r>
              <a:rPr lang="en-US" altLang="es-CL" sz="2000" dirty="0"/>
              <a:t> </a:t>
            </a:r>
            <a:r>
              <a:rPr lang="en-US" altLang="es-CL" sz="2000" i="1" dirty="0"/>
              <a:t>…</a:t>
            </a:r>
            <a:br>
              <a:rPr lang="en-US" altLang="es-CL" sz="2000" i="1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Hechos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uno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debe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enfrentar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construir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sistemas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basados</a:t>
            </a:r>
            <a:r>
              <a:rPr lang="en-US" altLang="es-CL" sz="2000" dirty="0"/>
              <a:t> en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…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Aquí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iremos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presentando</a:t>
            </a:r>
            <a:r>
              <a:rPr lang="en-US" altLang="es-CL" sz="2000" dirty="0"/>
              <a:t>/</a:t>
            </a:r>
            <a:r>
              <a:rPr lang="en-US" altLang="es-CL" sz="2000" dirty="0" err="1"/>
              <a:t>avanzando</a:t>
            </a:r>
            <a:r>
              <a:rPr lang="en-US" altLang="es-CL" sz="2000" dirty="0"/>
              <a:t> en </a:t>
            </a:r>
            <a:r>
              <a:rPr lang="en-US" altLang="es-CL" sz="2000" dirty="0" err="1"/>
              <a:t>esto</a:t>
            </a:r>
            <a:r>
              <a:rPr lang="en-US" altLang="es-CL" sz="2000" dirty="0"/>
              <a:t> de lo general a lo particular:</a:t>
            </a:r>
            <a:br>
              <a:rPr lang="en-US" altLang="es-CL" sz="2000" dirty="0"/>
            </a:br>
            <a:endParaRPr lang="en-US" altLang="es-CL" sz="2000" dirty="0"/>
          </a:p>
          <a:p>
            <a:pPr lvl="1" eaLnBrk="1" hangingPunct="1">
              <a:spcAft>
                <a:spcPts val="1200"/>
              </a:spcAft>
            </a:pPr>
            <a:r>
              <a:rPr lang="en-US" altLang="es-CL" sz="1600" dirty="0" err="1"/>
              <a:t>Veremos</a:t>
            </a:r>
            <a:r>
              <a:rPr lang="en-US" altLang="es-CL" sz="1600" dirty="0"/>
              <a:t> la forma de </a:t>
            </a:r>
            <a:r>
              <a:rPr lang="en-US" altLang="es-CL" sz="1600" dirty="0" err="1"/>
              <a:t>encapsular</a:t>
            </a:r>
            <a:r>
              <a:rPr lang="en-US" altLang="es-CL" sz="1600" dirty="0"/>
              <a:t> los </a:t>
            </a:r>
            <a:r>
              <a:rPr lang="en-US" altLang="es-CL" sz="1600" dirty="0" err="1"/>
              <a:t>agentes</a:t>
            </a:r>
            <a:r>
              <a:rPr lang="en-US" altLang="es-CL" sz="1600" dirty="0"/>
              <a:t> para </a:t>
            </a:r>
            <a:r>
              <a:rPr lang="en-US" altLang="es-CL" sz="1600" dirty="0" err="1"/>
              <a:t>lidiar</a:t>
            </a:r>
            <a:r>
              <a:rPr lang="en-US" altLang="es-CL" sz="1600" dirty="0"/>
              <a:t> con la </a:t>
            </a:r>
            <a:r>
              <a:rPr lang="en-US" altLang="es-CL" sz="1600" dirty="0" err="1"/>
              <a:t>interfaz</a:t>
            </a:r>
            <a:r>
              <a:rPr lang="en-US" altLang="es-CL" sz="1600" dirty="0"/>
              <a:t> entre un Sistema de </a:t>
            </a:r>
            <a:r>
              <a:rPr lang="en-US" altLang="es-CL" sz="1600" dirty="0" err="1"/>
              <a:t>agentes</a:t>
            </a:r>
            <a:r>
              <a:rPr lang="en-US" altLang="es-CL" sz="1600" dirty="0"/>
              <a:t> con los </a:t>
            </a:r>
            <a:r>
              <a:rPr lang="en-US" altLang="es-CL" sz="1600" dirty="0" err="1"/>
              <a:t>usuarios</a:t>
            </a:r>
            <a:r>
              <a:rPr lang="en-US" altLang="es-CL" sz="1600" dirty="0"/>
              <a:t> (LLM)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s-CL" sz="1600" dirty="0" err="1"/>
              <a:t>Luego</a:t>
            </a:r>
            <a:r>
              <a:rPr lang="en-US" altLang="es-CL" sz="1600" dirty="0"/>
              <a:t> </a:t>
            </a:r>
            <a:r>
              <a:rPr lang="en-US" altLang="es-CL" sz="1600" dirty="0" err="1"/>
              <a:t>revisaremos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las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tres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arquitecturas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clásicas</a:t>
            </a:r>
            <a:r>
              <a:rPr lang="en-US" altLang="es-CL" sz="1600" dirty="0"/>
              <a:t> para </a:t>
            </a:r>
            <a:r>
              <a:rPr lang="en-US" altLang="es-CL" sz="1600" dirty="0" err="1"/>
              <a:t>crear</a:t>
            </a:r>
            <a:r>
              <a:rPr lang="en-US" altLang="es-CL" sz="1600" dirty="0"/>
              <a:t> </a:t>
            </a:r>
            <a:r>
              <a:rPr lang="en-US" altLang="es-CL" sz="1600" dirty="0" err="1"/>
              <a:t>agentes</a:t>
            </a:r>
            <a:r>
              <a:rPr lang="en-US" altLang="es-CL" sz="1600" dirty="0"/>
              <a:t>, </a:t>
            </a:r>
            <a:r>
              <a:rPr lang="en-US" altLang="es-CL" sz="1600" dirty="0" err="1"/>
              <a:t>enfocándonos</a:t>
            </a:r>
            <a:r>
              <a:rPr lang="en-US" altLang="es-CL" sz="1600" dirty="0"/>
              <a:t> en </a:t>
            </a:r>
            <a:r>
              <a:rPr lang="en-US" altLang="es-CL" sz="1600" dirty="0" err="1"/>
              <a:t>las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tres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más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usadas</a:t>
            </a:r>
            <a:r>
              <a:rPr lang="en-US" altLang="es-CL" sz="1600" dirty="0"/>
              <a:t> (BDI, </a:t>
            </a:r>
            <a:r>
              <a:rPr lang="en-US" altLang="es-CL" sz="1600" dirty="0" err="1"/>
              <a:t>Reactiva</a:t>
            </a:r>
            <a:r>
              <a:rPr lang="en-US" altLang="es-CL" sz="1600" dirty="0"/>
              <a:t>, </a:t>
            </a:r>
            <a:r>
              <a:rPr lang="en-US" altLang="es-CL" sz="1600" dirty="0" err="1"/>
              <a:t>Híbrida</a:t>
            </a:r>
            <a:r>
              <a:rPr lang="en-US" altLang="es-CL" sz="1600" dirty="0"/>
              <a:t>)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s-CL" sz="1600" dirty="0" err="1"/>
              <a:t>También</a:t>
            </a:r>
            <a:r>
              <a:rPr lang="en-US" altLang="es-CL" sz="1600" dirty="0"/>
              <a:t> </a:t>
            </a:r>
            <a:r>
              <a:rPr lang="en-US" altLang="es-CL" sz="1600" dirty="0" err="1"/>
              <a:t>entregaremos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una</a:t>
            </a:r>
            <a:r>
              <a:rPr lang="en-US" altLang="es-CL" sz="1600" dirty="0"/>
              <a:t> </a:t>
            </a:r>
            <a:r>
              <a:rPr lang="en-US" altLang="es-CL" sz="1600" dirty="0" err="1"/>
              <a:t>perspectiva</a:t>
            </a:r>
            <a:r>
              <a:rPr lang="en-US" altLang="es-CL" sz="1600" dirty="0"/>
              <a:t> </a:t>
            </a:r>
            <a:r>
              <a:rPr lang="en-US" altLang="es-CL" sz="1600" dirty="0" err="1"/>
              <a:t>histórica</a:t>
            </a:r>
            <a:r>
              <a:rPr lang="en-US" altLang="es-CL" sz="1600" dirty="0"/>
              <a:t> del </a:t>
            </a:r>
            <a:r>
              <a:rPr lang="en-US" altLang="es-CL" sz="1600" dirty="0" err="1"/>
              <a:t>desarrollo</a:t>
            </a:r>
            <a:r>
              <a:rPr lang="en-US" altLang="es-CL" sz="1600" dirty="0"/>
              <a:t> de </a:t>
            </a:r>
            <a:r>
              <a:rPr lang="en-US" altLang="es-CL" sz="1600" dirty="0" err="1"/>
              <a:t>las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arquitecturas</a:t>
            </a:r>
            <a:r>
              <a:rPr lang="en-US" altLang="es-CL" sz="1600" dirty="0"/>
              <a:t> para </a:t>
            </a:r>
            <a:r>
              <a:rPr lang="en-US" altLang="es-CL" sz="1600" dirty="0" err="1"/>
              <a:t>entender</a:t>
            </a:r>
            <a:r>
              <a:rPr lang="en-US" altLang="es-CL" sz="1600" dirty="0"/>
              <a:t> </a:t>
            </a:r>
            <a:r>
              <a:rPr lang="en-US" altLang="es-CL" sz="1600" dirty="0" err="1"/>
              <a:t>mejor</a:t>
            </a:r>
            <a:r>
              <a:rPr lang="en-US" altLang="es-CL" sz="1600" dirty="0"/>
              <a:t> el </a:t>
            </a:r>
            <a:r>
              <a:rPr lang="en-US" altLang="es-CL" sz="1600" dirty="0" err="1"/>
              <a:t>contexto</a:t>
            </a:r>
            <a:br>
              <a:rPr lang="en-US" altLang="es-CL" sz="1600" dirty="0"/>
            </a:br>
            <a:endParaRPr lang="en-US" altLang="es-CL" sz="1600" dirty="0"/>
          </a:p>
        </p:txBody>
      </p:sp>
    </p:spTree>
    <p:extLst>
      <p:ext uri="{BB962C8B-B14F-4D97-AF65-F5344CB8AC3E}">
        <p14:creationId xmlns:p14="http://schemas.microsoft.com/office/powerpoint/2010/main" val="268270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310DE6-93AF-4ECB-9FEB-413A03D62BE1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Arquitecturas</a:t>
            </a:r>
            <a:r>
              <a:rPr lang="en-US" altLang="es-CL" dirty="0"/>
              <a:t> para </a:t>
            </a:r>
            <a:r>
              <a:rPr lang="en-US" altLang="es-CL" dirty="0" err="1"/>
              <a:t>Agentes</a:t>
            </a:r>
            <a:r>
              <a:rPr lang="en-US" altLang="es-CL" dirty="0"/>
              <a:t>: Wrapping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676400"/>
            <a:ext cx="90773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7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310DE6-93AF-4ECB-9FEB-413A03D62BE1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Arquitecturas</a:t>
            </a:r>
            <a:r>
              <a:rPr lang="en-US" altLang="es-CL" dirty="0"/>
              <a:t> para </a:t>
            </a:r>
            <a:r>
              <a:rPr lang="en-US" altLang="es-CL" dirty="0" err="1"/>
              <a:t>Agentes</a:t>
            </a:r>
            <a:r>
              <a:rPr lang="en-US" altLang="es-CL" dirty="0"/>
              <a:t>: Wrapping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917" y="1004201"/>
            <a:ext cx="5902166" cy="584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7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839200" cy="1139825"/>
          </a:xfrm>
        </p:spPr>
        <p:txBody>
          <a:bodyPr/>
          <a:lstStyle/>
          <a:p>
            <a:r>
              <a:rPr lang="en-US" altLang="en-US" sz="3800" dirty="0"/>
              <a:t> </a:t>
            </a:r>
            <a:r>
              <a:rPr lang="en-US" altLang="en-US" sz="3800" dirty="0" err="1"/>
              <a:t>Ejemplo</a:t>
            </a:r>
            <a:r>
              <a:rPr lang="en-US" altLang="en-US" sz="3800" dirty="0"/>
              <a:t> de Wrapping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181600"/>
          </a:xfrm>
        </p:spPr>
        <p:txBody>
          <a:bodyPr/>
          <a:lstStyle/>
          <a:p>
            <a:r>
              <a:rPr lang="es-CL" sz="2800" dirty="0">
                <a:hlinkClick r:id="rId3"/>
              </a:rPr>
              <a:t>AGENTGPT</a:t>
            </a:r>
            <a:endParaRPr lang="es-CL" sz="2800" dirty="0"/>
          </a:p>
          <a:p>
            <a:endParaRPr lang="es-CL" sz="2800" dirty="0"/>
          </a:p>
          <a:p>
            <a:endParaRPr lang="es-CL" sz="280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" y="1770441"/>
            <a:ext cx="8258175" cy="41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4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CL" sz="3600" dirty="0" err="1"/>
              <a:t>Arquitecturas</a:t>
            </a:r>
            <a:r>
              <a:rPr lang="en-US" altLang="es-CL" sz="3600" dirty="0"/>
              <a:t> para </a:t>
            </a:r>
            <a:r>
              <a:rPr lang="en-US" altLang="es-CL" sz="3600" dirty="0" err="1"/>
              <a:t>Agentes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bucle</a:t>
            </a:r>
            <a:r>
              <a:rPr lang="en-US" altLang="es-CL" sz="3600" dirty="0"/>
              <a:t> control</a:t>
            </a:r>
            <a:endParaRPr lang="es-CL" sz="36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2676"/>
            <a:ext cx="7981950" cy="5495925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248400" y="3962400"/>
            <a:ext cx="2190750" cy="3048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/>
          <p:cNvSpPr/>
          <p:nvPr/>
        </p:nvSpPr>
        <p:spPr>
          <a:xfrm>
            <a:off x="6248400" y="2743200"/>
            <a:ext cx="914400" cy="12192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/>
          <p:cNvSpPr/>
          <p:nvPr/>
        </p:nvSpPr>
        <p:spPr>
          <a:xfrm>
            <a:off x="3352800" y="3962400"/>
            <a:ext cx="1447800" cy="3048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/>
          <p:cNvSpPr/>
          <p:nvPr/>
        </p:nvSpPr>
        <p:spPr>
          <a:xfrm>
            <a:off x="2359254" y="2971800"/>
            <a:ext cx="1603146" cy="3048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/>
          <p:cNvSpPr/>
          <p:nvPr/>
        </p:nvSpPr>
        <p:spPr>
          <a:xfrm>
            <a:off x="1817212" y="2103438"/>
            <a:ext cx="2297587" cy="41116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/>
          <p:cNvSpPr/>
          <p:nvPr/>
        </p:nvSpPr>
        <p:spPr>
          <a:xfrm>
            <a:off x="800101" y="2103438"/>
            <a:ext cx="876300" cy="41116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/>
          <p:cNvSpPr/>
          <p:nvPr/>
        </p:nvSpPr>
        <p:spPr>
          <a:xfrm>
            <a:off x="4255613" y="2103438"/>
            <a:ext cx="2221387" cy="41116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/>
          <p:cNvSpPr/>
          <p:nvPr/>
        </p:nvSpPr>
        <p:spPr>
          <a:xfrm>
            <a:off x="6482499" y="2135188"/>
            <a:ext cx="691594" cy="41116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/>
          <p:cNvSpPr/>
          <p:nvPr/>
        </p:nvSpPr>
        <p:spPr>
          <a:xfrm>
            <a:off x="4800600" y="3962400"/>
            <a:ext cx="1447800" cy="3048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/>
          <p:cNvSpPr/>
          <p:nvPr/>
        </p:nvSpPr>
        <p:spPr>
          <a:xfrm>
            <a:off x="3848100" y="5334000"/>
            <a:ext cx="1447800" cy="3048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/>
          <p:cNvSpPr/>
          <p:nvPr/>
        </p:nvSpPr>
        <p:spPr>
          <a:xfrm>
            <a:off x="5319172" y="5304459"/>
            <a:ext cx="1447800" cy="3048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41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CL" sz="3600" dirty="0" err="1"/>
              <a:t>Arquitecturas</a:t>
            </a:r>
            <a:r>
              <a:rPr lang="en-US" altLang="es-CL" sz="3600" dirty="0"/>
              <a:t> para </a:t>
            </a:r>
            <a:r>
              <a:rPr lang="en-US" altLang="es-CL" sz="3600" dirty="0" err="1"/>
              <a:t>Agentes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bucle</a:t>
            </a:r>
            <a:r>
              <a:rPr lang="en-US" altLang="es-CL" sz="3600" dirty="0"/>
              <a:t> control</a:t>
            </a:r>
            <a:endParaRPr lang="es-CL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1553" y="1219200"/>
            <a:ext cx="8205247" cy="4876800"/>
          </a:xfrm>
        </p:spPr>
        <p:txBody>
          <a:bodyPr/>
          <a:lstStyle/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Initializar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Objetivo</a:t>
            </a:r>
            <a:r>
              <a:rPr lang="en-US" sz="1400" dirty="0"/>
              <a:t>: </a:t>
            </a:r>
            <a:r>
              <a:rPr lang="en-US" sz="1400" dirty="0" err="1"/>
              <a:t>Definir</a:t>
            </a:r>
            <a:r>
              <a:rPr lang="en-US" sz="1400" dirty="0"/>
              <a:t> el </a:t>
            </a:r>
            <a:r>
              <a:rPr lang="en-US" sz="1400" dirty="0" err="1"/>
              <a:t>objectivo</a:t>
            </a:r>
            <a:r>
              <a:rPr lang="en-US" sz="1400" dirty="0"/>
              <a:t> para el Sistema de </a:t>
            </a:r>
            <a:r>
              <a:rPr lang="en-US" sz="1400" dirty="0" err="1"/>
              <a:t>Agentes</a:t>
            </a:r>
            <a:r>
              <a:rPr lang="en-US" sz="1400" dirty="0"/>
              <a:t> (SA).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Creación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las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tareas</a:t>
            </a:r>
            <a:r>
              <a:rPr lang="en-US" sz="1400" dirty="0"/>
              <a:t>: EL SA </a:t>
            </a:r>
            <a:r>
              <a:rPr lang="en-US" sz="1400" dirty="0" err="1"/>
              <a:t>chequea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memoria</a:t>
            </a:r>
            <a:r>
              <a:rPr lang="en-US" sz="1400" dirty="0"/>
              <a:t> de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últimas</a:t>
            </a:r>
            <a:r>
              <a:rPr lang="en-US" sz="1400" dirty="0"/>
              <a:t> X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completadas</a:t>
            </a:r>
            <a:r>
              <a:rPr lang="en-US" sz="1400" dirty="0"/>
              <a:t> y </a:t>
            </a:r>
            <a:r>
              <a:rPr lang="en-US" sz="1400" dirty="0" err="1"/>
              <a:t>usa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objetivo</a:t>
            </a:r>
            <a:r>
              <a:rPr lang="en-US" sz="1400" dirty="0"/>
              <a:t> y el </a:t>
            </a:r>
            <a:r>
              <a:rPr lang="en-US" sz="1400" dirty="0" err="1"/>
              <a:t>contexto</a:t>
            </a:r>
            <a:r>
              <a:rPr lang="en-US" sz="1400" dirty="0"/>
              <a:t> de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u="sng" dirty="0" err="1"/>
              <a:t>pertinentes</a:t>
            </a:r>
            <a:r>
              <a:rPr lang="en-US" sz="1400" dirty="0"/>
              <a:t> para </a:t>
            </a:r>
            <a:r>
              <a:rPr lang="en-US" sz="1400" dirty="0" err="1"/>
              <a:t>generar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nueva</a:t>
            </a:r>
            <a:r>
              <a:rPr lang="en-US" sz="1400" dirty="0"/>
              <a:t> </a:t>
            </a:r>
            <a:r>
              <a:rPr lang="en-US" sz="1400" dirty="0" err="1"/>
              <a:t>lista</a:t>
            </a:r>
            <a:r>
              <a:rPr lang="en-US" sz="1400" dirty="0"/>
              <a:t> de </a:t>
            </a:r>
            <a:r>
              <a:rPr lang="en-US" sz="1400" dirty="0" err="1"/>
              <a:t>tareas</a:t>
            </a:r>
            <a:r>
              <a:rPr lang="en-US" sz="1400" dirty="0"/>
              <a:t>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Ejecución</a:t>
            </a:r>
            <a:r>
              <a:rPr lang="en-US" sz="1400" dirty="0"/>
              <a:t>: El SA </a:t>
            </a:r>
            <a:r>
              <a:rPr lang="en-US" sz="1400" dirty="0" err="1"/>
              <a:t>ejecuta</a:t>
            </a:r>
            <a:r>
              <a:rPr lang="en-US" sz="1400" dirty="0"/>
              <a:t>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autónomamente</a:t>
            </a:r>
            <a:r>
              <a:rPr lang="en-US" sz="1400" dirty="0"/>
              <a:t>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Almacenamiento</a:t>
            </a:r>
            <a:r>
              <a:rPr lang="en-US" sz="1400" b="1" dirty="0">
                <a:solidFill>
                  <a:srgbClr val="0070C0"/>
                </a:solidFill>
              </a:rPr>
              <a:t> en </a:t>
            </a:r>
            <a:r>
              <a:rPr lang="en-US" sz="1400" b="1" dirty="0" err="1">
                <a:solidFill>
                  <a:srgbClr val="0070C0"/>
                </a:solidFill>
              </a:rPr>
              <a:t>memoria</a:t>
            </a:r>
            <a:r>
              <a:rPr lang="en-US" sz="1400" dirty="0"/>
              <a:t>: Las </a:t>
            </a:r>
            <a:r>
              <a:rPr lang="en-US" sz="1400" dirty="0" err="1"/>
              <a:t>tareas</a:t>
            </a:r>
            <a:r>
              <a:rPr lang="en-US" sz="1400" dirty="0"/>
              <a:t> y </a:t>
            </a:r>
            <a:r>
              <a:rPr lang="en-US" sz="1400" dirty="0" err="1"/>
              <a:t>sus</a:t>
            </a:r>
            <a:r>
              <a:rPr lang="en-US" sz="1400" dirty="0"/>
              <a:t> </a:t>
            </a:r>
            <a:r>
              <a:rPr lang="en-US" sz="1400" dirty="0" err="1"/>
              <a:t>resultados</a:t>
            </a:r>
            <a:r>
              <a:rPr lang="en-US" sz="1400" dirty="0"/>
              <a:t> con </a:t>
            </a:r>
            <a:r>
              <a:rPr lang="en-US" sz="1400" dirty="0" err="1"/>
              <a:t>almacenados</a:t>
            </a:r>
            <a:r>
              <a:rPr lang="en-US" sz="1400" dirty="0"/>
              <a:t> en </a:t>
            </a:r>
            <a:r>
              <a:rPr lang="en-US" sz="1400" dirty="0" err="1"/>
              <a:t>una</a:t>
            </a:r>
            <a:r>
              <a:rPr lang="en-US" sz="1400" dirty="0"/>
              <a:t> BBDD. 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Realimentación</a:t>
            </a:r>
            <a:r>
              <a:rPr lang="en-US" sz="1400" dirty="0"/>
              <a:t>: El SA </a:t>
            </a:r>
            <a:r>
              <a:rPr lang="en-US" sz="1400" dirty="0" err="1"/>
              <a:t>recolecta</a:t>
            </a:r>
            <a:r>
              <a:rPr lang="en-US" sz="1400" dirty="0"/>
              <a:t> </a:t>
            </a:r>
            <a:r>
              <a:rPr lang="en-US" sz="1400" dirty="0" err="1"/>
              <a:t>realimentación</a:t>
            </a:r>
            <a:r>
              <a:rPr lang="en-US" sz="1400" dirty="0"/>
              <a:t> de </a:t>
            </a:r>
            <a:r>
              <a:rPr lang="en-US" sz="1400" dirty="0" err="1"/>
              <a:t>sus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completadas</a:t>
            </a:r>
            <a:r>
              <a:rPr lang="en-US" sz="1400" dirty="0"/>
              <a:t> (</a:t>
            </a:r>
            <a:r>
              <a:rPr lang="en-US" sz="1400" dirty="0" err="1"/>
              <a:t>ya</a:t>
            </a:r>
            <a:r>
              <a:rPr lang="en-US" sz="1400" dirty="0"/>
              <a:t> sea de </a:t>
            </a:r>
            <a:r>
              <a:rPr lang="en-US" sz="1400" dirty="0" err="1"/>
              <a:t>información</a:t>
            </a:r>
            <a:r>
              <a:rPr lang="en-US" sz="1400" dirty="0"/>
              <a:t> </a:t>
            </a:r>
            <a:r>
              <a:rPr lang="en-US" sz="1400" dirty="0" err="1"/>
              <a:t>externa</a:t>
            </a:r>
            <a:r>
              <a:rPr lang="en-US" sz="1400" dirty="0"/>
              <a:t> o en un </a:t>
            </a:r>
            <a:r>
              <a:rPr lang="en-US" sz="1400" dirty="0" err="1"/>
              <a:t>diálogo</a:t>
            </a:r>
            <a:r>
              <a:rPr lang="en-US" sz="1400" dirty="0"/>
              <a:t> con </a:t>
            </a:r>
            <a:r>
              <a:rPr lang="en-US" sz="1400" dirty="0" err="1"/>
              <a:t>otros</a:t>
            </a:r>
            <a:r>
              <a:rPr lang="en-US" sz="1400" dirty="0"/>
              <a:t> </a:t>
            </a:r>
            <a:r>
              <a:rPr lang="en-US" sz="1400" dirty="0" err="1"/>
              <a:t>sistemas</a:t>
            </a:r>
            <a:r>
              <a:rPr lang="en-US" sz="1400" dirty="0"/>
              <a:t> IA).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realimentación</a:t>
            </a:r>
            <a:r>
              <a:rPr lang="en-US" sz="1400" dirty="0"/>
              <a:t> </a:t>
            </a:r>
            <a:r>
              <a:rPr lang="en-US" sz="1400" dirty="0" err="1"/>
              <a:t>servirá</a:t>
            </a:r>
            <a:r>
              <a:rPr lang="en-US" sz="1400" dirty="0"/>
              <a:t> para </a:t>
            </a:r>
            <a:r>
              <a:rPr lang="en-US" sz="1400" dirty="0" err="1"/>
              <a:t>refinar</a:t>
            </a:r>
            <a:r>
              <a:rPr lang="en-US" sz="1400" dirty="0"/>
              <a:t> el SA. 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Creación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nuevas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tareas</a:t>
            </a:r>
            <a:r>
              <a:rPr lang="en-US" sz="1400" dirty="0"/>
              <a:t>: El SA </a:t>
            </a:r>
            <a:r>
              <a:rPr lang="en-US" sz="1400" dirty="0" err="1"/>
              <a:t>crea</a:t>
            </a:r>
            <a:r>
              <a:rPr lang="en-US" sz="1400" dirty="0"/>
              <a:t> </a:t>
            </a:r>
            <a:r>
              <a:rPr lang="en-US" sz="1400" dirty="0" err="1"/>
              <a:t>nuevas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basándose</a:t>
            </a:r>
            <a:r>
              <a:rPr lang="en-US" sz="1400" dirty="0"/>
              <a:t> en la </a:t>
            </a:r>
            <a:r>
              <a:rPr lang="en-US" sz="1400" dirty="0" err="1"/>
              <a:t>realimentación</a:t>
            </a:r>
            <a:r>
              <a:rPr lang="en-US" sz="1400" dirty="0"/>
              <a:t> </a:t>
            </a:r>
            <a:r>
              <a:rPr lang="en-US" sz="1400" dirty="0" err="1"/>
              <a:t>recolectada</a:t>
            </a:r>
            <a:r>
              <a:rPr lang="en-US" sz="1400" dirty="0"/>
              <a:t> (</a:t>
            </a:r>
            <a:r>
              <a:rPr lang="en-US" sz="1400" dirty="0" err="1"/>
              <a:t>externa</a:t>
            </a:r>
            <a:r>
              <a:rPr lang="en-US" sz="1400" dirty="0"/>
              <a:t> e </a:t>
            </a:r>
            <a:r>
              <a:rPr lang="en-US" sz="1400" dirty="0" err="1"/>
              <a:t>interna</a:t>
            </a:r>
            <a:r>
              <a:rPr lang="en-US" sz="1400" dirty="0"/>
              <a:t>). 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Priorización</a:t>
            </a:r>
            <a:r>
              <a:rPr lang="en-US" sz="1400" dirty="0"/>
              <a:t>: EL SA </a:t>
            </a:r>
            <a:r>
              <a:rPr lang="en-US" sz="1400" dirty="0" err="1"/>
              <a:t>reprioriza</a:t>
            </a:r>
            <a:r>
              <a:rPr lang="en-US" sz="1400" dirty="0"/>
              <a:t>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básandose</a:t>
            </a:r>
            <a:r>
              <a:rPr lang="en-US" sz="1400" dirty="0"/>
              <a:t> en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objetivo</a:t>
            </a:r>
            <a:r>
              <a:rPr lang="en-US" sz="1400" dirty="0"/>
              <a:t> y </a:t>
            </a:r>
            <a:r>
              <a:rPr lang="en-US" sz="1400" dirty="0" err="1"/>
              <a:t>viendo</a:t>
            </a:r>
            <a:r>
              <a:rPr lang="en-US" sz="1400" dirty="0"/>
              <a:t>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ya</a:t>
            </a:r>
            <a:r>
              <a:rPr lang="en-US" sz="1400" dirty="0"/>
              <a:t> </a:t>
            </a:r>
            <a:r>
              <a:rPr lang="en-US" sz="1400" dirty="0" err="1"/>
              <a:t>completadas</a:t>
            </a:r>
            <a:r>
              <a:rPr lang="en-US" sz="1400" dirty="0"/>
              <a:t>. 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Selección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tarea</a:t>
            </a:r>
            <a:r>
              <a:rPr lang="en-US" sz="1400" dirty="0"/>
              <a:t>: El SA </a:t>
            </a:r>
            <a:r>
              <a:rPr lang="en-US" sz="1400" dirty="0" err="1"/>
              <a:t>selecciona</a:t>
            </a:r>
            <a:r>
              <a:rPr lang="en-US" sz="1400" dirty="0"/>
              <a:t> la </a:t>
            </a:r>
            <a:r>
              <a:rPr lang="en-US" sz="1400" dirty="0" err="1"/>
              <a:t>tarea</a:t>
            </a:r>
            <a:r>
              <a:rPr lang="en-US" sz="1400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prioritaria</a:t>
            </a:r>
            <a:r>
              <a:rPr lang="en-US" sz="1400" dirty="0"/>
              <a:t> y </a:t>
            </a:r>
            <a:r>
              <a:rPr lang="en-US" sz="1400" dirty="0" err="1"/>
              <a:t>procede</a:t>
            </a:r>
            <a:r>
              <a:rPr lang="en-US" sz="1400" dirty="0"/>
              <a:t> a </a:t>
            </a:r>
            <a:r>
              <a:rPr lang="en-US" sz="1400" dirty="0" err="1"/>
              <a:t>ejecutarla</a:t>
            </a:r>
            <a:r>
              <a:rPr lang="en-US" sz="1400" dirty="0"/>
              <a:t> (</a:t>
            </a:r>
            <a:r>
              <a:rPr lang="en-US" sz="1400" dirty="0" err="1"/>
              <a:t>paso</a:t>
            </a:r>
            <a:r>
              <a:rPr lang="en-US" sz="1400" dirty="0"/>
              <a:t> 3).</a:t>
            </a:r>
          </a:p>
          <a:p>
            <a:pPr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Iteración</a:t>
            </a:r>
            <a:r>
              <a:rPr lang="en-US" sz="1400" dirty="0"/>
              <a:t>: El SA </a:t>
            </a:r>
            <a:r>
              <a:rPr lang="en-US" sz="1400" dirty="0" err="1"/>
              <a:t>repite</a:t>
            </a:r>
            <a:r>
              <a:rPr lang="en-US" sz="1400" dirty="0"/>
              <a:t> los </a:t>
            </a:r>
            <a:r>
              <a:rPr lang="en-US" sz="1400" dirty="0" err="1"/>
              <a:t>pasos</a:t>
            </a:r>
            <a:r>
              <a:rPr lang="en-US" sz="1400" dirty="0"/>
              <a:t> 4 al 8 en un </a:t>
            </a:r>
            <a:r>
              <a:rPr lang="en-US" sz="1400" dirty="0" err="1"/>
              <a:t>bucle</a:t>
            </a:r>
            <a:r>
              <a:rPr lang="en-US" sz="1400" dirty="0"/>
              <a:t>, </a:t>
            </a:r>
            <a:r>
              <a:rPr lang="en-US" sz="1400" dirty="0" err="1"/>
              <a:t>permitiendo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el SA se </a:t>
            </a:r>
            <a:r>
              <a:rPr lang="en-US" sz="1400" dirty="0" err="1"/>
              <a:t>adapte</a:t>
            </a:r>
            <a:r>
              <a:rPr lang="en-US" sz="1400" dirty="0"/>
              <a:t> y </a:t>
            </a:r>
            <a:r>
              <a:rPr lang="en-US" sz="1400" dirty="0" err="1"/>
              <a:t>evolucione</a:t>
            </a:r>
            <a:r>
              <a:rPr lang="en-US" sz="1400" dirty="0"/>
              <a:t> con la </a:t>
            </a:r>
            <a:r>
              <a:rPr lang="en-US" sz="1400" dirty="0" err="1"/>
              <a:t>nueva</a:t>
            </a:r>
            <a:r>
              <a:rPr lang="en-US" sz="1400" dirty="0"/>
              <a:t> </a:t>
            </a:r>
            <a:r>
              <a:rPr lang="en-US" sz="1400" dirty="0" err="1"/>
              <a:t>información</a:t>
            </a:r>
            <a:r>
              <a:rPr lang="en-US" sz="1400" dirty="0"/>
              <a:t>, </a:t>
            </a:r>
            <a:r>
              <a:rPr lang="en-US" sz="1400" dirty="0" err="1"/>
              <a:t>realimentación</a:t>
            </a:r>
            <a:r>
              <a:rPr lang="en-US" sz="1400" dirty="0"/>
              <a:t> y </a:t>
            </a:r>
            <a:r>
              <a:rPr lang="en-US" sz="1400" dirty="0" err="1"/>
              <a:t>cambios</a:t>
            </a:r>
            <a:r>
              <a:rPr lang="en-US" sz="1400" dirty="0"/>
              <a:t> a los </a:t>
            </a:r>
            <a:r>
              <a:rPr lang="en-US" sz="1400" dirty="0" err="1"/>
              <a:t>requerimientos</a:t>
            </a:r>
            <a:r>
              <a:rPr lang="en-US" sz="1400" dirty="0"/>
              <a:t>. 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843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CL" sz="3600" dirty="0" err="1"/>
              <a:t>Arquitecturas</a:t>
            </a:r>
            <a:r>
              <a:rPr lang="en-US" altLang="es-CL" sz="3600" dirty="0"/>
              <a:t> para </a:t>
            </a:r>
            <a:r>
              <a:rPr lang="en-US" altLang="es-CL" sz="3600" dirty="0" err="1"/>
              <a:t>Agentes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bucle</a:t>
            </a:r>
            <a:r>
              <a:rPr lang="en-US" altLang="es-CL" sz="3600" dirty="0"/>
              <a:t> control</a:t>
            </a:r>
            <a:endParaRPr lang="es-CL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0543" y="1058862"/>
            <a:ext cx="8173857" cy="5341938"/>
          </a:xfrm>
        </p:spPr>
        <p:txBody>
          <a:bodyPr/>
          <a:lstStyle/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400" b="1" dirty="0" err="1">
                <a:solidFill>
                  <a:srgbClr val="0070C0"/>
                </a:solidFill>
              </a:rPr>
              <a:t>Initializar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Objetivo</a:t>
            </a:r>
            <a:r>
              <a:rPr lang="en-US" sz="1400" dirty="0"/>
              <a:t>: </a:t>
            </a:r>
            <a:r>
              <a:rPr lang="en-US" sz="1400" dirty="0" err="1"/>
              <a:t>Definir</a:t>
            </a:r>
            <a:r>
              <a:rPr lang="en-US" sz="1400" dirty="0"/>
              <a:t> el </a:t>
            </a:r>
            <a:r>
              <a:rPr lang="en-US" sz="1400" dirty="0" err="1"/>
              <a:t>objectivo</a:t>
            </a:r>
            <a:r>
              <a:rPr lang="en-US" sz="1400" dirty="0"/>
              <a:t> para el Sistema de </a:t>
            </a:r>
            <a:r>
              <a:rPr lang="en-US" sz="1400" dirty="0" err="1"/>
              <a:t>Agentes</a:t>
            </a:r>
            <a:r>
              <a:rPr lang="en-US" sz="1400" dirty="0"/>
              <a:t> (SA)</a:t>
            </a:r>
            <a:br>
              <a:rPr lang="en-US" sz="1400" dirty="0"/>
            </a:br>
            <a:endParaRPr lang="en-US" sz="1400" dirty="0"/>
          </a:p>
          <a:p>
            <a:pPr>
              <a:spcAft>
                <a:spcPts val="1200"/>
              </a:spcAft>
              <a:buFont typeface="+mj-lt"/>
              <a:buAutoNum type="arabicPeriod"/>
            </a:pPr>
            <a:endParaRPr lang="en-US" sz="1400" dirty="0"/>
          </a:p>
          <a:p>
            <a:pPr>
              <a:spcAft>
                <a:spcPts val="1200"/>
              </a:spcAft>
              <a:buFont typeface="+mj-lt"/>
              <a:buAutoNum type="arabicPeriod"/>
            </a:pPr>
            <a:endParaRPr lang="en-US" sz="1400" dirty="0"/>
          </a:p>
          <a:p>
            <a:pPr>
              <a:spcAft>
                <a:spcPts val="1200"/>
              </a:spcAft>
              <a:buFont typeface="+mj-lt"/>
              <a:buAutoNum type="arabicPeriod"/>
            </a:pPr>
            <a:endParaRPr lang="en-US" sz="1400" dirty="0"/>
          </a:p>
          <a:p>
            <a:pPr marL="344487" lvl="1" indent="0">
              <a:spcAft>
                <a:spcPts val="1200"/>
              </a:spcAft>
              <a:buNone/>
            </a:pPr>
            <a:r>
              <a:rPr lang="en-US" sz="1200" dirty="0" err="1"/>
              <a:t>Quiero</a:t>
            </a:r>
            <a:r>
              <a:rPr lang="en-US" sz="1200" dirty="0"/>
              <a:t> </a:t>
            </a:r>
            <a:r>
              <a:rPr lang="en-US" sz="1200" dirty="0" err="1"/>
              <a:t>viajar</a:t>
            </a:r>
            <a:r>
              <a:rPr lang="en-US" sz="1200" dirty="0"/>
              <a:t> a México en la </a:t>
            </a:r>
            <a:r>
              <a:rPr lang="en-US" sz="1200" dirty="0" err="1"/>
              <a:t>segunda</a:t>
            </a:r>
            <a:r>
              <a:rPr lang="en-US" sz="1200" dirty="0"/>
              <a:t> </a:t>
            </a:r>
            <a:r>
              <a:rPr lang="en-US" sz="1200" dirty="0" err="1"/>
              <a:t>quincena</a:t>
            </a:r>
            <a:r>
              <a:rPr lang="en-US" sz="1200" dirty="0"/>
              <a:t> de </a:t>
            </a:r>
            <a:r>
              <a:rPr lang="en-US" sz="1200" dirty="0" err="1"/>
              <a:t>Febrero</a:t>
            </a:r>
            <a:r>
              <a:rPr lang="en-US" sz="1200" dirty="0"/>
              <a:t>, </a:t>
            </a:r>
            <a:r>
              <a:rPr lang="en-US" sz="1200" dirty="0" err="1"/>
              <a:t>visitando</a:t>
            </a:r>
            <a:r>
              <a:rPr lang="en-US" sz="1200" dirty="0"/>
              <a:t> Ciudad de México y Veracruz. </a:t>
            </a:r>
            <a:r>
              <a:rPr lang="en-US" sz="1200" dirty="0" err="1"/>
              <a:t>Orgnizar</a:t>
            </a:r>
            <a:r>
              <a:rPr lang="en-US" sz="1200" dirty="0"/>
              <a:t> el </a:t>
            </a:r>
            <a:r>
              <a:rPr lang="en-US" sz="1200" dirty="0" err="1"/>
              <a:t>viaje</a:t>
            </a:r>
            <a:r>
              <a:rPr lang="en-US" sz="1200" dirty="0"/>
              <a:t>, </a:t>
            </a:r>
            <a:r>
              <a:rPr lang="en-US" sz="1200" u="sng" dirty="0" err="1"/>
              <a:t>comprar</a:t>
            </a:r>
            <a:r>
              <a:rPr lang="en-US" sz="1200" u="sng" dirty="0"/>
              <a:t> </a:t>
            </a:r>
            <a:r>
              <a:rPr lang="en-US" sz="1200" u="sng" dirty="0" err="1"/>
              <a:t>directamente</a:t>
            </a:r>
            <a:r>
              <a:rPr lang="en-US" sz="1200" u="sng" dirty="0"/>
              <a:t> los </a:t>
            </a:r>
            <a:r>
              <a:rPr lang="en-US" sz="1200" u="sng" dirty="0" err="1"/>
              <a:t>pasajes</a:t>
            </a:r>
            <a:r>
              <a:rPr lang="en-US" sz="1200" u="sng" dirty="0"/>
              <a:t> y </a:t>
            </a:r>
            <a:r>
              <a:rPr lang="en-US" sz="1200" u="sng" dirty="0" err="1"/>
              <a:t>hoteles</a:t>
            </a:r>
            <a:r>
              <a:rPr lang="en-US" sz="1200" dirty="0"/>
              <a:t>.</a:t>
            </a:r>
          </a:p>
          <a:p>
            <a:pPr marL="342900" lvl="1" indent="-342900">
              <a:spcAft>
                <a:spcPts val="1200"/>
              </a:spcAft>
              <a:buClr>
                <a:schemeClr val="accent1"/>
              </a:buClr>
              <a:buSzPct val="65000"/>
              <a:buFont typeface="+mj-lt"/>
              <a:buAutoNum type="arabicPeriod" startAt="2"/>
            </a:pPr>
            <a:r>
              <a:rPr lang="en-US" sz="1400" b="1" dirty="0" err="1">
                <a:solidFill>
                  <a:srgbClr val="0070C0"/>
                </a:solidFill>
              </a:rPr>
              <a:t>Creación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las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tareas</a:t>
            </a:r>
            <a:r>
              <a:rPr lang="en-US" sz="1400" dirty="0"/>
              <a:t>: EL SA </a:t>
            </a:r>
            <a:r>
              <a:rPr lang="en-US" sz="1400" dirty="0" err="1"/>
              <a:t>chequea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memoria</a:t>
            </a:r>
            <a:r>
              <a:rPr lang="en-US" sz="1400" dirty="0"/>
              <a:t> de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últimas</a:t>
            </a:r>
            <a:r>
              <a:rPr lang="en-US" sz="1400" dirty="0"/>
              <a:t> X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completadas</a:t>
            </a:r>
            <a:r>
              <a:rPr lang="en-US" sz="1400" dirty="0"/>
              <a:t> y </a:t>
            </a:r>
            <a:r>
              <a:rPr lang="en-US" sz="1400" dirty="0" err="1"/>
              <a:t>usa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objetivo</a:t>
            </a:r>
            <a:r>
              <a:rPr lang="en-US" sz="1400" dirty="0"/>
              <a:t> y el </a:t>
            </a:r>
            <a:r>
              <a:rPr lang="en-US" sz="1400" dirty="0" err="1"/>
              <a:t>contexto</a:t>
            </a:r>
            <a:r>
              <a:rPr lang="en-US" sz="1400" dirty="0"/>
              <a:t> de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u="sng" dirty="0" err="1"/>
              <a:t>pertinentes</a:t>
            </a:r>
            <a:r>
              <a:rPr lang="en-US" sz="1400" dirty="0"/>
              <a:t> para </a:t>
            </a:r>
            <a:r>
              <a:rPr lang="en-US" sz="1400" dirty="0" err="1"/>
              <a:t>generar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nueva</a:t>
            </a:r>
            <a:r>
              <a:rPr lang="en-US" sz="1400" dirty="0"/>
              <a:t> </a:t>
            </a:r>
            <a:r>
              <a:rPr lang="en-US" sz="1400" dirty="0" err="1"/>
              <a:t>lista</a:t>
            </a:r>
            <a:r>
              <a:rPr lang="en-US" sz="1400" dirty="0"/>
              <a:t> de </a:t>
            </a:r>
            <a:r>
              <a:rPr lang="en-US" sz="1400" dirty="0" err="1"/>
              <a:t>tareas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b="1" dirty="0" err="1"/>
              <a:t>Obtener</a:t>
            </a:r>
            <a:r>
              <a:rPr lang="en-US" sz="1400" dirty="0"/>
              <a:t>: </a:t>
            </a:r>
            <a:r>
              <a:rPr lang="en-US" sz="1200" dirty="0" err="1"/>
              <a:t>Vuelos</a:t>
            </a:r>
            <a:r>
              <a:rPr lang="en-US" sz="1200" dirty="0"/>
              <a:t> </a:t>
            </a:r>
            <a:r>
              <a:rPr lang="en-US" sz="1200" dirty="0" err="1"/>
              <a:t>disponibles</a:t>
            </a:r>
            <a:r>
              <a:rPr lang="en-US" sz="1200" dirty="0"/>
              <a:t> y </a:t>
            </a:r>
            <a:r>
              <a:rPr lang="en-US" sz="1200" dirty="0" err="1"/>
              <a:t>tarifas</a:t>
            </a:r>
            <a:r>
              <a:rPr lang="en-US" sz="1200" dirty="0"/>
              <a:t> (</a:t>
            </a:r>
            <a:r>
              <a:rPr lang="en-US" sz="1200" dirty="0" err="1"/>
              <a:t>desde</a:t>
            </a:r>
            <a:r>
              <a:rPr lang="en-US" sz="1200" dirty="0"/>
              <a:t> Chile), </a:t>
            </a:r>
            <a:r>
              <a:rPr lang="en-US" sz="1200" dirty="0" err="1"/>
              <a:t>alojamiento</a:t>
            </a:r>
            <a:r>
              <a:rPr lang="en-US" sz="1200" dirty="0"/>
              <a:t> en Ciudad de México y Veracruz, </a:t>
            </a:r>
            <a:r>
              <a:rPr lang="en-US" sz="1200" dirty="0" err="1"/>
              <a:t>transporte</a:t>
            </a:r>
            <a:r>
              <a:rPr lang="en-US" sz="1200" dirty="0"/>
              <a:t> entre CM y Veracruz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2050" name="Picture 2" descr="Los doce mejores destinos del ranking de todos los rankings de viaj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87" y="1417638"/>
            <a:ext cx="243839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uía para planificar tu viaje por Internet - Munduk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87" y="4038600"/>
            <a:ext cx="1294613" cy="129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26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CL" sz="3600" dirty="0" err="1"/>
              <a:t>Arquitecturas</a:t>
            </a:r>
            <a:r>
              <a:rPr lang="en-US" altLang="es-CL" sz="3600" dirty="0"/>
              <a:t> para </a:t>
            </a:r>
            <a:r>
              <a:rPr lang="en-US" altLang="es-CL" sz="3600" dirty="0" err="1"/>
              <a:t>Agentes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bucle</a:t>
            </a:r>
            <a:r>
              <a:rPr lang="en-US" altLang="es-CL" sz="3600" dirty="0"/>
              <a:t> control</a:t>
            </a:r>
            <a:endParaRPr lang="es-CL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6627" y="1219200"/>
            <a:ext cx="8205247" cy="4876800"/>
          </a:xfrm>
        </p:spPr>
        <p:txBody>
          <a:bodyPr/>
          <a:lstStyle/>
          <a:p>
            <a:pPr>
              <a:spcAft>
                <a:spcPts val="1200"/>
              </a:spcAft>
              <a:buFont typeface="+mj-lt"/>
              <a:buAutoNum type="arabicPeriod" startAt="3"/>
            </a:pPr>
            <a:r>
              <a:rPr lang="en-US" sz="1400" b="1" dirty="0" err="1">
                <a:solidFill>
                  <a:srgbClr val="0070C0"/>
                </a:solidFill>
              </a:rPr>
              <a:t>Ejecución</a:t>
            </a:r>
            <a:r>
              <a:rPr lang="en-US" sz="1400" dirty="0"/>
              <a:t>: El SA </a:t>
            </a:r>
            <a:r>
              <a:rPr lang="en-US" sz="1400" dirty="0" err="1"/>
              <a:t>ejecuta</a:t>
            </a:r>
            <a:r>
              <a:rPr lang="en-US" sz="1400" dirty="0"/>
              <a:t>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autónomamente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200" dirty="0" err="1"/>
              <a:t>Consulta</a:t>
            </a:r>
            <a:r>
              <a:rPr lang="en-US" sz="1200" dirty="0"/>
              <a:t> a </a:t>
            </a:r>
            <a:r>
              <a:rPr lang="en-US" sz="1200" dirty="0" err="1"/>
              <a:t>aerolíneas</a:t>
            </a:r>
            <a:r>
              <a:rPr lang="en-US" sz="1200" dirty="0"/>
              <a:t>, </a:t>
            </a:r>
            <a:r>
              <a:rPr lang="en-US" sz="1200" dirty="0" err="1"/>
              <a:t>agencias</a:t>
            </a:r>
            <a:r>
              <a:rPr lang="en-US" sz="1200" dirty="0"/>
              <a:t> de </a:t>
            </a:r>
            <a:r>
              <a:rPr lang="en-US" sz="1200" dirty="0" err="1"/>
              <a:t>viaje</a:t>
            </a:r>
            <a:r>
              <a:rPr lang="en-US" sz="1200" dirty="0"/>
              <a:t>, </a:t>
            </a:r>
            <a:r>
              <a:rPr lang="en-US" sz="1200" dirty="0" err="1"/>
              <a:t>hoteles</a:t>
            </a:r>
            <a:r>
              <a:rPr lang="en-US" sz="1200" dirty="0"/>
              <a:t>, etc.</a:t>
            </a:r>
            <a:br>
              <a:rPr lang="en-US" sz="1200" dirty="0"/>
            </a:br>
            <a:r>
              <a:rPr lang="en-US" sz="1200" dirty="0"/>
              <a:t>Resume la </a:t>
            </a:r>
            <a:r>
              <a:rPr lang="en-US" sz="1200" dirty="0" err="1"/>
              <a:t>información</a:t>
            </a:r>
            <a:r>
              <a:rPr lang="en-US" sz="1200" dirty="0"/>
              <a:t> </a:t>
            </a:r>
            <a:r>
              <a:rPr lang="en-US" sz="1200" dirty="0" err="1"/>
              <a:t>reunida</a:t>
            </a:r>
            <a:endParaRPr lang="en-US" sz="1200" dirty="0"/>
          </a:p>
          <a:p>
            <a:pPr>
              <a:spcAft>
                <a:spcPts val="1200"/>
              </a:spcAft>
              <a:buFont typeface="+mj-lt"/>
              <a:buAutoNum type="arabicPeriod" startAt="4"/>
            </a:pPr>
            <a:r>
              <a:rPr lang="en-US" sz="1400" b="1" dirty="0" err="1">
                <a:solidFill>
                  <a:srgbClr val="0070C0"/>
                </a:solidFill>
              </a:rPr>
              <a:t>Almacenamiento</a:t>
            </a:r>
            <a:r>
              <a:rPr lang="en-US" sz="1400" b="1" dirty="0">
                <a:solidFill>
                  <a:srgbClr val="0070C0"/>
                </a:solidFill>
              </a:rPr>
              <a:t> en </a:t>
            </a:r>
            <a:r>
              <a:rPr lang="en-US" sz="1400" b="1" dirty="0" err="1">
                <a:solidFill>
                  <a:srgbClr val="0070C0"/>
                </a:solidFill>
              </a:rPr>
              <a:t>memoria</a:t>
            </a:r>
            <a:r>
              <a:rPr lang="en-US" sz="1400" dirty="0"/>
              <a:t>: Las </a:t>
            </a:r>
            <a:r>
              <a:rPr lang="en-US" sz="1400" dirty="0" err="1"/>
              <a:t>tareas</a:t>
            </a:r>
            <a:r>
              <a:rPr lang="en-US" sz="1400" dirty="0"/>
              <a:t> y </a:t>
            </a:r>
            <a:r>
              <a:rPr lang="en-US" sz="1400" dirty="0" err="1"/>
              <a:t>sus</a:t>
            </a:r>
            <a:r>
              <a:rPr lang="en-US" sz="1400" dirty="0"/>
              <a:t> </a:t>
            </a:r>
            <a:r>
              <a:rPr lang="en-US" sz="1400" dirty="0" err="1"/>
              <a:t>resultados</a:t>
            </a:r>
            <a:r>
              <a:rPr lang="en-US" sz="1400" dirty="0"/>
              <a:t> con </a:t>
            </a:r>
            <a:r>
              <a:rPr lang="en-US" sz="1400" dirty="0" err="1"/>
              <a:t>almacenados</a:t>
            </a:r>
            <a:r>
              <a:rPr lang="en-US" sz="1400" dirty="0"/>
              <a:t> en </a:t>
            </a:r>
            <a:r>
              <a:rPr lang="en-US" sz="1400" dirty="0" err="1"/>
              <a:t>una</a:t>
            </a:r>
            <a:r>
              <a:rPr lang="en-US" sz="1400" dirty="0"/>
              <a:t> BBDD. 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4" y="1524000"/>
            <a:ext cx="2819400" cy="1820863"/>
          </a:xfrm>
          <a:prstGeom prst="rect">
            <a:avLst/>
          </a:prstGeom>
        </p:spPr>
      </p:pic>
      <p:pic>
        <p:nvPicPr>
          <p:cNvPr id="3076" name="Picture 4" descr="Planificadores de viajes para editar e imprimir grati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296070"/>
            <a:ext cx="2399907" cy="179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66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CL" sz="3600" dirty="0" err="1"/>
              <a:t>Arquitecturas</a:t>
            </a:r>
            <a:r>
              <a:rPr lang="en-US" altLang="es-CL" sz="3600" dirty="0"/>
              <a:t> para </a:t>
            </a:r>
            <a:r>
              <a:rPr lang="en-US" altLang="es-CL" sz="3600" dirty="0" err="1"/>
              <a:t>Agentes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bucle</a:t>
            </a:r>
            <a:r>
              <a:rPr lang="en-US" altLang="es-CL" sz="3600" dirty="0"/>
              <a:t> control</a:t>
            </a:r>
            <a:endParaRPr lang="es-CL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1553" y="1219200"/>
            <a:ext cx="8205247" cy="4876800"/>
          </a:xfrm>
        </p:spPr>
        <p:txBody>
          <a:bodyPr/>
          <a:lstStyle/>
          <a:p>
            <a:pPr>
              <a:spcAft>
                <a:spcPts val="1200"/>
              </a:spcAft>
              <a:buFont typeface="+mj-lt"/>
              <a:buAutoNum type="arabicPeriod" startAt="5"/>
            </a:pPr>
            <a:r>
              <a:rPr lang="en-US" sz="1400" b="1" dirty="0" err="1">
                <a:solidFill>
                  <a:srgbClr val="0070C0"/>
                </a:solidFill>
              </a:rPr>
              <a:t>Realimentación</a:t>
            </a:r>
            <a:r>
              <a:rPr lang="en-US" sz="1400" dirty="0"/>
              <a:t>: El SA </a:t>
            </a:r>
            <a:r>
              <a:rPr lang="en-US" sz="1400" dirty="0" err="1"/>
              <a:t>recolecta</a:t>
            </a:r>
            <a:r>
              <a:rPr lang="en-US" sz="1400" dirty="0"/>
              <a:t> </a:t>
            </a:r>
            <a:r>
              <a:rPr lang="en-US" sz="1400" dirty="0" err="1"/>
              <a:t>realimentación</a:t>
            </a:r>
            <a:r>
              <a:rPr lang="en-US" sz="1400" dirty="0"/>
              <a:t> de </a:t>
            </a:r>
            <a:r>
              <a:rPr lang="en-US" sz="1400" dirty="0" err="1"/>
              <a:t>sus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completadas</a:t>
            </a:r>
            <a:r>
              <a:rPr lang="en-US" sz="1400" dirty="0"/>
              <a:t> (</a:t>
            </a:r>
            <a:r>
              <a:rPr lang="en-US" sz="1400" dirty="0" err="1"/>
              <a:t>ya</a:t>
            </a:r>
            <a:r>
              <a:rPr lang="en-US" sz="1400" dirty="0"/>
              <a:t> sea de </a:t>
            </a:r>
            <a:r>
              <a:rPr lang="en-US" sz="1400" dirty="0" err="1"/>
              <a:t>información</a:t>
            </a:r>
            <a:r>
              <a:rPr lang="en-US" sz="1400" dirty="0"/>
              <a:t> </a:t>
            </a:r>
            <a:r>
              <a:rPr lang="en-US" sz="1400" dirty="0" err="1"/>
              <a:t>externa</a:t>
            </a:r>
            <a:r>
              <a:rPr lang="en-US" sz="1400" dirty="0"/>
              <a:t> o en un </a:t>
            </a:r>
            <a:r>
              <a:rPr lang="en-US" sz="1400" dirty="0" err="1"/>
              <a:t>diálogo</a:t>
            </a:r>
            <a:r>
              <a:rPr lang="en-US" sz="1400" dirty="0"/>
              <a:t> con </a:t>
            </a:r>
            <a:r>
              <a:rPr lang="en-US" sz="1400" dirty="0" err="1"/>
              <a:t>otros</a:t>
            </a:r>
            <a:r>
              <a:rPr lang="en-US" sz="1400" dirty="0"/>
              <a:t> </a:t>
            </a:r>
            <a:r>
              <a:rPr lang="en-US" sz="1400" dirty="0" err="1"/>
              <a:t>sistemas</a:t>
            </a:r>
            <a:r>
              <a:rPr lang="en-US" sz="1400" dirty="0"/>
              <a:t> IA).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realimentación</a:t>
            </a:r>
            <a:r>
              <a:rPr lang="en-US" sz="1400" dirty="0"/>
              <a:t> </a:t>
            </a:r>
            <a:r>
              <a:rPr lang="en-US" sz="1400" dirty="0" err="1"/>
              <a:t>servirá</a:t>
            </a:r>
            <a:r>
              <a:rPr lang="en-US" sz="1400" dirty="0"/>
              <a:t> para </a:t>
            </a:r>
            <a:r>
              <a:rPr lang="en-US" sz="1400" dirty="0" err="1"/>
              <a:t>refinar</a:t>
            </a:r>
            <a:r>
              <a:rPr lang="en-US" sz="1400" dirty="0"/>
              <a:t> el SA. </a:t>
            </a:r>
          </a:p>
          <a:p>
            <a:pPr>
              <a:spcAft>
                <a:spcPts val="1200"/>
              </a:spcAft>
              <a:buFont typeface="+mj-lt"/>
              <a:buAutoNum type="arabicPeriod" startAt="5"/>
            </a:pP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br>
              <a:rPr lang="en-US" sz="1400" dirty="0"/>
            </a:br>
            <a:br>
              <a:rPr lang="en-US" sz="1400" dirty="0"/>
            </a:br>
            <a:endParaRPr lang="en-US" sz="1400" dirty="0"/>
          </a:p>
          <a:p>
            <a:pPr marL="0" lvl="1" indent="0">
              <a:spcAft>
                <a:spcPts val="0"/>
              </a:spcAft>
              <a:buClr>
                <a:schemeClr val="accent1"/>
              </a:buClr>
              <a:buSzPct val="65000"/>
              <a:buNone/>
            </a:pPr>
            <a:r>
              <a:rPr lang="en-US" sz="1200" dirty="0"/>
              <a:t>        </a:t>
            </a:r>
            <a:r>
              <a:rPr lang="en-US" sz="1200" dirty="0" err="1"/>
              <a:t>Vuelos</a:t>
            </a:r>
            <a:r>
              <a:rPr lang="en-US" sz="1200" dirty="0"/>
              <a:t> </a:t>
            </a:r>
            <a:r>
              <a:rPr lang="en-US" sz="1200" dirty="0" err="1"/>
              <a:t>aéreos</a:t>
            </a:r>
            <a:r>
              <a:rPr lang="en-US" sz="1200" dirty="0"/>
              <a:t> </a:t>
            </a:r>
            <a:r>
              <a:rPr lang="en-US" sz="1200" dirty="0" err="1"/>
              <a:t>muy</a:t>
            </a:r>
            <a:r>
              <a:rPr lang="en-US" sz="1200" dirty="0"/>
              <a:t> </a:t>
            </a:r>
            <a:r>
              <a:rPr lang="en-US" sz="1200" dirty="0" err="1"/>
              <a:t>caros</a:t>
            </a:r>
            <a:r>
              <a:rPr lang="en-US" sz="1200" dirty="0"/>
              <a:t>,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 de </a:t>
            </a:r>
            <a:r>
              <a:rPr lang="en-US" sz="1200" dirty="0" err="1"/>
              <a:t>viaje</a:t>
            </a:r>
            <a:r>
              <a:rPr lang="en-US" sz="1200" dirty="0"/>
              <a:t>. </a:t>
            </a:r>
          </a:p>
          <a:p>
            <a:pPr marL="0" lvl="1" indent="0">
              <a:spcAft>
                <a:spcPts val="1200"/>
              </a:spcAft>
              <a:buClr>
                <a:schemeClr val="accent1"/>
              </a:buClr>
              <a:buSzPct val="65000"/>
              <a:buNone/>
            </a:pPr>
            <a:r>
              <a:rPr lang="en-US" sz="1200" dirty="0"/>
              <a:t>        </a:t>
            </a:r>
            <a:r>
              <a:rPr lang="en-US" sz="1200" dirty="0" err="1"/>
              <a:t>Hoteles</a:t>
            </a:r>
            <a:r>
              <a:rPr lang="en-US" sz="1200" dirty="0"/>
              <a:t> </a:t>
            </a:r>
            <a:r>
              <a:rPr lang="en-US" sz="1200" dirty="0" err="1"/>
              <a:t>poco</a:t>
            </a:r>
            <a:r>
              <a:rPr lang="en-US" sz="1200" dirty="0"/>
              <a:t> </a:t>
            </a:r>
            <a:r>
              <a:rPr lang="en-US" sz="1200" dirty="0" err="1"/>
              <a:t>comfortables</a:t>
            </a:r>
            <a:r>
              <a:rPr lang="en-US" sz="1200" dirty="0"/>
              <a:t>.</a:t>
            </a:r>
          </a:p>
          <a:p>
            <a:pPr>
              <a:spcAft>
                <a:spcPts val="1200"/>
              </a:spcAft>
              <a:buFont typeface="+mj-lt"/>
              <a:buAutoNum type="arabicPeriod" startAt="6"/>
            </a:pPr>
            <a:r>
              <a:rPr lang="en-US" sz="1400" b="1" dirty="0" err="1">
                <a:solidFill>
                  <a:srgbClr val="0070C0"/>
                </a:solidFill>
              </a:rPr>
              <a:t>Creación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nuevas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tareas</a:t>
            </a:r>
            <a:r>
              <a:rPr lang="en-US" sz="1400" dirty="0"/>
              <a:t>: El SA </a:t>
            </a:r>
            <a:r>
              <a:rPr lang="en-US" sz="1400" dirty="0" err="1"/>
              <a:t>crea</a:t>
            </a:r>
            <a:r>
              <a:rPr lang="en-US" sz="1400" dirty="0"/>
              <a:t> </a:t>
            </a:r>
            <a:r>
              <a:rPr lang="en-US" sz="1400" dirty="0" err="1"/>
              <a:t>nuevas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basándose</a:t>
            </a:r>
            <a:r>
              <a:rPr lang="en-US" sz="1400" dirty="0"/>
              <a:t> en la </a:t>
            </a:r>
            <a:r>
              <a:rPr lang="en-US" sz="1400" dirty="0" err="1"/>
              <a:t>realimentación</a:t>
            </a:r>
            <a:r>
              <a:rPr lang="en-US" sz="1400" dirty="0"/>
              <a:t> </a:t>
            </a:r>
            <a:r>
              <a:rPr lang="en-US" sz="1400" dirty="0" err="1"/>
              <a:t>recolectada</a:t>
            </a:r>
            <a:r>
              <a:rPr lang="en-US" sz="1400" dirty="0"/>
              <a:t> (</a:t>
            </a:r>
            <a:r>
              <a:rPr lang="en-US" sz="1400" dirty="0" err="1"/>
              <a:t>externa</a:t>
            </a:r>
            <a:r>
              <a:rPr lang="en-US" sz="1400" dirty="0"/>
              <a:t> e </a:t>
            </a:r>
            <a:r>
              <a:rPr lang="en-US" sz="1400" dirty="0" err="1"/>
              <a:t>interna</a:t>
            </a:r>
            <a:r>
              <a:rPr lang="en-US" sz="1400" dirty="0"/>
              <a:t>). </a:t>
            </a:r>
          </a:p>
          <a:p>
            <a:pPr marL="0" lvl="1" indent="0">
              <a:buClr>
                <a:schemeClr val="accent1"/>
              </a:buClr>
              <a:buSzPct val="65000"/>
              <a:buNone/>
            </a:pPr>
            <a:endParaRPr lang="en-US" sz="1200" dirty="0"/>
          </a:p>
          <a:p>
            <a:pPr marL="0" lvl="1" indent="0">
              <a:buClr>
                <a:schemeClr val="accent1"/>
              </a:buClr>
              <a:buSzPct val="65000"/>
              <a:buNone/>
            </a:pPr>
            <a:endParaRPr lang="en-US" sz="1200" dirty="0"/>
          </a:p>
          <a:p>
            <a:pPr marL="0" lvl="1" indent="0">
              <a:buClr>
                <a:schemeClr val="accent1"/>
              </a:buClr>
              <a:buSzPct val="65000"/>
              <a:buNone/>
            </a:pPr>
            <a:endParaRPr lang="en-US" sz="1200" dirty="0"/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en-US" sz="1200" dirty="0"/>
              <a:t>			</a:t>
            </a:r>
            <a:r>
              <a:rPr lang="en-US" sz="1200" dirty="0" err="1"/>
              <a:t>Buscar</a:t>
            </a:r>
            <a:r>
              <a:rPr lang="en-US" sz="1200" dirty="0"/>
              <a:t> </a:t>
            </a:r>
            <a:r>
              <a:rPr lang="en-US" sz="1200" dirty="0" err="1"/>
              <a:t>hoteles</a:t>
            </a:r>
            <a:r>
              <a:rPr lang="en-US" sz="1200" dirty="0"/>
              <a:t> </a:t>
            </a:r>
            <a:r>
              <a:rPr lang="en-US" sz="1200" dirty="0" err="1"/>
              <a:t>más</a:t>
            </a:r>
            <a:r>
              <a:rPr lang="en-US" sz="1200" dirty="0"/>
              <a:t> </a:t>
            </a:r>
            <a:r>
              <a:rPr lang="en-US" sz="1200" dirty="0" err="1"/>
              <a:t>confortables</a:t>
            </a:r>
            <a:r>
              <a:rPr lang="en-US" sz="1200" dirty="0"/>
              <a:t>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. </a:t>
            </a: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en-US" sz="1200" dirty="0"/>
              <a:t>			</a:t>
            </a:r>
            <a:r>
              <a:rPr lang="en-US" sz="1200" dirty="0" err="1"/>
              <a:t>Buscar</a:t>
            </a:r>
            <a:r>
              <a:rPr lang="en-US" sz="1200" dirty="0"/>
              <a:t> </a:t>
            </a:r>
            <a:r>
              <a:rPr lang="en-US" sz="1200" dirty="0" err="1"/>
              <a:t>vuelos</a:t>
            </a:r>
            <a:r>
              <a:rPr lang="en-US" sz="1200" dirty="0"/>
              <a:t> </a:t>
            </a:r>
            <a:r>
              <a:rPr lang="en-US" sz="1200" dirty="0" err="1"/>
              <a:t>aéreos</a:t>
            </a:r>
            <a:r>
              <a:rPr lang="en-US" sz="1200" dirty="0"/>
              <a:t> </a:t>
            </a:r>
            <a:r>
              <a:rPr lang="en-US" sz="1200" dirty="0" err="1"/>
              <a:t>más</a:t>
            </a:r>
            <a:r>
              <a:rPr lang="en-US" sz="1200" dirty="0"/>
              <a:t> </a:t>
            </a:r>
            <a:r>
              <a:rPr lang="en-US" sz="1200" dirty="0" err="1"/>
              <a:t>baratos</a:t>
            </a:r>
            <a:r>
              <a:rPr lang="en-US" sz="1200" dirty="0"/>
              <a:t>,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posibles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 de </a:t>
            </a:r>
            <a:r>
              <a:rPr lang="en-US" sz="1200" dirty="0" err="1"/>
              <a:t>viaje</a:t>
            </a:r>
            <a:r>
              <a:rPr lang="en-US" sz="1200" dirty="0"/>
              <a:t>. </a:t>
            </a: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en-US" sz="1200" dirty="0"/>
              <a:t>			</a:t>
            </a:r>
            <a:r>
              <a:rPr lang="en-US" sz="1200" dirty="0" err="1"/>
              <a:t>Calzar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 de </a:t>
            </a:r>
            <a:r>
              <a:rPr lang="en-US" sz="1200" dirty="0" err="1"/>
              <a:t>vuelos</a:t>
            </a:r>
            <a:r>
              <a:rPr lang="en-US" sz="1200" dirty="0"/>
              <a:t> y </a:t>
            </a:r>
            <a:r>
              <a:rPr lang="en-US" sz="1200" dirty="0" err="1"/>
              <a:t>hoteles</a:t>
            </a:r>
            <a:r>
              <a:rPr lang="en-US" sz="1200" dirty="0"/>
              <a:t>.</a:t>
            </a:r>
          </a:p>
          <a:p>
            <a:pPr marL="0" lvl="1" indent="0">
              <a:buClr>
                <a:schemeClr val="accent1"/>
              </a:buClr>
              <a:buSzPct val="65000"/>
              <a:buNone/>
            </a:pPr>
            <a:endParaRPr lang="en-US" sz="1200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1071563" cy="107156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899551"/>
            <a:ext cx="1219200" cy="121920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3" y="4495800"/>
            <a:ext cx="2643187" cy="148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7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CL" sz="3600" dirty="0" err="1"/>
              <a:t>Arquitecturas</a:t>
            </a:r>
            <a:r>
              <a:rPr lang="en-US" altLang="es-CL" sz="3600" dirty="0"/>
              <a:t> para </a:t>
            </a:r>
            <a:r>
              <a:rPr lang="en-US" altLang="es-CL" sz="3600" dirty="0" err="1"/>
              <a:t>Agentes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bucle</a:t>
            </a:r>
            <a:r>
              <a:rPr lang="en-US" altLang="es-CL" sz="3600" dirty="0"/>
              <a:t> control</a:t>
            </a:r>
            <a:endParaRPr lang="es-CL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1553" y="1219200"/>
            <a:ext cx="8205247" cy="4876800"/>
          </a:xfrm>
        </p:spPr>
        <p:txBody>
          <a:bodyPr/>
          <a:lstStyle/>
          <a:p>
            <a:pPr>
              <a:spcAft>
                <a:spcPts val="1200"/>
              </a:spcAft>
              <a:buFont typeface="+mj-lt"/>
              <a:buAutoNum type="arabicPeriod" startAt="7"/>
            </a:pPr>
            <a:r>
              <a:rPr lang="en-US" sz="1400" b="1" dirty="0" err="1">
                <a:solidFill>
                  <a:srgbClr val="0070C0"/>
                </a:solidFill>
              </a:rPr>
              <a:t>Priorización</a:t>
            </a:r>
            <a:r>
              <a:rPr lang="en-US" sz="1400" dirty="0"/>
              <a:t>: EL SA </a:t>
            </a:r>
            <a:r>
              <a:rPr lang="en-US" sz="1400" dirty="0" err="1"/>
              <a:t>reprioriza</a:t>
            </a:r>
            <a:r>
              <a:rPr lang="en-US" sz="1400" dirty="0"/>
              <a:t>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básandose</a:t>
            </a:r>
            <a:r>
              <a:rPr lang="en-US" sz="1400" dirty="0"/>
              <a:t> en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objetivo</a:t>
            </a:r>
            <a:r>
              <a:rPr lang="en-US" sz="1400" dirty="0"/>
              <a:t> y </a:t>
            </a:r>
            <a:r>
              <a:rPr lang="en-US" sz="1400" dirty="0" err="1"/>
              <a:t>viendo</a:t>
            </a:r>
            <a:r>
              <a:rPr lang="en-US" sz="1400" dirty="0"/>
              <a:t> </a:t>
            </a:r>
            <a:r>
              <a:rPr lang="en-US" sz="1400" dirty="0" err="1"/>
              <a:t>las</a:t>
            </a:r>
            <a:r>
              <a:rPr lang="en-US" sz="1400" dirty="0"/>
              <a:t> </a:t>
            </a:r>
            <a:r>
              <a:rPr lang="en-US" sz="1400" dirty="0" err="1"/>
              <a:t>tareas</a:t>
            </a:r>
            <a:r>
              <a:rPr lang="en-US" sz="1400" dirty="0"/>
              <a:t> </a:t>
            </a:r>
            <a:r>
              <a:rPr lang="en-US" sz="1400" dirty="0" err="1"/>
              <a:t>ya</a:t>
            </a:r>
            <a:r>
              <a:rPr lang="en-US" sz="1400" dirty="0"/>
              <a:t> </a:t>
            </a:r>
            <a:r>
              <a:rPr lang="en-US" sz="1400" dirty="0" err="1"/>
              <a:t>completadas</a:t>
            </a:r>
            <a:r>
              <a:rPr lang="en-US" sz="1400" dirty="0"/>
              <a:t>. 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  <a:p>
            <a:pPr marL="342900" lvl="1" indent="-342900">
              <a:spcAft>
                <a:spcPts val="1200"/>
              </a:spcAft>
              <a:buClr>
                <a:schemeClr val="accent1"/>
              </a:buClr>
              <a:buSzPct val="65000"/>
              <a:buFont typeface="+mj-lt"/>
              <a:buAutoNum type="arabicPeriod" startAt="7"/>
            </a:pPr>
            <a:r>
              <a:rPr lang="en-US" sz="1400" b="1" dirty="0" err="1">
                <a:solidFill>
                  <a:srgbClr val="0070C0"/>
                </a:solidFill>
              </a:rPr>
              <a:t>Selección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tarea</a:t>
            </a:r>
            <a:r>
              <a:rPr lang="en-US" sz="1400" dirty="0"/>
              <a:t>: El SA </a:t>
            </a:r>
            <a:r>
              <a:rPr lang="en-US" sz="1400" dirty="0" err="1"/>
              <a:t>selecciona</a:t>
            </a:r>
            <a:r>
              <a:rPr lang="en-US" sz="1400" dirty="0"/>
              <a:t> la </a:t>
            </a:r>
            <a:r>
              <a:rPr lang="en-US" sz="1400" dirty="0" err="1"/>
              <a:t>tarea</a:t>
            </a:r>
            <a:r>
              <a:rPr lang="en-US" sz="1400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prioritaria</a:t>
            </a:r>
            <a:r>
              <a:rPr lang="en-US" sz="1400" dirty="0"/>
              <a:t> y </a:t>
            </a:r>
            <a:r>
              <a:rPr lang="en-US" sz="1400" dirty="0" err="1"/>
              <a:t>procede</a:t>
            </a:r>
            <a:r>
              <a:rPr lang="en-US" sz="1400" dirty="0"/>
              <a:t> a </a:t>
            </a:r>
            <a:r>
              <a:rPr lang="en-US" sz="1400" dirty="0" err="1"/>
              <a:t>ejecutarla</a:t>
            </a:r>
            <a:r>
              <a:rPr lang="en-US" sz="1400" dirty="0"/>
              <a:t> (</a:t>
            </a:r>
            <a:r>
              <a:rPr lang="en-US" sz="1400" dirty="0" err="1"/>
              <a:t>paso</a:t>
            </a:r>
            <a:r>
              <a:rPr lang="en-US" sz="1400" dirty="0"/>
              <a:t> 3).</a:t>
            </a:r>
            <a:br>
              <a:rPr lang="en-US" sz="1400" dirty="0"/>
            </a:br>
            <a:br>
              <a:rPr lang="en-US" sz="1400" dirty="0"/>
            </a:br>
            <a:r>
              <a:rPr lang="en-US" sz="1200" dirty="0" err="1"/>
              <a:t>Buscar</a:t>
            </a:r>
            <a:r>
              <a:rPr lang="en-US" sz="1200" dirty="0"/>
              <a:t> </a:t>
            </a:r>
            <a:r>
              <a:rPr lang="en-US" sz="1200" dirty="0" err="1"/>
              <a:t>vuelos</a:t>
            </a:r>
            <a:r>
              <a:rPr lang="en-US" sz="1200" dirty="0"/>
              <a:t> </a:t>
            </a:r>
            <a:r>
              <a:rPr lang="en-US" sz="1200" dirty="0" err="1"/>
              <a:t>aéreos</a:t>
            </a:r>
            <a:r>
              <a:rPr lang="en-US" sz="1200" dirty="0"/>
              <a:t> </a:t>
            </a:r>
            <a:r>
              <a:rPr lang="en-US" sz="1200" dirty="0" err="1"/>
              <a:t>más</a:t>
            </a:r>
            <a:r>
              <a:rPr lang="en-US" sz="1200" dirty="0"/>
              <a:t> </a:t>
            </a:r>
            <a:r>
              <a:rPr lang="en-US" sz="1200" dirty="0" err="1"/>
              <a:t>baratos</a:t>
            </a:r>
            <a:r>
              <a:rPr lang="en-US" sz="1200" dirty="0"/>
              <a:t>,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posibles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 de </a:t>
            </a:r>
            <a:r>
              <a:rPr lang="en-US" sz="1200" dirty="0" err="1"/>
              <a:t>viaje</a:t>
            </a:r>
            <a:r>
              <a:rPr lang="en-US" sz="1200" dirty="0"/>
              <a:t>. </a:t>
            </a:r>
          </a:p>
          <a:p>
            <a:pPr marL="342900" lvl="1" indent="-342900">
              <a:spcAft>
                <a:spcPts val="1200"/>
              </a:spcAft>
              <a:buClr>
                <a:schemeClr val="accent1"/>
              </a:buClr>
              <a:buSzPct val="65000"/>
              <a:buFont typeface="+mj-lt"/>
              <a:buAutoNum type="arabicPeriod" startAt="7"/>
            </a:pPr>
            <a:r>
              <a:rPr lang="en-US" sz="1400" b="1" dirty="0" err="1">
                <a:solidFill>
                  <a:srgbClr val="0070C0"/>
                </a:solidFill>
              </a:rPr>
              <a:t>Iteración</a:t>
            </a:r>
            <a:r>
              <a:rPr lang="en-US" sz="1400" dirty="0"/>
              <a:t>: El SA </a:t>
            </a:r>
            <a:r>
              <a:rPr lang="en-US" sz="1400" dirty="0" err="1"/>
              <a:t>repite</a:t>
            </a:r>
            <a:r>
              <a:rPr lang="en-US" sz="1400" dirty="0"/>
              <a:t> los </a:t>
            </a:r>
            <a:r>
              <a:rPr lang="en-US" sz="1400" dirty="0" err="1"/>
              <a:t>pasos</a:t>
            </a:r>
            <a:r>
              <a:rPr lang="en-US" sz="1400" dirty="0"/>
              <a:t> 4 al 8 en un </a:t>
            </a:r>
            <a:r>
              <a:rPr lang="en-US" sz="1400" dirty="0" err="1"/>
              <a:t>bucle</a:t>
            </a:r>
            <a:r>
              <a:rPr lang="en-US" sz="1400" dirty="0"/>
              <a:t>, </a:t>
            </a:r>
            <a:r>
              <a:rPr lang="en-US" sz="1400" dirty="0" err="1"/>
              <a:t>permitiendo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el SA se </a:t>
            </a:r>
            <a:r>
              <a:rPr lang="en-US" sz="1400" dirty="0" err="1"/>
              <a:t>adapte</a:t>
            </a:r>
            <a:r>
              <a:rPr lang="en-US" sz="1400" dirty="0"/>
              <a:t> y </a:t>
            </a:r>
            <a:r>
              <a:rPr lang="en-US" sz="1400" dirty="0" err="1"/>
              <a:t>evolucione</a:t>
            </a:r>
            <a:r>
              <a:rPr lang="en-US" sz="1400" dirty="0"/>
              <a:t> con la </a:t>
            </a:r>
            <a:r>
              <a:rPr lang="en-US" sz="1400" dirty="0" err="1"/>
              <a:t>nueva</a:t>
            </a:r>
            <a:r>
              <a:rPr lang="en-US" sz="1400" dirty="0"/>
              <a:t> </a:t>
            </a:r>
            <a:r>
              <a:rPr lang="en-US" sz="1400" dirty="0" err="1"/>
              <a:t>información</a:t>
            </a:r>
            <a:r>
              <a:rPr lang="en-US" sz="1400" dirty="0"/>
              <a:t>, </a:t>
            </a:r>
            <a:r>
              <a:rPr lang="en-US" sz="1400" dirty="0" err="1"/>
              <a:t>realimentación</a:t>
            </a:r>
            <a:r>
              <a:rPr lang="en-US" sz="1400" dirty="0"/>
              <a:t> y </a:t>
            </a:r>
            <a:r>
              <a:rPr lang="en-US" sz="1400" dirty="0" err="1"/>
              <a:t>cambios</a:t>
            </a:r>
            <a:r>
              <a:rPr lang="en-US" sz="1400" dirty="0"/>
              <a:t> a los </a:t>
            </a:r>
            <a:r>
              <a:rPr lang="en-US" sz="1400" dirty="0" err="1"/>
              <a:t>requerimientos</a:t>
            </a:r>
            <a:r>
              <a:rPr lang="en-US" sz="1400" dirty="0"/>
              <a:t>. 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CuadroTexto 4"/>
          <p:cNvSpPr txBox="1"/>
          <p:nvPr/>
        </p:nvSpPr>
        <p:spPr>
          <a:xfrm>
            <a:off x="3648241" y="2030534"/>
            <a:ext cx="50385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lvl="1" indent="-228600">
              <a:buClr>
                <a:schemeClr val="accent1"/>
              </a:buClr>
              <a:buSzPct val="65000"/>
              <a:buFont typeface="+mj-lt"/>
              <a:buAutoNum type="arabicPeriod"/>
            </a:pPr>
            <a:r>
              <a:rPr lang="en-US" sz="1200" dirty="0" err="1"/>
              <a:t>Buscar</a:t>
            </a:r>
            <a:r>
              <a:rPr lang="en-US" sz="1200" dirty="0"/>
              <a:t> </a:t>
            </a:r>
            <a:r>
              <a:rPr lang="en-US" sz="1200" dirty="0" err="1"/>
              <a:t>vuelos</a:t>
            </a:r>
            <a:r>
              <a:rPr lang="en-US" sz="1200" dirty="0"/>
              <a:t> </a:t>
            </a:r>
            <a:r>
              <a:rPr lang="en-US" sz="1200" dirty="0" err="1"/>
              <a:t>aéreos</a:t>
            </a:r>
            <a:r>
              <a:rPr lang="en-US" sz="1200" dirty="0"/>
              <a:t> </a:t>
            </a:r>
            <a:r>
              <a:rPr lang="en-US" sz="1200" dirty="0" err="1"/>
              <a:t>más</a:t>
            </a:r>
            <a:r>
              <a:rPr lang="en-US" sz="1200" dirty="0"/>
              <a:t> </a:t>
            </a:r>
            <a:r>
              <a:rPr lang="en-US" sz="1200" dirty="0" err="1"/>
              <a:t>baratos</a:t>
            </a:r>
            <a:r>
              <a:rPr lang="en-US" sz="1200" dirty="0"/>
              <a:t>,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posibles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 de </a:t>
            </a:r>
            <a:r>
              <a:rPr lang="en-US" sz="1200" dirty="0" err="1"/>
              <a:t>viaje</a:t>
            </a:r>
            <a:r>
              <a:rPr lang="en-US" sz="1200" dirty="0"/>
              <a:t>. </a:t>
            </a:r>
          </a:p>
          <a:p>
            <a:pPr marL="228600" lvl="1" indent="-228600">
              <a:buClr>
                <a:schemeClr val="accent1"/>
              </a:buClr>
              <a:buSzPct val="65000"/>
              <a:buFont typeface="+mj-lt"/>
              <a:buAutoNum type="arabicPeriod"/>
            </a:pPr>
            <a:r>
              <a:rPr lang="en-US" sz="1200" dirty="0" err="1"/>
              <a:t>Buscar</a:t>
            </a:r>
            <a:r>
              <a:rPr lang="en-US" sz="1200" dirty="0"/>
              <a:t> </a:t>
            </a:r>
            <a:r>
              <a:rPr lang="en-US" sz="1200" dirty="0" err="1"/>
              <a:t>hoteles</a:t>
            </a:r>
            <a:r>
              <a:rPr lang="en-US" sz="1200" dirty="0"/>
              <a:t> </a:t>
            </a:r>
            <a:r>
              <a:rPr lang="en-US" sz="1200" dirty="0" err="1"/>
              <a:t>más</a:t>
            </a:r>
            <a:r>
              <a:rPr lang="en-US" sz="1200" dirty="0"/>
              <a:t> </a:t>
            </a:r>
            <a:r>
              <a:rPr lang="en-US" sz="1200" dirty="0" err="1"/>
              <a:t>confortables</a:t>
            </a:r>
            <a:r>
              <a:rPr lang="en-US" sz="1200" dirty="0"/>
              <a:t>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. </a:t>
            </a:r>
          </a:p>
          <a:p>
            <a:pPr marL="228600" lvl="1" indent="-228600">
              <a:buClr>
                <a:schemeClr val="accent1"/>
              </a:buClr>
              <a:buSzPct val="65000"/>
              <a:buFont typeface="+mj-lt"/>
              <a:buAutoNum type="arabicPeriod"/>
            </a:pPr>
            <a:r>
              <a:rPr lang="en-US" sz="1200" dirty="0" err="1"/>
              <a:t>Calzar</a:t>
            </a:r>
            <a:r>
              <a:rPr lang="en-US" sz="1200" dirty="0"/>
              <a:t> </a:t>
            </a:r>
            <a:r>
              <a:rPr lang="en-US" sz="1200" dirty="0" err="1"/>
              <a:t>fechas</a:t>
            </a:r>
            <a:r>
              <a:rPr lang="en-US" sz="1200" dirty="0"/>
              <a:t> de </a:t>
            </a:r>
            <a:r>
              <a:rPr lang="en-US" sz="1200" dirty="0" err="1"/>
              <a:t>vuelos</a:t>
            </a:r>
            <a:r>
              <a:rPr lang="en-US" sz="1200" dirty="0"/>
              <a:t> y </a:t>
            </a:r>
            <a:r>
              <a:rPr lang="en-US" sz="1200" dirty="0" err="1"/>
              <a:t>hoteles</a:t>
            </a:r>
            <a:r>
              <a:rPr lang="en-US" sz="1200" dirty="0"/>
              <a:t>.</a:t>
            </a:r>
          </a:p>
          <a:p>
            <a:pPr marL="228600" lvl="1" indent="-228600">
              <a:buClr>
                <a:schemeClr val="accent1"/>
              </a:buClr>
              <a:buSzPct val="65000"/>
              <a:buFont typeface="+mj-lt"/>
              <a:buAutoNum type="arabicPeriod"/>
            </a:pPr>
            <a:r>
              <a:rPr lang="en-US" sz="1200" u="sng" dirty="0" err="1"/>
              <a:t>Comprar</a:t>
            </a:r>
            <a:r>
              <a:rPr lang="en-US" sz="1200" u="sng" dirty="0"/>
              <a:t> </a:t>
            </a:r>
            <a:r>
              <a:rPr lang="en-US" sz="1200" u="sng" dirty="0" err="1"/>
              <a:t>directamente</a:t>
            </a:r>
            <a:r>
              <a:rPr lang="en-US" sz="1200" u="sng" dirty="0"/>
              <a:t> </a:t>
            </a:r>
            <a:r>
              <a:rPr lang="en-US" sz="1200" u="sng" dirty="0" err="1"/>
              <a:t>pasajes</a:t>
            </a:r>
            <a:r>
              <a:rPr lang="en-US" sz="1200" u="sng" dirty="0"/>
              <a:t> y </a:t>
            </a:r>
            <a:r>
              <a:rPr lang="en-US" sz="1200" u="sng" dirty="0" err="1"/>
              <a:t>hoteles</a:t>
            </a:r>
            <a:r>
              <a:rPr lang="en-US" sz="1200" dirty="0"/>
              <a:t>.</a:t>
            </a:r>
          </a:p>
          <a:p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04" y="1801934"/>
            <a:ext cx="2643187" cy="1480185"/>
          </a:xfrm>
          <a:prstGeom prst="rect">
            <a:avLst/>
          </a:prstGeom>
        </p:spPr>
      </p:pic>
      <p:pic>
        <p:nvPicPr>
          <p:cNvPr id="5122" name="Picture 2" descr="Hotel Sheraton Miramar, Viña del Mar (Valparaíso) - Atrapalo.c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007221"/>
            <a:ext cx="1948271" cy="130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44304"/>
            <a:ext cx="2080461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310DE6-93AF-4ECB-9FEB-413A03D62BE1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Arquitecturas para Agentes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3038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en-US" altLang="es-CL" sz="2400" dirty="0" err="1"/>
              <a:t>Vemos</a:t>
            </a:r>
            <a:r>
              <a:rPr lang="en-US" altLang="es-CL" sz="2400" dirty="0"/>
              <a:t> del </a:t>
            </a:r>
            <a:r>
              <a:rPr lang="en-US" altLang="es-CL" sz="2400" dirty="0" err="1"/>
              <a:t>bucle</a:t>
            </a:r>
            <a:r>
              <a:rPr lang="en-US" altLang="es-CL" sz="2400" dirty="0"/>
              <a:t> de control anterior, </a:t>
            </a:r>
            <a:r>
              <a:rPr lang="en-US" altLang="es-CL" sz="2400" dirty="0" err="1"/>
              <a:t>que</a:t>
            </a:r>
            <a:r>
              <a:rPr lang="en-US" altLang="es-CL" sz="2400" dirty="0"/>
              <a:t> el SA </a:t>
            </a:r>
            <a:r>
              <a:rPr lang="en-US" altLang="es-CL" sz="2400" dirty="0" err="1"/>
              <a:t>debe</a:t>
            </a:r>
            <a:r>
              <a:rPr lang="en-US" altLang="es-CL" sz="2400" dirty="0"/>
              <a:t> </a:t>
            </a:r>
            <a:r>
              <a:rPr lang="en-US" altLang="es-CL" sz="2400" dirty="0" err="1"/>
              <a:t>tener</a:t>
            </a:r>
            <a:r>
              <a:rPr lang="en-US" altLang="es-CL" sz="2400" dirty="0"/>
              <a:t> </a:t>
            </a:r>
            <a:r>
              <a:rPr lang="en-US" altLang="es-CL" sz="2400" dirty="0" err="1"/>
              <a:t>disponible</a:t>
            </a:r>
            <a:r>
              <a:rPr lang="en-US" altLang="es-CL" sz="2400" dirty="0"/>
              <a:t> </a:t>
            </a:r>
            <a:r>
              <a:rPr lang="en-US" altLang="es-CL" sz="2400" dirty="0" err="1"/>
              <a:t>agentes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que</a:t>
            </a:r>
            <a:r>
              <a:rPr lang="en-US" altLang="es-CL" sz="2400" dirty="0"/>
              <a:t> </a:t>
            </a:r>
            <a:r>
              <a:rPr lang="en-US" altLang="es-CL" sz="2400" dirty="0" err="1"/>
              <a:t>finalmente</a:t>
            </a:r>
            <a:r>
              <a:rPr lang="en-US" altLang="es-CL" sz="2400" dirty="0"/>
              <a:t> </a:t>
            </a:r>
            <a:r>
              <a:rPr lang="en-US" altLang="es-CL" sz="2400" dirty="0" err="1"/>
              <a:t>ejecuten</a:t>
            </a:r>
            <a:r>
              <a:rPr lang="en-US" altLang="es-CL" sz="2400" dirty="0"/>
              <a:t> </a:t>
            </a:r>
            <a:r>
              <a:rPr lang="en-US" altLang="es-CL" sz="2400" dirty="0" err="1"/>
              <a:t>las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tareas</a:t>
            </a:r>
            <a:r>
              <a:rPr lang="en-US" altLang="es-CL" sz="2400" dirty="0"/>
              <a:t>.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s-CL" sz="2400" dirty="0" err="1"/>
              <a:t>Por</a:t>
            </a:r>
            <a:r>
              <a:rPr lang="en-US" altLang="es-CL" sz="2400" dirty="0"/>
              <a:t> </a:t>
            </a:r>
            <a:r>
              <a:rPr lang="en-US" altLang="es-CL" sz="2400" dirty="0" err="1"/>
              <a:t>eso</a:t>
            </a:r>
            <a:r>
              <a:rPr lang="en-US" altLang="es-CL" sz="2400" dirty="0"/>
              <a:t>, </a:t>
            </a:r>
            <a:r>
              <a:rPr lang="en-US" altLang="es-CL" sz="2400" dirty="0" err="1"/>
              <a:t>debemos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necesariamente</a:t>
            </a:r>
            <a:r>
              <a:rPr lang="en-US" altLang="es-CL" sz="2400" dirty="0"/>
              <a:t> </a:t>
            </a:r>
            <a:r>
              <a:rPr lang="en-US" altLang="es-CL" sz="2400" dirty="0" err="1"/>
              <a:t>crear</a:t>
            </a:r>
            <a:r>
              <a:rPr lang="en-US" altLang="es-CL" sz="2400" dirty="0"/>
              <a:t> </a:t>
            </a:r>
            <a:r>
              <a:rPr lang="en-US" altLang="es-CL" sz="2400" dirty="0" err="1"/>
              <a:t>dichos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agentes</a:t>
            </a:r>
            <a:r>
              <a:rPr lang="en-US" altLang="es-CL" sz="2400" dirty="0"/>
              <a:t>, </a:t>
            </a:r>
            <a:r>
              <a:rPr lang="en-US" altLang="es-CL" sz="2400" dirty="0" err="1"/>
              <a:t>usando</a:t>
            </a:r>
            <a:r>
              <a:rPr lang="en-US" altLang="es-CL" sz="2400" dirty="0"/>
              <a:t> un </a:t>
            </a:r>
            <a:r>
              <a:rPr lang="en-US" altLang="es-CL" sz="2400" dirty="0" err="1"/>
              <a:t>enfoque</a:t>
            </a:r>
            <a:r>
              <a:rPr lang="en-US" altLang="es-CL" sz="2400" dirty="0"/>
              <a:t> (</a:t>
            </a:r>
            <a:r>
              <a:rPr lang="en-US" altLang="es-CL" sz="2400" dirty="0" err="1"/>
              <a:t>arquitectura</a:t>
            </a:r>
            <a:r>
              <a:rPr lang="en-US" altLang="es-CL" sz="2400" dirty="0"/>
              <a:t>).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s-CL" sz="2400" dirty="0" err="1"/>
              <a:t>Dicha</a:t>
            </a:r>
            <a:r>
              <a:rPr lang="en-US" altLang="es-CL" sz="2400" dirty="0"/>
              <a:t> </a:t>
            </a:r>
            <a:r>
              <a:rPr lang="en-US" altLang="es-CL" sz="2400" dirty="0" err="1"/>
              <a:t>arquitectura</a:t>
            </a:r>
            <a:r>
              <a:rPr lang="en-US" altLang="es-CL" sz="2400" dirty="0"/>
              <a:t> </a:t>
            </a:r>
            <a:r>
              <a:rPr lang="en-US" altLang="es-CL" sz="2400" dirty="0" err="1"/>
              <a:t>nos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entrega</a:t>
            </a:r>
            <a:r>
              <a:rPr lang="en-US" altLang="es-CL" sz="2400" dirty="0"/>
              <a:t> </a:t>
            </a:r>
            <a:r>
              <a:rPr lang="en-US" altLang="es-CL" sz="2400" dirty="0" err="1"/>
              <a:t>una</a:t>
            </a:r>
            <a:r>
              <a:rPr lang="en-US" altLang="es-CL" sz="2400" dirty="0"/>
              <a:t> forma </a:t>
            </a:r>
            <a:r>
              <a:rPr lang="en-US" altLang="es-CL" sz="2400" dirty="0" err="1"/>
              <a:t>estándar</a:t>
            </a:r>
            <a:r>
              <a:rPr lang="en-US" altLang="es-CL" sz="2400" dirty="0"/>
              <a:t> de </a:t>
            </a:r>
            <a:r>
              <a:rPr lang="en-US" altLang="es-CL" sz="2400" dirty="0" err="1"/>
              <a:t>diseñar</a:t>
            </a:r>
            <a:r>
              <a:rPr lang="en-US" altLang="es-CL" sz="2400" dirty="0"/>
              <a:t> </a:t>
            </a:r>
            <a:r>
              <a:rPr lang="en-US" altLang="es-CL" sz="2400" dirty="0" err="1"/>
              <a:t>dichos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agentes</a:t>
            </a:r>
            <a:r>
              <a:rPr lang="en-US" altLang="es-CL" sz="2400" dirty="0"/>
              <a:t>, </a:t>
            </a:r>
            <a:r>
              <a:rPr lang="en-US" altLang="es-CL" sz="2400" dirty="0" err="1"/>
              <a:t>basándonos</a:t>
            </a:r>
            <a:r>
              <a:rPr lang="en-US" altLang="es-CL" sz="2400" dirty="0"/>
              <a:t> en </a:t>
            </a:r>
            <a:r>
              <a:rPr lang="en-US" altLang="es-CL" sz="2400" dirty="0" err="1"/>
              <a:t>las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tareas</a:t>
            </a:r>
            <a:r>
              <a:rPr lang="en-US" altLang="es-CL" sz="2400" dirty="0"/>
              <a:t> a </a:t>
            </a:r>
            <a:r>
              <a:rPr lang="en-US" altLang="es-CL" sz="2400" dirty="0" err="1"/>
              <a:t>ejecutar</a:t>
            </a:r>
            <a:r>
              <a:rPr lang="en-US" altLang="es-CL" sz="2400" dirty="0"/>
              <a:t> y </a:t>
            </a:r>
            <a:r>
              <a:rPr lang="en-US" altLang="es-CL" sz="2400" dirty="0" err="1"/>
              <a:t>su</a:t>
            </a:r>
            <a:r>
              <a:rPr lang="en-US" altLang="es-CL" sz="2400" dirty="0"/>
              <a:t> </a:t>
            </a:r>
            <a:r>
              <a:rPr lang="en-US" altLang="es-CL" sz="2400" dirty="0" err="1"/>
              <a:t>contexto</a:t>
            </a:r>
            <a:r>
              <a:rPr lang="en-US" altLang="es-CL" sz="2400" dirty="0"/>
              <a:t> y </a:t>
            </a:r>
            <a:r>
              <a:rPr lang="en-US" altLang="es-CL" sz="2400" dirty="0" err="1"/>
              <a:t>requerimientos</a:t>
            </a:r>
            <a:r>
              <a:rPr lang="en-US" altLang="es-CL" sz="2400" dirty="0"/>
              <a:t>.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s-CL" sz="2400" dirty="0" err="1"/>
              <a:t>Veremos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tres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arquitecturas</a:t>
            </a:r>
            <a:r>
              <a:rPr lang="en-US" altLang="es-CL" sz="2400" dirty="0"/>
              <a:t>, </a:t>
            </a:r>
            <a:r>
              <a:rPr lang="en-US" altLang="es-CL" sz="2400" dirty="0" err="1"/>
              <a:t>presentándolas</a:t>
            </a:r>
            <a:r>
              <a:rPr lang="en-US" altLang="es-CL" sz="2400" dirty="0"/>
              <a:t> en </a:t>
            </a:r>
            <a:r>
              <a:rPr lang="en-US" altLang="es-CL" sz="2400" dirty="0" err="1"/>
              <a:t>su</a:t>
            </a:r>
            <a:r>
              <a:rPr lang="en-US" altLang="es-CL" sz="2400" dirty="0"/>
              <a:t> </a:t>
            </a:r>
            <a:r>
              <a:rPr lang="en-US" altLang="es-CL" sz="2400" dirty="0" err="1"/>
              <a:t>contexto</a:t>
            </a:r>
            <a:r>
              <a:rPr lang="en-US" altLang="es-CL" sz="2400" dirty="0"/>
              <a:t> </a:t>
            </a:r>
            <a:r>
              <a:rPr lang="en-US" altLang="es-CL" sz="2400" dirty="0" err="1"/>
              <a:t>histórico</a:t>
            </a:r>
            <a:r>
              <a:rPr lang="en-US" altLang="es-C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990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310DE6-93AF-4ECB-9FEB-413A03D62BE1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Arquitecturas para Agentes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0555" y="1295400"/>
            <a:ext cx="8229600" cy="3810000"/>
          </a:xfrm>
        </p:spPr>
        <p:txBody>
          <a:bodyPr/>
          <a:lstStyle/>
          <a:p>
            <a:pPr eaLnBrk="1" hangingPunct="1"/>
            <a:r>
              <a:rPr lang="en-US" altLang="es-CL" sz="2400" dirty="0" err="1"/>
              <a:t>Tres</a:t>
            </a:r>
            <a:r>
              <a:rPr lang="en-US" altLang="es-CL" sz="2400" dirty="0"/>
              <a:t> </a:t>
            </a:r>
            <a:r>
              <a:rPr lang="en-US" altLang="es-CL" sz="2400" dirty="0" err="1"/>
              <a:t>tipos</a:t>
            </a:r>
            <a:r>
              <a:rPr lang="en-US" altLang="es-CL" sz="2400" dirty="0"/>
              <a:t> de </a:t>
            </a:r>
            <a:r>
              <a:rPr lang="en-US" altLang="es-CL" sz="2400" i="1" dirty="0" err="1">
                <a:solidFill>
                  <a:srgbClr val="003399"/>
                </a:solidFill>
              </a:rPr>
              <a:t>arquitecturas</a:t>
            </a:r>
            <a:r>
              <a:rPr lang="en-US" altLang="es-CL" sz="2400" i="1" dirty="0">
                <a:solidFill>
                  <a:srgbClr val="003399"/>
                </a:solidFill>
              </a:rPr>
              <a:t> de </a:t>
            </a:r>
            <a:r>
              <a:rPr lang="en-US" altLang="es-CL" sz="2400" i="1" dirty="0" err="1">
                <a:solidFill>
                  <a:srgbClr val="003399"/>
                </a:solidFill>
              </a:rPr>
              <a:t>agentes</a:t>
            </a:r>
            <a:r>
              <a:rPr lang="en-US" altLang="es-CL" sz="2400" dirty="0"/>
              <a:t>:</a:t>
            </a:r>
          </a:p>
          <a:p>
            <a:pPr lvl="1" eaLnBrk="1" hangingPunct="1"/>
            <a:r>
              <a:rPr lang="en-US" altLang="es-CL" sz="2400" dirty="0" err="1"/>
              <a:t>Simbólica</a:t>
            </a:r>
            <a:r>
              <a:rPr lang="en-US" altLang="es-CL" sz="2400" dirty="0"/>
              <a:t>/</a:t>
            </a:r>
            <a:r>
              <a:rPr lang="en-US" altLang="es-CL" sz="2400" dirty="0" err="1"/>
              <a:t>lógica</a:t>
            </a:r>
            <a:endParaRPr lang="en-US" altLang="es-CL" sz="2400" dirty="0"/>
          </a:p>
          <a:p>
            <a:pPr lvl="2" eaLnBrk="1" hangingPunct="1">
              <a:buFont typeface="Courier New" panose="02070309020205020404" pitchFamily="49" charset="0"/>
              <a:buChar char="o"/>
            </a:pPr>
            <a:r>
              <a:rPr lang="es-CL" altLang="es-CL" sz="2400" dirty="0"/>
              <a:t>Razonamiento Deductivo </a:t>
            </a:r>
          </a:p>
          <a:p>
            <a:pPr lvl="2" eaLnBrk="1" hangingPunct="1">
              <a:buFont typeface="Courier New" panose="02070309020205020404" pitchFamily="49" charset="0"/>
              <a:buChar char="o"/>
            </a:pPr>
            <a:r>
              <a:rPr lang="es-CL" altLang="es-CL" sz="2400" dirty="0"/>
              <a:t>Razonamiento Práctico (BDI)</a:t>
            </a:r>
            <a:br>
              <a:rPr lang="es-CL" altLang="es-CL" sz="2400" dirty="0"/>
            </a:br>
            <a:endParaRPr lang="en-US" altLang="es-CL" sz="2400" dirty="0"/>
          </a:p>
          <a:p>
            <a:pPr lvl="1" eaLnBrk="1" hangingPunct="1"/>
            <a:r>
              <a:rPr lang="en-US" altLang="es-CL" sz="2400" dirty="0" err="1"/>
              <a:t>Reactiva</a:t>
            </a:r>
            <a:br>
              <a:rPr lang="en-US" altLang="es-CL" sz="2400" dirty="0"/>
            </a:br>
            <a:endParaRPr lang="en-US" altLang="es-CL" sz="2400" dirty="0"/>
          </a:p>
          <a:p>
            <a:pPr lvl="1" eaLnBrk="1" hangingPunct="1"/>
            <a:r>
              <a:rPr lang="en-US" altLang="es-CL" sz="2400" dirty="0" err="1"/>
              <a:t>Híbrida</a:t>
            </a:r>
            <a:endParaRPr lang="en-US" altLang="es-CL" sz="2400" dirty="0"/>
          </a:p>
        </p:txBody>
      </p:sp>
    </p:spTree>
    <p:extLst>
      <p:ext uri="{BB962C8B-B14F-4D97-AF65-F5344CB8AC3E}">
        <p14:creationId xmlns:p14="http://schemas.microsoft.com/office/powerpoint/2010/main" val="100114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90E4B6-DCD3-435B-BD39-FDB76045B2C0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344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Originalmente</a:t>
            </a:r>
            <a:r>
              <a:rPr lang="en-US" altLang="es-CL" sz="2000" dirty="0"/>
              <a:t> (1956 -1985), la </a:t>
            </a:r>
            <a:r>
              <a:rPr lang="en-US" altLang="es-CL" sz="2000" dirty="0" err="1"/>
              <a:t>mayoría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diseñados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la IA </a:t>
            </a:r>
            <a:r>
              <a:rPr lang="en-US" altLang="es-CL" sz="2000" dirty="0" err="1"/>
              <a:t>eran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razonadores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simbólicos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Se </a:t>
            </a:r>
            <a:r>
              <a:rPr lang="en-US" altLang="es-CL" sz="2000" dirty="0" err="1"/>
              <a:t>proponía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usaran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razonamiento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lógico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explícito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decidir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qué</a:t>
            </a:r>
            <a:r>
              <a:rPr lang="en-US" altLang="es-CL" sz="2000" dirty="0"/>
              <a:t> </a:t>
            </a:r>
            <a:r>
              <a:rPr lang="en-US" altLang="es-CL" sz="2000" dirty="0" err="1"/>
              <a:t>hacer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Problemas</a:t>
            </a:r>
            <a:r>
              <a:rPr lang="en-US" altLang="es-CL" sz="2000" dirty="0"/>
              <a:t> con el </a:t>
            </a:r>
            <a:r>
              <a:rPr lang="en-US" altLang="es-CL" sz="2000" dirty="0" err="1"/>
              <a:t>razonamiento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simbólico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llevaron</a:t>
            </a:r>
            <a:r>
              <a:rPr lang="en-US" altLang="es-CL" sz="2000" dirty="0"/>
              <a:t> a un </a:t>
            </a:r>
            <a:r>
              <a:rPr lang="en-US" altLang="es-CL" sz="2000" dirty="0" err="1"/>
              <a:t>movimiento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contra de </a:t>
            </a:r>
            <a:r>
              <a:rPr lang="en-US" altLang="es-CL" sz="2000" dirty="0" err="1"/>
              <a:t>eso</a:t>
            </a:r>
            <a:r>
              <a:rPr lang="en-US" altLang="es-CL" sz="2000" dirty="0"/>
              <a:t>  (1985 - ) </a:t>
            </a:r>
            <a:r>
              <a:rPr lang="en-US" altLang="es-CL" sz="2000" dirty="0" err="1"/>
              <a:t>llamado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movimiento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reactivos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Desde</a:t>
            </a:r>
            <a:r>
              <a:rPr lang="en-US" altLang="es-CL" sz="2000" dirty="0"/>
              <a:t> 1990 al </a:t>
            </a:r>
            <a:r>
              <a:rPr lang="en-US" altLang="es-CL" sz="2000" dirty="0" err="1"/>
              <a:t>presente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aparecieron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serie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alternativas</a:t>
            </a:r>
            <a:r>
              <a:rPr lang="en-US" altLang="es-CL" sz="2000" dirty="0"/>
              <a:t>: </a:t>
            </a:r>
            <a:r>
              <a:rPr lang="en-US" altLang="es-CL" sz="2000" dirty="0" err="1"/>
              <a:t>arquitecturas</a:t>
            </a:r>
            <a:r>
              <a:rPr lang="en-US" altLang="es-CL" sz="2000" dirty="0"/>
              <a:t> </a:t>
            </a:r>
            <a:r>
              <a:rPr lang="en-US" altLang="es-CL" sz="2000" i="1" dirty="0" err="1">
                <a:solidFill>
                  <a:srgbClr val="0070C0"/>
                </a:solidFill>
              </a:rPr>
              <a:t>híbridas</a:t>
            </a:r>
            <a:r>
              <a:rPr lang="en-US" altLang="es-CL" sz="2000" dirty="0"/>
              <a:t>, que </a:t>
            </a:r>
            <a:r>
              <a:rPr lang="en-US" altLang="es-CL" sz="2000" dirty="0" err="1"/>
              <a:t>tratan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combinar</a:t>
            </a:r>
            <a:r>
              <a:rPr lang="en-US" altLang="es-CL" sz="2000" dirty="0"/>
              <a:t> lo </a:t>
            </a:r>
            <a:r>
              <a:rPr lang="en-US" altLang="es-CL" sz="2000" dirty="0" err="1"/>
              <a:t>mejor</a:t>
            </a:r>
            <a:r>
              <a:rPr lang="en-US" altLang="es-CL" sz="2000" dirty="0"/>
              <a:t> de las </a:t>
            </a:r>
            <a:r>
              <a:rPr lang="en-US" altLang="es-CL" sz="2000" dirty="0" err="1"/>
              <a:t>arquitecturas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razonamiento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reactivas</a:t>
            </a:r>
            <a:endParaRPr lang="en-US" altLang="es-CL" sz="2000" dirty="0"/>
          </a:p>
        </p:txBody>
      </p:sp>
      <p:sp>
        <p:nvSpPr>
          <p:cNvPr id="8196" name="Rectangle 102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s-CL"/>
              <a:t>Arquitecturas para Agentes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252D31-C061-4E47-A49A-33D628470A27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Razonadores</a:t>
            </a:r>
            <a:r>
              <a:rPr lang="en-US" altLang="es-CL" dirty="0"/>
              <a:t> </a:t>
            </a:r>
            <a:r>
              <a:rPr lang="en-US" altLang="es-CL" dirty="0" err="1"/>
              <a:t>Simbólicos</a:t>
            </a:r>
            <a:endParaRPr lang="en-US" altLang="es-CL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5569"/>
            <a:ext cx="8229600" cy="149763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Definimos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deductivo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arquitectura</a:t>
            </a:r>
            <a:r>
              <a:rPr lang="en-US" altLang="es-CL" sz="2000" dirty="0"/>
              <a:t> que:</a:t>
            </a:r>
            <a:br>
              <a:rPr lang="en-US" altLang="es-CL" sz="2000" dirty="0"/>
            </a:br>
            <a:endParaRPr lang="en-US" altLang="es-CL" sz="2000" dirty="0"/>
          </a:p>
          <a:p>
            <a:pPr marL="801687" lvl="1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s-CL" sz="2000" dirty="0" err="1"/>
              <a:t>Contiene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modelo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representa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explícita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simbólicamente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mundo</a:t>
            </a:r>
            <a:endParaRPr lang="en-US" altLang="es-CL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191000"/>
            <a:ext cx="1676400" cy="16764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038600"/>
            <a:ext cx="1828800" cy="18288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055" y="4155633"/>
            <a:ext cx="1686689" cy="1686689"/>
          </a:xfrm>
          <a:prstGeom prst="rect">
            <a:avLst/>
          </a:prstGeom>
        </p:spPr>
      </p:pic>
      <p:sp>
        <p:nvSpPr>
          <p:cNvPr id="6" name="Llamada de nube 5"/>
          <p:cNvSpPr/>
          <p:nvPr/>
        </p:nvSpPr>
        <p:spPr>
          <a:xfrm>
            <a:off x="1463876" y="2915635"/>
            <a:ext cx="1244600" cy="612648"/>
          </a:xfrm>
          <a:prstGeom prst="cloudCallout">
            <a:avLst>
              <a:gd name="adj1" fmla="val -48242"/>
              <a:gd name="adj2" fmla="val 15507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Vaso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Llamada de nube 9"/>
          <p:cNvSpPr/>
          <p:nvPr/>
        </p:nvSpPr>
        <p:spPr>
          <a:xfrm>
            <a:off x="3505200" y="2875946"/>
            <a:ext cx="1981200" cy="857853"/>
          </a:xfrm>
          <a:prstGeom prst="cloudCallout">
            <a:avLst>
              <a:gd name="adj1" fmla="val -19615"/>
              <a:gd name="adj2" fmla="val 9705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Jarro con agua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Llamada de nube 10"/>
          <p:cNvSpPr/>
          <p:nvPr/>
        </p:nvSpPr>
        <p:spPr>
          <a:xfrm>
            <a:off x="6153873" y="2793032"/>
            <a:ext cx="1981200" cy="857853"/>
          </a:xfrm>
          <a:prstGeom prst="cloudCallout">
            <a:avLst>
              <a:gd name="adj1" fmla="val -19615"/>
              <a:gd name="adj2" fmla="val 9705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Tomar agua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252D31-C061-4E47-A49A-33D628470A27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Agentes Razonadores Simbólicos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Definimos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deductivo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arquitectura</a:t>
            </a:r>
            <a:r>
              <a:rPr lang="en-US" altLang="es-CL" sz="2000" dirty="0"/>
              <a:t> que:</a:t>
            </a:r>
            <a:br>
              <a:rPr lang="en-US" altLang="es-CL" sz="2000" dirty="0"/>
            </a:br>
            <a:endParaRPr lang="en-US" altLang="es-CL" sz="2000" dirty="0"/>
          </a:p>
          <a:p>
            <a:pPr marL="801687" lvl="1" indent="-457200" eaLnBrk="1" hangingPunct="1">
              <a:lnSpc>
                <a:spcPct val="90000"/>
              </a:lnSpc>
              <a:buFont typeface="+mj-lt"/>
              <a:buAutoNum type="arabicPeriod" startAt="2"/>
            </a:pPr>
            <a:r>
              <a:rPr lang="en-US" altLang="es-CL" sz="2000" dirty="0" err="1"/>
              <a:t>Toma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decisiones</a:t>
            </a:r>
            <a:r>
              <a:rPr lang="en-US" altLang="es-CL" sz="2000" dirty="0"/>
              <a:t> (p. </a:t>
            </a:r>
            <a:r>
              <a:rPr lang="en-US" altLang="es-CL" sz="2000" dirty="0" err="1"/>
              <a:t>ej</a:t>
            </a:r>
            <a:r>
              <a:rPr lang="en-US" altLang="es-CL" sz="2000" dirty="0"/>
              <a:t>. </a:t>
            </a:r>
            <a:r>
              <a:rPr lang="en-US" altLang="es-CL" sz="2000" dirty="0" err="1"/>
              <a:t>qué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acciones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ejecutar</a:t>
            </a:r>
            <a:r>
              <a:rPr lang="en-US" altLang="es-CL" sz="2000" dirty="0"/>
              <a:t>) a </a:t>
            </a:r>
            <a:r>
              <a:rPr lang="en-US" altLang="es-CL" sz="2000" dirty="0" err="1"/>
              <a:t>través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razonamiento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simbólico</a:t>
            </a:r>
            <a:endParaRPr lang="en-US" altLang="es-CL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02"/>
          <a:stretch/>
        </p:blipFill>
        <p:spPr>
          <a:xfrm>
            <a:off x="3352800" y="2895600"/>
            <a:ext cx="4038600" cy="2734601"/>
          </a:xfrm>
          <a:prstGeom prst="rect">
            <a:avLst/>
          </a:prstGeom>
        </p:spPr>
      </p:pic>
      <p:sp>
        <p:nvSpPr>
          <p:cNvPr id="9" name="Llamada de nube 8"/>
          <p:cNvSpPr/>
          <p:nvPr/>
        </p:nvSpPr>
        <p:spPr>
          <a:xfrm>
            <a:off x="838200" y="3102687"/>
            <a:ext cx="1143000" cy="404610"/>
          </a:xfrm>
          <a:prstGeom prst="cloudCallout">
            <a:avLst>
              <a:gd name="adj1" fmla="val 2391"/>
              <a:gd name="adj2" fmla="val 4064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Vaso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Llamada de nube 9"/>
          <p:cNvSpPr/>
          <p:nvPr/>
        </p:nvSpPr>
        <p:spPr>
          <a:xfrm>
            <a:off x="544009" y="3875550"/>
            <a:ext cx="1881530" cy="774701"/>
          </a:xfrm>
          <a:prstGeom prst="cloudCallout">
            <a:avLst>
              <a:gd name="adj1" fmla="val 3762"/>
              <a:gd name="adj2" fmla="val 3729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Jarro con agua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Llamada de nube 10"/>
          <p:cNvSpPr/>
          <p:nvPr/>
        </p:nvSpPr>
        <p:spPr>
          <a:xfrm>
            <a:off x="641246" y="4772586"/>
            <a:ext cx="1807703" cy="857615"/>
          </a:xfrm>
          <a:prstGeom prst="cloudCallout">
            <a:avLst>
              <a:gd name="adj1" fmla="val 2795"/>
              <a:gd name="adj2" fmla="val 41723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Tomar agua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179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306B1E-F57D-4E1D-827B-0716135DA3C5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1981200"/>
          </a:xfrm>
        </p:spPr>
        <p:txBody>
          <a:bodyPr/>
          <a:lstStyle/>
          <a:p>
            <a:pPr marL="400050" indent="-400050" eaLnBrk="1" hangingPunct="1">
              <a:lnSpc>
                <a:spcPct val="90000"/>
              </a:lnSpc>
            </a:pPr>
            <a:r>
              <a:rPr lang="en-US" altLang="es-CL" sz="2000" dirty="0"/>
              <a:t>Si </a:t>
            </a:r>
            <a:r>
              <a:rPr lang="en-US" altLang="es-CL" sz="2000" dirty="0" err="1"/>
              <a:t>intentamos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construir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esa</a:t>
            </a:r>
            <a:r>
              <a:rPr lang="en-US" altLang="es-CL" sz="2000" dirty="0"/>
              <a:t> forma, </a:t>
            </a:r>
            <a:r>
              <a:rPr lang="en-US" altLang="es-CL" sz="2000" dirty="0" err="1"/>
              <a:t>debemos</a:t>
            </a:r>
            <a:r>
              <a:rPr lang="en-US" altLang="es-CL" sz="2000" dirty="0"/>
              <a:t> resolver </a:t>
            </a:r>
            <a:r>
              <a:rPr lang="en-US" altLang="es-CL" sz="2000" dirty="0" err="1"/>
              <a:t>varios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problemas</a:t>
            </a:r>
            <a:r>
              <a:rPr lang="en-US" altLang="es-CL" sz="2000" dirty="0"/>
              <a:t>:</a:t>
            </a:r>
            <a:br>
              <a:rPr lang="en-US" altLang="es-CL" sz="2000" dirty="0"/>
            </a:br>
            <a:endParaRPr lang="en-US" altLang="es-CL" sz="2000" dirty="0"/>
          </a:p>
          <a:p>
            <a:pPr marL="400050" indent="-40005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s-CL" sz="2000" i="1" dirty="0">
                <a:solidFill>
                  <a:srgbClr val="003399"/>
                </a:solidFill>
              </a:rPr>
              <a:t>El </a:t>
            </a:r>
            <a:r>
              <a:rPr lang="en-US" altLang="es-CL" sz="2000" i="1" dirty="0" err="1">
                <a:solidFill>
                  <a:srgbClr val="003399"/>
                </a:solidFill>
              </a:rPr>
              <a:t>problema</a:t>
            </a:r>
            <a:r>
              <a:rPr lang="en-US" altLang="es-CL" sz="2000" i="1" dirty="0">
                <a:solidFill>
                  <a:srgbClr val="003399"/>
                </a:solidFill>
              </a:rPr>
              <a:t> de </a:t>
            </a:r>
            <a:r>
              <a:rPr lang="en-US" altLang="es-CL" sz="2000" i="1" dirty="0" err="1">
                <a:solidFill>
                  <a:srgbClr val="003399"/>
                </a:solidFill>
              </a:rPr>
              <a:t>transducción</a:t>
            </a:r>
            <a:r>
              <a:rPr lang="en-US" altLang="es-CL" sz="2000" dirty="0"/>
              <a:t>:</a:t>
            </a:r>
            <a:br>
              <a:rPr lang="en-US" altLang="es-CL" sz="2000" dirty="0"/>
            </a:br>
            <a:r>
              <a:rPr lang="en-US" altLang="es-CL" sz="2000" dirty="0" err="1"/>
              <a:t>trasladar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real a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descripción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simbólica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adecuada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precisa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lapso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tiempo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adecuado</a:t>
            </a:r>
            <a:r>
              <a:rPr lang="en-US" altLang="es-CL" sz="2000" dirty="0"/>
              <a:t> para que sea </a:t>
            </a:r>
            <a:r>
              <a:rPr lang="en-US" altLang="es-CL" sz="2000" dirty="0" err="1"/>
              <a:t>útil</a:t>
            </a:r>
            <a:r>
              <a:rPr lang="en-US" altLang="es-CL" sz="2000" dirty="0"/>
              <a:t>. </a:t>
            </a:r>
            <a:r>
              <a:rPr lang="en-US" altLang="es-CL" sz="2000" dirty="0" err="1"/>
              <a:t>Ejemplos</a:t>
            </a:r>
            <a:r>
              <a:rPr lang="en-US" altLang="es-CL" sz="2000" dirty="0"/>
              <a:t>: </a:t>
            </a:r>
            <a:r>
              <a:rPr lang="en-US" altLang="es-CL" sz="2000" dirty="0" err="1"/>
              <a:t>visión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reconocimiento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voz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aprendizaje</a:t>
            </a:r>
            <a:br>
              <a:rPr lang="en-US" altLang="es-CL" sz="2000" dirty="0"/>
            </a:br>
            <a:endParaRPr lang="en-US" altLang="es-CL" sz="2000" dirty="0"/>
          </a:p>
        </p:txBody>
      </p:sp>
      <p:sp>
        <p:nvSpPr>
          <p:cNvPr id="10244" name="Rectangle 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s-CL"/>
              <a:t>Agentes Razonadores Simbólicos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27" y="5031059"/>
            <a:ext cx="1141141" cy="114114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727" y="4878659"/>
            <a:ext cx="1244881" cy="12448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382" y="4995692"/>
            <a:ext cx="1148145" cy="1148145"/>
          </a:xfrm>
          <a:prstGeom prst="rect">
            <a:avLst/>
          </a:prstGeom>
        </p:spPr>
      </p:pic>
      <p:sp>
        <p:nvSpPr>
          <p:cNvPr id="8" name="Llamada de nube 7"/>
          <p:cNvSpPr/>
          <p:nvPr/>
        </p:nvSpPr>
        <p:spPr>
          <a:xfrm>
            <a:off x="1206691" y="3793321"/>
            <a:ext cx="847211" cy="400335"/>
          </a:xfrm>
          <a:prstGeom prst="cloudCallout">
            <a:avLst>
              <a:gd name="adj1" fmla="val 942"/>
              <a:gd name="adj2" fmla="val 33643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Vaso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Llamada de nube 8"/>
          <p:cNvSpPr/>
          <p:nvPr/>
        </p:nvSpPr>
        <p:spPr>
          <a:xfrm>
            <a:off x="3495987" y="3612880"/>
            <a:ext cx="1348621" cy="643478"/>
          </a:xfrm>
          <a:prstGeom prst="cloudCallout">
            <a:avLst>
              <a:gd name="adj1" fmla="val 6991"/>
              <a:gd name="adj2" fmla="val 3050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Jarro con agua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Llamada de nube 9"/>
          <p:cNvSpPr/>
          <p:nvPr/>
        </p:nvSpPr>
        <p:spPr>
          <a:xfrm>
            <a:off x="6365906" y="3648527"/>
            <a:ext cx="1348621" cy="560564"/>
          </a:xfrm>
          <a:prstGeom prst="cloudCallout">
            <a:avLst>
              <a:gd name="adj1" fmla="val 1841"/>
              <a:gd name="adj2" fmla="val 2685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Tomar agua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Flecha arriba 1"/>
          <p:cNvSpPr/>
          <p:nvPr/>
        </p:nvSpPr>
        <p:spPr>
          <a:xfrm>
            <a:off x="1215702" y="4256358"/>
            <a:ext cx="838200" cy="739334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tx1"/>
                </a:solidFill>
              </a:rPr>
              <a:t>Tr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lecha arriba 11"/>
          <p:cNvSpPr/>
          <p:nvPr/>
        </p:nvSpPr>
        <p:spPr>
          <a:xfrm>
            <a:off x="3810000" y="4266323"/>
            <a:ext cx="838200" cy="739334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tx1"/>
                </a:solidFill>
              </a:rPr>
              <a:t>Tr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lecha arriba 12"/>
          <p:cNvSpPr/>
          <p:nvPr/>
        </p:nvSpPr>
        <p:spPr>
          <a:xfrm>
            <a:off x="6629400" y="4266323"/>
            <a:ext cx="838200" cy="739334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tx1"/>
                </a:solidFill>
              </a:rPr>
              <a:t>Tr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306B1E-F57D-4E1D-827B-0716135DA3C5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2743200"/>
          </a:xfrm>
        </p:spPr>
        <p:txBody>
          <a:bodyPr/>
          <a:lstStyle/>
          <a:p>
            <a:pPr marL="400050" indent="-400050" eaLnBrk="1" hangingPunct="1">
              <a:lnSpc>
                <a:spcPct val="90000"/>
              </a:lnSpc>
            </a:pPr>
            <a:r>
              <a:rPr lang="en-US" altLang="es-CL" sz="2000" dirty="0"/>
              <a:t>Si </a:t>
            </a:r>
            <a:r>
              <a:rPr lang="en-US" altLang="es-CL" sz="2000" dirty="0" err="1"/>
              <a:t>intentamos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construir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esa</a:t>
            </a:r>
            <a:r>
              <a:rPr lang="en-US" altLang="es-CL" sz="2000" dirty="0"/>
              <a:t> forma, </a:t>
            </a:r>
            <a:r>
              <a:rPr lang="en-US" altLang="es-CL" sz="2000" dirty="0" err="1"/>
              <a:t>debemos</a:t>
            </a:r>
            <a:r>
              <a:rPr lang="en-US" altLang="es-CL" sz="2000" dirty="0"/>
              <a:t> resolver </a:t>
            </a:r>
            <a:r>
              <a:rPr lang="en-US" altLang="es-CL" sz="2000" dirty="0" err="1"/>
              <a:t>varios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problemas</a:t>
            </a:r>
            <a:r>
              <a:rPr lang="en-US" altLang="es-CL" sz="2000" dirty="0"/>
              <a:t>:</a:t>
            </a:r>
            <a:br>
              <a:rPr lang="en-US" altLang="es-CL" sz="2000" dirty="0"/>
            </a:br>
            <a:endParaRPr lang="en-US" altLang="es-CL" sz="2000" dirty="0"/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 startAt="2"/>
            </a:pPr>
            <a:r>
              <a:rPr lang="en-US" altLang="es-CL" sz="2000" i="1" dirty="0">
                <a:solidFill>
                  <a:srgbClr val="003399"/>
                </a:solidFill>
              </a:rPr>
              <a:t>El </a:t>
            </a:r>
            <a:r>
              <a:rPr lang="en-US" altLang="es-CL" sz="2000" i="1" dirty="0" err="1">
                <a:solidFill>
                  <a:srgbClr val="003399"/>
                </a:solidFill>
              </a:rPr>
              <a:t>problema</a:t>
            </a:r>
            <a:r>
              <a:rPr lang="en-US" altLang="es-CL" sz="2000" i="1" dirty="0">
                <a:solidFill>
                  <a:srgbClr val="003399"/>
                </a:solidFill>
              </a:rPr>
              <a:t> de </a:t>
            </a:r>
            <a:r>
              <a:rPr lang="en-US" altLang="es-CL" sz="2000" i="1" dirty="0" err="1">
                <a:solidFill>
                  <a:srgbClr val="003399"/>
                </a:solidFill>
              </a:rPr>
              <a:t>representación</a:t>
            </a:r>
            <a:r>
              <a:rPr lang="en-US" altLang="es-CL" sz="2000" i="1" dirty="0">
                <a:solidFill>
                  <a:srgbClr val="003399"/>
                </a:solidFill>
              </a:rPr>
              <a:t>/</a:t>
            </a:r>
            <a:r>
              <a:rPr lang="en-US" altLang="es-CL" sz="2000" i="1" dirty="0" err="1">
                <a:solidFill>
                  <a:srgbClr val="003399"/>
                </a:solidFill>
              </a:rPr>
              <a:t>razonamiento</a:t>
            </a:r>
            <a:r>
              <a:rPr lang="en-US" altLang="es-CL" sz="2000" dirty="0"/>
              <a:t>:</a:t>
            </a:r>
            <a:br>
              <a:rPr lang="en-US" altLang="es-CL" sz="2000" dirty="0"/>
            </a:br>
            <a:r>
              <a:rPr lang="en-US" altLang="es-CL" sz="2000" dirty="0" err="1"/>
              <a:t>cómo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representar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simbólicamente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información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entidades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procesos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complejos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real, y </a:t>
            </a:r>
            <a:r>
              <a:rPr lang="en-US" altLang="es-CL" sz="2000" dirty="0" err="1"/>
              <a:t>cómo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hacer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razonen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usando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información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lapso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tiempo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adecuado</a:t>
            </a:r>
            <a:r>
              <a:rPr lang="en-US" altLang="es-CL" sz="2000" dirty="0"/>
              <a:t> para que sea </a:t>
            </a:r>
            <a:r>
              <a:rPr lang="en-US" altLang="es-CL" sz="2000" dirty="0" err="1"/>
              <a:t>útil</a:t>
            </a:r>
            <a:r>
              <a:rPr lang="en-US" altLang="es-CL" sz="2000" dirty="0"/>
              <a:t>. </a:t>
            </a:r>
            <a:r>
              <a:rPr lang="en-US" altLang="es-CL" sz="2000" dirty="0" err="1"/>
              <a:t>Ejemplos</a:t>
            </a:r>
            <a:r>
              <a:rPr lang="en-US" altLang="es-CL" sz="2000" dirty="0"/>
              <a:t>: </a:t>
            </a:r>
            <a:r>
              <a:rPr lang="en-US" altLang="es-CL" sz="2000" dirty="0" err="1"/>
              <a:t>representación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conocimiento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razonamiento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automático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planificación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automática</a:t>
            </a:r>
            <a:endParaRPr lang="en-US" altLang="es-CL" sz="2000" dirty="0"/>
          </a:p>
        </p:txBody>
      </p:sp>
      <p:sp>
        <p:nvSpPr>
          <p:cNvPr id="10244" name="Rectangle 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Razonadores</a:t>
            </a:r>
            <a:r>
              <a:rPr lang="en-US" altLang="es-CL" dirty="0"/>
              <a:t> </a:t>
            </a:r>
            <a:r>
              <a:rPr lang="en-US" altLang="es-CL" dirty="0" err="1"/>
              <a:t>Simbólicos</a:t>
            </a:r>
            <a:endParaRPr lang="en-US" altLang="es-CL" dirty="0"/>
          </a:p>
        </p:txBody>
      </p:sp>
      <p:sp>
        <p:nvSpPr>
          <p:cNvPr id="5" name="Llamada de nube 4"/>
          <p:cNvSpPr/>
          <p:nvPr/>
        </p:nvSpPr>
        <p:spPr>
          <a:xfrm>
            <a:off x="1143000" y="4601585"/>
            <a:ext cx="847211" cy="400335"/>
          </a:xfrm>
          <a:prstGeom prst="cloudCallout">
            <a:avLst>
              <a:gd name="adj1" fmla="val -7256"/>
              <a:gd name="adj2" fmla="val 33643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Vaso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Llamada de nube 5"/>
          <p:cNvSpPr/>
          <p:nvPr/>
        </p:nvSpPr>
        <p:spPr>
          <a:xfrm>
            <a:off x="892294" y="5223922"/>
            <a:ext cx="1348621" cy="643478"/>
          </a:xfrm>
          <a:prstGeom prst="cloudCallout">
            <a:avLst>
              <a:gd name="adj1" fmla="val -2450"/>
              <a:gd name="adj2" fmla="val 3769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Jarro con agua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Llamada de nube 6"/>
          <p:cNvSpPr/>
          <p:nvPr/>
        </p:nvSpPr>
        <p:spPr>
          <a:xfrm>
            <a:off x="4724400" y="4920099"/>
            <a:ext cx="1348621" cy="560564"/>
          </a:xfrm>
          <a:prstGeom prst="cloudCallout">
            <a:avLst>
              <a:gd name="adj1" fmla="val -4166"/>
              <a:gd name="adj2" fmla="val 3717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Tomar agua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Cerrar llave 1"/>
          <p:cNvSpPr/>
          <p:nvPr/>
        </p:nvSpPr>
        <p:spPr>
          <a:xfrm>
            <a:off x="2438400" y="4601585"/>
            <a:ext cx="228600" cy="126581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2891493" y="4772827"/>
            <a:ext cx="1680507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CL" dirty="0"/>
              <a:t>Acción: agarro jarro y lleno el vaso con agua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6553200" y="4873444"/>
            <a:ext cx="21336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CL" dirty="0"/>
              <a:t>Acción: agarro vaso y tomo agua</a:t>
            </a:r>
            <a:endParaRPr lang="en-US" dirty="0"/>
          </a:p>
        </p:txBody>
      </p:sp>
      <p:sp>
        <p:nvSpPr>
          <p:cNvPr id="11" name="Cerrar llave 10"/>
          <p:cNvSpPr/>
          <p:nvPr/>
        </p:nvSpPr>
        <p:spPr>
          <a:xfrm>
            <a:off x="6141980" y="4601585"/>
            <a:ext cx="228600" cy="126581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28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12019C-B3ED-44B8-B091-8D8789412178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Razonadores</a:t>
            </a:r>
            <a:r>
              <a:rPr lang="en-US" altLang="es-CL" dirty="0"/>
              <a:t> </a:t>
            </a:r>
            <a:r>
              <a:rPr lang="en-US" altLang="es-CL" dirty="0" err="1"/>
              <a:t>Simbólicos</a:t>
            </a:r>
            <a:endParaRPr lang="en-US" altLang="es-CL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¿</a:t>
            </a:r>
            <a:r>
              <a:rPr lang="en-US" altLang="es-CL" sz="2000" dirty="0" err="1"/>
              <a:t>Cómo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decidir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qué</a:t>
            </a:r>
            <a:r>
              <a:rPr lang="en-US" altLang="es-CL" sz="2000" dirty="0"/>
              <a:t> </a:t>
            </a:r>
            <a:r>
              <a:rPr lang="en-US" altLang="es-CL" sz="2000" dirty="0" err="1"/>
              <a:t>hacer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usando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deducción</a:t>
            </a:r>
            <a:r>
              <a:rPr lang="en-US" altLang="es-CL" sz="2000" dirty="0"/>
              <a:t>?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La idea </a:t>
            </a:r>
            <a:r>
              <a:rPr lang="en-US" altLang="es-CL" sz="2000" dirty="0" err="1"/>
              <a:t>básica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usar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lógica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codificar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teoría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estipule</a:t>
            </a:r>
            <a:r>
              <a:rPr lang="en-US" altLang="es-CL" sz="2000" dirty="0"/>
              <a:t> la </a:t>
            </a:r>
            <a:r>
              <a:rPr lang="en-US" altLang="es-CL" sz="2000" dirty="0" err="1"/>
              <a:t>mejor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acción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realizar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situación</a:t>
            </a:r>
            <a:r>
              <a:rPr lang="en-US" altLang="es-CL" sz="2000" dirty="0"/>
              <a:t> particular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Sea:</a:t>
            </a:r>
          </a:p>
          <a:p>
            <a:pPr lvl="1" eaLnBrk="1" hangingPunct="1"/>
            <a:r>
              <a:rPr lang="en-US" altLang="es-CL" sz="2000" dirty="0">
                <a:sym typeface="Symbol" panose="05050102010706020507" pitchFamily="18" charset="2"/>
              </a:rPr>
              <a:t> </a:t>
            </a:r>
            <a:r>
              <a:rPr lang="en-US" altLang="es-CL" sz="2000" dirty="0" err="1">
                <a:sym typeface="Symbol" panose="05050102010706020507" pitchFamily="18" charset="2"/>
              </a:rPr>
              <a:t>esa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teoría</a:t>
            </a:r>
            <a:r>
              <a:rPr lang="en-US" altLang="es-CL" sz="2000" dirty="0">
                <a:sym typeface="Symbol" panose="05050102010706020507" pitchFamily="18" charset="2"/>
              </a:rPr>
              <a:t> (</a:t>
            </a:r>
            <a:r>
              <a:rPr lang="en-US" altLang="es-CL" sz="2000" dirty="0" err="1">
                <a:sym typeface="Symbol" panose="05050102010706020507" pitchFamily="18" charset="2"/>
              </a:rPr>
              <a:t>típicamente</a:t>
            </a:r>
            <a:r>
              <a:rPr lang="en-US" altLang="es-CL" sz="2000" dirty="0">
                <a:sym typeface="Symbol" panose="05050102010706020507" pitchFamily="18" charset="2"/>
              </a:rPr>
              <a:t>  un </a:t>
            </a:r>
            <a:r>
              <a:rPr lang="en-US" altLang="es-CL" sz="2000" dirty="0" err="1">
                <a:sym typeface="Symbol" panose="05050102010706020507" pitchFamily="18" charset="2"/>
              </a:rPr>
              <a:t>conjunto</a:t>
            </a:r>
            <a:r>
              <a:rPr lang="en-US" altLang="es-CL" sz="2000" dirty="0">
                <a:sym typeface="Symbol" panose="05050102010706020507" pitchFamily="18" charset="2"/>
              </a:rPr>
              <a:t> de </a:t>
            </a:r>
            <a:r>
              <a:rPr lang="en-US" altLang="es-CL" sz="2000" dirty="0" err="1">
                <a:sym typeface="Symbol" panose="05050102010706020507" pitchFamily="18" charset="2"/>
              </a:rPr>
              <a:t>reglas</a:t>
            </a:r>
            <a:r>
              <a:rPr lang="en-US" altLang="es-CL" sz="2000" dirty="0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s-CL" sz="2000" dirty="0">
                <a:sym typeface="Symbol" panose="05050102010706020507" pitchFamily="18" charset="2"/>
              </a:rPr>
              <a:t> </a:t>
            </a:r>
            <a:r>
              <a:rPr lang="en-US" altLang="es-CL" sz="2000" dirty="0" err="1">
                <a:sym typeface="Symbol" panose="05050102010706020507" pitchFamily="18" charset="2"/>
              </a:rPr>
              <a:t>una</a:t>
            </a:r>
            <a:r>
              <a:rPr lang="en-US" altLang="es-CL" sz="2000" dirty="0">
                <a:sym typeface="Symbol" panose="05050102010706020507" pitchFamily="18" charset="2"/>
              </a:rPr>
              <a:t> BBDD </a:t>
            </a:r>
            <a:r>
              <a:rPr lang="en-US" altLang="es-CL" sz="2000" dirty="0" err="1">
                <a:sym typeface="Symbol" panose="05050102010706020507" pitchFamily="18" charset="2"/>
              </a:rPr>
              <a:t>lógica</a:t>
            </a:r>
            <a:r>
              <a:rPr lang="en-US" altLang="es-CL" sz="2000" dirty="0">
                <a:sym typeface="Symbol" panose="05050102010706020507" pitchFamily="18" charset="2"/>
              </a:rPr>
              <a:t> que describe el </a:t>
            </a:r>
            <a:r>
              <a:rPr lang="en-US" altLang="es-CL" sz="2000" dirty="0" err="1">
                <a:sym typeface="Symbol" panose="05050102010706020507" pitchFamily="18" charset="2"/>
              </a:rPr>
              <a:t>estado</a:t>
            </a:r>
            <a:r>
              <a:rPr lang="en-US" altLang="es-CL" sz="2000" dirty="0">
                <a:sym typeface="Symbol" panose="05050102010706020507" pitchFamily="18" charset="2"/>
              </a:rPr>
              <a:t> actual del </a:t>
            </a:r>
            <a:r>
              <a:rPr lang="en-US" altLang="es-CL" sz="2000" dirty="0" err="1">
                <a:sym typeface="Symbol" panose="05050102010706020507" pitchFamily="18" charset="2"/>
              </a:rPr>
              <a:t>mundo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es-CL" sz="2000" i="1" dirty="0">
                <a:sym typeface="Symbol" panose="05050102010706020507" pitchFamily="18" charset="2"/>
              </a:rPr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el </a:t>
            </a:r>
            <a:r>
              <a:rPr lang="en-US" altLang="es-CL" sz="2000" dirty="0" err="1">
                <a:sym typeface="Symbol" panose="05050102010706020507" pitchFamily="18" charset="2"/>
              </a:rPr>
              <a:t>conjunto</a:t>
            </a:r>
            <a:r>
              <a:rPr lang="en-US" altLang="es-CL" sz="2000" dirty="0">
                <a:sym typeface="Symbol" panose="05050102010706020507" pitchFamily="18" charset="2"/>
              </a:rPr>
              <a:t> de </a:t>
            </a:r>
            <a:r>
              <a:rPr lang="en-US" altLang="es-CL" sz="2000" dirty="0" err="1">
                <a:sym typeface="Symbol" panose="05050102010706020507" pitchFamily="18" charset="2"/>
              </a:rPr>
              <a:t>acciones</a:t>
            </a:r>
            <a:r>
              <a:rPr lang="en-US" altLang="es-CL" sz="2000" dirty="0">
                <a:sym typeface="Symbol" panose="05050102010706020507" pitchFamily="18" charset="2"/>
              </a:rPr>
              <a:t> que un </a:t>
            </a:r>
            <a:r>
              <a:rPr lang="en-US" altLang="es-CL" sz="2000" dirty="0" err="1">
                <a:sym typeface="Symbol" panose="05050102010706020507" pitchFamily="18" charset="2"/>
              </a:rPr>
              <a:t>agente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puede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ejecutar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s-CL" sz="2000" dirty="0">
                <a:sym typeface="Symbol" panose="05050102010706020507" pitchFamily="18" charset="2"/>
              </a:rPr>
              <a:t> </a:t>
            </a:r>
            <a:r>
              <a:rPr lang="en-US" altLang="es-CL" sz="2000" dirty="0">
                <a:latin typeface="WP MathA" pitchFamily="2" charset="2"/>
                <a:sym typeface="Symbol" panose="05050102010706020507" pitchFamily="18" charset="2"/>
              </a:rPr>
              <a:t></a:t>
            </a:r>
            <a:r>
              <a:rPr lang="en-US" altLang="es-CL" sz="2000" baseline="-25000" dirty="0">
                <a:sym typeface="Symbol" panose="05050102010706020507" pitchFamily="18" charset="2"/>
              </a:rPr>
              <a:t></a:t>
            </a:r>
            <a:r>
              <a:rPr lang="en-US" altLang="es-CL" sz="2000" dirty="0">
                <a:sym typeface="Symbol" panose="05050102010706020507" pitchFamily="18" charset="2"/>
              </a:rPr>
              <a:t> </a:t>
            </a:r>
            <a:r>
              <a:rPr lang="en-US" altLang="es-CL" sz="2000" dirty="0" err="1">
                <a:sym typeface="Symbol" panose="05050102010706020507" pitchFamily="18" charset="2"/>
              </a:rPr>
              <a:t>significa</a:t>
            </a:r>
            <a:r>
              <a:rPr lang="en-US" altLang="es-CL" sz="2000" dirty="0">
                <a:sym typeface="Symbol" panose="05050102010706020507" pitchFamily="18" charset="2"/>
              </a:rPr>
              <a:t> que  </a:t>
            </a:r>
            <a:r>
              <a:rPr lang="en-US" altLang="es-CL" sz="2000" dirty="0" err="1">
                <a:sym typeface="Symbol" panose="05050102010706020507" pitchFamily="18" charset="2"/>
              </a:rPr>
              <a:t>puede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ser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deducido</a:t>
            </a:r>
            <a:r>
              <a:rPr lang="en-US" altLang="es-CL" sz="2000" dirty="0">
                <a:sym typeface="Symbol" panose="05050102010706020507" pitchFamily="18" charset="2"/>
              </a:rPr>
              <a:t> de  </a:t>
            </a:r>
            <a:r>
              <a:rPr lang="en-US" altLang="es-CL" sz="2000" dirty="0" err="1">
                <a:sym typeface="Symbol" panose="05050102010706020507" pitchFamily="18" charset="2"/>
              </a:rPr>
              <a:t>usando</a:t>
            </a:r>
            <a:r>
              <a:rPr lang="en-US" altLang="es-CL" sz="2000" dirty="0">
                <a:sym typeface="Symbol" panose="05050102010706020507" pitchFamily="18" charset="2"/>
              </a:rPr>
              <a:t> 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D230A5-F6F5-48D7-81F4-723DB5454248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410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/>
              <a:t>/* </a:t>
            </a:r>
            <a:r>
              <a:rPr lang="en-US" altLang="es-CL" sz="2000" i="1" dirty="0" err="1">
                <a:solidFill>
                  <a:srgbClr val="0000FF"/>
                </a:solidFill>
              </a:rPr>
              <a:t>tratar</a:t>
            </a:r>
            <a:r>
              <a:rPr lang="en-US" altLang="es-CL" sz="2000" i="1" dirty="0">
                <a:solidFill>
                  <a:srgbClr val="0000FF"/>
                </a:solidFill>
              </a:rPr>
              <a:t> de </a:t>
            </a:r>
            <a:r>
              <a:rPr lang="en-US" altLang="es-CL" sz="2000" i="1" dirty="0" err="1">
                <a:solidFill>
                  <a:srgbClr val="0000FF"/>
                </a:solidFill>
              </a:rPr>
              <a:t>encontrar</a:t>
            </a:r>
            <a:r>
              <a:rPr lang="en-US" altLang="es-CL" sz="2000" i="1" dirty="0">
                <a:solidFill>
                  <a:srgbClr val="0000FF"/>
                </a:solidFill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</a:rPr>
              <a:t>una</a:t>
            </a:r>
            <a:r>
              <a:rPr lang="en-US" altLang="es-CL" sz="2000" i="1" dirty="0">
                <a:solidFill>
                  <a:srgbClr val="0000FF"/>
                </a:solidFill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</a:rPr>
              <a:t>acción</a:t>
            </a:r>
            <a:r>
              <a:rPr lang="en-US" altLang="es-CL" sz="2000" i="1" dirty="0">
                <a:solidFill>
                  <a:srgbClr val="0000FF"/>
                </a:solidFill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</a:rPr>
              <a:t>prescrita</a:t>
            </a:r>
            <a:r>
              <a:rPr lang="en-US" altLang="es-CL" sz="2000" i="1" dirty="0"/>
              <a:t> </a:t>
            </a:r>
            <a:r>
              <a:rPr lang="en-US" altLang="es-CL" sz="2000" dirty="0"/>
              <a:t>*/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/>
              <a:t>Para </a:t>
            </a:r>
            <a:r>
              <a:rPr lang="en-US" altLang="es-CL" sz="2000" dirty="0" err="1"/>
              <a:t>cada</a:t>
            </a:r>
            <a:r>
              <a:rPr lang="en-US" altLang="es-CL" sz="2000" dirty="0"/>
              <a:t>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s-CL" sz="2000" dirty="0"/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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es-CL" sz="2000" i="1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hacer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		</a:t>
            </a:r>
            <a:r>
              <a:rPr lang="en-US" altLang="es-CL" sz="2000" dirty="0" err="1">
                <a:sym typeface="Symbol" panose="05050102010706020507" pitchFamily="18" charset="2"/>
              </a:rPr>
              <a:t>si</a:t>
            </a:r>
            <a:r>
              <a:rPr lang="en-US" altLang="es-CL" sz="2000" dirty="0">
                <a:sym typeface="Symbol" panose="05050102010706020507" pitchFamily="18" charset="2"/>
              </a:rPr>
              <a:t>  </a:t>
            </a:r>
            <a:r>
              <a:rPr lang="en-US" altLang="es-CL" sz="2000" dirty="0">
                <a:latin typeface="WP MathA" pitchFamily="2" charset="2"/>
                <a:sym typeface="Symbol" panose="05050102010706020507" pitchFamily="18" charset="2"/>
              </a:rPr>
              <a:t></a:t>
            </a:r>
            <a:r>
              <a:rPr lang="en-US" altLang="es-CL" sz="2000" baseline="-25000" dirty="0">
                <a:sym typeface="Symbol" panose="05050102010706020507" pitchFamily="18" charset="2"/>
              </a:rPr>
              <a:t>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s-CL" sz="2000" dirty="0">
                <a:sym typeface="Symbol" panose="05050102010706020507" pitchFamily="18" charset="2"/>
              </a:rPr>
              <a:t>(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s-CL" sz="2000" dirty="0">
                <a:sym typeface="Symbol" panose="05050102010706020507" pitchFamily="18" charset="2"/>
              </a:rPr>
              <a:t>) </a:t>
            </a:r>
            <a:r>
              <a:rPr lang="en-US" altLang="es-CL" sz="2000" dirty="0" err="1">
                <a:sym typeface="Symbol" panose="05050102010706020507" pitchFamily="18" charset="2"/>
              </a:rPr>
              <a:t>entonces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			</a:t>
            </a:r>
            <a:r>
              <a:rPr lang="en-US" altLang="es-CL" sz="2000" dirty="0" err="1">
                <a:sym typeface="Symbol" panose="05050102010706020507" pitchFamily="18" charset="2"/>
              </a:rPr>
              <a:t>retornar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		fin </a:t>
            </a:r>
            <a:r>
              <a:rPr lang="en-US" altLang="es-CL" sz="2000" dirty="0" err="1">
                <a:sym typeface="Symbol" panose="05050102010706020507" pitchFamily="18" charset="2"/>
              </a:rPr>
              <a:t>decisión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Fin </a:t>
            </a:r>
            <a:r>
              <a:rPr lang="en-US" altLang="es-CL" sz="2000" dirty="0" err="1">
                <a:sym typeface="Symbol" panose="05050102010706020507" pitchFamily="18" charset="2"/>
              </a:rPr>
              <a:t>bucle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/* </a:t>
            </a:r>
            <a:r>
              <a:rPr lang="en-US" altLang="es-CL" sz="2000" i="1" dirty="0" err="1">
                <a:solidFill>
                  <a:srgbClr val="0000FF"/>
                </a:solidFill>
              </a:rPr>
              <a:t>tratar</a:t>
            </a:r>
            <a:r>
              <a:rPr lang="en-US" altLang="es-CL" sz="2000" i="1" dirty="0">
                <a:solidFill>
                  <a:srgbClr val="0000FF"/>
                </a:solidFill>
              </a:rPr>
              <a:t> de </a:t>
            </a:r>
            <a:r>
              <a:rPr lang="en-US" altLang="es-CL" sz="2000" i="1" dirty="0" err="1">
                <a:solidFill>
                  <a:srgbClr val="0000FF"/>
                </a:solidFill>
              </a:rPr>
              <a:t>encontrar</a:t>
            </a:r>
            <a:r>
              <a:rPr lang="en-US" altLang="es-CL" sz="2000" i="1" dirty="0">
                <a:solidFill>
                  <a:srgbClr val="0000FF"/>
                </a:solidFill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</a:rPr>
              <a:t>una</a:t>
            </a:r>
            <a:r>
              <a:rPr lang="en-US" altLang="es-CL" sz="2000" i="1" dirty="0">
                <a:solidFill>
                  <a:srgbClr val="0000FF"/>
                </a:solidFill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</a:rPr>
              <a:t>acción</a:t>
            </a:r>
            <a:r>
              <a:rPr lang="en-US" altLang="es-CL" sz="2000" i="1" dirty="0">
                <a:solidFill>
                  <a:srgbClr val="0000FF"/>
                </a:solidFill>
              </a:rPr>
              <a:t>  no </a:t>
            </a:r>
            <a:r>
              <a:rPr lang="en-US" altLang="es-CL" sz="2000" i="1" dirty="0" err="1">
                <a:solidFill>
                  <a:srgbClr val="0000FF"/>
                </a:solidFill>
              </a:rPr>
              <a:t>excluida</a:t>
            </a:r>
            <a:r>
              <a:rPr lang="en-US" altLang="es-CL" sz="2000" i="1" dirty="0">
                <a:solidFill>
                  <a:srgbClr val="0000FF"/>
                </a:solidFill>
              </a:rPr>
              <a:t> </a:t>
            </a:r>
            <a:r>
              <a:rPr lang="en-US" altLang="es-CL" sz="2000" i="1" dirty="0">
                <a:sym typeface="Symbol" panose="05050102010706020507" pitchFamily="18" charset="2"/>
              </a:rPr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*/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/>
              <a:t>Para </a:t>
            </a:r>
            <a:r>
              <a:rPr lang="en-US" altLang="es-CL" sz="2000" dirty="0" err="1"/>
              <a:t>cada</a:t>
            </a:r>
            <a:r>
              <a:rPr lang="en-US" altLang="es-CL" sz="2000" dirty="0"/>
              <a:t>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s-CL" sz="2000" dirty="0"/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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es-CL" sz="2000" i="1" dirty="0">
                <a:sym typeface="Symbol" panose="05050102010706020507" pitchFamily="18" charset="2"/>
              </a:rPr>
              <a:t> </a:t>
            </a:r>
            <a:r>
              <a:rPr lang="en-US" altLang="es-CL" sz="2000" dirty="0" err="1">
                <a:sym typeface="Symbol" panose="05050102010706020507" pitchFamily="18" charset="2"/>
              </a:rPr>
              <a:t>hacer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		 </a:t>
            </a:r>
            <a:r>
              <a:rPr lang="en-US" altLang="es-CL" sz="2000" dirty="0" err="1">
                <a:sym typeface="Symbol" panose="05050102010706020507" pitchFamily="18" charset="2"/>
              </a:rPr>
              <a:t>si</a:t>
            </a:r>
            <a:r>
              <a:rPr lang="en-US" altLang="es-CL" sz="2000" dirty="0">
                <a:sym typeface="Symbol" panose="05050102010706020507" pitchFamily="18" charset="2"/>
              </a:rPr>
              <a:t>  </a:t>
            </a:r>
            <a:r>
              <a:rPr lang="en-US" altLang="es-CL" sz="2000" dirty="0">
                <a:latin typeface="WP MathA" pitchFamily="2" charset="2"/>
                <a:sym typeface="Symbol" panose="05050102010706020507" pitchFamily="18" charset="2"/>
              </a:rPr>
              <a:t></a:t>
            </a:r>
            <a:r>
              <a:rPr lang="en-US" altLang="es-CL" sz="2000" baseline="-25000" dirty="0">
                <a:sym typeface="Symbol" panose="05050102010706020507" pitchFamily="18" charset="2"/>
              </a:rPr>
              <a:t></a:t>
            </a:r>
            <a:r>
              <a:rPr lang="en-US" altLang="es-CL" sz="2000" dirty="0">
                <a:sym typeface="Symbol" panose="05050102010706020507" pitchFamily="18" charset="2"/>
              </a:rPr>
              <a:t> 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s-CL" sz="2000" dirty="0">
                <a:sym typeface="Symbol" panose="05050102010706020507" pitchFamily="18" charset="2"/>
              </a:rPr>
              <a:t>(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s-CL" sz="2000" dirty="0">
                <a:sym typeface="Symbol" panose="05050102010706020507" pitchFamily="18" charset="2"/>
              </a:rPr>
              <a:t>) </a:t>
            </a:r>
            <a:r>
              <a:rPr lang="en-US" altLang="es-CL" sz="2000" dirty="0" err="1">
                <a:sym typeface="Symbol" panose="05050102010706020507" pitchFamily="18" charset="2"/>
              </a:rPr>
              <a:t>entonces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			</a:t>
            </a:r>
            <a:r>
              <a:rPr lang="en-US" altLang="es-CL" sz="2000" dirty="0" err="1">
                <a:sym typeface="Symbol" panose="05050102010706020507" pitchFamily="18" charset="2"/>
              </a:rPr>
              <a:t>retornar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		 fin </a:t>
            </a:r>
            <a:r>
              <a:rPr lang="en-US" altLang="es-CL" sz="2000" dirty="0" err="1">
                <a:sym typeface="Symbol" panose="05050102010706020507" pitchFamily="18" charset="2"/>
              </a:rPr>
              <a:t>decisión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>
                <a:sym typeface="Symbol" panose="05050102010706020507" pitchFamily="18" charset="2"/>
              </a:rPr>
              <a:t>Fin </a:t>
            </a:r>
            <a:r>
              <a:rPr lang="en-US" altLang="es-CL" sz="2000" dirty="0" err="1">
                <a:sym typeface="Symbol" panose="05050102010706020507" pitchFamily="18" charset="2"/>
              </a:rPr>
              <a:t>bucle</a:t>
            </a: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es-CL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s-CL" sz="2000" dirty="0" err="1">
                <a:sym typeface="Symbol" panose="05050102010706020507" pitchFamily="18" charset="2"/>
              </a:rPr>
              <a:t>retornar</a:t>
            </a:r>
            <a:r>
              <a:rPr lang="en-US" altLang="es-CL" sz="2000" dirty="0">
                <a:sym typeface="Symbol" panose="05050102010706020507" pitchFamily="18" charset="2"/>
              </a:rPr>
              <a:t> </a:t>
            </a:r>
            <a:r>
              <a:rPr lang="en-US" altLang="es-CL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null</a:t>
            </a:r>
            <a:r>
              <a:rPr lang="en-US" altLang="es-CL" sz="2000" i="1" dirty="0">
                <a:sym typeface="Symbol" panose="05050102010706020507" pitchFamily="18" charset="2"/>
              </a:rPr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/* </a:t>
            </a:r>
            <a:r>
              <a:rPr lang="en-US" altLang="es-CL" sz="2000" i="1" dirty="0">
                <a:solidFill>
                  <a:srgbClr val="0000FF"/>
                </a:solidFill>
                <a:sym typeface="Symbol" panose="05050102010706020507" pitchFamily="18" charset="2"/>
              </a:rPr>
              <a:t>no se </a:t>
            </a:r>
            <a:r>
              <a:rPr lang="en-US" altLang="es-CL" sz="2000" i="1" dirty="0" err="1">
                <a:solidFill>
                  <a:srgbClr val="0000FF"/>
                </a:solidFill>
                <a:sym typeface="Symbol" panose="05050102010706020507" pitchFamily="18" charset="2"/>
              </a:rPr>
              <a:t>encontró</a:t>
            </a:r>
            <a:r>
              <a:rPr lang="en-US" altLang="es-CL" sz="2000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  <a:sym typeface="Symbol" panose="05050102010706020507" pitchFamily="18" charset="2"/>
              </a:rPr>
              <a:t>una</a:t>
            </a:r>
            <a:r>
              <a:rPr lang="en-US" altLang="es-CL" sz="2000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s-CL" sz="2000" i="1" dirty="0" err="1">
                <a:solidFill>
                  <a:srgbClr val="0000FF"/>
                </a:solidFill>
                <a:sym typeface="Symbol" panose="05050102010706020507" pitchFamily="18" charset="2"/>
              </a:rPr>
              <a:t>acción</a:t>
            </a:r>
            <a:r>
              <a:rPr lang="en-US" altLang="es-CL" sz="2000" i="1" dirty="0">
                <a:sym typeface="Symbol" panose="05050102010706020507" pitchFamily="18" charset="2"/>
              </a:rPr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*/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es-CL" sz="2600" dirty="0">
              <a:sym typeface="Symbol" panose="05050102010706020507" pitchFamily="18" charset="2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 flipH="1">
            <a:off x="1905000" y="3640138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Rectangle 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Razonadores</a:t>
            </a:r>
            <a:r>
              <a:rPr lang="en-US" altLang="es-CL" dirty="0"/>
              <a:t> </a:t>
            </a:r>
            <a:r>
              <a:rPr lang="en-US" altLang="es-CL" dirty="0" err="1"/>
              <a:t>Simbólicos</a:t>
            </a:r>
            <a:endParaRPr lang="en-US" altLang="es-CL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24279F-43D3-4438-9A17-0E8F6C15BEC2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Razonadores</a:t>
            </a:r>
            <a:r>
              <a:rPr lang="en-US" altLang="es-CL" dirty="0"/>
              <a:t> </a:t>
            </a:r>
            <a:r>
              <a:rPr lang="en-US" altLang="es-CL" dirty="0" err="1"/>
              <a:t>Prácticos</a:t>
            </a:r>
            <a:endParaRPr 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El </a:t>
            </a:r>
            <a:r>
              <a:rPr lang="en-US" sz="2000" dirty="0" err="1"/>
              <a:t>razonamiento</a:t>
            </a:r>
            <a:r>
              <a:rPr lang="en-US" sz="2000" dirty="0"/>
              <a:t> </a:t>
            </a:r>
            <a:r>
              <a:rPr lang="en-US" sz="2000" dirty="0" err="1"/>
              <a:t>práctico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un </a:t>
            </a:r>
            <a:r>
              <a:rPr lang="en-US" sz="2000" dirty="0" err="1"/>
              <a:t>humano</a:t>
            </a:r>
            <a:r>
              <a:rPr lang="en-US" sz="2000" dirty="0"/>
              <a:t> </a:t>
            </a:r>
            <a:r>
              <a:rPr lang="en-US" sz="2000" dirty="0" err="1"/>
              <a:t>consiste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2 </a:t>
            </a:r>
            <a:r>
              <a:rPr lang="en-US" sz="2000" dirty="0" err="1"/>
              <a:t>actividades</a:t>
            </a:r>
            <a:r>
              <a:rPr lang="en-US" sz="2000" dirty="0"/>
              <a:t>: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i="1" dirty="0" err="1">
                <a:solidFill>
                  <a:srgbClr val="003399"/>
                </a:solidFill>
              </a:rPr>
              <a:t>deliberación</a:t>
            </a:r>
            <a:br>
              <a:rPr lang="en-US" sz="2000" i="1" dirty="0"/>
            </a:br>
            <a:r>
              <a:rPr lang="en-US" sz="2000" dirty="0" err="1"/>
              <a:t>decidir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qué</a:t>
            </a:r>
            <a:r>
              <a:rPr lang="en-US" sz="2000" i="1" dirty="0"/>
              <a:t> </a:t>
            </a:r>
            <a:r>
              <a:rPr lang="en-US" sz="2000" i="1" dirty="0" err="1"/>
              <a:t>situación</a:t>
            </a:r>
            <a:r>
              <a:rPr lang="en-US" sz="2000" i="1" dirty="0"/>
              <a:t> (</a:t>
            </a:r>
            <a:r>
              <a:rPr lang="en-US" sz="2000" i="1" dirty="0" err="1"/>
              <a:t>estado</a:t>
            </a:r>
            <a:r>
              <a:rPr lang="en-US" sz="2000" i="1" dirty="0"/>
              <a:t>) </a:t>
            </a:r>
            <a:r>
              <a:rPr lang="en-US" sz="2000" i="1" dirty="0" err="1"/>
              <a:t>queremos</a:t>
            </a:r>
            <a:r>
              <a:rPr lang="en-US" sz="2000" i="1" dirty="0"/>
              <a:t> </a:t>
            </a:r>
            <a:r>
              <a:rPr lang="en-US" sz="2000" i="1" dirty="0" err="1"/>
              <a:t>lograr</a:t>
            </a:r>
            <a:r>
              <a:rPr lang="en-US" sz="2000" i="1" dirty="0"/>
              <a:t> </a:t>
            </a:r>
            <a:br>
              <a:rPr lang="en-US" sz="2000" i="1" dirty="0"/>
            </a:br>
            <a:br>
              <a:rPr lang="en-US" sz="2000" i="1" dirty="0"/>
            </a:br>
            <a:endParaRPr lang="en-US" sz="2000" dirty="0"/>
          </a:p>
          <a:p>
            <a:pPr lvl="1" eaLnBrk="1" hangingPunct="1"/>
            <a:r>
              <a:rPr lang="en-US" sz="2000" i="1" dirty="0" err="1">
                <a:solidFill>
                  <a:srgbClr val="003399"/>
                </a:solidFill>
              </a:rPr>
              <a:t>razonamiento</a:t>
            </a:r>
            <a:r>
              <a:rPr lang="en-US" sz="2000" i="1" dirty="0">
                <a:solidFill>
                  <a:srgbClr val="003399"/>
                </a:solidFill>
              </a:rPr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medios</a:t>
            </a:r>
            <a:r>
              <a:rPr lang="en-US" sz="2000" i="1" dirty="0">
                <a:solidFill>
                  <a:srgbClr val="003399"/>
                </a:solidFill>
              </a:rPr>
              <a:t>-fines (means-ends) </a:t>
            </a:r>
            <a:br>
              <a:rPr lang="en-US" sz="2000" i="1" dirty="0"/>
            </a:br>
            <a:r>
              <a:rPr lang="en-US" sz="2000" dirty="0" err="1"/>
              <a:t>decidir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cómo</a:t>
            </a:r>
            <a:r>
              <a:rPr lang="en-US" sz="2000" i="1" dirty="0"/>
              <a:t> </a:t>
            </a:r>
            <a:r>
              <a:rPr lang="en-US" sz="2000" dirty="0" err="1"/>
              <a:t>lograr</a:t>
            </a:r>
            <a:r>
              <a:rPr lang="en-US" sz="2000" dirty="0"/>
              <a:t> el </a:t>
            </a:r>
            <a:r>
              <a:rPr lang="en-US" sz="2000" dirty="0" err="1"/>
              <a:t>estado</a:t>
            </a:r>
            <a:r>
              <a:rPr lang="en-US" sz="2000" dirty="0"/>
              <a:t> </a:t>
            </a:r>
            <a:r>
              <a:rPr lang="en-US" sz="2000" dirty="0" err="1"/>
              <a:t>deseado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eaLnBrk="1" hangingPunct="1"/>
            <a:r>
              <a:rPr lang="en-US" sz="2000" dirty="0"/>
              <a:t>Las </a:t>
            </a:r>
            <a:r>
              <a:rPr lang="en-US" sz="2000" dirty="0" err="1"/>
              <a:t>salidas</a:t>
            </a:r>
            <a:r>
              <a:rPr lang="en-US" sz="2000" dirty="0"/>
              <a:t> de la </a:t>
            </a:r>
            <a:r>
              <a:rPr lang="en-US" sz="2000" dirty="0" err="1"/>
              <a:t>deliberación</a:t>
            </a:r>
            <a:r>
              <a:rPr lang="en-US" sz="2000" dirty="0"/>
              <a:t> son </a:t>
            </a:r>
            <a:r>
              <a:rPr lang="en-US" sz="2000" i="1" dirty="0" err="1">
                <a:solidFill>
                  <a:srgbClr val="003399"/>
                </a:solidFill>
              </a:rPr>
              <a:t>intenciones</a:t>
            </a:r>
            <a:endParaRPr lang="en-US" sz="2000" i="1" dirty="0">
              <a:solidFill>
                <a:srgbClr val="003399"/>
              </a:solidFill>
            </a:endParaRPr>
          </a:p>
          <a:p>
            <a:pPr eaLnBrk="1" hangingPunct="1"/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225" y="2133601"/>
            <a:ext cx="1331281" cy="1143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225" y="3389314"/>
            <a:ext cx="1219202" cy="124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74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3DC0ED-3752-4249-AA5D-3A885BB0DD67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235" y="1295400"/>
            <a:ext cx="8229600" cy="3011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Note que las </a:t>
            </a:r>
            <a:r>
              <a:rPr lang="en-US" sz="2000" dirty="0" err="1">
                <a:solidFill>
                  <a:srgbClr val="00B050"/>
                </a:solidFill>
              </a:rPr>
              <a:t>intenciones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son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fuertes</a:t>
            </a:r>
            <a:r>
              <a:rPr lang="en-US" sz="2000" dirty="0"/>
              <a:t> que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deseos</a:t>
            </a:r>
            <a:r>
              <a:rPr lang="en-US" sz="2000" dirty="0"/>
              <a:t>:</a:t>
            </a:r>
            <a:br>
              <a:rPr lang="en-US" sz="2000" dirty="0"/>
            </a:br>
            <a:endParaRPr lang="en-US" sz="20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“</a:t>
            </a:r>
            <a:r>
              <a:rPr lang="en-US" sz="2000" dirty="0" err="1"/>
              <a:t>Mi</a:t>
            </a:r>
            <a:r>
              <a:rPr lang="en-US" sz="2000" dirty="0"/>
              <a:t> </a:t>
            </a:r>
            <a:r>
              <a:rPr lang="en-US" sz="2000" b="1" i="1" dirty="0" err="1">
                <a:solidFill>
                  <a:srgbClr val="0070C0"/>
                </a:solidFill>
              </a:rPr>
              <a:t>deseo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de </a:t>
            </a:r>
            <a:r>
              <a:rPr lang="en-US" sz="2000" dirty="0" err="1"/>
              <a:t>jugar</a:t>
            </a:r>
            <a:r>
              <a:rPr lang="en-US" sz="2000" dirty="0"/>
              <a:t> basketball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tarde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meramente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influencia</a:t>
            </a:r>
            <a:r>
              <a:rPr lang="en-US" sz="2000" dirty="0"/>
              <a:t> </a:t>
            </a:r>
            <a:r>
              <a:rPr lang="en-US" sz="2000" dirty="0" err="1"/>
              <a:t>potencial</a:t>
            </a:r>
            <a:r>
              <a:rPr lang="en-US" sz="2000" dirty="0"/>
              <a:t> de mi </a:t>
            </a:r>
            <a:r>
              <a:rPr lang="en-US" sz="2000" dirty="0" err="1"/>
              <a:t>conducta</a:t>
            </a:r>
            <a:r>
              <a:rPr lang="en-US" sz="2000" dirty="0"/>
              <a:t> para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tarde</a:t>
            </a:r>
            <a:r>
              <a:rPr lang="en-US" sz="2000" dirty="0"/>
              <a:t>.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enfrentar</a:t>
            </a:r>
            <a:r>
              <a:rPr lang="en-US" sz="2000" dirty="0"/>
              <a:t> </a:t>
            </a:r>
            <a:r>
              <a:rPr lang="en-US" sz="2000" dirty="0" err="1"/>
              <a:t>mis</a:t>
            </a:r>
            <a:r>
              <a:rPr lang="en-US" sz="2000" dirty="0"/>
              <a:t> </a:t>
            </a:r>
            <a:r>
              <a:rPr lang="en-US" sz="2000" dirty="0" err="1"/>
              <a:t>otros</a:t>
            </a:r>
            <a:r>
              <a:rPr lang="en-US" sz="2000" dirty="0"/>
              <a:t> </a:t>
            </a:r>
            <a:r>
              <a:rPr lang="en-US" sz="2000" b="1" i="1" dirty="0" err="1">
                <a:solidFill>
                  <a:srgbClr val="0070C0"/>
                </a:solidFill>
              </a:rPr>
              <a:t>deseos</a:t>
            </a:r>
            <a:r>
              <a:rPr lang="en-US" sz="2000" dirty="0"/>
              <a:t> </a:t>
            </a:r>
            <a:r>
              <a:rPr lang="en-US" sz="2000" dirty="0" err="1"/>
              <a:t>relevantes</a:t>
            </a:r>
            <a:r>
              <a:rPr lang="en-US" sz="2000" dirty="0"/>
              <a:t> [. . . ] antes de </a:t>
            </a:r>
            <a:r>
              <a:rPr lang="en-US" sz="2000" dirty="0" err="1"/>
              <a:t>establecer</a:t>
            </a:r>
            <a:r>
              <a:rPr lang="en-US" sz="2000" dirty="0"/>
              <a:t> </a:t>
            </a:r>
            <a:r>
              <a:rPr lang="en-US" sz="2000"/>
              <a:t>qué </a:t>
            </a:r>
            <a:r>
              <a:rPr lang="en-US" sz="2000" dirty="0" err="1"/>
              <a:t>voy</a:t>
            </a:r>
            <a:r>
              <a:rPr lang="en-US" sz="2000" dirty="0"/>
              <a:t> a </a:t>
            </a:r>
            <a:r>
              <a:rPr lang="en-US" sz="2000" dirty="0" err="1"/>
              <a:t>hacer</a:t>
            </a:r>
            <a:r>
              <a:rPr lang="en-US" sz="2000" dirty="0"/>
              <a:t>.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contraste</a:t>
            </a:r>
            <a:r>
              <a:rPr lang="en-US" sz="2000" dirty="0"/>
              <a:t>,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vez</a:t>
            </a:r>
            <a:r>
              <a:rPr lang="en-US" sz="2000" dirty="0"/>
              <a:t> que </a:t>
            </a:r>
            <a:r>
              <a:rPr lang="en-US" sz="2000" dirty="0" err="1"/>
              <a:t>yo</a:t>
            </a:r>
            <a:r>
              <a:rPr lang="en-US" sz="2000" dirty="0"/>
              <a:t> </a:t>
            </a:r>
            <a:r>
              <a:rPr lang="en-US" sz="2000" b="1" i="1" dirty="0" err="1">
                <a:solidFill>
                  <a:srgbClr val="00B050"/>
                </a:solidFill>
              </a:rPr>
              <a:t>intento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/>
              <a:t>jugar</a:t>
            </a:r>
            <a:r>
              <a:rPr lang="en-US" sz="2000" dirty="0"/>
              <a:t> basketball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tarde</a:t>
            </a:r>
            <a:r>
              <a:rPr lang="en-US" sz="2000" dirty="0"/>
              <a:t>, la </a:t>
            </a:r>
            <a:r>
              <a:rPr lang="en-US" sz="2000" dirty="0" err="1"/>
              <a:t>cuestión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resuelta</a:t>
            </a:r>
            <a:r>
              <a:rPr lang="en-US" sz="2000" dirty="0"/>
              <a:t>: </a:t>
            </a:r>
            <a:r>
              <a:rPr lang="en-US" sz="2000" dirty="0" err="1"/>
              <a:t>normalmente</a:t>
            </a:r>
            <a:r>
              <a:rPr lang="en-US" sz="2000" dirty="0"/>
              <a:t> no </a:t>
            </a:r>
            <a:r>
              <a:rPr lang="en-US" sz="2000" dirty="0" err="1"/>
              <a:t>necesito</a:t>
            </a:r>
            <a:r>
              <a:rPr lang="en-US" sz="2000" dirty="0"/>
              <a:t> </a:t>
            </a:r>
            <a:r>
              <a:rPr lang="en-US" sz="2000" dirty="0" err="1"/>
              <a:t>seguir</a:t>
            </a:r>
            <a:r>
              <a:rPr lang="en-US" sz="2000" dirty="0"/>
              <a:t> </a:t>
            </a:r>
            <a:r>
              <a:rPr lang="en-US" sz="2000" dirty="0" err="1"/>
              <a:t>considerando</a:t>
            </a:r>
            <a:r>
              <a:rPr lang="en-US" sz="2000" dirty="0"/>
              <a:t> las </a:t>
            </a:r>
            <a:r>
              <a:rPr lang="en-US" sz="2000" dirty="0" err="1"/>
              <a:t>ventajas</a:t>
            </a:r>
            <a:r>
              <a:rPr lang="en-US" sz="2000" dirty="0"/>
              <a:t> y </a:t>
            </a:r>
            <a:r>
              <a:rPr lang="en-US" sz="2000" dirty="0" err="1"/>
              <a:t>desventajas</a:t>
            </a:r>
            <a:r>
              <a:rPr lang="en-US" sz="2000" dirty="0"/>
              <a:t>. </a:t>
            </a:r>
            <a:r>
              <a:rPr lang="en-US" sz="2000" dirty="0" err="1"/>
              <a:t>Cuando</a:t>
            </a:r>
            <a:r>
              <a:rPr lang="en-US" sz="2000" dirty="0"/>
              <a:t> </a:t>
            </a:r>
            <a:r>
              <a:rPr lang="en-US" sz="2000" dirty="0" err="1"/>
              <a:t>llega</a:t>
            </a:r>
            <a:r>
              <a:rPr lang="en-US" sz="2000" dirty="0"/>
              <a:t> la </a:t>
            </a:r>
            <a:r>
              <a:rPr lang="en-US" sz="2000" dirty="0" err="1"/>
              <a:t>tarde</a:t>
            </a:r>
            <a:r>
              <a:rPr lang="en-US" sz="2000" dirty="0"/>
              <a:t>, </a:t>
            </a:r>
            <a:r>
              <a:rPr lang="en-US" sz="2000" dirty="0" err="1"/>
              <a:t>normalmente</a:t>
            </a:r>
            <a:r>
              <a:rPr lang="en-US" sz="2000" dirty="0"/>
              <a:t> </a:t>
            </a:r>
            <a:r>
              <a:rPr lang="en-US" sz="2000" dirty="0" err="1"/>
              <a:t>ejecuto</a:t>
            </a:r>
            <a:r>
              <a:rPr lang="en-US" sz="2000" dirty="0"/>
              <a:t> </a:t>
            </a:r>
            <a:r>
              <a:rPr lang="en-US" sz="2000" dirty="0" err="1"/>
              <a:t>mis</a:t>
            </a:r>
            <a:r>
              <a:rPr lang="en-US" sz="2000" dirty="0"/>
              <a:t> </a:t>
            </a:r>
            <a:r>
              <a:rPr lang="en-US" sz="2000" b="1" i="1" dirty="0" err="1">
                <a:solidFill>
                  <a:srgbClr val="00B050"/>
                </a:solidFill>
              </a:rPr>
              <a:t>intenciones</a:t>
            </a:r>
            <a:r>
              <a:rPr lang="en-US" sz="2000" dirty="0"/>
              <a:t>.” (</a:t>
            </a:r>
            <a:r>
              <a:rPr lang="en-US" sz="2000" dirty="0" err="1"/>
              <a:t>Bratman</a:t>
            </a:r>
            <a:r>
              <a:rPr lang="en-US" sz="2000" dirty="0"/>
              <a:t>, 1990)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err="1"/>
              <a:t>Intenciones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Razonamiento</a:t>
            </a:r>
            <a:r>
              <a:rPr lang="en-US" dirty="0"/>
              <a:t> Práctico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066" y="4306887"/>
            <a:ext cx="2971800" cy="21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72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6CAA8F-F7F9-47CA-AD64-B5DCCE03BFCE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¿</a:t>
            </a:r>
            <a:r>
              <a:rPr lang="en-US" dirty="0" err="1"/>
              <a:t>Qúe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Razonamiento</a:t>
            </a:r>
            <a:r>
              <a:rPr lang="en-US" dirty="0"/>
              <a:t> </a:t>
            </a:r>
            <a:r>
              <a:rPr lang="en-US" dirty="0" err="1"/>
              <a:t>Medios</a:t>
            </a:r>
            <a:r>
              <a:rPr lang="en-US" dirty="0"/>
              <a:t>-Fin?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466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000" dirty="0"/>
              <a:t>La idea </a:t>
            </a:r>
            <a:r>
              <a:rPr lang="en-US" sz="2000" dirty="0" err="1"/>
              <a:t>básica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dar</a:t>
            </a:r>
            <a:r>
              <a:rPr lang="en-US" sz="2000" dirty="0"/>
              <a:t> a un </a:t>
            </a:r>
            <a:r>
              <a:rPr lang="en-US" sz="2000" dirty="0" err="1"/>
              <a:t>agente</a:t>
            </a:r>
            <a:r>
              <a:rPr lang="en-US" sz="2000" dirty="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dirty="0" err="1"/>
              <a:t>representación</a:t>
            </a:r>
            <a:r>
              <a:rPr lang="en-US" sz="2000" dirty="0"/>
              <a:t> del </a:t>
            </a:r>
            <a:r>
              <a:rPr lang="en-US" sz="2000" dirty="0" err="1"/>
              <a:t>objetivo</a:t>
            </a:r>
            <a:r>
              <a:rPr lang="en-US" sz="2000" dirty="0"/>
              <a:t>/</a:t>
            </a:r>
            <a:r>
              <a:rPr lang="en-US" sz="2000" dirty="0" err="1"/>
              <a:t>intención</a:t>
            </a:r>
            <a:r>
              <a:rPr lang="en-US" sz="2000" dirty="0"/>
              <a:t> a </a:t>
            </a:r>
            <a:r>
              <a:rPr lang="en-US" sz="2000" dirty="0" err="1"/>
              <a:t>lograr</a:t>
            </a:r>
            <a:endParaRPr lang="en-US" sz="2000" dirty="0"/>
          </a:p>
          <a:p>
            <a:pPr lvl="1" eaLnBrk="1" hangingPunct="1">
              <a:lnSpc>
                <a:spcPct val="120000"/>
              </a:lnSpc>
            </a:pPr>
            <a:r>
              <a:rPr lang="en-US" sz="2000" dirty="0" err="1"/>
              <a:t>representación</a:t>
            </a:r>
            <a:r>
              <a:rPr lang="en-US" sz="2000" dirty="0"/>
              <a:t>  de las </a:t>
            </a:r>
            <a:r>
              <a:rPr lang="en-US" sz="2000" dirty="0" err="1"/>
              <a:t>acciones</a:t>
            </a:r>
            <a:r>
              <a:rPr lang="en-US" sz="2000" dirty="0"/>
              <a:t> que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ejecutar</a:t>
            </a:r>
            <a:endParaRPr lang="en-US" sz="2000" dirty="0"/>
          </a:p>
          <a:p>
            <a:pPr lvl="1" eaLnBrk="1" hangingPunct="1">
              <a:lnSpc>
                <a:spcPct val="120000"/>
              </a:lnSpc>
            </a:pPr>
            <a:r>
              <a:rPr lang="en-US" sz="2000" dirty="0" err="1"/>
              <a:t>representación</a:t>
            </a:r>
            <a:r>
              <a:rPr lang="en-US" sz="2000" dirty="0"/>
              <a:t> del </a:t>
            </a:r>
            <a:r>
              <a:rPr lang="en-US" sz="2000" dirty="0" err="1"/>
              <a:t>ambiente</a:t>
            </a:r>
            <a:endParaRPr 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000" dirty="0"/>
              <a:t>Y </a:t>
            </a:r>
            <a:r>
              <a:rPr lang="en-US" sz="2000" dirty="0" err="1"/>
              <a:t>dejar</a:t>
            </a:r>
            <a:r>
              <a:rPr lang="en-US" sz="2000" dirty="0"/>
              <a:t> que </a:t>
            </a:r>
            <a:r>
              <a:rPr lang="en-US" sz="2000" dirty="0" err="1"/>
              <a:t>genere</a:t>
            </a:r>
            <a:r>
              <a:rPr lang="en-US" sz="2000" dirty="0"/>
              <a:t> un </a:t>
            </a:r>
            <a:r>
              <a:rPr lang="en-US" sz="2000" i="1" dirty="0">
                <a:solidFill>
                  <a:srgbClr val="003399"/>
                </a:solidFill>
              </a:rPr>
              <a:t>plan</a:t>
            </a:r>
            <a:r>
              <a:rPr lang="en-US" sz="2000" dirty="0"/>
              <a:t> para </a:t>
            </a:r>
            <a:r>
              <a:rPr lang="en-US" sz="2000" dirty="0" err="1"/>
              <a:t>lograr</a:t>
            </a:r>
            <a:r>
              <a:rPr lang="en-US" sz="2000" dirty="0"/>
              <a:t> el </a:t>
            </a:r>
            <a:r>
              <a:rPr lang="en-US" sz="2000" dirty="0" err="1"/>
              <a:t>objetivo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120000"/>
              </a:lnSpc>
            </a:pPr>
            <a:r>
              <a:rPr lang="en-US" sz="2000" dirty="0" err="1"/>
              <a:t>Esencialmente</a:t>
            </a:r>
            <a:r>
              <a:rPr lang="en-US" sz="2000" dirty="0"/>
              <a:t>, </a:t>
            </a:r>
            <a:r>
              <a:rPr lang="en-US" sz="2000" dirty="0" err="1"/>
              <a:t>esto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programación</a:t>
            </a:r>
            <a:r>
              <a:rPr lang="en-US" sz="2000" i="1" dirty="0">
                <a:solidFill>
                  <a:srgbClr val="003399"/>
                </a:solidFill>
              </a:rPr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automática</a:t>
            </a:r>
            <a:endParaRPr lang="en-US" sz="2000" i="1" dirty="0">
              <a:solidFill>
                <a:srgbClr val="003399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895600"/>
            <a:ext cx="1219202" cy="124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27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E82FB4-EC7A-4AB3-A431-36B0F4FC31C4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sp>
        <p:nvSpPr>
          <p:cNvPr id="11267" name="AutoShape 4"/>
          <p:cNvSpPr>
            <a:spLocks noChangeArrowheads="1"/>
          </p:cNvSpPr>
          <p:nvPr/>
        </p:nvSpPr>
        <p:spPr bwMode="auto">
          <a:xfrm>
            <a:off x="2438400" y="2895600"/>
            <a:ext cx="4038600" cy="190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2255838" y="1066800"/>
            <a:ext cx="13255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objetivo/</a:t>
            </a:r>
            <a:br>
              <a:rPr lang="en-US"/>
            </a:br>
            <a:r>
              <a:rPr lang="en-US"/>
              <a:t>intención/</a:t>
            </a:r>
            <a:br>
              <a:rPr lang="en-US"/>
            </a:br>
            <a:r>
              <a:rPr lang="en-US"/>
              <a:t>tarea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3886200" y="1295400"/>
            <a:ext cx="1447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Estados del ambiente</a:t>
            </a:r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5638800" y="1295400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posibles</a:t>
            </a:r>
            <a:br>
              <a:rPr lang="en-US"/>
            </a:br>
            <a:r>
              <a:rPr lang="en-US"/>
              <a:t>acciones</a:t>
            </a:r>
          </a:p>
        </p:txBody>
      </p:sp>
      <p:sp>
        <p:nvSpPr>
          <p:cNvPr id="11271" name="Text Box 8"/>
          <p:cNvSpPr txBox="1">
            <a:spLocks noChangeArrowheads="1"/>
          </p:cNvSpPr>
          <p:nvPr/>
        </p:nvSpPr>
        <p:spPr bwMode="auto">
          <a:xfrm>
            <a:off x="2921000" y="3352800"/>
            <a:ext cx="3413125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800"/>
              <a:t>planificador</a:t>
            </a:r>
          </a:p>
        </p:txBody>
      </p:sp>
      <p:sp>
        <p:nvSpPr>
          <p:cNvPr id="11272" name="Text Box 9"/>
          <p:cNvSpPr txBox="1">
            <a:spLocks noChangeArrowheads="1"/>
          </p:cNvSpPr>
          <p:nvPr/>
        </p:nvSpPr>
        <p:spPr bwMode="auto">
          <a:xfrm>
            <a:off x="3429000" y="5715000"/>
            <a:ext cx="289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plan para lograr objetivo</a:t>
            </a:r>
          </a:p>
        </p:txBody>
      </p:sp>
      <p:sp>
        <p:nvSpPr>
          <p:cNvPr id="11273" name="Line 10"/>
          <p:cNvSpPr>
            <a:spLocks noChangeShapeType="1"/>
          </p:cNvSpPr>
          <p:nvPr/>
        </p:nvSpPr>
        <p:spPr bwMode="auto">
          <a:xfrm>
            <a:off x="2895600" y="2057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11274" name="Line 11"/>
          <p:cNvSpPr>
            <a:spLocks noChangeShapeType="1"/>
          </p:cNvSpPr>
          <p:nvPr/>
        </p:nvSpPr>
        <p:spPr bwMode="auto">
          <a:xfrm>
            <a:off x="4648200" y="2057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11275" name="Line 12"/>
          <p:cNvSpPr>
            <a:spLocks noChangeShapeType="1"/>
          </p:cNvSpPr>
          <p:nvPr/>
        </p:nvSpPr>
        <p:spPr bwMode="auto">
          <a:xfrm>
            <a:off x="6172200" y="2057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11276" name="Line 13"/>
          <p:cNvSpPr>
            <a:spLocks noChangeShapeType="1"/>
          </p:cNvSpPr>
          <p:nvPr/>
        </p:nvSpPr>
        <p:spPr bwMode="auto">
          <a:xfrm>
            <a:off x="45720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4783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22CFAD-0985-4400-A4D8-BCF5957ED155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Planificación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 err="1"/>
              <a:t>Pregunta</a:t>
            </a:r>
            <a:r>
              <a:rPr lang="en-US" sz="2000" dirty="0"/>
              <a:t>: </a:t>
            </a:r>
            <a:r>
              <a:rPr lang="en-US" sz="2000" dirty="0" err="1"/>
              <a:t>Cómo</a:t>
            </a:r>
            <a:r>
              <a:rPr lang="en-US" sz="2000" dirty="0"/>
              <a:t> </a:t>
            </a:r>
            <a:r>
              <a:rPr lang="en-US" sz="2000" dirty="0" err="1"/>
              <a:t>representamos</a:t>
            </a:r>
            <a:r>
              <a:rPr lang="en-US" sz="2000" dirty="0"/>
              <a:t>. . .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dirty="0" err="1"/>
              <a:t>Objetivo</a:t>
            </a:r>
            <a:r>
              <a:rPr lang="en-US" sz="2000" dirty="0"/>
              <a:t> a </a:t>
            </a:r>
            <a:r>
              <a:rPr lang="en-US" sz="2000" dirty="0" err="1"/>
              <a:t>lograr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dirty="0" err="1"/>
              <a:t>Estados</a:t>
            </a:r>
            <a:r>
              <a:rPr lang="en-US" sz="2000" dirty="0"/>
              <a:t> del </a:t>
            </a:r>
            <a:r>
              <a:rPr lang="en-US" sz="2000" dirty="0" err="1"/>
              <a:t>ambiente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dirty="0" err="1"/>
              <a:t>Acciones</a:t>
            </a:r>
            <a:r>
              <a:rPr lang="en-US" sz="2000" dirty="0"/>
              <a:t> </a:t>
            </a:r>
            <a:r>
              <a:rPr lang="en-US" sz="2000" dirty="0" err="1"/>
              <a:t>disponibles</a:t>
            </a:r>
            <a:r>
              <a:rPr lang="en-US" sz="2000" dirty="0"/>
              <a:t> para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ejecutadas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dirty="0"/>
              <a:t>El plan</a:t>
            </a:r>
          </a:p>
        </p:txBody>
      </p:sp>
    </p:spTree>
    <p:extLst>
      <p:ext uri="{BB962C8B-B14F-4D97-AF65-F5344CB8AC3E}">
        <p14:creationId xmlns:p14="http://schemas.microsoft.com/office/powerpoint/2010/main" val="2531492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F59ED5-A38F-4FBF-87C8-89356DFE60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Blocks World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2209800"/>
          </a:xfrm>
        </p:spPr>
        <p:txBody>
          <a:bodyPr/>
          <a:lstStyle/>
          <a:p>
            <a:pPr eaLnBrk="1" hangingPunct="1"/>
            <a:r>
              <a:rPr lang="en-US" sz="2000" dirty="0" err="1"/>
              <a:t>Ilustraremos</a:t>
            </a:r>
            <a:r>
              <a:rPr lang="en-US" sz="2000" dirty="0"/>
              <a:t> </a:t>
            </a:r>
            <a:r>
              <a:rPr lang="en-US" sz="2000" dirty="0" err="1"/>
              <a:t>eso</a:t>
            </a:r>
            <a:r>
              <a:rPr lang="en-US" sz="2000" dirty="0"/>
              <a:t> </a:t>
            </a:r>
            <a:r>
              <a:rPr lang="en-US" sz="2000" dirty="0" err="1"/>
              <a:t>usando</a:t>
            </a:r>
            <a:r>
              <a:rPr lang="en-US" sz="2000" dirty="0"/>
              <a:t> el “</a:t>
            </a:r>
            <a:r>
              <a:rPr lang="en-US" sz="2000" i="1" dirty="0"/>
              <a:t>blocks world”</a:t>
            </a:r>
            <a:br>
              <a:rPr lang="en-US" sz="2000" i="1" dirty="0"/>
            </a:br>
            <a:endParaRPr lang="en-US" sz="2000" dirty="0"/>
          </a:p>
          <a:p>
            <a:pPr eaLnBrk="1" hangingPunct="1"/>
            <a:r>
              <a:rPr lang="en-US" sz="2000" dirty="0" err="1"/>
              <a:t>Contiene</a:t>
            </a:r>
            <a:r>
              <a:rPr lang="en-US" sz="2000" dirty="0"/>
              <a:t> un </a:t>
            </a:r>
            <a:r>
              <a:rPr lang="en-US" sz="2000" dirty="0" err="1"/>
              <a:t>brazo</a:t>
            </a:r>
            <a:r>
              <a:rPr lang="en-US" sz="2000" dirty="0"/>
              <a:t> </a:t>
            </a:r>
            <a:r>
              <a:rPr lang="en-US" sz="2000" dirty="0" err="1"/>
              <a:t>robótico</a:t>
            </a:r>
            <a:r>
              <a:rPr lang="en-US" sz="2000" dirty="0"/>
              <a:t>, 3 </a:t>
            </a:r>
            <a:r>
              <a:rPr lang="en-US" sz="2000" dirty="0" err="1"/>
              <a:t>bloques</a:t>
            </a:r>
            <a:r>
              <a:rPr lang="en-US" sz="2000" dirty="0"/>
              <a:t> (A, B, y C) de </a:t>
            </a:r>
            <a:r>
              <a:rPr lang="en-US" sz="2000" dirty="0" err="1"/>
              <a:t>igual</a:t>
            </a:r>
            <a:r>
              <a:rPr lang="en-US" sz="2000" dirty="0"/>
              <a:t> </a:t>
            </a:r>
            <a:r>
              <a:rPr lang="en-US" sz="2000" dirty="0" err="1"/>
              <a:t>tamaño</a:t>
            </a:r>
            <a:r>
              <a:rPr lang="en-US" sz="2000" dirty="0"/>
              <a:t>, y </a:t>
            </a:r>
            <a:r>
              <a:rPr lang="en-US" sz="2000" dirty="0" err="1"/>
              <a:t>una</a:t>
            </a:r>
            <a:r>
              <a:rPr lang="en-US" sz="2000" dirty="0"/>
              <a:t> mesa</a:t>
            </a:r>
          </a:p>
        </p:txBody>
      </p:sp>
      <p:sp>
        <p:nvSpPr>
          <p:cNvPr id="13317" name="Rectangle 12"/>
          <p:cNvSpPr>
            <a:spLocks noChangeArrowheads="1"/>
          </p:cNvSpPr>
          <p:nvPr/>
        </p:nvSpPr>
        <p:spPr bwMode="auto">
          <a:xfrm>
            <a:off x="2952750" y="16573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3318" name="Rectangle 13"/>
          <p:cNvSpPr>
            <a:spLocks noChangeArrowheads="1"/>
          </p:cNvSpPr>
          <p:nvPr/>
        </p:nvSpPr>
        <p:spPr bwMode="auto">
          <a:xfrm>
            <a:off x="2952750" y="25717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3319" name="Rectangle 14"/>
          <p:cNvSpPr>
            <a:spLocks noChangeArrowheads="1"/>
          </p:cNvSpPr>
          <p:nvPr/>
        </p:nvSpPr>
        <p:spPr bwMode="auto">
          <a:xfrm>
            <a:off x="4781550" y="25717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3320" name="Line 15"/>
          <p:cNvSpPr>
            <a:spLocks noChangeShapeType="1"/>
          </p:cNvSpPr>
          <p:nvPr/>
        </p:nvSpPr>
        <p:spPr bwMode="auto">
          <a:xfrm>
            <a:off x="2057400" y="3505200"/>
            <a:ext cx="518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13321" name="Rectangle 17"/>
          <p:cNvSpPr>
            <a:spLocks noChangeArrowheads="1"/>
          </p:cNvSpPr>
          <p:nvPr/>
        </p:nvSpPr>
        <p:spPr bwMode="auto">
          <a:xfrm>
            <a:off x="3213100" y="1803400"/>
            <a:ext cx="45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A</a:t>
            </a:r>
          </a:p>
        </p:txBody>
      </p:sp>
      <p:sp>
        <p:nvSpPr>
          <p:cNvPr id="13322" name="Rectangle 18"/>
          <p:cNvSpPr>
            <a:spLocks noChangeArrowheads="1"/>
          </p:cNvSpPr>
          <p:nvPr/>
        </p:nvSpPr>
        <p:spPr bwMode="auto">
          <a:xfrm>
            <a:off x="3213100" y="2717800"/>
            <a:ext cx="43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B</a:t>
            </a:r>
          </a:p>
        </p:txBody>
      </p:sp>
      <p:sp>
        <p:nvSpPr>
          <p:cNvPr id="13323" name="Rectangle 19"/>
          <p:cNvSpPr>
            <a:spLocks noChangeArrowheads="1"/>
          </p:cNvSpPr>
          <p:nvPr/>
        </p:nvSpPr>
        <p:spPr bwMode="auto">
          <a:xfrm>
            <a:off x="4965700" y="2717800"/>
            <a:ext cx="45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C</a:t>
            </a:r>
          </a:p>
        </p:txBody>
      </p:sp>
      <p:grpSp>
        <p:nvGrpSpPr>
          <p:cNvPr id="13324" name="Group 27"/>
          <p:cNvGrpSpPr>
            <a:grpSpLocks/>
          </p:cNvGrpSpPr>
          <p:nvPr/>
        </p:nvGrpSpPr>
        <p:grpSpPr bwMode="auto">
          <a:xfrm>
            <a:off x="4940300" y="1498600"/>
            <a:ext cx="1701800" cy="635000"/>
            <a:chOff x="3112" y="944"/>
            <a:chExt cx="1072" cy="400"/>
          </a:xfrm>
        </p:grpSpPr>
        <p:sp>
          <p:nvSpPr>
            <p:cNvPr id="13325" name="AutoShape 20"/>
            <p:cNvSpPr>
              <a:spLocks noChangeAspect="1" noChangeArrowheads="1" noTextEdit="1"/>
            </p:cNvSpPr>
            <p:nvPr/>
          </p:nvSpPr>
          <p:spPr bwMode="auto">
            <a:xfrm>
              <a:off x="3112" y="944"/>
              <a:ext cx="1072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326" name="Line 22"/>
            <p:cNvSpPr>
              <a:spLocks noChangeShapeType="1"/>
            </p:cNvSpPr>
            <p:nvPr/>
          </p:nvSpPr>
          <p:spPr bwMode="auto">
            <a:xfrm>
              <a:off x="3120" y="1195"/>
              <a:ext cx="715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327" name="Line 23"/>
            <p:cNvSpPr>
              <a:spLocks noChangeShapeType="1"/>
            </p:cNvSpPr>
            <p:nvPr/>
          </p:nvSpPr>
          <p:spPr bwMode="auto">
            <a:xfrm>
              <a:off x="3787" y="1195"/>
              <a:ext cx="1" cy="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328" name="Line 24"/>
            <p:cNvSpPr>
              <a:spLocks noChangeShapeType="1"/>
            </p:cNvSpPr>
            <p:nvPr/>
          </p:nvSpPr>
          <p:spPr bwMode="auto">
            <a:xfrm>
              <a:off x="3168" y="1195"/>
              <a:ext cx="1" cy="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329" name="Line 25"/>
            <p:cNvSpPr>
              <a:spLocks noChangeShapeType="1"/>
            </p:cNvSpPr>
            <p:nvPr/>
          </p:nvSpPr>
          <p:spPr bwMode="auto">
            <a:xfrm flipV="1">
              <a:off x="3501" y="960"/>
              <a:ext cx="1" cy="23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330" name="Line 26"/>
            <p:cNvSpPr>
              <a:spLocks noChangeShapeType="1"/>
            </p:cNvSpPr>
            <p:nvPr/>
          </p:nvSpPr>
          <p:spPr bwMode="auto">
            <a:xfrm>
              <a:off x="3489" y="966"/>
              <a:ext cx="667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37" y="438046"/>
            <a:ext cx="1938166" cy="14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27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0B5F6-D1C5-44F1-9428-1109A0239621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Ontología del Blocks World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 eaLnBrk="1" hangingPunct="1"/>
            <a:r>
              <a:rPr lang="en-US" sz="2000" dirty="0"/>
              <a:t>Para </a:t>
            </a:r>
            <a:r>
              <a:rPr lang="en-US" sz="2000" dirty="0" err="1"/>
              <a:t>representar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mundo</a:t>
            </a:r>
            <a:r>
              <a:rPr lang="en-US" sz="2000" dirty="0"/>
              <a:t>, </a:t>
            </a:r>
            <a:r>
              <a:rPr lang="en-US" sz="2000" dirty="0" err="1"/>
              <a:t>necesitamos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ontología</a:t>
            </a:r>
            <a:endParaRPr lang="en-US" sz="2000" i="1" dirty="0">
              <a:solidFill>
                <a:srgbClr val="003399"/>
              </a:solidFill>
            </a:endParaRPr>
          </a:p>
          <a:p>
            <a:pPr marL="0" indent="0" eaLnBrk="1" hangingPunct="1">
              <a:buNone/>
            </a:pP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On(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/>
              <a:t>		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b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/>
              <a:t>	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la mesa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/>
              <a:t>		nada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br>
              <a:rPr lang="en-US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/>
              <a:t>	</a:t>
            </a:r>
            <a:r>
              <a:rPr lang="en-US" sz="2000" dirty="0" err="1"/>
              <a:t>brazo</a:t>
            </a:r>
            <a:r>
              <a:rPr lang="en-US" sz="2000" dirty="0"/>
              <a:t> </a:t>
            </a:r>
            <a:r>
              <a:rPr lang="en-US" sz="2000" dirty="0" err="1"/>
              <a:t>sostiene</a:t>
            </a:r>
            <a:r>
              <a:rPr lang="en-US" sz="2000" dirty="0"/>
              <a:t> al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br>
              <a:rPr lang="en-US" sz="2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r>
              <a:rPr lang="en-US" sz="2000" dirty="0"/>
              <a:t>	</a:t>
            </a:r>
            <a:r>
              <a:rPr lang="en-US" sz="2000" dirty="0" err="1"/>
              <a:t>brazo</a:t>
            </a:r>
            <a:r>
              <a:rPr lang="en-US" sz="2000" dirty="0"/>
              <a:t> no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sosteniendo</a:t>
            </a:r>
            <a:r>
              <a:rPr lang="en-US" sz="2000" dirty="0"/>
              <a:t> </a:t>
            </a:r>
            <a:r>
              <a:rPr lang="en-US" sz="2000" dirty="0" err="1"/>
              <a:t>algo</a:t>
            </a: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149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A5949-DA1D-4D7B-8EA1-90115687072A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Blocks World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 err="1"/>
              <a:t>Aquí</a:t>
            </a:r>
            <a:r>
              <a:rPr lang="en-US" sz="2000" dirty="0"/>
              <a:t> hay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representación</a:t>
            </a:r>
            <a:r>
              <a:rPr lang="en-US" sz="2000" dirty="0"/>
              <a:t> de la </a:t>
            </a:r>
            <a:r>
              <a:rPr lang="en-US" sz="2000" dirty="0" err="1"/>
              <a:t>situación</a:t>
            </a:r>
            <a:r>
              <a:rPr lang="en-US" sz="2000" dirty="0"/>
              <a:t> anterior:</a:t>
            </a:r>
          </a:p>
          <a:p>
            <a:pPr marL="0" indent="0" eaLnBrk="1" hangingPunct="1">
              <a:buNone/>
            </a:pPr>
            <a:br>
              <a:rPr lang="en-US" sz="2000" dirty="0"/>
            </a:br>
            <a:r>
              <a:rPr lang="en-US" sz="2000" dirty="0"/>
              <a:t>	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Clear(A)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		On(A, B)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(B)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(C)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 err="1"/>
              <a:t>Asumir</a:t>
            </a:r>
            <a:r>
              <a:rPr lang="en-US" sz="2000" dirty="0"/>
              <a:t> que </a:t>
            </a:r>
            <a:r>
              <a:rPr lang="en-US" sz="2000" dirty="0" err="1"/>
              <a:t>cualquier</a:t>
            </a:r>
            <a:r>
              <a:rPr lang="en-US" sz="2000" dirty="0"/>
              <a:t> </a:t>
            </a:r>
            <a:r>
              <a:rPr lang="en-US" sz="2000" dirty="0" err="1"/>
              <a:t>cosa</a:t>
            </a:r>
            <a:r>
              <a:rPr lang="en-US" sz="2000" dirty="0"/>
              <a:t> no </a:t>
            </a:r>
            <a:r>
              <a:rPr lang="en-US" sz="2000" dirty="0" err="1"/>
              <a:t>estipulada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falsa: </a:t>
            </a:r>
            <a:r>
              <a:rPr lang="en-US" sz="2000" i="1" dirty="0" err="1">
                <a:solidFill>
                  <a:srgbClr val="003399"/>
                </a:solidFill>
              </a:rPr>
              <a:t>suposición</a:t>
            </a:r>
            <a:r>
              <a:rPr lang="en-US" sz="2000" i="1" dirty="0">
                <a:solidFill>
                  <a:srgbClr val="003399"/>
                </a:solidFill>
              </a:rPr>
              <a:t> de </a:t>
            </a:r>
            <a:r>
              <a:rPr lang="en-US" sz="2000" i="1" dirty="0" err="1">
                <a:solidFill>
                  <a:srgbClr val="003399"/>
                </a:solidFill>
              </a:rPr>
              <a:t>mundo</a:t>
            </a:r>
            <a:r>
              <a:rPr lang="en-US" sz="2000" i="1" dirty="0">
                <a:solidFill>
                  <a:srgbClr val="003399"/>
                </a:solidFill>
              </a:rPr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cerrado</a:t>
            </a:r>
            <a:r>
              <a:rPr lang="en-US" sz="2000" dirty="0"/>
              <a:t>. </a:t>
            </a:r>
          </a:p>
        </p:txBody>
      </p:sp>
      <p:grpSp>
        <p:nvGrpSpPr>
          <p:cNvPr id="15365" name="Group 6"/>
          <p:cNvGrpSpPr>
            <a:grpSpLocks/>
          </p:cNvGrpSpPr>
          <p:nvPr/>
        </p:nvGrpSpPr>
        <p:grpSpPr bwMode="auto">
          <a:xfrm>
            <a:off x="6950075" y="2632075"/>
            <a:ext cx="1463675" cy="492125"/>
            <a:chOff x="3112" y="944"/>
            <a:chExt cx="1072" cy="400"/>
          </a:xfrm>
        </p:grpSpPr>
        <p:sp>
          <p:nvSpPr>
            <p:cNvPr id="15387" name="AutoShape 7"/>
            <p:cNvSpPr>
              <a:spLocks noChangeAspect="1" noChangeArrowheads="1" noTextEdit="1"/>
            </p:cNvSpPr>
            <p:nvPr/>
          </p:nvSpPr>
          <p:spPr bwMode="auto">
            <a:xfrm>
              <a:off x="3112" y="944"/>
              <a:ext cx="1072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88" name="Line 8"/>
            <p:cNvSpPr>
              <a:spLocks noChangeShapeType="1"/>
            </p:cNvSpPr>
            <p:nvPr/>
          </p:nvSpPr>
          <p:spPr bwMode="auto">
            <a:xfrm>
              <a:off x="3120" y="1195"/>
              <a:ext cx="715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89" name="Line 9"/>
            <p:cNvSpPr>
              <a:spLocks noChangeShapeType="1"/>
            </p:cNvSpPr>
            <p:nvPr/>
          </p:nvSpPr>
          <p:spPr bwMode="auto">
            <a:xfrm>
              <a:off x="3787" y="1195"/>
              <a:ext cx="1" cy="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90" name="Line 10"/>
            <p:cNvSpPr>
              <a:spLocks noChangeShapeType="1"/>
            </p:cNvSpPr>
            <p:nvPr/>
          </p:nvSpPr>
          <p:spPr bwMode="auto">
            <a:xfrm>
              <a:off x="3168" y="1195"/>
              <a:ext cx="1" cy="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91" name="Line 11"/>
            <p:cNvSpPr>
              <a:spLocks noChangeShapeType="1"/>
            </p:cNvSpPr>
            <p:nvPr/>
          </p:nvSpPr>
          <p:spPr bwMode="auto">
            <a:xfrm flipV="1">
              <a:off x="3501" y="960"/>
              <a:ext cx="1" cy="23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92" name="Line 12"/>
            <p:cNvSpPr>
              <a:spLocks noChangeShapeType="1"/>
            </p:cNvSpPr>
            <p:nvPr/>
          </p:nvSpPr>
          <p:spPr bwMode="auto">
            <a:xfrm>
              <a:off x="3489" y="966"/>
              <a:ext cx="667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366" name="Group 39"/>
          <p:cNvGrpSpPr>
            <a:grpSpLocks/>
          </p:cNvGrpSpPr>
          <p:nvPr/>
        </p:nvGrpSpPr>
        <p:grpSpPr bwMode="auto">
          <a:xfrm>
            <a:off x="5235575" y="2289175"/>
            <a:ext cx="3403600" cy="1693863"/>
            <a:chOff x="3298" y="1442"/>
            <a:chExt cx="2144" cy="1067"/>
          </a:xfrm>
        </p:grpSpPr>
        <p:sp>
          <p:nvSpPr>
            <p:cNvPr id="15367" name="AutoShape 13"/>
            <p:cNvSpPr>
              <a:spLocks noChangeAspect="1" noChangeArrowheads="1" noTextEdit="1"/>
            </p:cNvSpPr>
            <p:nvPr/>
          </p:nvSpPr>
          <p:spPr bwMode="auto">
            <a:xfrm>
              <a:off x="3426" y="1722"/>
              <a:ext cx="2016" cy="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68" name="Rectangle 15"/>
            <p:cNvSpPr>
              <a:spLocks noChangeArrowheads="1"/>
            </p:cNvSpPr>
            <p:nvPr/>
          </p:nvSpPr>
          <p:spPr bwMode="auto">
            <a:xfrm>
              <a:off x="3794" y="1770"/>
              <a:ext cx="335" cy="306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pic>
          <p:nvPicPr>
            <p:cNvPr id="15369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" y="1442"/>
              <a:ext cx="306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0" name="Rectangle 17"/>
            <p:cNvSpPr>
              <a:spLocks noChangeArrowheads="1"/>
            </p:cNvSpPr>
            <p:nvPr/>
          </p:nvSpPr>
          <p:spPr bwMode="auto">
            <a:xfrm>
              <a:off x="3794" y="1770"/>
              <a:ext cx="335" cy="306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71" name="Rectangle 18"/>
            <p:cNvSpPr>
              <a:spLocks noChangeArrowheads="1"/>
            </p:cNvSpPr>
            <p:nvPr/>
          </p:nvSpPr>
          <p:spPr bwMode="auto">
            <a:xfrm>
              <a:off x="3765" y="1741"/>
              <a:ext cx="335" cy="3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72" name="Rectangle 19"/>
            <p:cNvSpPr>
              <a:spLocks noChangeArrowheads="1"/>
            </p:cNvSpPr>
            <p:nvPr/>
          </p:nvSpPr>
          <p:spPr bwMode="auto">
            <a:xfrm>
              <a:off x="3765" y="1741"/>
              <a:ext cx="335" cy="305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73" name="Rectangle 20"/>
            <p:cNvSpPr>
              <a:spLocks noChangeArrowheads="1"/>
            </p:cNvSpPr>
            <p:nvPr/>
          </p:nvSpPr>
          <p:spPr bwMode="auto">
            <a:xfrm>
              <a:off x="3794" y="2119"/>
              <a:ext cx="335" cy="306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pic>
          <p:nvPicPr>
            <p:cNvPr id="15374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1442"/>
              <a:ext cx="306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5" name="Rectangle 22"/>
            <p:cNvSpPr>
              <a:spLocks noChangeArrowheads="1"/>
            </p:cNvSpPr>
            <p:nvPr/>
          </p:nvSpPr>
          <p:spPr bwMode="auto">
            <a:xfrm>
              <a:off x="3794" y="2119"/>
              <a:ext cx="335" cy="306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76" name="Rectangle 23"/>
            <p:cNvSpPr>
              <a:spLocks noChangeArrowheads="1"/>
            </p:cNvSpPr>
            <p:nvPr/>
          </p:nvSpPr>
          <p:spPr bwMode="auto">
            <a:xfrm>
              <a:off x="3765" y="2090"/>
              <a:ext cx="335" cy="3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77" name="Rectangle 24"/>
            <p:cNvSpPr>
              <a:spLocks noChangeArrowheads="1"/>
            </p:cNvSpPr>
            <p:nvPr/>
          </p:nvSpPr>
          <p:spPr bwMode="auto">
            <a:xfrm>
              <a:off x="3765" y="2090"/>
              <a:ext cx="335" cy="306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78" name="Rectangle 25"/>
            <p:cNvSpPr>
              <a:spLocks noChangeArrowheads="1"/>
            </p:cNvSpPr>
            <p:nvPr/>
          </p:nvSpPr>
          <p:spPr bwMode="auto">
            <a:xfrm>
              <a:off x="4493" y="2119"/>
              <a:ext cx="335" cy="306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pic>
          <p:nvPicPr>
            <p:cNvPr id="15379" name="Picture 2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1442"/>
              <a:ext cx="306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0" name="Rectangle 27"/>
            <p:cNvSpPr>
              <a:spLocks noChangeArrowheads="1"/>
            </p:cNvSpPr>
            <p:nvPr/>
          </p:nvSpPr>
          <p:spPr bwMode="auto">
            <a:xfrm>
              <a:off x="4493" y="2119"/>
              <a:ext cx="335" cy="306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81" name="Rectangle 28"/>
            <p:cNvSpPr>
              <a:spLocks noChangeArrowheads="1"/>
            </p:cNvSpPr>
            <p:nvPr/>
          </p:nvSpPr>
          <p:spPr bwMode="auto">
            <a:xfrm>
              <a:off x="4464" y="2090"/>
              <a:ext cx="335" cy="3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82" name="Rectangle 29"/>
            <p:cNvSpPr>
              <a:spLocks noChangeArrowheads="1"/>
            </p:cNvSpPr>
            <p:nvPr/>
          </p:nvSpPr>
          <p:spPr bwMode="auto">
            <a:xfrm>
              <a:off x="4464" y="2090"/>
              <a:ext cx="335" cy="306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83" name="Line 30"/>
            <p:cNvSpPr>
              <a:spLocks noChangeShapeType="1"/>
            </p:cNvSpPr>
            <p:nvPr/>
          </p:nvSpPr>
          <p:spPr bwMode="auto">
            <a:xfrm>
              <a:off x="3423" y="2447"/>
              <a:ext cx="1981" cy="0"/>
            </a:xfrm>
            <a:prstGeom prst="line">
              <a:avLst/>
            </a:prstGeom>
            <a:noFill/>
            <a:ln w="460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384" name="Rectangle 36"/>
            <p:cNvSpPr>
              <a:spLocks noChangeArrowheads="1"/>
            </p:cNvSpPr>
            <p:nvPr/>
          </p:nvSpPr>
          <p:spPr bwMode="auto">
            <a:xfrm>
              <a:off x="3889" y="1800"/>
              <a:ext cx="12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CL" sz="2200" b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s-CL"/>
            </a:p>
          </p:txBody>
        </p:sp>
        <p:sp>
          <p:nvSpPr>
            <p:cNvPr id="15385" name="Rectangle 37"/>
            <p:cNvSpPr>
              <a:spLocks noChangeArrowheads="1"/>
            </p:cNvSpPr>
            <p:nvPr/>
          </p:nvSpPr>
          <p:spPr bwMode="auto">
            <a:xfrm>
              <a:off x="3889" y="2150"/>
              <a:ext cx="11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CL" sz="2200" b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s-CL"/>
            </a:p>
          </p:txBody>
        </p:sp>
        <p:sp>
          <p:nvSpPr>
            <p:cNvPr id="15386" name="Rectangle 38"/>
            <p:cNvSpPr>
              <a:spLocks noChangeArrowheads="1"/>
            </p:cNvSpPr>
            <p:nvPr/>
          </p:nvSpPr>
          <p:spPr bwMode="auto">
            <a:xfrm>
              <a:off x="4559" y="2150"/>
              <a:ext cx="12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CL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966009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A869A4-AB90-4232-B685-1AD9912CD391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Blocks World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/>
            <a:r>
              <a:rPr lang="en-US" sz="2000" dirty="0"/>
              <a:t>Un </a:t>
            </a:r>
            <a:r>
              <a:rPr lang="en-US" sz="2000" i="1" dirty="0" err="1">
                <a:solidFill>
                  <a:srgbClr val="003399"/>
                </a:solidFill>
              </a:rPr>
              <a:t>objetivo</a:t>
            </a:r>
            <a:r>
              <a:rPr lang="en-US" sz="2000" i="1" dirty="0"/>
              <a:t> </a:t>
            </a:r>
            <a:r>
              <a:rPr lang="en-US" sz="2000" i="1" dirty="0" err="1"/>
              <a:t>es</a:t>
            </a:r>
            <a:r>
              <a:rPr lang="en-US" sz="2000" i="1" dirty="0"/>
              <a:t> </a:t>
            </a:r>
            <a:r>
              <a:rPr lang="en-US" sz="2000" i="1" dirty="0" err="1"/>
              <a:t>representado</a:t>
            </a:r>
            <a:r>
              <a:rPr lang="en-US" sz="2000" i="1" dirty="0"/>
              <a:t> </a:t>
            </a:r>
            <a:r>
              <a:rPr lang="en-US" sz="2000" i="1" dirty="0" err="1"/>
              <a:t>por</a:t>
            </a:r>
            <a:r>
              <a:rPr lang="en-US" sz="2000" i="1" dirty="0"/>
              <a:t> un </a:t>
            </a:r>
            <a:r>
              <a:rPr lang="en-US" sz="2000" i="1" dirty="0" err="1"/>
              <a:t>conjunto</a:t>
            </a:r>
            <a:r>
              <a:rPr lang="en-US" sz="2000" i="1" dirty="0"/>
              <a:t> de </a:t>
            </a:r>
            <a:r>
              <a:rPr lang="en-US" sz="2000" i="1" dirty="0" err="1"/>
              <a:t>fórmulas</a:t>
            </a:r>
            <a:br>
              <a:rPr lang="en-US" sz="2000" i="1" dirty="0"/>
            </a:br>
            <a:endParaRPr lang="en-US" sz="2000" dirty="0"/>
          </a:p>
          <a:p>
            <a:pPr eaLnBrk="1" hangingPunct="1"/>
            <a:r>
              <a:rPr lang="en-US" sz="2000" dirty="0" err="1"/>
              <a:t>Aquí</a:t>
            </a:r>
            <a:r>
              <a:rPr lang="en-US" sz="2000" dirty="0"/>
              <a:t> hay un </a:t>
            </a:r>
            <a:r>
              <a:rPr lang="en-US" sz="2000" dirty="0" err="1"/>
              <a:t>objetivo</a:t>
            </a:r>
            <a:r>
              <a:rPr lang="en-US" sz="2000" dirty="0"/>
              <a:t>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(C)</a:t>
            </a: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3924300" y="464820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2286000" y="46291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5676900" y="46291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7416" name="Line 7"/>
          <p:cNvSpPr>
            <a:spLocks noChangeShapeType="1"/>
          </p:cNvSpPr>
          <p:nvPr/>
        </p:nvSpPr>
        <p:spPr bwMode="auto">
          <a:xfrm>
            <a:off x="1752600" y="5562600"/>
            <a:ext cx="518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pic>
        <p:nvPicPr>
          <p:cNvPr id="17417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3556000"/>
            <a:ext cx="17018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4184650" y="4794250"/>
            <a:ext cx="45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A</a:t>
            </a:r>
          </a:p>
        </p:txBody>
      </p:sp>
      <p:sp>
        <p:nvSpPr>
          <p:cNvPr id="17419" name="Rectangle 10"/>
          <p:cNvSpPr>
            <a:spLocks noChangeArrowheads="1"/>
          </p:cNvSpPr>
          <p:nvPr/>
        </p:nvSpPr>
        <p:spPr bwMode="auto">
          <a:xfrm>
            <a:off x="2546350" y="4775200"/>
            <a:ext cx="43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B</a:t>
            </a:r>
          </a:p>
        </p:txBody>
      </p:sp>
      <p:sp>
        <p:nvSpPr>
          <p:cNvPr id="17420" name="Rectangle 11"/>
          <p:cNvSpPr>
            <a:spLocks noChangeArrowheads="1"/>
          </p:cNvSpPr>
          <p:nvPr/>
        </p:nvSpPr>
        <p:spPr bwMode="auto">
          <a:xfrm>
            <a:off x="5861050" y="4775200"/>
            <a:ext cx="45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82649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08FE47-6876-42BA-9C2D-86666FFAB2A4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Blocks World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Las</a:t>
            </a:r>
            <a:r>
              <a:rPr lang="en-US" sz="2000" i="1" dirty="0">
                <a:solidFill>
                  <a:srgbClr val="003399"/>
                </a:solidFill>
              </a:rPr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acciones</a:t>
            </a:r>
            <a:r>
              <a:rPr lang="en-US" sz="2000" i="1" dirty="0"/>
              <a:t> </a:t>
            </a:r>
            <a:r>
              <a:rPr lang="en-US" sz="2000" dirty="0"/>
              <a:t>son </a:t>
            </a:r>
            <a:r>
              <a:rPr lang="en-US" sz="2000" dirty="0" err="1"/>
              <a:t>representadas</a:t>
            </a:r>
            <a:r>
              <a:rPr lang="en-US" sz="2000" dirty="0"/>
              <a:t> de la </a:t>
            </a:r>
            <a:r>
              <a:rPr lang="en-US" sz="2000" dirty="0" err="1"/>
              <a:t>siguiente</a:t>
            </a:r>
            <a:r>
              <a:rPr lang="en-US" sz="2000" dirty="0"/>
              <a:t> forma: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dirty="0" err="1"/>
              <a:t>tiene</a:t>
            </a:r>
            <a:r>
              <a:rPr lang="en-US" sz="2000" dirty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un </a:t>
            </a:r>
            <a:r>
              <a:rPr lang="en-US" sz="2000" i="1" dirty="0" err="1">
                <a:solidFill>
                  <a:srgbClr val="003399"/>
                </a:solidFill>
              </a:rPr>
              <a:t>nombre</a:t>
            </a:r>
            <a:br>
              <a:rPr lang="en-US" sz="2000" dirty="0"/>
            </a:br>
            <a:r>
              <a:rPr lang="en-US" sz="2000" dirty="0"/>
              <a:t>que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tener</a:t>
            </a:r>
            <a:r>
              <a:rPr lang="en-US" sz="2000" dirty="0"/>
              <a:t> </a:t>
            </a:r>
            <a:r>
              <a:rPr lang="en-US" sz="2000" dirty="0" err="1"/>
              <a:t>argumentos</a:t>
            </a:r>
            <a:br>
              <a:rPr lang="en-US" sz="2000" dirty="0"/>
            </a:b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Una </a:t>
            </a:r>
            <a:r>
              <a:rPr lang="en-US" sz="2000" i="1" dirty="0" err="1">
                <a:solidFill>
                  <a:srgbClr val="003399"/>
                </a:solidFill>
              </a:rPr>
              <a:t>lista</a:t>
            </a:r>
            <a:r>
              <a:rPr lang="en-US" sz="2000" i="1" dirty="0">
                <a:solidFill>
                  <a:srgbClr val="003399"/>
                </a:solidFill>
              </a:rPr>
              <a:t> de pre-</a:t>
            </a:r>
            <a:r>
              <a:rPr lang="en-US" sz="2000" i="1" dirty="0" err="1">
                <a:solidFill>
                  <a:srgbClr val="003399"/>
                </a:solidFill>
              </a:rPr>
              <a:t>condiciones</a:t>
            </a:r>
            <a:br>
              <a:rPr lang="en-US" sz="2000" dirty="0">
                <a:solidFill>
                  <a:srgbClr val="003399"/>
                </a:solidFill>
              </a:rPr>
            </a:br>
            <a:r>
              <a:rPr lang="en-US" sz="2000" dirty="0" err="1"/>
              <a:t>lista</a:t>
            </a:r>
            <a:r>
              <a:rPr lang="en-US" sz="2000" dirty="0"/>
              <a:t> de </a:t>
            </a:r>
            <a:r>
              <a:rPr lang="en-US" sz="2000" dirty="0" err="1"/>
              <a:t>hechos</a:t>
            </a:r>
            <a:r>
              <a:rPr lang="en-US" sz="2000" dirty="0"/>
              <a:t> que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verdadera</a:t>
            </a:r>
            <a:r>
              <a:rPr lang="en-US" sz="2000" dirty="0"/>
              <a:t> para </a:t>
            </a:r>
            <a:r>
              <a:rPr lang="en-US" sz="2000" dirty="0" err="1"/>
              <a:t>poder</a:t>
            </a:r>
            <a:r>
              <a:rPr lang="en-US" sz="2000" dirty="0"/>
              <a:t> </a:t>
            </a:r>
            <a:r>
              <a:rPr lang="en-US" sz="2000" dirty="0" err="1"/>
              <a:t>ejecutar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acción</a:t>
            </a:r>
            <a:br>
              <a:rPr lang="en-US" sz="2000" dirty="0"/>
            </a:b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lista</a:t>
            </a:r>
            <a:r>
              <a:rPr lang="en-US" sz="2000" i="1" dirty="0">
                <a:solidFill>
                  <a:srgbClr val="003399"/>
                </a:solidFill>
              </a:rPr>
              <a:t> de </a:t>
            </a:r>
            <a:r>
              <a:rPr lang="en-US" sz="2000" i="1" dirty="0" err="1">
                <a:solidFill>
                  <a:srgbClr val="003399"/>
                </a:solidFill>
              </a:rPr>
              <a:t>borrado</a:t>
            </a:r>
            <a:r>
              <a:rPr lang="en-US" sz="2000" i="1" dirty="0">
                <a:solidFill>
                  <a:srgbClr val="003399"/>
                </a:solidFill>
              </a:rPr>
              <a:t> (delete list)</a:t>
            </a:r>
            <a:br>
              <a:rPr lang="en-US" sz="2000" i="1" dirty="0"/>
            </a:br>
            <a:r>
              <a:rPr lang="en-US" sz="2000" dirty="0" err="1"/>
              <a:t>lista</a:t>
            </a:r>
            <a:r>
              <a:rPr lang="en-US" sz="2000" dirty="0"/>
              <a:t> de </a:t>
            </a:r>
            <a:r>
              <a:rPr lang="en-US" sz="2000" dirty="0" err="1"/>
              <a:t>hechos</a:t>
            </a:r>
            <a:r>
              <a:rPr lang="en-US" sz="2000" dirty="0"/>
              <a:t> que no son </a:t>
            </a:r>
            <a:r>
              <a:rPr lang="en-US" sz="2000" dirty="0" err="1"/>
              <a:t>verdaderos</a:t>
            </a:r>
            <a:r>
              <a:rPr lang="en-US" sz="2000" dirty="0"/>
              <a:t> </a:t>
            </a:r>
            <a:r>
              <a:rPr lang="en-US" sz="2000" dirty="0" err="1"/>
              <a:t>después</a:t>
            </a:r>
            <a:r>
              <a:rPr lang="en-US" sz="2000" dirty="0"/>
              <a:t> que la </a:t>
            </a:r>
            <a:r>
              <a:rPr lang="en-US" sz="2000" dirty="0" err="1"/>
              <a:t>acción</a:t>
            </a:r>
            <a:r>
              <a:rPr lang="en-US" sz="2000" dirty="0"/>
              <a:t> se </a:t>
            </a:r>
            <a:r>
              <a:rPr lang="en-US" sz="2000" dirty="0" err="1"/>
              <a:t>ejecutó</a:t>
            </a:r>
            <a:br>
              <a:rPr lang="en-US" sz="2000" dirty="0"/>
            </a:b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Una </a:t>
            </a:r>
            <a:r>
              <a:rPr lang="en-US" sz="2000" i="1" dirty="0" err="1">
                <a:solidFill>
                  <a:srgbClr val="003399"/>
                </a:solidFill>
              </a:rPr>
              <a:t>lista</a:t>
            </a:r>
            <a:r>
              <a:rPr lang="en-US" sz="2000" i="1" dirty="0">
                <a:solidFill>
                  <a:srgbClr val="003399"/>
                </a:solidFill>
              </a:rPr>
              <a:t> de </a:t>
            </a:r>
            <a:r>
              <a:rPr lang="en-US" sz="2000" i="1" dirty="0" err="1">
                <a:solidFill>
                  <a:srgbClr val="003399"/>
                </a:solidFill>
              </a:rPr>
              <a:t>agregación</a:t>
            </a:r>
            <a:r>
              <a:rPr lang="en-US" sz="2000" i="1" dirty="0">
                <a:solidFill>
                  <a:srgbClr val="003399"/>
                </a:solidFill>
              </a:rPr>
              <a:t> (add list)</a:t>
            </a:r>
            <a:br>
              <a:rPr lang="en-US" sz="2000" i="1" dirty="0">
                <a:solidFill>
                  <a:srgbClr val="003399"/>
                </a:solidFill>
              </a:rPr>
            </a:br>
            <a:r>
              <a:rPr lang="en-US" sz="2000" dirty="0" err="1"/>
              <a:t>lista</a:t>
            </a:r>
            <a:r>
              <a:rPr lang="en-US" sz="2000" dirty="0"/>
              <a:t> de </a:t>
            </a:r>
            <a:r>
              <a:rPr lang="en-US" sz="2000" dirty="0" err="1"/>
              <a:t>hechos</a:t>
            </a:r>
            <a:r>
              <a:rPr lang="en-US" sz="2000" dirty="0"/>
              <a:t> que se </a:t>
            </a:r>
            <a:r>
              <a:rPr lang="en-US" sz="2000" dirty="0" err="1"/>
              <a:t>vuelven</a:t>
            </a:r>
            <a:r>
              <a:rPr lang="en-US" sz="2000" dirty="0"/>
              <a:t>  </a:t>
            </a:r>
            <a:r>
              <a:rPr lang="en-US" sz="2000" dirty="0" err="1"/>
              <a:t>verdaderos</a:t>
            </a:r>
            <a:r>
              <a:rPr lang="en-US" sz="2000" dirty="0"/>
              <a:t> al </a:t>
            </a:r>
            <a:r>
              <a:rPr lang="en-US" sz="2000" dirty="0" err="1"/>
              <a:t>ejecutar</a:t>
            </a:r>
            <a:r>
              <a:rPr lang="en-US" sz="2000" dirty="0"/>
              <a:t> la </a:t>
            </a:r>
            <a:r>
              <a:rPr lang="en-US" sz="2000" dirty="0" err="1"/>
              <a:t>acción</a:t>
            </a:r>
            <a:endParaRPr lang="en-US" sz="20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br>
              <a:rPr lang="en-US" sz="2000" dirty="0"/>
            </a:b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uno</a:t>
            </a:r>
            <a:r>
              <a:rPr lang="en-US" sz="2000" dirty="0"/>
              <a:t> de </a:t>
            </a:r>
            <a:r>
              <a:rPr lang="en-US" sz="2000" dirty="0" err="1"/>
              <a:t>ellos</a:t>
            </a:r>
            <a:r>
              <a:rPr lang="en-US" sz="2000" dirty="0"/>
              <a:t>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contener</a:t>
            </a:r>
            <a:r>
              <a:rPr lang="en-US" sz="2000" dirty="0"/>
              <a:t> </a:t>
            </a:r>
            <a:r>
              <a:rPr lang="en-US" sz="2000" i="1" dirty="0">
                <a:solidFill>
                  <a:srgbClr val="003399"/>
                </a:solidFill>
              </a:rPr>
              <a:t>variables</a:t>
            </a:r>
            <a:endParaRPr lang="en-US" sz="20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48529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4A1273-1F8D-4C63-ABF7-0A01DF8B8504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Operadores</a:t>
            </a:r>
            <a:r>
              <a:rPr lang="en-US" dirty="0"/>
              <a:t> del Blocks World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505200"/>
            <a:ext cx="8229600" cy="3098800"/>
          </a:xfrm>
        </p:spPr>
        <p:txBody>
          <a:bodyPr/>
          <a:lstStyle/>
          <a:p>
            <a:pPr eaLnBrk="1" hangingPunct="1"/>
            <a:r>
              <a:rPr lang="en-US" sz="2000" dirty="0" err="1"/>
              <a:t>Ejemplo</a:t>
            </a:r>
            <a:r>
              <a:rPr lang="en-US" sz="2000" dirty="0"/>
              <a:t> 1:</a:t>
            </a:r>
            <a:br>
              <a:rPr lang="en-US" sz="2000" dirty="0"/>
            </a:br>
            <a:r>
              <a:rPr lang="en-US" sz="2000" dirty="0"/>
              <a:t>La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i="1" dirty="0">
                <a:solidFill>
                  <a:srgbClr val="003399"/>
                </a:solidFill>
              </a:rPr>
              <a:t>stack</a:t>
            </a:r>
            <a:r>
              <a:rPr lang="en-US" sz="2000" i="1" dirty="0"/>
              <a:t> </a:t>
            </a:r>
            <a:r>
              <a:rPr lang="en-US" sz="2000" dirty="0" err="1"/>
              <a:t>ocurre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el </a:t>
            </a:r>
            <a:r>
              <a:rPr lang="en-US" sz="2000" dirty="0" err="1"/>
              <a:t>brazo</a:t>
            </a:r>
            <a:r>
              <a:rPr lang="en-US" sz="2000" dirty="0"/>
              <a:t> pone el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/>
              <a:t> que </a:t>
            </a:r>
            <a:r>
              <a:rPr lang="en-US" sz="2000" i="1" dirty="0" err="1"/>
              <a:t>tiene</a:t>
            </a:r>
            <a:r>
              <a:rPr lang="en-US" sz="2000" i="1" dirty="0"/>
              <a:t> </a:t>
            </a:r>
            <a:r>
              <a:rPr lang="en-US" sz="2000" i="1" dirty="0" err="1"/>
              <a:t>asido</a:t>
            </a:r>
            <a:r>
              <a:rPr lang="en-US" sz="2000" i="1" dirty="0"/>
              <a:t> </a:t>
            </a:r>
            <a:r>
              <a:rPr lang="en-US" sz="2000" i="1" dirty="0" err="1"/>
              <a:t>encima</a:t>
            </a:r>
            <a:r>
              <a:rPr lang="en-US" sz="2000" i="1" dirty="0"/>
              <a:t> del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		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Stack(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pre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del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add</a:t>
            </a:r>
            <a:r>
              <a:rPr lang="en-US" sz="2000" i="1" dirty="0"/>
              <a:t>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On(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2876550" y="15811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2876550" y="24955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1981200" y="3429000"/>
            <a:ext cx="518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3136900" y="1727200"/>
            <a:ext cx="45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A</a:t>
            </a:r>
          </a:p>
        </p:txBody>
      </p:sp>
      <p:sp>
        <p:nvSpPr>
          <p:cNvPr id="19465" name="Rectangle 10"/>
          <p:cNvSpPr>
            <a:spLocks noChangeArrowheads="1"/>
          </p:cNvSpPr>
          <p:nvPr/>
        </p:nvSpPr>
        <p:spPr bwMode="auto">
          <a:xfrm>
            <a:off x="3136900" y="2641600"/>
            <a:ext cx="43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B</a:t>
            </a:r>
          </a:p>
        </p:txBody>
      </p:sp>
      <p:pic>
        <p:nvPicPr>
          <p:cNvPr id="19466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0" y="1143000"/>
            <a:ext cx="17018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6404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F77AA2-640E-41A4-BD07-419CBC9B56BA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Operadores</a:t>
            </a:r>
            <a:r>
              <a:rPr lang="en-US" dirty="0"/>
              <a:t> del Blocks World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err="1"/>
              <a:t>Ejemplo</a:t>
            </a:r>
            <a:r>
              <a:rPr lang="en-US" sz="2000" dirty="0"/>
              <a:t> 2:</a:t>
            </a:r>
            <a:br>
              <a:rPr lang="en-US" sz="2000" dirty="0"/>
            </a:br>
            <a:r>
              <a:rPr lang="en-US" sz="2000" dirty="0"/>
              <a:t>La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i="1" dirty="0">
                <a:solidFill>
                  <a:srgbClr val="003399"/>
                </a:solidFill>
              </a:rPr>
              <a:t>unstack</a:t>
            </a:r>
            <a:r>
              <a:rPr lang="en-US" sz="2000" i="1" dirty="0"/>
              <a:t> </a:t>
            </a:r>
            <a:r>
              <a:rPr lang="en-US" sz="2000" dirty="0" err="1"/>
              <a:t>ocurre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el </a:t>
            </a:r>
            <a:r>
              <a:rPr lang="en-US" sz="2000" dirty="0" err="1"/>
              <a:t>brazo</a:t>
            </a:r>
            <a:r>
              <a:rPr lang="en-US" sz="2000" dirty="0"/>
              <a:t> </a:t>
            </a:r>
            <a:r>
              <a:rPr lang="en-US" sz="2000" dirty="0" err="1"/>
              <a:t>toma</a:t>
            </a:r>
            <a:r>
              <a:rPr lang="en-US" sz="2000" dirty="0"/>
              <a:t> un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/>
              <a:t> </a:t>
            </a:r>
            <a:r>
              <a:rPr lang="en-US" sz="2000" dirty="0"/>
              <a:t>que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encima</a:t>
            </a:r>
            <a:r>
              <a:rPr lang="en-US" sz="2000" dirty="0"/>
              <a:t> de </a:t>
            </a:r>
            <a:r>
              <a:rPr lang="en-US" sz="2000" dirty="0" err="1"/>
              <a:t>otro</a:t>
            </a:r>
            <a:r>
              <a:rPr lang="en-US" sz="2000" dirty="0"/>
              <a:t>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		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UnStack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pre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On(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del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On(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add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Stack y </a:t>
            </a:r>
            <a:r>
              <a:rPr lang="en-US" sz="2000" dirty="0" err="1"/>
              <a:t>UnStack</a:t>
            </a:r>
            <a:r>
              <a:rPr lang="en-US" sz="2000" dirty="0"/>
              <a:t> son </a:t>
            </a:r>
            <a:r>
              <a:rPr lang="en-US" sz="2000" dirty="0" err="1"/>
              <a:t>acciones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inversas</a:t>
            </a:r>
            <a:r>
              <a:rPr lang="en-US" sz="20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3702050" y="453390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2876550" y="5543550"/>
            <a:ext cx="8763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L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1981200" y="6477000"/>
            <a:ext cx="518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pic>
        <p:nvPicPr>
          <p:cNvPr id="20488" name="Picture 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4095750"/>
            <a:ext cx="17018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3962400" y="4679950"/>
            <a:ext cx="45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A</a:t>
            </a: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3136900" y="5689600"/>
            <a:ext cx="43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8000"/>
              </a:lnSpc>
            </a:pPr>
            <a:r>
              <a:rPr lang="en-US" sz="3600" b="1">
                <a:latin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95717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F515-E7FE-4942-9CEA-A2F483E2057A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Operadores</a:t>
            </a:r>
            <a:r>
              <a:rPr lang="en-US" dirty="0"/>
              <a:t> del Blocks World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5838"/>
            <a:ext cx="8229600" cy="5257800"/>
          </a:xfrm>
        </p:spPr>
        <p:txBody>
          <a:bodyPr/>
          <a:lstStyle/>
          <a:p>
            <a:pPr eaLnBrk="1" hangingPunct="1"/>
            <a:r>
              <a:rPr lang="en-US" sz="2000" dirty="0" err="1"/>
              <a:t>Ejemplo</a:t>
            </a:r>
            <a:r>
              <a:rPr lang="en-US" sz="2000" dirty="0"/>
              <a:t> 3:</a:t>
            </a:r>
            <a:br>
              <a:rPr lang="en-US" sz="2000" dirty="0"/>
            </a:br>
            <a:r>
              <a:rPr lang="en-US" sz="2000" dirty="0"/>
              <a:t>La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i="1" dirty="0">
                <a:solidFill>
                  <a:srgbClr val="003399"/>
                </a:solidFill>
              </a:rPr>
              <a:t>pickup</a:t>
            </a:r>
            <a:r>
              <a:rPr lang="en-US" sz="2000" i="1" dirty="0"/>
              <a:t> </a:t>
            </a:r>
            <a:r>
              <a:rPr lang="en-US" sz="2000" dirty="0" err="1"/>
              <a:t>ocurre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el </a:t>
            </a:r>
            <a:r>
              <a:rPr lang="en-US" sz="2000" dirty="0" err="1"/>
              <a:t>brazo</a:t>
            </a:r>
            <a:r>
              <a:rPr lang="en-US" sz="2000" dirty="0"/>
              <a:t> </a:t>
            </a:r>
            <a:r>
              <a:rPr lang="en-US" sz="2000" dirty="0" err="1"/>
              <a:t>levanta</a:t>
            </a:r>
            <a:r>
              <a:rPr lang="en-US" sz="2000" dirty="0"/>
              <a:t> un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/>
              <a:t> </a:t>
            </a:r>
            <a:r>
              <a:rPr lang="en-US" sz="2000" dirty="0" err="1"/>
              <a:t>desde</a:t>
            </a:r>
            <a:r>
              <a:rPr lang="en-US" sz="2000" dirty="0"/>
              <a:t> </a:t>
            </a:r>
            <a:r>
              <a:rPr lang="en-US" sz="2000" dirty="0" err="1"/>
              <a:t>encima</a:t>
            </a:r>
            <a:r>
              <a:rPr lang="en-US" sz="2000" dirty="0"/>
              <a:t> de la mesa.</a:t>
            </a:r>
          </a:p>
          <a:p>
            <a:pPr marL="0" indent="0" eaLnBrk="1" hangingPunct="1">
              <a:buNone/>
            </a:pPr>
            <a:br>
              <a:rPr lang="en-US" sz="2000" dirty="0"/>
            </a:br>
            <a:r>
              <a:rPr lang="en-US" sz="2000" dirty="0"/>
              <a:t>		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Pickup(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pre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del</a:t>
            </a:r>
            <a:r>
              <a:rPr lang="en-US" sz="2000" i="1" dirty="0"/>
              <a:t>	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add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en-US" sz="2000" dirty="0" err="1"/>
              <a:t>Ejemplo</a:t>
            </a:r>
            <a:r>
              <a:rPr lang="en-US" sz="2000" dirty="0"/>
              <a:t> 4:</a:t>
            </a:r>
            <a:br>
              <a:rPr lang="en-US" sz="2000" dirty="0"/>
            </a:br>
            <a:r>
              <a:rPr lang="en-US" sz="2000" dirty="0"/>
              <a:t>La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i="1" dirty="0">
                <a:solidFill>
                  <a:srgbClr val="003399"/>
                </a:solidFill>
              </a:rPr>
              <a:t>putdown</a:t>
            </a:r>
            <a:r>
              <a:rPr lang="en-US" sz="2000" i="1" dirty="0"/>
              <a:t> </a:t>
            </a:r>
            <a:r>
              <a:rPr lang="en-US" sz="2000" dirty="0" err="1"/>
              <a:t>ocurre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el </a:t>
            </a:r>
            <a:r>
              <a:rPr lang="en-US" sz="2000" dirty="0" err="1"/>
              <a:t>brazo</a:t>
            </a:r>
            <a:r>
              <a:rPr lang="en-US" sz="2000" dirty="0"/>
              <a:t> pone un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la mesa.</a:t>
            </a:r>
          </a:p>
          <a:p>
            <a:pPr marL="0" indent="0" eaLnBrk="1" hangingPunct="1">
              <a:buNone/>
            </a:pPr>
            <a:br>
              <a:rPr lang="en-US" sz="2000" dirty="0"/>
            </a:br>
            <a:r>
              <a:rPr lang="en-US" sz="2000" dirty="0"/>
              <a:t> 		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Putdown(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pre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del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Holding(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br>
              <a:rPr lang="en-US" sz="2000" i="1" dirty="0"/>
            </a:br>
            <a:r>
              <a:rPr lang="en-US" sz="2000" i="1" dirty="0"/>
              <a:t>		</a:t>
            </a:r>
            <a:r>
              <a:rPr lang="en-US" sz="2000" dirty="0"/>
              <a:t>add</a:t>
            </a:r>
            <a:r>
              <a:rPr lang="en-US" sz="2000" i="1" dirty="0"/>
              <a:t>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Clear(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OnTable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ArmEmpty</a:t>
            </a:r>
            <a:endParaRPr lang="en-US" sz="2000" dirty="0"/>
          </a:p>
          <a:p>
            <a:pPr eaLnBrk="1" hangingPunct="1"/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568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CA0B85-00E1-4E03-BE87-06D8F63D49A0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 Plan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724400"/>
            <a:ext cx="8229600" cy="1524000"/>
          </a:xfrm>
        </p:spPr>
        <p:txBody>
          <a:bodyPr/>
          <a:lstStyle/>
          <a:p>
            <a:pPr eaLnBrk="1" hangingPunct="1"/>
            <a:r>
              <a:rPr lang="en-US" sz="2000" dirty="0"/>
              <a:t>¿</a:t>
            </a:r>
            <a:r>
              <a:rPr lang="en-US" sz="2000" dirty="0" err="1"/>
              <a:t>Qué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un plan?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Una </a:t>
            </a:r>
            <a:r>
              <a:rPr lang="en-US" sz="2000" dirty="0" err="1"/>
              <a:t>secuencia</a:t>
            </a:r>
            <a:r>
              <a:rPr lang="en-US" sz="2000" dirty="0"/>
              <a:t> (</a:t>
            </a:r>
            <a:r>
              <a:rPr lang="en-US" sz="2000" dirty="0" err="1"/>
              <a:t>lista</a:t>
            </a:r>
            <a:r>
              <a:rPr lang="en-US" sz="2000" dirty="0"/>
              <a:t>) de </a:t>
            </a:r>
            <a:r>
              <a:rPr lang="en-US" sz="2000" dirty="0" err="1"/>
              <a:t>acciones</a:t>
            </a:r>
            <a:r>
              <a:rPr lang="en-US" sz="2000" dirty="0"/>
              <a:t>, con variables </a:t>
            </a:r>
            <a:r>
              <a:rPr lang="en-US" sz="2000" dirty="0" err="1"/>
              <a:t>reemplazadas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constantes</a:t>
            </a:r>
            <a:r>
              <a:rPr lang="en-US" sz="2000" dirty="0"/>
              <a:t>.</a:t>
            </a:r>
          </a:p>
        </p:txBody>
      </p:sp>
      <p:sp>
        <p:nvSpPr>
          <p:cNvPr id="22533" name="Oval 4"/>
          <p:cNvSpPr>
            <a:spLocks noChangeArrowheads="1"/>
          </p:cNvSpPr>
          <p:nvPr/>
        </p:nvSpPr>
        <p:spPr bwMode="auto">
          <a:xfrm>
            <a:off x="1905000" y="2565400"/>
            <a:ext cx="482600" cy="4826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CL">
              <a:solidFill>
                <a:srgbClr val="FFFF00"/>
              </a:solidFill>
            </a:endParaRPr>
          </a:p>
        </p:txBody>
      </p:sp>
      <p:sp>
        <p:nvSpPr>
          <p:cNvPr id="22534" name="Oval 5"/>
          <p:cNvSpPr>
            <a:spLocks noChangeArrowheads="1"/>
          </p:cNvSpPr>
          <p:nvPr/>
        </p:nvSpPr>
        <p:spPr bwMode="auto">
          <a:xfrm>
            <a:off x="2743200" y="34036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35" name="Oval 6"/>
          <p:cNvSpPr>
            <a:spLocks noChangeArrowheads="1"/>
          </p:cNvSpPr>
          <p:nvPr/>
        </p:nvSpPr>
        <p:spPr bwMode="auto">
          <a:xfrm>
            <a:off x="2743200" y="25654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36" name="Oval 7"/>
          <p:cNvSpPr>
            <a:spLocks noChangeArrowheads="1"/>
          </p:cNvSpPr>
          <p:nvPr/>
        </p:nvSpPr>
        <p:spPr bwMode="auto">
          <a:xfrm>
            <a:off x="2743200" y="17272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37" name="Oval 8"/>
          <p:cNvSpPr>
            <a:spLocks noChangeArrowheads="1"/>
          </p:cNvSpPr>
          <p:nvPr/>
        </p:nvSpPr>
        <p:spPr bwMode="auto">
          <a:xfrm>
            <a:off x="5486400" y="34036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38" name="Oval 9"/>
          <p:cNvSpPr>
            <a:spLocks noChangeArrowheads="1"/>
          </p:cNvSpPr>
          <p:nvPr/>
        </p:nvSpPr>
        <p:spPr bwMode="auto">
          <a:xfrm>
            <a:off x="5486400" y="25654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39" name="Oval 10"/>
          <p:cNvSpPr>
            <a:spLocks noChangeArrowheads="1"/>
          </p:cNvSpPr>
          <p:nvPr/>
        </p:nvSpPr>
        <p:spPr bwMode="auto">
          <a:xfrm>
            <a:off x="5486400" y="17272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40" name="Oval 11"/>
          <p:cNvSpPr>
            <a:spLocks noChangeArrowheads="1"/>
          </p:cNvSpPr>
          <p:nvPr/>
        </p:nvSpPr>
        <p:spPr bwMode="auto">
          <a:xfrm>
            <a:off x="6629400" y="2565400"/>
            <a:ext cx="482600" cy="482600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CL"/>
          </a:p>
        </p:txBody>
      </p:sp>
      <p:sp>
        <p:nvSpPr>
          <p:cNvPr id="22541" name="Oval 12"/>
          <p:cNvSpPr>
            <a:spLocks noChangeArrowheads="1"/>
          </p:cNvSpPr>
          <p:nvPr/>
        </p:nvSpPr>
        <p:spPr bwMode="auto">
          <a:xfrm>
            <a:off x="3733800" y="40132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42" name="Oval 13"/>
          <p:cNvSpPr>
            <a:spLocks noChangeArrowheads="1"/>
          </p:cNvSpPr>
          <p:nvPr/>
        </p:nvSpPr>
        <p:spPr bwMode="auto">
          <a:xfrm>
            <a:off x="3733800" y="31750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43" name="Oval 14"/>
          <p:cNvSpPr>
            <a:spLocks noChangeArrowheads="1"/>
          </p:cNvSpPr>
          <p:nvPr/>
        </p:nvSpPr>
        <p:spPr bwMode="auto">
          <a:xfrm>
            <a:off x="3733800" y="23368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44" name="Oval 15"/>
          <p:cNvSpPr>
            <a:spLocks noChangeArrowheads="1"/>
          </p:cNvSpPr>
          <p:nvPr/>
        </p:nvSpPr>
        <p:spPr bwMode="auto">
          <a:xfrm>
            <a:off x="3733800" y="1574800"/>
            <a:ext cx="482600" cy="482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45" name="Oval 16"/>
          <p:cNvSpPr>
            <a:spLocks noChangeArrowheads="1"/>
          </p:cNvSpPr>
          <p:nvPr/>
        </p:nvSpPr>
        <p:spPr bwMode="auto">
          <a:xfrm>
            <a:off x="3733800" y="850900"/>
            <a:ext cx="4826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L"/>
          </a:p>
        </p:txBody>
      </p:sp>
      <p:sp>
        <p:nvSpPr>
          <p:cNvPr id="22546" name="Rectangle 17"/>
          <p:cNvSpPr>
            <a:spLocks noChangeArrowheads="1"/>
          </p:cNvSpPr>
          <p:nvPr/>
        </p:nvSpPr>
        <p:spPr bwMode="auto">
          <a:xfrm>
            <a:off x="2025650" y="2647950"/>
            <a:ext cx="246063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2400" b="1">
                <a:latin typeface="Times New Roman" pitchFamily="18" charset="0"/>
              </a:rPr>
              <a:t>I</a:t>
            </a:r>
          </a:p>
        </p:txBody>
      </p:sp>
      <p:sp>
        <p:nvSpPr>
          <p:cNvPr id="22547" name="Rectangle 18"/>
          <p:cNvSpPr>
            <a:spLocks noChangeArrowheads="1"/>
          </p:cNvSpPr>
          <p:nvPr/>
        </p:nvSpPr>
        <p:spPr bwMode="auto">
          <a:xfrm>
            <a:off x="6705600" y="2647950"/>
            <a:ext cx="363538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2400" b="1" dirty="0">
                <a:latin typeface="Times New Roman" pitchFamily="18" charset="0"/>
              </a:rPr>
              <a:t>G</a:t>
            </a:r>
          </a:p>
        </p:txBody>
      </p:sp>
      <p:sp>
        <p:nvSpPr>
          <p:cNvPr id="22548" name="Line 19"/>
          <p:cNvSpPr>
            <a:spLocks noChangeShapeType="1"/>
          </p:cNvSpPr>
          <p:nvPr/>
        </p:nvSpPr>
        <p:spPr bwMode="auto">
          <a:xfrm>
            <a:off x="2393950" y="28257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49" name="Line 20"/>
          <p:cNvSpPr>
            <a:spLocks noChangeShapeType="1"/>
          </p:cNvSpPr>
          <p:nvPr/>
        </p:nvSpPr>
        <p:spPr bwMode="auto">
          <a:xfrm flipV="1">
            <a:off x="2393950" y="213995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0" name="Line 21"/>
          <p:cNvSpPr>
            <a:spLocks noChangeShapeType="1"/>
          </p:cNvSpPr>
          <p:nvPr/>
        </p:nvSpPr>
        <p:spPr bwMode="auto">
          <a:xfrm>
            <a:off x="2393950" y="28257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1" name="Line 22"/>
          <p:cNvSpPr>
            <a:spLocks noChangeShapeType="1"/>
          </p:cNvSpPr>
          <p:nvPr/>
        </p:nvSpPr>
        <p:spPr bwMode="auto">
          <a:xfrm flipV="1">
            <a:off x="3232150" y="1835150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2" name="Line 23"/>
          <p:cNvSpPr>
            <a:spLocks noChangeShapeType="1"/>
          </p:cNvSpPr>
          <p:nvPr/>
        </p:nvSpPr>
        <p:spPr bwMode="auto">
          <a:xfrm flipV="1">
            <a:off x="3232150" y="1149350"/>
            <a:ext cx="533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3" name="Line 24"/>
          <p:cNvSpPr>
            <a:spLocks noChangeShapeType="1"/>
          </p:cNvSpPr>
          <p:nvPr/>
        </p:nvSpPr>
        <p:spPr bwMode="auto">
          <a:xfrm flipV="1">
            <a:off x="3232150" y="259715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4" name="Line 25"/>
          <p:cNvSpPr>
            <a:spLocks noChangeShapeType="1"/>
          </p:cNvSpPr>
          <p:nvPr/>
        </p:nvSpPr>
        <p:spPr bwMode="auto">
          <a:xfrm>
            <a:off x="3232150" y="282575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5" name="Line 26"/>
          <p:cNvSpPr>
            <a:spLocks noChangeShapeType="1"/>
          </p:cNvSpPr>
          <p:nvPr/>
        </p:nvSpPr>
        <p:spPr bwMode="auto">
          <a:xfrm>
            <a:off x="3232150" y="381635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6" name="Line 27"/>
          <p:cNvSpPr>
            <a:spLocks noChangeShapeType="1"/>
          </p:cNvSpPr>
          <p:nvPr/>
        </p:nvSpPr>
        <p:spPr bwMode="auto">
          <a:xfrm>
            <a:off x="5975350" y="1987550"/>
            <a:ext cx="762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7" name="Line 28"/>
          <p:cNvSpPr>
            <a:spLocks noChangeShapeType="1"/>
          </p:cNvSpPr>
          <p:nvPr/>
        </p:nvSpPr>
        <p:spPr bwMode="auto">
          <a:xfrm>
            <a:off x="5975350" y="282575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8" name="Line 29"/>
          <p:cNvSpPr>
            <a:spLocks noChangeShapeType="1"/>
          </p:cNvSpPr>
          <p:nvPr/>
        </p:nvSpPr>
        <p:spPr bwMode="auto">
          <a:xfrm flipV="1">
            <a:off x="5975350" y="3054350"/>
            <a:ext cx="838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59" name="Line 30"/>
          <p:cNvSpPr>
            <a:spLocks noChangeShapeType="1"/>
          </p:cNvSpPr>
          <p:nvPr/>
        </p:nvSpPr>
        <p:spPr bwMode="auto">
          <a:xfrm flipV="1">
            <a:off x="4222750" y="76835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0" name="Line 31"/>
          <p:cNvSpPr>
            <a:spLocks noChangeShapeType="1"/>
          </p:cNvSpPr>
          <p:nvPr/>
        </p:nvSpPr>
        <p:spPr bwMode="auto">
          <a:xfrm>
            <a:off x="4222750" y="9207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1" name="Line 32"/>
          <p:cNvSpPr>
            <a:spLocks noChangeShapeType="1"/>
          </p:cNvSpPr>
          <p:nvPr/>
        </p:nvSpPr>
        <p:spPr bwMode="auto">
          <a:xfrm>
            <a:off x="4222750" y="92075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2" name="Line 33"/>
          <p:cNvSpPr>
            <a:spLocks noChangeShapeType="1"/>
          </p:cNvSpPr>
          <p:nvPr/>
        </p:nvSpPr>
        <p:spPr bwMode="auto">
          <a:xfrm flipV="1">
            <a:off x="4222750" y="160655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3" name="Line 34"/>
          <p:cNvSpPr>
            <a:spLocks noChangeShapeType="1"/>
          </p:cNvSpPr>
          <p:nvPr/>
        </p:nvSpPr>
        <p:spPr bwMode="auto">
          <a:xfrm>
            <a:off x="4298950" y="1835150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4" name="Line 35"/>
          <p:cNvSpPr>
            <a:spLocks noChangeShapeType="1"/>
          </p:cNvSpPr>
          <p:nvPr/>
        </p:nvSpPr>
        <p:spPr bwMode="auto">
          <a:xfrm flipV="1">
            <a:off x="4222750" y="244475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5" name="Line 36"/>
          <p:cNvSpPr>
            <a:spLocks noChangeShapeType="1"/>
          </p:cNvSpPr>
          <p:nvPr/>
        </p:nvSpPr>
        <p:spPr bwMode="auto">
          <a:xfrm>
            <a:off x="4222750" y="267335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6" name="Line 37"/>
          <p:cNvSpPr>
            <a:spLocks noChangeShapeType="1"/>
          </p:cNvSpPr>
          <p:nvPr/>
        </p:nvSpPr>
        <p:spPr bwMode="auto">
          <a:xfrm flipV="1">
            <a:off x="4222750" y="328295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4222750" y="343535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8" name="Line 39"/>
          <p:cNvSpPr>
            <a:spLocks noChangeShapeType="1"/>
          </p:cNvSpPr>
          <p:nvPr/>
        </p:nvSpPr>
        <p:spPr bwMode="auto">
          <a:xfrm>
            <a:off x="4222750" y="42735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 flipH="1" flipV="1">
            <a:off x="5365750" y="1530350"/>
            <a:ext cx="152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0" name="Line 41"/>
          <p:cNvSpPr>
            <a:spLocks noChangeShapeType="1"/>
          </p:cNvSpPr>
          <p:nvPr/>
        </p:nvSpPr>
        <p:spPr bwMode="auto">
          <a:xfrm flipH="1">
            <a:off x="5289550" y="191135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 flipH="1" flipV="1">
            <a:off x="5365750" y="244475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2" name="Line 43"/>
          <p:cNvSpPr>
            <a:spLocks noChangeShapeType="1"/>
          </p:cNvSpPr>
          <p:nvPr/>
        </p:nvSpPr>
        <p:spPr bwMode="auto">
          <a:xfrm flipH="1">
            <a:off x="5213350" y="28257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 flipH="1">
            <a:off x="5289550" y="290195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4" name="Line 45"/>
          <p:cNvSpPr>
            <a:spLocks noChangeShapeType="1"/>
          </p:cNvSpPr>
          <p:nvPr/>
        </p:nvSpPr>
        <p:spPr bwMode="auto">
          <a:xfrm>
            <a:off x="5213350" y="3511550"/>
            <a:ext cx="304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5" name="Line 46"/>
          <p:cNvSpPr>
            <a:spLocks noChangeShapeType="1"/>
          </p:cNvSpPr>
          <p:nvPr/>
        </p:nvSpPr>
        <p:spPr bwMode="auto">
          <a:xfrm flipH="1">
            <a:off x="5137150" y="374015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6" name="Line 47"/>
          <p:cNvSpPr>
            <a:spLocks noChangeShapeType="1"/>
          </p:cNvSpPr>
          <p:nvPr/>
        </p:nvSpPr>
        <p:spPr bwMode="auto">
          <a:xfrm>
            <a:off x="4832350" y="76835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7" name="Line 48"/>
          <p:cNvSpPr>
            <a:spLocks noChangeShapeType="1"/>
          </p:cNvSpPr>
          <p:nvPr/>
        </p:nvSpPr>
        <p:spPr bwMode="auto">
          <a:xfrm>
            <a:off x="4832350" y="153035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8" name="Line 49"/>
          <p:cNvSpPr>
            <a:spLocks noChangeShapeType="1"/>
          </p:cNvSpPr>
          <p:nvPr/>
        </p:nvSpPr>
        <p:spPr bwMode="auto">
          <a:xfrm>
            <a:off x="4832350" y="229235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79" name="Line 50"/>
          <p:cNvSpPr>
            <a:spLocks noChangeShapeType="1"/>
          </p:cNvSpPr>
          <p:nvPr/>
        </p:nvSpPr>
        <p:spPr bwMode="auto">
          <a:xfrm>
            <a:off x="4832350" y="313055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80" name="Line 51"/>
          <p:cNvSpPr>
            <a:spLocks noChangeShapeType="1"/>
          </p:cNvSpPr>
          <p:nvPr/>
        </p:nvSpPr>
        <p:spPr bwMode="auto">
          <a:xfrm>
            <a:off x="4832350" y="389255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2581" name="Rectangle 52"/>
          <p:cNvSpPr>
            <a:spLocks noChangeArrowheads="1"/>
          </p:cNvSpPr>
          <p:nvPr/>
        </p:nvSpPr>
        <p:spPr bwMode="auto">
          <a:xfrm>
            <a:off x="2254250" y="2190750"/>
            <a:ext cx="4318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2400" b="1">
                <a:latin typeface="Times New Roman" pitchFamily="18" charset="0"/>
              </a:rPr>
              <a:t>a1</a:t>
            </a:r>
          </a:p>
        </p:txBody>
      </p:sp>
      <p:sp>
        <p:nvSpPr>
          <p:cNvPr id="22582" name="Rectangle 53"/>
          <p:cNvSpPr>
            <a:spLocks noChangeArrowheads="1"/>
          </p:cNvSpPr>
          <p:nvPr/>
        </p:nvSpPr>
        <p:spPr bwMode="auto">
          <a:xfrm>
            <a:off x="3016250" y="4019550"/>
            <a:ext cx="5842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2400" b="1">
                <a:latin typeface="Times New Roman" pitchFamily="18" charset="0"/>
              </a:rPr>
              <a:t>a17</a:t>
            </a:r>
          </a:p>
        </p:txBody>
      </p:sp>
      <p:sp>
        <p:nvSpPr>
          <p:cNvPr id="22583" name="Rectangle 54"/>
          <p:cNvSpPr>
            <a:spLocks noChangeArrowheads="1"/>
          </p:cNvSpPr>
          <p:nvPr/>
        </p:nvSpPr>
        <p:spPr bwMode="auto">
          <a:xfrm>
            <a:off x="6216650" y="1885950"/>
            <a:ext cx="7366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2400" b="1">
                <a:latin typeface="Times New Roman" pitchFamily="18" charset="0"/>
              </a:rPr>
              <a:t>a142</a:t>
            </a:r>
          </a:p>
        </p:txBody>
      </p:sp>
    </p:spTree>
    <p:extLst>
      <p:ext uri="{BB962C8B-B14F-4D97-AF65-F5344CB8AC3E}">
        <p14:creationId xmlns:p14="http://schemas.microsoft.com/office/powerpoint/2010/main" val="1311489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F2EF39-1E75-4118-97DA-4B4D7196BA24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La idea </a:t>
            </a:r>
            <a:r>
              <a:rPr lang="en-US" dirty="0" err="1"/>
              <a:t>básica</a:t>
            </a:r>
            <a:r>
              <a:rPr lang="en-US" dirty="0"/>
              <a:t> para </a:t>
            </a:r>
            <a:r>
              <a:rPr lang="en-US" dirty="0" err="1"/>
              <a:t>lograr</a:t>
            </a:r>
            <a:r>
              <a:rPr lang="en-US" dirty="0"/>
              <a:t> </a:t>
            </a:r>
            <a:r>
              <a:rPr lang="en-US" dirty="0" err="1"/>
              <a:t>objetivos</a:t>
            </a:r>
            <a:endParaRPr lang="en-US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</p:spPr>
        <p:txBody>
          <a:bodyPr/>
          <a:lstStyle/>
          <a:p>
            <a:pPr eaLnBrk="1" hangingPunct="1"/>
            <a:r>
              <a:rPr lang="en-US" sz="2000" dirty="0" err="1"/>
              <a:t>Poner</a:t>
            </a:r>
            <a:r>
              <a:rPr lang="en-US" sz="2000" dirty="0"/>
              <a:t> el </a:t>
            </a:r>
            <a:r>
              <a:rPr lang="en-US" sz="2000" dirty="0" err="1"/>
              <a:t>objetivo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el stack de </a:t>
            </a:r>
            <a:r>
              <a:rPr lang="en-US" sz="2000" dirty="0" err="1"/>
              <a:t>objetivos</a:t>
            </a:r>
            <a:r>
              <a:rPr lang="en-US" sz="2000" dirty="0"/>
              <a:t>: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 err="1"/>
              <a:t>Considerando</a:t>
            </a:r>
            <a:r>
              <a:rPr lang="en-US" sz="2000" dirty="0"/>
              <a:t> el </a:t>
            </a:r>
            <a:r>
              <a:rPr lang="en-US" sz="2000" dirty="0" err="1"/>
              <a:t>objetivo</a:t>
            </a:r>
            <a:r>
              <a:rPr lang="en-US" sz="2000" dirty="0"/>
              <a:t> 1, </a:t>
            </a:r>
            <a:r>
              <a:rPr lang="en-US" sz="2000" dirty="0" err="1"/>
              <a:t>poner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él</a:t>
            </a:r>
            <a:r>
              <a:rPr lang="en-US" sz="2000" dirty="0"/>
              <a:t> </a:t>
            </a:r>
            <a:r>
              <a:rPr lang="en-US" sz="2000" dirty="0" err="1"/>
              <a:t>sus</a:t>
            </a:r>
            <a:r>
              <a:rPr lang="en-US" sz="2000" dirty="0"/>
              <a:t> </a:t>
            </a:r>
            <a:r>
              <a:rPr lang="en-US" sz="2000" dirty="0" err="1"/>
              <a:t>subobjetivos</a:t>
            </a:r>
            <a:r>
              <a:rPr lang="en-US" sz="2000" dirty="0"/>
              <a:t>: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 err="1"/>
              <a:t>Tratar</a:t>
            </a:r>
            <a:r>
              <a:rPr lang="en-US" sz="2000" dirty="0"/>
              <a:t> de </a:t>
            </a:r>
            <a:r>
              <a:rPr lang="en-US" sz="2000" dirty="0" err="1"/>
              <a:t>lograr</a:t>
            </a:r>
            <a:r>
              <a:rPr lang="en-US" sz="2000" dirty="0"/>
              <a:t> </a:t>
            </a:r>
            <a:r>
              <a:rPr lang="en-US" sz="2000" dirty="0" err="1"/>
              <a:t>subobjetivo</a:t>
            </a:r>
            <a:r>
              <a:rPr lang="en-US" sz="2000" dirty="0"/>
              <a:t> GoalS1-2, y </a:t>
            </a:r>
            <a:r>
              <a:rPr lang="en-US" sz="2000" dirty="0" err="1"/>
              <a:t>continuar</a:t>
            </a:r>
            <a:r>
              <a:rPr lang="en-US" sz="2000" dirty="0"/>
              <a:t>…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3657600" y="1600200"/>
            <a:ext cx="1308100" cy="568325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2000"/>
              </a:lnSpc>
            </a:pPr>
            <a:r>
              <a:rPr lang="en-US" sz="3600" b="1" dirty="0">
                <a:latin typeface="Times New Roman" pitchFamily="18" charset="0"/>
              </a:rPr>
              <a:t>Goal1</a:t>
            </a:r>
          </a:p>
        </p:txBody>
      </p:sp>
      <p:sp>
        <p:nvSpPr>
          <p:cNvPr id="24582" name="Line 5"/>
          <p:cNvSpPr>
            <a:spLocks noChangeShapeType="1"/>
          </p:cNvSpPr>
          <p:nvPr/>
        </p:nvSpPr>
        <p:spPr bwMode="auto">
          <a:xfrm>
            <a:off x="3130550" y="2254250"/>
            <a:ext cx="2438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3733800" y="4451350"/>
            <a:ext cx="1308100" cy="568325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2000"/>
              </a:lnSpc>
            </a:pPr>
            <a:r>
              <a:rPr lang="en-US" sz="3600" b="1" dirty="0">
                <a:latin typeface="Times New Roman" pitchFamily="18" charset="0"/>
              </a:rPr>
              <a:t>Goal1</a:t>
            </a:r>
          </a:p>
        </p:txBody>
      </p:sp>
      <p:sp>
        <p:nvSpPr>
          <p:cNvPr id="24584" name="Line 7"/>
          <p:cNvSpPr>
            <a:spLocks noChangeShapeType="1"/>
          </p:cNvSpPr>
          <p:nvPr/>
        </p:nvSpPr>
        <p:spPr bwMode="auto">
          <a:xfrm>
            <a:off x="2901950" y="5105400"/>
            <a:ext cx="2895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3429000" y="3232150"/>
            <a:ext cx="1943100" cy="568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2000"/>
              </a:lnSpc>
            </a:pPr>
            <a:r>
              <a:rPr lang="en-US" sz="3600" b="1" dirty="0">
                <a:latin typeface="Times New Roman" pitchFamily="18" charset="0"/>
              </a:rPr>
              <a:t>GoalS1-2</a:t>
            </a:r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3429000" y="3841750"/>
            <a:ext cx="1943100" cy="568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2000"/>
              </a:lnSpc>
            </a:pPr>
            <a:r>
              <a:rPr lang="en-US" sz="3600" b="1" dirty="0">
                <a:latin typeface="Times New Roman" pitchFamily="18" charset="0"/>
              </a:rPr>
              <a:t>GoalS1-1</a:t>
            </a:r>
          </a:p>
        </p:txBody>
      </p:sp>
    </p:spTree>
    <p:extLst>
      <p:ext uri="{BB962C8B-B14F-4D97-AF65-F5344CB8AC3E}">
        <p14:creationId xmlns:p14="http://schemas.microsoft.com/office/powerpoint/2010/main" val="331730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00B96-E7AA-44B2-B37C-8425FC5E4878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/>
              <a:t>Implementación</a:t>
            </a:r>
            <a:r>
              <a:rPr lang="en-US" sz="3600" dirty="0"/>
              <a:t> de </a:t>
            </a:r>
            <a:r>
              <a:rPr lang="en-US" sz="3600" dirty="0" err="1"/>
              <a:t>Agentes</a:t>
            </a:r>
            <a:r>
              <a:rPr lang="en-US" sz="3600" dirty="0"/>
              <a:t> </a:t>
            </a:r>
            <a:r>
              <a:rPr lang="en-US" sz="3600" dirty="0" err="1"/>
              <a:t>Razonadores</a:t>
            </a:r>
            <a:r>
              <a:rPr lang="en-US" sz="3600" dirty="0"/>
              <a:t> </a:t>
            </a:r>
            <a:r>
              <a:rPr lang="en-US" sz="3600" dirty="0" err="1"/>
              <a:t>Prácticos</a:t>
            </a:r>
            <a:r>
              <a:rPr lang="en-US" sz="3600" dirty="0"/>
              <a:t>: BDI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382000" cy="4530725"/>
          </a:xfrm>
        </p:spPr>
        <p:txBody>
          <a:bodyPr/>
          <a:lstStyle/>
          <a:p>
            <a:pPr eaLnBrk="1" hangingPunct="1"/>
            <a:r>
              <a:rPr lang="en-US" sz="2000" dirty="0"/>
              <a:t>1era </a:t>
            </a:r>
            <a:r>
              <a:rPr lang="en-US" sz="2000" dirty="0" err="1"/>
              <a:t>pasada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implementación</a:t>
            </a:r>
            <a:r>
              <a:rPr lang="en-US" sz="2000" dirty="0"/>
              <a:t> de un </a:t>
            </a:r>
            <a:r>
              <a:rPr lang="en-US" sz="2000" dirty="0" err="1"/>
              <a:t>agente</a:t>
            </a:r>
            <a:r>
              <a:rPr lang="en-US" sz="2000" dirty="0"/>
              <a:t> </a:t>
            </a:r>
            <a:r>
              <a:rPr lang="en-US" sz="2000" dirty="0" err="1"/>
              <a:t>razonador</a:t>
            </a:r>
            <a:r>
              <a:rPr lang="en-US" sz="2000" dirty="0"/>
              <a:t> </a:t>
            </a:r>
            <a:r>
              <a:rPr lang="en-US" sz="2000" dirty="0" err="1"/>
              <a:t>práctico</a:t>
            </a:r>
            <a:r>
              <a:rPr lang="en-US" sz="2000" dirty="0"/>
              <a:t>:</a:t>
            </a:r>
            <a:br>
              <a:rPr lang="en-US" sz="2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 err="1"/>
              <a:t>Actualmente</a:t>
            </a:r>
            <a:r>
              <a:rPr lang="en-US" sz="2000" dirty="0"/>
              <a:t> </a:t>
            </a:r>
            <a:r>
              <a:rPr lang="en-US" sz="2000" dirty="0" err="1"/>
              <a:t>pasos</a:t>
            </a:r>
            <a:r>
              <a:rPr lang="en-US" sz="2000" dirty="0"/>
              <a:t> 2 y  3 en </a:t>
            </a:r>
            <a:r>
              <a:rPr lang="en-US" sz="2000" dirty="0" err="1"/>
              <a:t>muchos</a:t>
            </a:r>
            <a:r>
              <a:rPr lang="en-US" sz="2000" dirty="0"/>
              <a:t> </a:t>
            </a:r>
            <a:r>
              <a:rPr lang="en-US" sz="2000" dirty="0" err="1"/>
              <a:t>sistemas</a:t>
            </a:r>
            <a:r>
              <a:rPr lang="en-US" sz="2000" dirty="0"/>
              <a:t> se </a:t>
            </a:r>
            <a:r>
              <a:rPr lang="en-US" sz="2000" dirty="0" err="1"/>
              <a:t>hace</a:t>
            </a:r>
            <a:r>
              <a:rPr lang="en-US" sz="2000" dirty="0"/>
              <a:t> con LLMs</a:t>
            </a: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52400" y="2286000"/>
            <a:ext cx="8763000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Lucida Console" pitchFamily="49" charset="0"/>
              </a:rPr>
              <a:t>Agent Control Loop Version 1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1. while true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2. 	observe the world;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3. 	update internal world model;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4. 	deliberate about what intention to achieve next;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5. 	use means-ends reasoning to get a plan for the intention;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6. 	execute the plan</a:t>
            </a:r>
          </a:p>
          <a:p>
            <a:pPr eaLnBrk="1" hangingPunct="1"/>
            <a:r>
              <a:rPr lang="en-US" sz="1600" dirty="0">
                <a:latin typeface="Lucida Console" pitchFamily="49" charset="0"/>
              </a:rPr>
              <a:t>7. end while</a:t>
            </a:r>
          </a:p>
        </p:txBody>
      </p:sp>
    </p:spTree>
    <p:extLst>
      <p:ext uri="{BB962C8B-B14F-4D97-AF65-F5344CB8AC3E}">
        <p14:creationId xmlns:p14="http://schemas.microsoft.com/office/powerpoint/2010/main" val="1431743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A3D439-1B92-424F-B6C0-8E4277EAD554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 err="1"/>
              <a:t>Formalicemos</a:t>
            </a:r>
            <a:r>
              <a:rPr lang="en-US" sz="2000" dirty="0"/>
              <a:t> el </a:t>
            </a:r>
            <a:r>
              <a:rPr lang="en-US" sz="2000" dirty="0" err="1"/>
              <a:t>algoritmo</a:t>
            </a:r>
            <a:r>
              <a:rPr lang="en-US" sz="2000" dirty="0"/>
              <a:t> (BI):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86000"/>
            <a:ext cx="4800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1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err="1"/>
              <a:t>Implementación</a:t>
            </a:r>
            <a:r>
              <a:rPr lang="en-US" dirty="0"/>
              <a:t> de </a:t>
            </a:r>
            <a:r>
              <a:rPr lang="en-US" dirty="0" err="1"/>
              <a:t>Agentes</a:t>
            </a:r>
            <a:r>
              <a:rPr lang="en-US" dirty="0"/>
              <a:t> BDI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794" y="3544490"/>
            <a:ext cx="973500" cy="83581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30" y="4648200"/>
            <a:ext cx="858220" cy="879676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3276600" y="4114800"/>
            <a:ext cx="1981200" cy="265509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/>
          <p:cNvSpPr/>
          <p:nvPr/>
        </p:nvSpPr>
        <p:spPr>
          <a:xfrm>
            <a:off x="3276600" y="4430116"/>
            <a:ext cx="1981200" cy="265509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768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2BA884-E634-4759-B325-66DA23904890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CC3300"/>
                </a:solidFill>
              </a:rPr>
              <a:t>Deliberación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¿</a:t>
            </a:r>
            <a:r>
              <a:rPr lang="en-US" sz="2000" dirty="0" err="1"/>
              <a:t>Cómo</a:t>
            </a:r>
            <a:r>
              <a:rPr lang="en-US" sz="2000" dirty="0"/>
              <a:t> </a:t>
            </a:r>
            <a:r>
              <a:rPr lang="en-US" sz="2000" dirty="0" err="1"/>
              <a:t>delibera</a:t>
            </a:r>
            <a:r>
              <a:rPr lang="en-US" sz="2000" dirty="0"/>
              <a:t> un </a:t>
            </a:r>
            <a:r>
              <a:rPr lang="en-US" sz="2000" dirty="0" err="1"/>
              <a:t>agente</a:t>
            </a:r>
            <a:r>
              <a:rPr lang="en-US" sz="2000" dirty="0"/>
              <a:t>?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dirty="0" err="1"/>
              <a:t>Comienza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tratar</a:t>
            </a:r>
            <a:r>
              <a:rPr lang="en-US" sz="2000" dirty="0"/>
              <a:t> de </a:t>
            </a:r>
            <a:r>
              <a:rPr lang="en-US" sz="2000" dirty="0" err="1"/>
              <a:t>entender</a:t>
            </a:r>
            <a:r>
              <a:rPr lang="en-US" sz="2000" dirty="0"/>
              <a:t> </a:t>
            </a:r>
            <a:r>
              <a:rPr lang="en-US" sz="2000" dirty="0" err="1"/>
              <a:t>qué</a:t>
            </a:r>
            <a:r>
              <a:rPr lang="en-US" sz="2000" dirty="0"/>
              <a:t> </a:t>
            </a:r>
            <a:r>
              <a:rPr lang="en-US" sz="2000" dirty="0" err="1"/>
              <a:t>opciones</a:t>
            </a:r>
            <a:r>
              <a:rPr lang="en-US" sz="2000" dirty="0"/>
              <a:t> se </a:t>
            </a:r>
            <a:r>
              <a:rPr lang="en-US" sz="2000" dirty="0" err="1"/>
              <a:t>encuentran</a:t>
            </a:r>
            <a:r>
              <a:rPr lang="en-US" sz="2000" dirty="0"/>
              <a:t> </a:t>
            </a:r>
            <a:r>
              <a:rPr lang="en-US" sz="2000" dirty="0" err="1"/>
              <a:t>disponibles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i="1" dirty="0" err="1">
                <a:solidFill>
                  <a:srgbClr val="003399"/>
                </a:solidFill>
              </a:rPr>
              <a:t>Elige</a:t>
            </a:r>
            <a:r>
              <a:rPr lang="en-US" sz="2000" i="1" dirty="0">
                <a:solidFill>
                  <a:srgbClr val="003399"/>
                </a:solidFill>
              </a:rPr>
              <a:t> entre </a:t>
            </a:r>
            <a:r>
              <a:rPr lang="en-US" sz="2000" i="1" dirty="0" err="1">
                <a:solidFill>
                  <a:srgbClr val="003399"/>
                </a:solidFill>
              </a:rPr>
              <a:t>ellas</a:t>
            </a:r>
            <a:r>
              <a:rPr lang="en-US" sz="2000" dirty="0"/>
              <a:t>, y se </a:t>
            </a:r>
            <a:r>
              <a:rPr lang="en-US" sz="2000" i="1" dirty="0" err="1">
                <a:solidFill>
                  <a:srgbClr val="003399"/>
                </a:solidFill>
              </a:rPr>
              <a:t>compromete</a:t>
            </a:r>
            <a:r>
              <a:rPr lang="en-US" sz="2000" i="1" dirty="0">
                <a:solidFill>
                  <a:srgbClr val="003399"/>
                </a:solidFill>
              </a:rPr>
              <a:t> </a:t>
            </a:r>
            <a:r>
              <a:rPr lang="en-US" sz="2000" dirty="0"/>
              <a:t>con </a:t>
            </a:r>
            <a:r>
              <a:rPr lang="en-US" sz="2000" dirty="0" err="1"/>
              <a:t>algunas</a:t>
            </a:r>
            <a:r>
              <a:rPr lang="en-US" sz="2000" dirty="0"/>
              <a:t> de </a:t>
            </a:r>
            <a:r>
              <a:rPr lang="en-US" sz="2000" dirty="0" err="1"/>
              <a:t>ellas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eaLnBrk="1" hangingPunct="1"/>
            <a:r>
              <a:rPr lang="en-US" sz="2000" dirty="0"/>
              <a:t>Las </a:t>
            </a:r>
            <a:r>
              <a:rPr lang="en-US" sz="2000" dirty="0" err="1"/>
              <a:t>opciones</a:t>
            </a:r>
            <a:r>
              <a:rPr lang="en-US" sz="2000" dirty="0"/>
              <a:t> </a:t>
            </a:r>
            <a:r>
              <a:rPr lang="en-US" sz="2000" dirty="0" err="1"/>
              <a:t>elegidas</a:t>
            </a:r>
            <a:r>
              <a:rPr lang="en-US" sz="2000" dirty="0"/>
              <a:t> se </a:t>
            </a:r>
            <a:r>
              <a:rPr lang="en-US" sz="2000" dirty="0" err="1"/>
              <a:t>convierten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rgbClr val="003399"/>
                </a:solidFill>
              </a:rPr>
              <a:t>intenciones</a:t>
            </a:r>
            <a:endParaRPr lang="en-US" sz="2000" i="1" dirty="0">
              <a:solidFill>
                <a:srgbClr val="003399"/>
              </a:solidFill>
            </a:endParaRPr>
          </a:p>
          <a:p>
            <a:pPr eaLnBrk="1" hangingPunct="1"/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651668"/>
            <a:ext cx="1548540" cy="13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50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F0A2C7-8F2A-4213-9E26-32B2400DE483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Deliberación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696200" cy="4876800"/>
          </a:xfrm>
        </p:spPr>
        <p:txBody>
          <a:bodyPr/>
          <a:lstStyle/>
          <a:p>
            <a:pPr eaLnBrk="1" hangingPunct="1"/>
            <a:r>
              <a:rPr lang="en-US" sz="2000" dirty="0"/>
              <a:t>La </a:t>
            </a:r>
            <a:r>
              <a:rPr lang="en-US" sz="2000" dirty="0" err="1"/>
              <a:t>función</a:t>
            </a:r>
            <a:r>
              <a:rPr lang="en-US" sz="2000" dirty="0"/>
              <a:t> de </a:t>
            </a:r>
            <a:r>
              <a:rPr lang="en-US" sz="2000" dirty="0" err="1"/>
              <a:t>deliberación</a:t>
            </a:r>
            <a:r>
              <a:rPr lang="en-US" sz="2000" dirty="0"/>
              <a:t> se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descomponer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dos </a:t>
            </a:r>
            <a:r>
              <a:rPr lang="en-US" sz="2000" dirty="0" err="1"/>
              <a:t>distintos</a:t>
            </a:r>
            <a:r>
              <a:rPr lang="en-US" sz="2000" dirty="0"/>
              <a:t> </a:t>
            </a:r>
            <a:r>
              <a:rPr lang="en-US" sz="2000" dirty="0" err="1"/>
              <a:t>componentes</a:t>
            </a:r>
            <a:r>
              <a:rPr lang="en-US" sz="2000" dirty="0"/>
              <a:t>: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i="1" dirty="0" err="1">
                <a:solidFill>
                  <a:srgbClr val="003399"/>
                </a:solidFill>
              </a:rPr>
              <a:t>Generación</a:t>
            </a:r>
            <a:r>
              <a:rPr lang="en-US" sz="2000" i="1" dirty="0">
                <a:solidFill>
                  <a:srgbClr val="003399"/>
                </a:solidFill>
              </a:rPr>
              <a:t> de </a:t>
            </a:r>
            <a:r>
              <a:rPr lang="en-US" sz="2000" i="1" dirty="0" err="1">
                <a:solidFill>
                  <a:srgbClr val="003399"/>
                </a:solidFill>
              </a:rPr>
              <a:t>opciones</a:t>
            </a:r>
            <a:br>
              <a:rPr lang="en-US" sz="2000" i="1" dirty="0"/>
            </a:br>
            <a:r>
              <a:rPr lang="en-US" sz="2000" i="1" dirty="0" err="1"/>
              <a:t>en</a:t>
            </a:r>
            <a:r>
              <a:rPr lang="en-US" sz="2000" i="1" dirty="0"/>
              <a:t> la </a:t>
            </a:r>
            <a:r>
              <a:rPr lang="en-US" sz="2000" i="1" dirty="0" err="1"/>
              <a:t>cual</a:t>
            </a:r>
            <a:r>
              <a:rPr lang="en-US" sz="2000" i="1" dirty="0"/>
              <a:t> el </a:t>
            </a:r>
            <a:r>
              <a:rPr lang="en-US" sz="2000" i="1" dirty="0" err="1"/>
              <a:t>agente</a:t>
            </a:r>
            <a:r>
              <a:rPr lang="en-US" sz="2000" i="1" dirty="0"/>
              <a:t> genera un </a:t>
            </a:r>
            <a:r>
              <a:rPr lang="en-US" sz="2000" i="1" dirty="0" err="1"/>
              <a:t>conjunto</a:t>
            </a:r>
            <a:r>
              <a:rPr lang="en-US" sz="2000" i="1" dirty="0"/>
              <a:t> de </a:t>
            </a:r>
            <a:r>
              <a:rPr lang="en-US" sz="2000" i="1" dirty="0" err="1"/>
              <a:t>posibles</a:t>
            </a:r>
            <a:r>
              <a:rPr lang="en-US" sz="2000" i="1" dirty="0"/>
              <a:t> </a:t>
            </a:r>
            <a:r>
              <a:rPr lang="en-US" sz="2000" i="1" dirty="0" err="1"/>
              <a:t>acciones</a:t>
            </a:r>
            <a:r>
              <a:rPr lang="en-US" sz="2000" i="1" dirty="0"/>
              <a:t> </a:t>
            </a:r>
            <a:r>
              <a:rPr lang="en-US" sz="2000" i="1" dirty="0" err="1"/>
              <a:t>alternativas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>Una </a:t>
            </a:r>
            <a:r>
              <a:rPr lang="en-US" sz="2000" dirty="0" err="1"/>
              <a:t>función</a:t>
            </a:r>
            <a:r>
              <a:rPr lang="en-US" sz="2000" dirty="0"/>
              <a:t> </a:t>
            </a:r>
            <a:r>
              <a:rPr lang="en-US" sz="2000" dirty="0" err="1"/>
              <a:t>representa</a:t>
            </a:r>
            <a:r>
              <a:rPr lang="en-US" sz="2000" dirty="0"/>
              <a:t> </a:t>
            </a:r>
            <a:r>
              <a:rPr lang="en-US" sz="2000" dirty="0" err="1"/>
              <a:t>esto</a:t>
            </a:r>
            <a:r>
              <a:rPr lang="en-US" sz="2000" dirty="0"/>
              <a:t> (</a:t>
            </a:r>
            <a:r>
              <a:rPr lang="en-US" sz="2000" i="1" dirty="0"/>
              <a:t>options)</a:t>
            </a:r>
            <a:r>
              <a:rPr lang="en-US" sz="2000" dirty="0"/>
              <a:t>, que </a:t>
            </a:r>
            <a:r>
              <a:rPr lang="en-US" sz="2000" dirty="0" err="1"/>
              <a:t>toma</a:t>
            </a:r>
            <a:r>
              <a:rPr lang="en-US" sz="2000" dirty="0"/>
              <a:t> las </a:t>
            </a:r>
            <a:r>
              <a:rPr lang="en-US" sz="2000" dirty="0" err="1"/>
              <a:t>creencias</a:t>
            </a:r>
            <a:r>
              <a:rPr lang="en-US" sz="2000" dirty="0"/>
              <a:t> e </a:t>
            </a:r>
            <a:r>
              <a:rPr lang="en-US" sz="2000" dirty="0" err="1"/>
              <a:t>intenciones</a:t>
            </a:r>
            <a:r>
              <a:rPr lang="en-US" sz="2000" dirty="0"/>
              <a:t> </a:t>
            </a:r>
            <a:r>
              <a:rPr lang="en-US" sz="2000" dirty="0" err="1"/>
              <a:t>actuales</a:t>
            </a:r>
            <a:r>
              <a:rPr lang="en-US" sz="2000" dirty="0"/>
              <a:t> del </a:t>
            </a:r>
            <a:r>
              <a:rPr lang="en-US" sz="2000" dirty="0" err="1"/>
              <a:t>agente</a:t>
            </a:r>
            <a:r>
              <a:rPr lang="en-US" sz="2000" dirty="0"/>
              <a:t> y de </a:t>
            </a:r>
            <a:r>
              <a:rPr lang="en-US" sz="2000" dirty="0" err="1"/>
              <a:t>ellas</a:t>
            </a:r>
            <a:r>
              <a:rPr lang="en-US" sz="2000" dirty="0"/>
              <a:t> </a:t>
            </a:r>
            <a:r>
              <a:rPr lang="en-US" sz="2000" dirty="0" err="1"/>
              <a:t>determina</a:t>
            </a:r>
            <a:r>
              <a:rPr lang="en-US" sz="2000" dirty="0"/>
              <a:t> un </a:t>
            </a:r>
            <a:r>
              <a:rPr lang="en-US" sz="2000" dirty="0" err="1"/>
              <a:t>conjunto</a:t>
            </a:r>
            <a:r>
              <a:rPr lang="en-US" sz="2000" dirty="0"/>
              <a:t> de </a:t>
            </a:r>
            <a:r>
              <a:rPr lang="en-US" sz="2000" dirty="0" err="1"/>
              <a:t>opciones</a:t>
            </a:r>
            <a:r>
              <a:rPr lang="en-US" sz="2000" dirty="0"/>
              <a:t> (= </a:t>
            </a:r>
            <a:r>
              <a:rPr lang="en-US" sz="2000" i="1" dirty="0" err="1">
                <a:solidFill>
                  <a:srgbClr val="003399"/>
                </a:solidFill>
              </a:rPr>
              <a:t>deseos</a:t>
            </a:r>
            <a:r>
              <a:rPr lang="en-US" sz="2000" dirty="0"/>
              <a:t>)</a:t>
            </a:r>
            <a:br>
              <a:rPr lang="en-US" sz="2000" dirty="0"/>
            </a:br>
            <a:endParaRPr lang="en-US" sz="2000" dirty="0"/>
          </a:p>
          <a:p>
            <a:pPr lvl="1" eaLnBrk="1" hangingPunct="1"/>
            <a:r>
              <a:rPr lang="en-US" sz="2000" i="1" dirty="0" err="1">
                <a:solidFill>
                  <a:srgbClr val="003399"/>
                </a:solidFill>
              </a:rPr>
              <a:t>filtrado</a:t>
            </a:r>
            <a:br>
              <a:rPr lang="en-US" sz="2000" i="1" dirty="0"/>
            </a:br>
            <a:r>
              <a:rPr lang="en-US" sz="2000" i="1" dirty="0" err="1"/>
              <a:t>en</a:t>
            </a:r>
            <a:r>
              <a:rPr lang="en-US" sz="2000" i="1" dirty="0"/>
              <a:t> el </a:t>
            </a:r>
            <a:r>
              <a:rPr lang="en-US" sz="2000" i="1" dirty="0" err="1"/>
              <a:t>cual</a:t>
            </a:r>
            <a:r>
              <a:rPr lang="en-US" sz="2000" i="1" dirty="0"/>
              <a:t> el </a:t>
            </a:r>
            <a:r>
              <a:rPr lang="en-US" sz="2000" i="1" dirty="0" err="1"/>
              <a:t>agente</a:t>
            </a:r>
            <a:r>
              <a:rPr lang="en-US" sz="2000" i="1" dirty="0"/>
              <a:t> </a:t>
            </a:r>
            <a:r>
              <a:rPr lang="en-US" sz="2000" i="1" dirty="0" err="1"/>
              <a:t>elige</a:t>
            </a:r>
            <a:r>
              <a:rPr lang="en-US" sz="2000" i="1" dirty="0"/>
              <a:t> entre </a:t>
            </a:r>
            <a:r>
              <a:rPr lang="en-US" sz="2000" i="1" dirty="0" err="1"/>
              <a:t>alternativas</a:t>
            </a:r>
            <a:r>
              <a:rPr lang="en-US" sz="2000" i="1" dirty="0"/>
              <a:t> que </a:t>
            </a:r>
            <a:r>
              <a:rPr lang="en-US" sz="2000" i="1" dirty="0" err="1"/>
              <a:t>compiten</a:t>
            </a:r>
            <a:r>
              <a:rPr lang="en-US" sz="2000" i="1" dirty="0"/>
              <a:t> y se </a:t>
            </a:r>
            <a:r>
              <a:rPr lang="en-US" sz="2000" i="1" dirty="0" err="1"/>
              <a:t>compromete</a:t>
            </a:r>
            <a:r>
              <a:rPr lang="en-US" sz="2000" i="1" dirty="0"/>
              <a:t> a </a:t>
            </a:r>
            <a:r>
              <a:rPr lang="en-US" sz="2000" i="1" dirty="0" err="1"/>
              <a:t>lograrlas</a:t>
            </a:r>
            <a:r>
              <a:rPr lang="en-US" sz="2000" i="1" dirty="0"/>
              <a:t>.</a:t>
            </a:r>
            <a:br>
              <a:rPr lang="en-US" sz="2000" i="1" dirty="0"/>
            </a:br>
            <a:r>
              <a:rPr lang="en-US" sz="2000" dirty="0"/>
              <a:t>Para </a:t>
            </a:r>
            <a:r>
              <a:rPr lang="en-US" sz="2000" dirty="0" err="1"/>
              <a:t>seleccionar</a:t>
            </a:r>
            <a:r>
              <a:rPr lang="en-US" sz="2000" dirty="0"/>
              <a:t> entre </a:t>
            </a:r>
            <a:r>
              <a:rPr lang="en-US" sz="2000" dirty="0" err="1"/>
              <a:t>alternativas</a:t>
            </a:r>
            <a:r>
              <a:rPr lang="en-US" sz="2000" dirty="0"/>
              <a:t>, el </a:t>
            </a:r>
            <a:r>
              <a:rPr lang="en-US" sz="2000" dirty="0" err="1"/>
              <a:t>agente</a:t>
            </a:r>
            <a:r>
              <a:rPr lang="en-US" sz="2000" dirty="0"/>
              <a:t> </a:t>
            </a:r>
            <a:r>
              <a:rPr lang="en-US" sz="2000" dirty="0" err="1"/>
              <a:t>usa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función</a:t>
            </a:r>
            <a:r>
              <a:rPr lang="en-US" sz="2000" i="1" dirty="0"/>
              <a:t> </a:t>
            </a:r>
            <a:r>
              <a:rPr lang="en-US" sz="2000" i="1" dirty="0">
                <a:solidFill>
                  <a:srgbClr val="003399"/>
                </a:solidFill>
              </a:rPr>
              <a:t>filter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6481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5C6D4-7730-4025-8066-89CD3B8E4498}" type="slidenum">
              <a:rPr lang="en-US" altLang="en-US" smtClean="0"/>
              <a:pPr>
                <a:defRPr/>
              </a:pPr>
              <a:t>40</a:t>
            </a:fld>
            <a:endParaRPr lang="en-US" altLang="en-US" dirty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Deliberación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34434"/>
            <a:ext cx="5029200" cy="425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1181328" y="1232972"/>
            <a:ext cx="355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dirty="0" err="1"/>
              <a:t>Formalicemos</a:t>
            </a:r>
            <a:r>
              <a:rPr lang="en-US" dirty="0"/>
              <a:t> el </a:t>
            </a:r>
            <a:r>
              <a:rPr lang="en-US" dirty="0" err="1"/>
              <a:t>algoritmo</a:t>
            </a:r>
            <a:r>
              <a:rPr lang="en-US" dirty="0"/>
              <a:t> (BDI):</a:t>
            </a:r>
          </a:p>
        </p:txBody>
      </p:sp>
    </p:spTree>
    <p:extLst>
      <p:ext uri="{BB962C8B-B14F-4D97-AF65-F5344CB8AC3E}">
        <p14:creationId xmlns:p14="http://schemas.microsoft.com/office/powerpoint/2010/main" val="2764473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5C6D4-7730-4025-8066-89CD3B8E4498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Ejercicio</a:t>
            </a:r>
            <a:r>
              <a:rPr lang="en-US" dirty="0"/>
              <a:t> </a:t>
            </a:r>
            <a:r>
              <a:rPr lang="en-US" dirty="0" err="1"/>
              <a:t>práctico</a:t>
            </a:r>
            <a:r>
              <a:rPr lang="en-US" dirty="0"/>
              <a:t>: </a:t>
            </a:r>
            <a:r>
              <a:rPr lang="en-US" dirty="0" err="1"/>
              <a:t>agente</a:t>
            </a:r>
            <a:r>
              <a:rPr lang="en-US" dirty="0"/>
              <a:t> BDI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810" y="3200400"/>
            <a:ext cx="3352800" cy="274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304800" y="1438859"/>
            <a:ext cx="815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Macroespecificar</a:t>
            </a:r>
            <a:r>
              <a:rPr lang="es-CL" dirty="0"/>
              <a:t> como agente BDI el: </a:t>
            </a:r>
            <a:r>
              <a:rPr lang="es-CL" dirty="0" err="1">
                <a:hlinkClick r:id="rId3"/>
              </a:rPr>
              <a:t>VirtualConveyor</a:t>
            </a:r>
            <a:r>
              <a:rPr lang="es-CL" dirty="0">
                <a:hlinkClick r:id="rId3"/>
              </a:rPr>
              <a:t> © </a:t>
            </a:r>
            <a:r>
              <a:rPr lang="es-CL" dirty="0" err="1">
                <a:hlinkClick r:id="rId3"/>
              </a:rPr>
              <a:t>Fetch</a:t>
            </a:r>
            <a:r>
              <a:rPr lang="es-CL" dirty="0">
                <a:hlinkClick r:id="rId3"/>
              </a:rPr>
              <a:t> </a:t>
            </a:r>
            <a:r>
              <a:rPr lang="es-CL" dirty="0" err="1">
                <a:hlinkClick r:id="rId3"/>
              </a:rPr>
              <a:t>Robotics</a:t>
            </a:r>
            <a:br>
              <a:rPr lang="es-CL" dirty="0"/>
            </a:b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¿Qué serían los </a:t>
            </a:r>
            <a:r>
              <a:rPr lang="es-CL" i="1" dirty="0"/>
              <a:t>B, D, I </a:t>
            </a:r>
            <a:r>
              <a:rPr lang="es-CL" dirty="0"/>
              <a:t>y</a:t>
            </a:r>
            <a:r>
              <a:rPr lang="es-CL" i="1" dirty="0"/>
              <a:t> B</a:t>
            </a:r>
            <a:r>
              <a:rPr lang="es-CL" i="1" baseline="-25000" dirty="0"/>
              <a:t>0</a:t>
            </a:r>
            <a:r>
              <a:rPr lang="es-CL" i="1" dirty="0"/>
              <a:t> e I</a:t>
            </a:r>
            <a:r>
              <a:rPr lang="es-CL" i="1" baseline="-25000" dirty="0"/>
              <a:t>0 </a:t>
            </a:r>
            <a:r>
              <a:rPr lang="es-CL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¿Cuáles serían los </a:t>
            </a:r>
            <a:r>
              <a:rPr lang="es-CL" dirty="0">
                <a:sym typeface="Symbol" panose="05050102010706020507" pitchFamily="18" charset="2"/>
              </a:rPr>
              <a:t> ?</a:t>
            </a: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¿Qué deberían hacer las funciones </a:t>
            </a:r>
            <a:r>
              <a:rPr lang="es-CL" i="1" dirty="0" err="1"/>
              <a:t>brf</a:t>
            </a:r>
            <a:r>
              <a:rPr lang="es-CL" dirty="0"/>
              <a:t>, </a:t>
            </a:r>
            <a:r>
              <a:rPr lang="es-CL" i="1" dirty="0" err="1"/>
              <a:t>options</a:t>
            </a:r>
            <a:r>
              <a:rPr lang="es-CL" dirty="0"/>
              <a:t>, </a:t>
            </a:r>
            <a:r>
              <a:rPr lang="es-CL" i="1" dirty="0" err="1"/>
              <a:t>filter</a:t>
            </a:r>
            <a:r>
              <a:rPr lang="es-CL" dirty="0"/>
              <a:t> y </a:t>
            </a:r>
            <a:r>
              <a:rPr lang="es-CL" i="1" dirty="0"/>
              <a:t>plan </a:t>
            </a:r>
            <a:r>
              <a:rPr lang="es-CL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882" y="3315745"/>
            <a:ext cx="334131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73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2516"/>
            <a:ext cx="7793037" cy="1143000"/>
          </a:xfrm>
        </p:spPr>
        <p:txBody>
          <a:bodyPr/>
          <a:lstStyle/>
          <a:p>
            <a:pPr eaLnBrk="1" hangingPunct="1"/>
            <a:r>
              <a:rPr lang="en-US" sz="4000" dirty="0" err="1"/>
              <a:t>Ejercicio</a:t>
            </a:r>
            <a:r>
              <a:rPr lang="en-US" sz="4000" dirty="0"/>
              <a:t> </a:t>
            </a:r>
            <a:r>
              <a:rPr lang="en-US" sz="4000" dirty="0" err="1"/>
              <a:t>práctico</a:t>
            </a:r>
            <a:r>
              <a:rPr lang="en-US" sz="4000" dirty="0"/>
              <a:t>: </a:t>
            </a:r>
            <a:r>
              <a:rPr lang="en-US" sz="4000" dirty="0" err="1"/>
              <a:t>agente</a:t>
            </a:r>
            <a:r>
              <a:rPr lang="en-US" sz="4000" dirty="0"/>
              <a:t> BDI</a:t>
            </a:r>
            <a:endParaRPr lang="en-US" altLang="es-CL" sz="4000" dirty="0">
              <a:ea typeface="ＭＳ Ｐゴシック" panose="020B0600070205080204" pitchFamily="34" charset="-128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2" name="AutoShape 2" descr="Frequently Asked Questions About Sourcing Agents - Union Source"/>
          <p:cNvSpPr>
            <a:spLocks noChangeAspect="1" noChangeArrowheads="1"/>
          </p:cNvSpPr>
          <p:nvPr/>
        </p:nvSpPr>
        <p:spPr bwMode="auto">
          <a:xfrm>
            <a:off x="5562600" y="30480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3048000"/>
            <a:ext cx="4762500" cy="3190875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304800" y="1438859"/>
            <a:ext cx="8629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Macroespecificar</a:t>
            </a:r>
            <a:r>
              <a:rPr lang="es-CL" dirty="0"/>
              <a:t> como agente BDI el: </a:t>
            </a:r>
            <a:r>
              <a:rPr lang="en-US" altLang="es-CL" dirty="0" err="1">
                <a:ea typeface="ＭＳ Ｐゴシック" panose="020B0600070205080204" pitchFamily="34" charset="-128"/>
                <a:hlinkClick r:id="rId4"/>
              </a:rPr>
              <a:t>Agente</a:t>
            </a:r>
            <a:r>
              <a:rPr lang="en-US" altLang="es-CL" dirty="0">
                <a:ea typeface="ＭＳ Ｐゴシック" panose="020B0600070205080204" pitchFamily="34" charset="-128"/>
                <a:hlinkClick r:id="rId4"/>
              </a:rPr>
              <a:t> comprador (</a:t>
            </a:r>
            <a:r>
              <a:rPr lang="en-US" altLang="es-CL" dirty="0" err="1">
                <a:ea typeface="ＭＳ Ｐゴシック" panose="020B0600070205080204" pitchFamily="34" charset="-128"/>
                <a:hlinkClick r:id="rId4"/>
              </a:rPr>
              <a:t>abastecimiento</a:t>
            </a:r>
            <a:r>
              <a:rPr lang="en-US" altLang="es-CL" dirty="0">
                <a:ea typeface="ＭＳ Ｐゴシック" panose="020B0600070205080204" pitchFamily="34" charset="-128"/>
                <a:hlinkClick r:id="rId4"/>
              </a:rPr>
              <a:t>) en </a:t>
            </a:r>
            <a:r>
              <a:rPr lang="en-US" altLang="es-CL" dirty="0" err="1">
                <a:ea typeface="ＭＳ Ｐゴシック" panose="020B0600070205080204" pitchFamily="34" charset="-128"/>
                <a:hlinkClick r:id="rId4"/>
              </a:rPr>
              <a:t>línea</a:t>
            </a: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¿Qué serían los </a:t>
            </a:r>
            <a:r>
              <a:rPr lang="es-CL" i="1" dirty="0"/>
              <a:t>B, D, I </a:t>
            </a:r>
            <a:r>
              <a:rPr lang="es-CL" dirty="0"/>
              <a:t>y</a:t>
            </a:r>
            <a:r>
              <a:rPr lang="es-CL" i="1" dirty="0"/>
              <a:t> B</a:t>
            </a:r>
            <a:r>
              <a:rPr lang="es-CL" i="1" baseline="-25000" dirty="0"/>
              <a:t>0</a:t>
            </a:r>
            <a:r>
              <a:rPr lang="es-CL" i="1" dirty="0"/>
              <a:t> e I</a:t>
            </a:r>
            <a:r>
              <a:rPr lang="es-CL" i="1" baseline="-25000" dirty="0"/>
              <a:t>0 </a:t>
            </a:r>
            <a:r>
              <a:rPr lang="es-CL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¿Cuáles serían los </a:t>
            </a:r>
            <a:r>
              <a:rPr lang="es-CL" dirty="0">
                <a:sym typeface="Symbol" panose="05050102010706020507" pitchFamily="18" charset="2"/>
              </a:rPr>
              <a:t> ?</a:t>
            </a: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¿Qué deberían hacer las funciones </a:t>
            </a:r>
            <a:r>
              <a:rPr lang="es-CL" i="1" dirty="0" err="1"/>
              <a:t>brf</a:t>
            </a:r>
            <a:r>
              <a:rPr lang="es-CL" dirty="0"/>
              <a:t>, </a:t>
            </a:r>
            <a:r>
              <a:rPr lang="es-CL" i="1" dirty="0" err="1"/>
              <a:t>options</a:t>
            </a:r>
            <a:r>
              <a:rPr lang="es-CL" dirty="0"/>
              <a:t>, </a:t>
            </a:r>
            <a:r>
              <a:rPr lang="es-CL" i="1" dirty="0" err="1"/>
              <a:t>filter</a:t>
            </a:r>
            <a:r>
              <a:rPr lang="es-CL" dirty="0"/>
              <a:t> y </a:t>
            </a:r>
            <a:r>
              <a:rPr lang="es-CL" i="1" dirty="0"/>
              <a:t>plan </a:t>
            </a:r>
            <a:r>
              <a:rPr lang="es-CL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352801"/>
            <a:ext cx="3352800" cy="274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858750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839200" cy="1139825"/>
          </a:xfrm>
        </p:spPr>
        <p:txBody>
          <a:bodyPr/>
          <a:lstStyle/>
          <a:p>
            <a:r>
              <a:rPr lang="en-US" altLang="en-US" sz="3800" dirty="0"/>
              <a:t> </a:t>
            </a:r>
            <a:r>
              <a:rPr lang="en-US" altLang="en-US" sz="3800" dirty="0" err="1"/>
              <a:t>Nuevamente</a:t>
            </a:r>
            <a:r>
              <a:rPr lang="en-US" altLang="en-US" sz="3800" dirty="0"/>
              <a:t> AGENTGPT: ¿ BDI ?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181600"/>
          </a:xfrm>
        </p:spPr>
        <p:txBody>
          <a:bodyPr/>
          <a:lstStyle/>
          <a:p>
            <a:r>
              <a:rPr lang="es-CL" sz="2800" dirty="0">
                <a:hlinkClick r:id="rId3"/>
              </a:rPr>
              <a:t>AGENTGPT</a:t>
            </a:r>
            <a:endParaRPr lang="es-CL" sz="2800" dirty="0"/>
          </a:p>
          <a:p>
            <a:endParaRPr lang="es-CL" sz="2800" dirty="0"/>
          </a:p>
          <a:p>
            <a:endParaRPr lang="es-CL" sz="280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" y="1770441"/>
            <a:ext cx="8258175" cy="41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110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256" y="1516063"/>
            <a:ext cx="8001000" cy="421719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Una </a:t>
            </a:r>
            <a:r>
              <a:rPr lang="en-US" altLang="es-CL" sz="2000" dirty="0" err="1"/>
              <a:t>arquitectura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reactiva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jerarquía</a:t>
            </a:r>
            <a:r>
              <a:rPr lang="en-US" altLang="es-CL" sz="2000" dirty="0"/>
              <a:t> de </a:t>
            </a:r>
            <a:r>
              <a:rPr lang="en-US" altLang="es-CL" sz="2000" i="1" dirty="0" err="1">
                <a:solidFill>
                  <a:srgbClr val="003399"/>
                </a:solidFill>
              </a:rPr>
              <a:t>comportamientos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realizar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tarea</a:t>
            </a:r>
            <a:br>
              <a:rPr lang="en-US" altLang="es-CL" sz="2000" dirty="0"/>
            </a:br>
            <a:endParaRPr lang="en-US" altLang="es-CL" sz="2000" dirty="0">
              <a:solidFill>
                <a:srgbClr val="003399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Cada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comportamiento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estructura</a:t>
            </a:r>
            <a:r>
              <a:rPr lang="en-US" altLang="es-CL" sz="2000" dirty="0"/>
              <a:t> simple </a:t>
            </a:r>
            <a:r>
              <a:rPr lang="en-US" altLang="es-CL" sz="2000" dirty="0" err="1"/>
              <a:t>parecida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reglas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Cada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comportamiento</a:t>
            </a:r>
            <a:r>
              <a:rPr lang="en-US" altLang="es-CL" sz="2000" dirty="0"/>
              <a:t> “</a:t>
            </a:r>
            <a:r>
              <a:rPr lang="en-US" altLang="es-CL" sz="2000" dirty="0" err="1"/>
              <a:t>compite</a:t>
            </a:r>
            <a:r>
              <a:rPr lang="en-US" altLang="es-CL" sz="2000" dirty="0"/>
              <a:t>” con </a:t>
            </a:r>
            <a:r>
              <a:rPr lang="en-US" altLang="es-CL" sz="2000" dirty="0" err="1"/>
              <a:t>otros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controlar</a:t>
            </a:r>
            <a:r>
              <a:rPr lang="en-US" altLang="es-CL" sz="2000" dirty="0"/>
              <a:t> al </a:t>
            </a:r>
            <a:r>
              <a:rPr lang="en-US" altLang="es-CL" sz="2000" dirty="0" err="1"/>
              <a:t>agente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Capas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inferiores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representan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comportamientos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primitivos</a:t>
            </a:r>
            <a:r>
              <a:rPr lang="en-US" altLang="es-CL" sz="2000" dirty="0"/>
              <a:t> (</a:t>
            </a:r>
            <a:r>
              <a:rPr lang="en-US" altLang="es-CL" sz="2000" dirty="0" err="1"/>
              <a:t>tal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evitar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obstáculos</a:t>
            </a:r>
            <a:r>
              <a:rPr lang="en-US" altLang="es-CL" sz="2000" dirty="0"/>
              <a:t>), y </a:t>
            </a:r>
            <a:r>
              <a:rPr lang="en-US" altLang="es-CL" sz="2000" dirty="0" err="1"/>
              <a:t>tienen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precedencia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sobre</a:t>
            </a:r>
            <a:r>
              <a:rPr lang="en-US" altLang="es-CL" sz="2000" dirty="0"/>
              <a:t> las </a:t>
            </a:r>
            <a:r>
              <a:rPr lang="en-US" altLang="es-CL" sz="2000" dirty="0" err="1"/>
              <a:t>capas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están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arriba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la </a:t>
            </a:r>
            <a:r>
              <a:rPr lang="en-US" altLang="es-CL" sz="2000" dirty="0" err="1"/>
              <a:t>jerarquía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Los </a:t>
            </a:r>
            <a:r>
              <a:rPr lang="en-US" altLang="es-CL" sz="2000" dirty="0" err="1"/>
              <a:t>sistemas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resultantes</a:t>
            </a:r>
            <a:r>
              <a:rPr lang="en-US" altLang="es-CL" sz="2000" dirty="0"/>
              <a:t> son </a:t>
            </a:r>
            <a:r>
              <a:rPr lang="en-US" altLang="es-CL" sz="2000" dirty="0" err="1"/>
              <a:t>extremadamente</a:t>
            </a:r>
            <a:r>
              <a:rPr lang="en-US" altLang="es-CL" sz="2000" dirty="0"/>
              <a:t> simples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cuanto</a:t>
            </a:r>
            <a:r>
              <a:rPr lang="en-US" altLang="es-CL" sz="2000" dirty="0"/>
              <a:t> a la </a:t>
            </a:r>
            <a:r>
              <a:rPr lang="en-US" altLang="es-CL" sz="2000" dirty="0" err="1"/>
              <a:t>cantidad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cómputos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deben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realizar</a:t>
            </a:r>
            <a:r>
              <a:rPr lang="en-US" altLang="es-CL" sz="2000" dirty="0"/>
              <a:t> </a:t>
            </a:r>
          </a:p>
        </p:txBody>
      </p:sp>
      <p:sp>
        <p:nvSpPr>
          <p:cNvPr id="8196" name="Rectangle 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Reactivos</a:t>
            </a:r>
            <a:endParaRPr lang="en-US" altLang="es-CL" dirty="0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746283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0C5514-62C1-4AD3-BF2D-DC6B153CC339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931987"/>
          </a:xfrm>
        </p:spPr>
        <p:txBody>
          <a:bodyPr/>
          <a:lstStyle/>
          <a:p>
            <a:pPr eaLnBrk="1" hangingPunct="1"/>
            <a:r>
              <a:rPr lang="en-US" altLang="es-CL" sz="3200" dirty="0"/>
              <a:t>Una </a:t>
            </a:r>
            <a:r>
              <a:rPr lang="en-US" altLang="es-CL" sz="3200" dirty="0" err="1"/>
              <a:t>Descomposición</a:t>
            </a:r>
            <a:r>
              <a:rPr lang="en-US" altLang="es-CL" sz="3200" dirty="0"/>
              <a:t> de un Sistema de Control de un Robot </a:t>
            </a:r>
            <a:r>
              <a:rPr lang="en-US" altLang="es-CL" sz="3200" dirty="0" err="1"/>
              <a:t>Móvil</a:t>
            </a:r>
            <a:r>
              <a:rPr lang="en-US" altLang="es-CL" sz="3200" dirty="0"/>
              <a:t> </a:t>
            </a:r>
            <a:r>
              <a:rPr lang="en-US" altLang="es-CL" sz="3200" dirty="0" err="1"/>
              <a:t>basada</a:t>
            </a:r>
            <a:r>
              <a:rPr lang="en-US" altLang="es-CL" sz="3200" dirty="0"/>
              <a:t> </a:t>
            </a:r>
            <a:r>
              <a:rPr lang="en-US" altLang="es-CL" sz="3200" dirty="0" err="1"/>
              <a:t>en</a:t>
            </a:r>
            <a:r>
              <a:rPr lang="en-US" altLang="es-CL" sz="3200" dirty="0"/>
              <a:t> </a:t>
            </a:r>
            <a:r>
              <a:rPr lang="en-US" altLang="es-CL" sz="3200" dirty="0" err="1"/>
              <a:t>Comportamientos</a:t>
            </a:r>
            <a:r>
              <a:rPr lang="en-US" altLang="es-CL" sz="3200" dirty="0"/>
              <a:t> para </a:t>
            </a:r>
            <a:r>
              <a:rPr lang="en-US" altLang="es-CL" sz="3200" dirty="0" err="1"/>
              <a:t>efectuar</a:t>
            </a:r>
            <a:r>
              <a:rPr lang="en-US" altLang="es-CL" sz="3200" dirty="0"/>
              <a:t> </a:t>
            </a:r>
            <a:r>
              <a:rPr lang="en-US" altLang="es-CL" sz="3200" dirty="0" err="1"/>
              <a:t>una</a:t>
            </a:r>
            <a:r>
              <a:rPr lang="en-US" altLang="es-CL" sz="3200" dirty="0"/>
              <a:t> </a:t>
            </a:r>
            <a:r>
              <a:rPr lang="en-US" altLang="es-CL" sz="3200" dirty="0" err="1"/>
              <a:t>Tarea</a:t>
            </a:r>
            <a:endParaRPr lang="en-US" altLang="es-CL" sz="3200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89150"/>
            <a:ext cx="7467600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5922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AB4573-52F9-41AE-8649-08B6112BFE2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sz="3800"/>
              <a:t>Control por Capas en la Arquitectura de Subsumisión</a:t>
            </a:r>
          </a:p>
        </p:txBody>
      </p:sp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7239000" cy="327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6170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EA7A3E-C2DE-45AD-AD7D-77551A09CE7F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Esquema de un Módulo</a:t>
            </a:r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6781800" cy="403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217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9BFFB6-488C-4E3C-BE3C-0048E76F96EA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sz="3800" dirty="0" err="1"/>
              <a:t>Niveles</a:t>
            </a:r>
            <a:r>
              <a:rPr lang="en-US" altLang="es-CL" sz="3800" dirty="0"/>
              <a:t> de un Sistema de Control</a:t>
            </a:r>
          </a:p>
        </p:txBody>
      </p:sp>
      <p:pic>
        <p:nvPicPr>
          <p:cNvPr id="1331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08794"/>
            <a:ext cx="413385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330080"/>
            <a:ext cx="4189095" cy="2500952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457200" y="3200400"/>
            <a:ext cx="1371600" cy="15240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5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37FA44-A6FF-42A4-8AF4-7360502E204F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sz="3800" dirty="0" err="1"/>
              <a:t>Niveles</a:t>
            </a:r>
            <a:r>
              <a:rPr lang="en-US" altLang="es-CL" sz="3800" dirty="0"/>
              <a:t> de un Sistema de Control</a:t>
            </a:r>
          </a:p>
        </p:txBody>
      </p:sp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74" r="66803" b="25874"/>
          <a:stretch>
            <a:fillRect/>
          </a:stretch>
        </p:blipFill>
        <p:spPr bwMode="auto">
          <a:xfrm>
            <a:off x="1447801" y="1449469"/>
            <a:ext cx="2523360" cy="3503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00" y="2133600"/>
            <a:ext cx="3759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647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33062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s-CL" dirty="0"/>
              <a:t>El </a:t>
            </a:r>
            <a:r>
              <a:rPr lang="en-US" altLang="es-CL" dirty="0" err="1"/>
              <a:t>Explorador</a:t>
            </a:r>
            <a:r>
              <a:rPr lang="en-US" altLang="es-CL" dirty="0"/>
              <a:t> de </a:t>
            </a:r>
            <a:r>
              <a:rPr lang="en-US" altLang="es-CL" dirty="0" err="1"/>
              <a:t>Marte</a:t>
            </a:r>
            <a:r>
              <a:rPr lang="en-US" altLang="es-CL" dirty="0"/>
              <a:t> de Steels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873" y="10668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El </a:t>
            </a:r>
            <a:r>
              <a:rPr lang="en-US" altLang="es-CL" sz="2000" dirty="0" err="1"/>
              <a:t>explorador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Marte</a:t>
            </a:r>
            <a:r>
              <a:rPr lang="en-US" altLang="es-CL" sz="2000" dirty="0"/>
              <a:t> de Steels </a:t>
            </a:r>
            <a:r>
              <a:rPr lang="en-US" altLang="es-CL" sz="2000" dirty="0" err="1"/>
              <a:t>logra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rendimiento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casi</a:t>
            </a:r>
            <a:r>
              <a:rPr lang="en-US" altLang="es-CL" sz="2000" dirty="0"/>
              <a:t> </a:t>
            </a:r>
            <a:r>
              <a:rPr lang="en-US" altLang="es-CL" sz="2000" dirty="0" err="1"/>
              <a:t>óptimo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dominio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simulado</a:t>
            </a:r>
            <a:r>
              <a:rPr lang="en-US" altLang="es-CL" sz="2000" dirty="0"/>
              <a:t> de “</a:t>
            </a:r>
            <a:r>
              <a:rPr lang="en-US" altLang="es-CL" sz="2000" dirty="0" err="1"/>
              <a:t>recoger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piedras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Marte</a:t>
            </a:r>
            <a:r>
              <a:rPr lang="en-US" altLang="es-CL" sz="2000" dirty="0"/>
              <a:t>”: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El </a:t>
            </a:r>
            <a:r>
              <a:rPr lang="en-US" altLang="es-CL" sz="2000" dirty="0" err="1"/>
              <a:t>objetivo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explorar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planeta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distante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recoger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muestras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piedras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preciosas</a:t>
            </a:r>
            <a:r>
              <a:rPr lang="en-US" altLang="es-CL" sz="2000" dirty="0"/>
              <a:t>. La </a:t>
            </a:r>
            <a:r>
              <a:rPr lang="en-US" altLang="es-CL" sz="2000" dirty="0" err="1"/>
              <a:t>localización</a:t>
            </a:r>
            <a:r>
              <a:rPr lang="en-US" altLang="es-CL" sz="2000" dirty="0"/>
              <a:t> de las </a:t>
            </a:r>
            <a:r>
              <a:rPr lang="en-US" altLang="es-CL" sz="2000" dirty="0" err="1"/>
              <a:t>piedras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desconocida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pero</a:t>
            </a:r>
            <a:r>
              <a:rPr lang="en-US" altLang="es-CL" sz="2000" dirty="0"/>
              <a:t> se </a:t>
            </a:r>
            <a:r>
              <a:rPr lang="en-US" altLang="es-CL" sz="2000" dirty="0" err="1"/>
              <a:t>sabe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tienden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estar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agrupadas</a:t>
            </a:r>
            <a:r>
              <a:rPr lang="en-US" altLang="es-CL" sz="2000" dirty="0"/>
              <a:t>. La </a:t>
            </a:r>
            <a:r>
              <a:rPr lang="en-US" altLang="es-CL" sz="2000" dirty="0" err="1"/>
              <a:t>desigualdad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terreno</a:t>
            </a:r>
            <a:r>
              <a:rPr lang="en-US" altLang="es-CL" sz="2000" dirty="0"/>
              <a:t> no </a:t>
            </a:r>
            <a:r>
              <a:rPr lang="en-US" altLang="es-CL" sz="2000" dirty="0" err="1"/>
              <a:t>permite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robots se </a:t>
            </a:r>
            <a:r>
              <a:rPr lang="en-US" altLang="es-CL" sz="2000" dirty="0" err="1"/>
              <a:t>comuniquen</a:t>
            </a:r>
            <a:r>
              <a:rPr lang="en-US" altLang="es-CL" sz="2000" dirty="0"/>
              <a:t> entre </a:t>
            </a:r>
            <a:r>
              <a:rPr lang="en-US" altLang="es-CL" sz="2000" dirty="0" err="1"/>
              <a:t>si</a:t>
            </a:r>
            <a:endParaRPr lang="en-US" altLang="es-CL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948" y="3419454"/>
            <a:ext cx="2736304" cy="2802568"/>
          </a:xfrm>
          <a:prstGeom prst="rect">
            <a:avLst/>
          </a:prstGeom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1503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El Explorador de Marte de Steels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La nave </a:t>
            </a:r>
            <a:r>
              <a:rPr lang="en-US" altLang="es-CL" sz="2000" dirty="0" err="1"/>
              <a:t>madre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emite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señal</a:t>
            </a:r>
            <a:r>
              <a:rPr lang="en-US" altLang="es-CL" sz="2000" dirty="0"/>
              <a:t> de radio</a:t>
            </a:r>
          </a:p>
          <a:p>
            <a:pPr eaLnBrk="1" hangingPunct="1"/>
            <a:r>
              <a:rPr lang="en-US" altLang="es-CL" sz="2000" dirty="0"/>
              <a:t>Los robots </a:t>
            </a:r>
            <a:r>
              <a:rPr lang="en-US" altLang="es-CL" sz="2000" dirty="0" err="1"/>
              <a:t>pueden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sensar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señal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dirigirse</a:t>
            </a:r>
            <a:r>
              <a:rPr lang="en-US" altLang="es-CL" sz="2000" dirty="0"/>
              <a:t> a la nave </a:t>
            </a:r>
            <a:r>
              <a:rPr lang="en-US" altLang="es-CL" sz="2000" dirty="0" err="1"/>
              <a:t>navegando</a:t>
            </a:r>
            <a:r>
              <a:rPr lang="en-US" altLang="es-CL" sz="2000" dirty="0"/>
              <a:t> la </a:t>
            </a:r>
            <a:r>
              <a:rPr lang="en-US" altLang="es-CL" sz="2000" dirty="0" err="1"/>
              <a:t>gradiente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positiva</a:t>
            </a:r>
            <a:r>
              <a:rPr lang="en-US" altLang="es-CL" sz="2000" dirty="0"/>
              <a:t> de la </a:t>
            </a:r>
            <a:r>
              <a:rPr lang="en-US" altLang="es-CL" sz="2000" dirty="0" err="1"/>
              <a:t>señal</a:t>
            </a: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Cada</a:t>
            </a:r>
            <a:r>
              <a:rPr lang="en-US" altLang="es-CL" sz="2000" dirty="0"/>
              <a:t> robot </a:t>
            </a:r>
            <a:r>
              <a:rPr lang="en-US" altLang="es-CL" sz="2000" dirty="0" err="1"/>
              <a:t>lleva</a:t>
            </a:r>
            <a:r>
              <a:rPr lang="en-US" altLang="es-CL" sz="2000" dirty="0"/>
              <a:t> “</a:t>
            </a:r>
            <a:r>
              <a:rPr lang="en-US" altLang="es-CL" sz="2000" dirty="0" err="1"/>
              <a:t>migajas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radioactivas</a:t>
            </a:r>
            <a:r>
              <a:rPr lang="en-US" altLang="es-CL" sz="2000" dirty="0"/>
              <a:t>”, que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dejar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caer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recoger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detectar</a:t>
            </a:r>
            <a:r>
              <a:rPr lang="en-US" altLang="es-CL" sz="2000" dirty="0"/>
              <a:t> al </a:t>
            </a:r>
            <a:r>
              <a:rPr lang="en-US" altLang="es-CL" sz="2000" dirty="0" err="1"/>
              <a:t>pasar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cerca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ellas</a:t>
            </a:r>
            <a:endParaRPr lang="en-US" altLang="es-CL" sz="2000" dirty="0"/>
          </a:p>
          <a:p>
            <a:pPr eaLnBrk="1" hangingPunct="1"/>
            <a:endParaRPr lang="en-US" altLang="es-CL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276600"/>
            <a:ext cx="2808312" cy="28983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276600"/>
            <a:ext cx="2799738" cy="2898375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076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s-CL" sz="3600" dirty="0"/>
              <a:t>El </a:t>
            </a:r>
            <a:r>
              <a:rPr lang="en-US" altLang="es-CL" sz="3600" dirty="0" err="1"/>
              <a:t>Explorador</a:t>
            </a:r>
            <a:r>
              <a:rPr lang="en-US" altLang="es-CL" sz="3600" dirty="0"/>
              <a:t> de </a:t>
            </a:r>
            <a:r>
              <a:rPr lang="en-US" altLang="es-CL" sz="3600" dirty="0" err="1"/>
              <a:t>Marte</a:t>
            </a:r>
            <a:r>
              <a:rPr lang="en-US" altLang="es-CL" sz="3600" dirty="0"/>
              <a:t>: No </a:t>
            </a:r>
            <a:r>
              <a:rPr lang="en-US" altLang="es-CL" sz="3600" dirty="0" err="1"/>
              <a:t>Cooperador</a:t>
            </a:r>
            <a:endParaRPr lang="en-US" altLang="es-CL" sz="36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162" y="2895600"/>
            <a:ext cx="3096344" cy="319564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93" y="1219200"/>
            <a:ext cx="7803013" cy="2819400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4096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s-CL" sz="3600" dirty="0"/>
              <a:t>El </a:t>
            </a:r>
            <a:r>
              <a:rPr lang="en-US" altLang="es-CL" sz="3600" dirty="0" err="1"/>
              <a:t>Explorador</a:t>
            </a:r>
            <a:r>
              <a:rPr lang="en-US" altLang="es-CL" sz="3600" dirty="0"/>
              <a:t> de </a:t>
            </a:r>
            <a:r>
              <a:rPr lang="en-US" altLang="es-CL" sz="3600" dirty="0" err="1"/>
              <a:t>Marte</a:t>
            </a:r>
            <a:r>
              <a:rPr lang="en-US" altLang="es-CL" sz="3600" dirty="0"/>
              <a:t>: No </a:t>
            </a:r>
            <a:r>
              <a:rPr lang="en-US" altLang="es-CL" sz="3600" dirty="0" err="1"/>
              <a:t>Cooperador</a:t>
            </a:r>
            <a:endParaRPr lang="en-US" altLang="es-CL" sz="36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65070"/>
            <a:ext cx="6376586" cy="2304000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grpSp>
        <p:nvGrpSpPr>
          <p:cNvPr id="15" name="Grupo 14"/>
          <p:cNvGrpSpPr/>
          <p:nvPr/>
        </p:nvGrpSpPr>
        <p:grpSpPr>
          <a:xfrm>
            <a:off x="533400" y="2895600"/>
            <a:ext cx="8131734" cy="3182539"/>
            <a:chOff x="533400" y="2895600"/>
            <a:chExt cx="8131734" cy="3182539"/>
          </a:xfrm>
        </p:grpSpPr>
        <p:sp>
          <p:nvSpPr>
            <p:cNvPr id="4" name="Rectángulo 3"/>
            <p:cNvSpPr/>
            <p:nvPr/>
          </p:nvSpPr>
          <p:spPr>
            <a:xfrm>
              <a:off x="4017599" y="3607188"/>
              <a:ext cx="1295400" cy="5783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200" dirty="0">
                  <a:solidFill>
                    <a:schemeClr val="tx1"/>
                  </a:solidFill>
                </a:rPr>
                <a:t>Planificación movimiento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4017599" y="5497362"/>
              <a:ext cx="1295400" cy="5783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200" dirty="0">
                  <a:solidFill>
                    <a:schemeClr val="tx1"/>
                  </a:solidFill>
                </a:rPr>
                <a:t>Recoger muestra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ángulo 8"/>
            <p:cNvSpPr/>
            <p:nvPr/>
          </p:nvSpPr>
          <p:spPr>
            <a:xfrm>
              <a:off x="1369596" y="5499752"/>
              <a:ext cx="1295400" cy="5783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200" dirty="0">
                  <a:solidFill>
                    <a:schemeClr val="tx1"/>
                  </a:solidFill>
                </a:rPr>
                <a:t>Detectar muestra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1392495" y="3594166"/>
              <a:ext cx="1295400" cy="5783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200" dirty="0">
                  <a:solidFill>
                    <a:schemeClr val="tx1"/>
                  </a:solidFill>
                </a:rPr>
                <a:t>Detectar obstáculo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3471172" y="4591385"/>
              <a:ext cx="1295400" cy="5783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200" dirty="0">
                  <a:solidFill>
                    <a:schemeClr val="tx1"/>
                  </a:solidFill>
                </a:rPr>
                <a:t>Descargar muestra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Conector recto de flecha 5"/>
            <p:cNvCxnSpPr/>
            <p:nvPr/>
          </p:nvCxnSpPr>
          <p:spPr>
            <a:xfrm>
              <a:off x="2687895" y="3715354"/>
              <a:ext cx="13297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/>
            <p:cNvCxnSpPr/>
            <p:nvPr/>
          </p:nvCxnSpPr>
          <p:spPr>
            <a:xfrm>
              <a:off x="588599" y="3723070"/>
              <a:ext cx="78099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/>
            <p:cNvSpPr txBox="1"/>
            <p:nvPr/>
          </p:nvSpPr>
          <p:spPr>
            <a:xfrm>
              <a:off x="533400" y="3444971"/>
              <a:ext cx="8066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sensores</a:t>
              </a:r>
              <a:endParaRPr lang="en-US" sz="1200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2804613" y="3444971"/>
              <a:ext cx="8402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obstáculo</a:t>
              </a:r>
              <a:endParaRPr lang="en-US" sz="1200" dirty="0"/>
            </a:p>
          </p:txBody>
        </p:sp>
        <p:cxnSp>
          <p:nvCxnSpPr>
            <p:cNvPr id="17" name="Conector recto de flecha 16"/>
            <p:cNvCxnSpPr/>
            <p:nvPr/>
          </p:nvCxnSpPr>
          <p:spPr>
            <a:xfrm>
              <a:off x="5306667" y="3721970"/>
              <a:ext cx="13297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uadroTexto 17"/>
            <p:cNvSpPr txBox="1"/>
            <p:nvPr/>
          </p:nvSpPr>
          <p:spPr>
            <a:xfrm>
              <a:off x="5878794" y="3459835"/>
              <a:ext cx="27863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comandos actuadores (motor /ruedas)</a:t>
              </a:r>
              <a:endParaRPr lang="en-US" sz="1200" dirty="0"/>
            </a:p>
          </p:txBody>
        </p:sp>
        <p:cxnSp>
          <p:nvCxnSpPr>
            <p:cNvPr id="19" name="Conector recto de flecha 18"/>
            <p:cNvCxnSpPr/>
            <p:nvPr/>
          </p:nvCxnSpPr>
          <p:spPr>
            <a:xfrm>
              <a:off x="4757540" y="4758183"/>
              <a:ext cx="3298659" cy="148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/>
            <p:cNvSpPr txBox="1"/>
            <p:nvPr/>
          </p:nvSpPr>
          <p:spPr>
            <a:xfrm>
              <a:off x="5966199" y="4496047"/>
              <a:ext cx="22990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comandos actuadores (brazos)</a:t>
              </a:r>
              <a:endParaRPr lang="en-US" sz="1200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2651742" y="5561228"/>
              <a:ext cx="7393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muestra</a:t>
              </a:r>
              <a:endParaRPr lang="en-US" sz="1200" dirty="0"/>
            </a:p>
          </p:txBody>
        </p:sp>
        <p:cxnSp>
          <p:nvCxnSpPr>
            <p:cNvPr id="24" name="Conector recto de flecha 23"/>
            <p:cNvCxnSpPr/>
            <p:nvPr/>
          </p:nvCxnSpPr>
          <p:spPr>
            <a:xfrm>
              <a:off x="2687895" y="5620354"/>
              <a:ext cx="13297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/>
            <p:cNvCxnSpPr/>
            <p:nvPr/>
          </p:nvCxnSpPr>
          <p:spPr>
            <a:xfrm>
              <a:off x="1507838" y="4789445"/>
              <a:ext cx="19616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/>
            <p:cNvSpPr txBox="1"/>
            <p:nvPr/>
          </p:nvSpPr>
          <p:spPr>
            <a:xfrm>
              <a:off x="1507838" y="4510366"/>
              <a:ext cx="15135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sensores gradiente</a:t>
              </a:r>
              <a:endParaRPr lang="en-US" sz="1200" dirty="0"/>
            </a:p>
          </p:txBody>
        </p:sp>
        <p:cxnSp>
          <p:nvCxnSpPr>
            <p:cNvPr id="28" name="Conector angular 27"/>
            <p:cNvCxnSpPr>
              <a:endCxn id="4" idx="1"/>
            </p:cNvCxnSpPr>
            <p:nvPr/>
          </p:nvCxnSpPr>
          <p:spPr>
            <a:xfrm rot="5400000" flipH="1" flipV="1">
              <a:off x="3175688" y="3945455"/>
              <a:ext cx="890983" cy="792839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/>
            <p:cNvCxnSpPr/>
            <p:nvPr/>
          </p:nvCxnSpPr>
          <p:spPr>
            <a:xfrm>
              <a:off x="5306667" y="5655896"/>
              <a:ext cx="27495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/>
            <p:cNvSpPr txBox="1"/>
            <p:nvPr/>
          </p:nvSpPr>
          <p:spPr>
            <a:xfrm>
              <a:off x="5935333" y="5378897"/>
              <a:ext cx="22990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comandos actuadores (brazos)</a:t>
              </a:r>
              <a:endParaRPr lang="en-US" sz="1200" dirty="0"/>
            </a:p>
          </p:txBody>
        </p:sp>
        <p:cxnSp>
          <p:nvCxnSpPr>
            <p:cNvPr id="19456" name="Conector angular 19455"/>
            <p:cNvCxnSpPr>
              <a:endCxn id="9" idx="1"/>
            </p:cNvCxnSpPr>
            <p:nvPr/>
          </p:nvCxnSpPr>
          <p:spPr>
            <a:xfrm rot="16200000" flipH="1">
              <a:off x="29242" y="4448591"/>
              <a:ext cx="2052111" cy="62859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/>
            <p:cNvCxnSpPr/>
            <p:nvPr/>
          </p:nvCxnSpPr>
          <p:spPr>
            <a:xfrm>
              <a:off x="1522572" y="5061233"/>
              <a:ext cx="19616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/>
            <p:cNvSpPr txBox="1"/>
            <p:nvPr/>
          </p:nvSpPr>
          <p:spPr>
            <a:xfrm>
              <a:off x="1198199" y="4809955"/>
              <a:ext cx="22990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sensor muestras almacenadas</a:t>
              </a:r>
              <a:endParaRPr lang="en-US" sz="1200" dirty="0"/>
            </a:p>
          </p:txBody>
        </p:sp>
        <p:cxnSp>
          <p:nvCxnSpPr>
            <p:cNvPr id="19460" name="Conector recto de flecha 19459"/>
            <p:cNvCxnSpPr/>
            <p:nvPr/>
          </p:nvCxnSpPr>
          <p:spPr>
            <a:xfrm flipV="1">
              <a:off x="5820720" y="3862813"/>
              <a:ext cx="25679" cy="18056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61" name="Elipse 19460"/>
            <p:cNvSpPr/>
            <p:nvPr/>
          </p:nvSpPr>
          <p:spPr>
            <a:xfrm>
              <a:off x="5630533" y="3578716"/>
              <a:ext cx="304800" cy="2840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L" sz="1200" b="1" dirty="0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9472" name="Conector angular 19471"/>
            <p:cNvCxnSpPr>
              <a:endCxn id="54" idx="6"/>
            </p:cNvCxnSpPr>
            <p:nvPr/>
          </p:nvCxnSpPr>
          <p:spPr>
            <a:xfrm rot="16200000" flipV="1">
              <a:off x="3392486" y="4194870"/>
              <a:ext cx="412028" cy="381002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Elipse 53"/>
            <p:cNvSpPr/>
            <p:nvPr/>
          </p:nvSpPr>
          <p:spPr>
            <a:xfrm>
              <a:off x="3103199" y="4043542"/>
              <a:ext cx="304800" cy="2716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L" sz="1200" b="1" dirty="0">
                  <a:solidFill>
                    <a:srgbClr val="FF0000"/>
                  </a:solidFill>
                </a:rPr>
                <a:t>S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9479" name="Conector angular 19478"/>
            <p:cNvCxnSpPr/>
            <p:nvPr/>
          </p:nvCxnSpPr>
          <p:spPr>
            <a:xfrm rot="10800000" flipV="1">
              <a:off x="3672831" y="4773044"/>
              <a:ext cx="1335372" cy="542510"/>
            </a:xfrm>
            <a:prstGeom prst="bentConnector3">
              <a:avLst>
                <a:gd name="adj1" fmla="val 5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84" name="Conector recto de flecha 19483"/>
            <p:cNvCxnSpPr>
              <a:endCxn id="66" idx="0"/>
            </p:cNvCxnSpPr>
            <p:nvPr/>
          </p:nvCxnSpPr>
          <p:spPr>
            <a:xfrm flipH="1">
              <a:off x="3657600" y="5315554"/>
              <a:ext cx="6147" cy="1878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Elipse 65"/>
            <p:cNvSpPr/>
            <p:nvPr/>
          </p:nvSpPr>
          <p:spPr>
            <a:xfrm>
              <a:off x="3505200" y="5503451"/>
              <a:ext cx="304800" cy="2716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L" sz="1200" b="1" dirty="0">
                  <a:solidFill>
                    <a:srgbClr val="FF0000"/>
                  </a:solidFill>
                </a:rPr>
                <a:t>S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Conector angular 36"/>
            <p:cNvCxnSpPr/>
            <p:nvPr/>
          </p:nvCxnSpPr>
          <p:spPr>
            <a:xfrm rot="16200000" flipH="1">
              <a:off x="3500020" y="3272683"/>
              <a:ext cx="684507" cy="350650"/>
            </a:xfrm>
            <a:prstGeom prst="bentConnector3">
              <a:avLst>
                <a:gd name="adj1" fmla="val 10072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CuadroTexto 75"/>
            <p:cNvSpPr txBox="1"/>
            <p:nvPr/>
          </p:nvSpPr>
          <p:spPr>
            <a:xfrm>
              <a:off x="3581186" y="2895600"/>
              <a:ext cx="7713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aleatorio</a:t>
              </a:r>
              <a:endParaRPr lang="en-US" sz="1200" dirty="0"/>
            </a:p>
          </p:txBody>
        </p:sp>
        <p:sp>
          <p:nvSpPr>
            <p:cNvPr id="77" name="Elipse 76"/>
            <p:cNvSpPr/>
            <p:nvPr/>
          </p:nvSpPr>
          <p:spPr>
            <a:xfrm>
              <a:off x="3536706" y="3165795"/>
              <a:ext cx="304800" cy="2716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L" sz="1200" b="1" dirty="0">
                  <a:solidFill>
                    <a:srgbClr val="FF0000"/>
                  </a:solidFill>
                </a:rPr>
                <a:t>S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3" name="Conector recto de flecha 42"/>
            <p:cNvCxnSpPr/>
            <p:nvPr/>
          </p:nvCxnSpPr>
          <p:spPr>
            <a:xfrm flipH="1">
              <a:off x="3841507" y="3334354"/>
              <a:ext cx="21246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de flecha 83"/>
            <p:cNvCxnSpPr/>
            <p:nvPr/>
          </p:nvCxnSpPr>
          <p:spPr>
            <a:xfrm flipV="1">
              <a:off x="5648875" y="3846065"/>
              <a:ext cx="13078" cy="9195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angular 51"/>
            <p:cNvCxnSpPr/>
            <p:nvPr/>
          </p:nvCxnSpPr>
          <p:spPr>
            <a:xfrm flipV="1">
              <a:off x="2804613" y="3301609"/>
              <a:ext cx="692613" cy="413745"/>
            </a:xfrm>
            <a:prstGeom prst="bentConnector3">
              <a:avLst>
                <a:gd name="adj1" fmla="val -180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CuadroTexto 90"/>
            <p:cNvSpPr txBox="1"/>
            <p:nvPr/>
          </p:nvSpPr>
          <p:spPr>
            <a:xfrm>
              <a:off x="4103361" y="3093168"/>
              <a:ext cx="25362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dirty="0"/>
                <a:t>desde salida de todos los módulos</a:t>
              </a:r>
              <a:endParaRPr lang="en-US" sz="1200" dirty="0"/>
            </a:p>
          </p:txBody>
        </p:sp>
        <p:sp>
          <p:nvSpPr>
            <p:cNvPr id="44" name="Elipse 43"/>
            <p:cNvSpPr/>
            <p:nvPr/>
          </p:nvSpPr>
          <p:spPr>
            <a:xfrm>
              <a:off x="5410200" y="5507103"/>
              <a:ext cx="304800" cy="2840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L" sz="1200" b="1" dirty="0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5" name="Conector recto de flecha 44"/>
            <p:cNvCxnSpPr/>
            <p:nvPr/>
          </p:nvCxnSpPr>
          <p:spPr>
            <a:xfrm flipH="1">
              <a:off x="5559438" y="4773045"/>
              <a:ext cx="3162" cy="7340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12274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pPr algn="ctr" eaLnBrk="1" hangingPunct="1"/>
            <a:r>
              <a:rPr lang="en-US" altLang="es-CL" sz="3600" dirty="0"/>
              <a:t>El </a:t>
            </a:r>
            <a:r>
              <a:rPr lang="en-US" altLang="es-CL" sz="3600" dirty="0" err="1"/>
              <a:t>Explorador</a:t>
            </a:r>
            <a:r>
              <a:rPr lang="en-US" altLang="es-CL" sz="3600" dirty="0"/>
              <a:t> de </a:t>
            </a:r>
            <a:r>
              <a:rPr lang="en-US" altLang="es-CL" sz="3600" dirty="0" err="1"/>
              <a:t>Marte</a:t>
            </a:r>
            <a:r>
              <a:rPr lang="en-US" altLang="es-CL" sz="3600" dirty="0"/>
              <a:t>: </a:t>
            </a:r>
            <a:r>
              <a:rPr lang="en-US" altLang="es-CL" sz="3600" dirty="0" err="1"/>
              <a:t>Cooperador</a:t>
            </a:r>
            <a:endParaRPr lang="en-US" altLang="es-CL" sz="36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688" y="3276600"/>
            <a:ext cx="3240360" cy="332997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4" y="1219200"/>
            <a:ext cx="7281158" cy="2880320"/>
          </a:xfrm>
          <a:prstGeom prst="rect">
            <a:avLst/>
          </a:prstGeom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3176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5C6D4-7730-4025-8066-89CD3B8E4498}" type="slidenum">
              <a:rPr lang="en-US" altLang="en-US" smtClean="0"/>
              <a:pPr>
                <a:defRPr/>
              </a:pPr>
              <a:t>55</a:t>
            </a:fld>
            <a:endParaRPr lang="en-US" altLang="en-US" dirty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289049"/>
          </a:xfrm>
        </p:spPr>
        <p:txBody>
          <a:bodyPr/>
          <a:lstStyle/>
          <a:p>
            <a:pPr eaLnBrk="1" hangingPunct="1"/>
            <a:r>
              <a:rPr lang="en-US" dirty="0" err="1"/>
              <a:t>Ejercicio</a:t>
            </a:r>
            <a:r>
              <a:rPr lang="en-US" dirty="0"/>
              <a:t> </a:t>
            </a:r>
            <a:r>
              <a:rPr lang="en-US" dirty="0" err="1"/>
              <a:t>práctico</a:t>
            </a:r>
            <a:r>
              <a:rPr lang="en-US" dirty="0"/>
              <a:t>: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reactivo</a:t>
            </a:r>
            <a:r>
              <a:rPr lang="en-US" dirty="0"/>
              <a:t> </a:t>
            </a:r>
            <a:r>
              <a:rPr lang="en-US" dirty="0" err="1"/>
              <a:t>Subsumisión</a:t>
            </a:r>
            <a:endParaRPr lang="en-US" dirty="0"/>
          </a:p>
        </p:txBody>
      </p:sp>
      <p:sp>
        <p:nvSpPr>
          <p:cNvPr id="2" name="CuadroTexto 1"/>
          <p:cNvSpPr txBox="1"/>
          <p:nvPr/>
        </p:nvSpPr>
        <p:spPr>
          <a:xfrm>
            <a:off x="533400" y="1752600"/>
            <a:ext cx="8153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Macroespecificar</a:t>
            </a:r>
            <a:r>
              <a:rPr lang="es-CL" dirty="0"/>
              <a:t> como agente </a:t>
            </a:r>
            <a:r>
              <a:rPr lang="es-CL" dirty="0" err="1"/>
              <a:t>Subsumisión</a:t>
            </a:r>
            <a:r>
              <a:rPr lang="es-CL" dirty="0"/>
              <a:t> el:  </a:t>
            </a:r>
            <a:r>
              <a:rPr lang="es-CL" dirty="0" err="1">
                <a:hlinkClick r:id="rId2"/>
              </a:rPr>
              <a:t>VirtualConveyor</a:t>
            </a:r>
            <a:r>
              <a:rPr lang="es-CL" dirty="0">
                <a:hlinkClick r:id="rId2"/>
              </a:rPr>
              <a:t> © </a:t>
            </a:r>
            <a:r>
              <a:rPr lang="es-CL" dirty="0" err="1">
                <a:hlinkClick r:id="rId2"/>
              </a:rPr>
              <a:t>Fetch</a:t>
            </a:r>
            <a:r>
              <a:rPr lang="es-CL" dirty="0">
                <a:hlinkClick r:id="rId2"/>
              </a:rPr>
              <a:t> </a:t>
            </a:r>
            <a:r>
              <a:rPr lang="es-CL" dirty="0" err="1">
                <a:hlinkClick r:id="rId2"/>
              </a:rPr>
              <a:t>Robotics</a:t>
            </a:r>
            <a:r>
              <a:rPr lang="es-CL" dirty="0"/>
              <a:t>, </a:t>
            </a:r>
            <a:r>
              <a:rPr lang="es-CL" u="sng" dirty="0"/>
              <a:t>usando pares condición-acción</a:t>
            </a:r>
          </a:p>
          <a:p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Defina el objetivo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Defina qué pares condición-acción deben existir (tal vez sería más fácil listar condiciones y acciones </a:t>
            </a:r>
            <a:r>
              <a:rPr lang="es-CL"/>
              <a:t>y luego </a:t>
            </a:r>
            <a:r>
              <a:rPr lang="es-CL" dirty="0"/>
              <a:t>parearlas)</a:t>
            </a:r>
            <a:endParaRPr lang="es-CL" i="1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Cree la jerarquía de los pares condición-acción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810000"/>
            <a:ext cx="5164487" cy="2667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530183"/>
            <a:ext cx="2580539" cy="194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936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22387"/>
          </a:xfrm>
        </p:spPr>
        <p:txBody>
          <a:bodyPr/>
          <a:lstStyle/>
          <a:p>
            <a:pPr eaLnBrk="1" hangingPunct="1"/>
            <a:r>
              <a:rPr lang="en-US" altLang="es-CL" sz="4000" dirty="0" err="1"/>
              <a:t>Ejercicio</a:t>
            </a:r>
            <a:r>
              <a:rPr lang="en-US" altLang="es-CL" sz="4000" dirty="0"/>
              <a:t> </a:t>
            </a:r>
            <a:r>
              <a:rPr lang="en-US" altLang="es-CL" sz="4000" dirty="0" err="1"/>
              <a:t>práctico</a:t>
            </a:r>
            <a:r>
              <a:rPr lang="en-US" altLang="es-CL" sz="4000" dirty="0"/>
              <a:t>: </a:t>
            </a:r>
            <a:r>
              <a:rPr lang="en-US" altLang="es-CL" sz="4000" dirty="0" err="1"/>
              <a:t>entender</a:t>
            </a:r>
            <a:r>
              <a:rPr lang="en-US" altLang="es-CL" sz="4000" dirty="0"/>
              <a:t> </a:t>
            </a:r>
            <a:r>
              <a:rPr lang="en-US" altLang="es-CL" sz="4000" dirty="0" err="1"/>
              <a:t>interacciones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en</a:t>
            </a:r>
            <a:r>
              <a:rPr lang="en-US" altLang="es-CL" sz="4000" dirty="0"/>
              <a:t> </a:t>
            </a:r>
            <a:r>
              <a:rPr lang="en-US" altLang="es-CL" sz="4000" dirty="0" err="1"/>
              <a:t>agentes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reactivos</a:t>
            </a:r>
            <a:endParaRPr lang="en-US" altLang="es-CL" sz="40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944" y="1600199"/>
            <a:ext cx="8630856" cy="4481513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Abra </a:t>
            </a:r>
            <a:r>
              <a:rPr lang="es-CL" altLang="es-CL" sz="2000" dirty="0" err="1"/>
              <a:t>Netlogo</a:t>
            </a:r>
            <a:r>
              <a:rPr lang="es-CL" altLang="es-CL" sz="2000" dirty="0"/>
              <a:t> v. 6.2.1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Desde </a:t>
            </a:r>
            <a:r>
              <a:rPr lang="es-CL" altLang="es-CL" sz="2000" dirty="0" err="1"/>
              <a:t>Netlogo</a:t>
            </a:r>
            <a:r>
              <a:rPr lang="es-CL" altLang="es-CL" sz="2000" dirty="0"/>
              <a:t> abra el archivo: Subsumption_Example_1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Oprima </a:t>
            </a:r>
            <a:r>
              <a:rPr lang="es-CL" altLang="es-CL" sz="2000" i="1" dirty="0">
                <a:solidFill>
                  <a:srgbClr val="0070C0"/>
                </a:solidFill>
              </a:rPr>
              <a:t>Inicializar</a:t>
            </a:r>
            <a:r>
              <a:rPr lang="es-CL" altLang="es-CL" sz="2000" dirty="0"/>
              <a:t> y luego </a:t>
            </a:r>
            <a:r>
              <a:rPr lang="es-CL" altLang="es-CL" sz="2000" i="1" dirty="0">
                <a:solidFill>
                  <a:srgbClr val="0070C0"/>
                </a:solidFill>
              </a:rPr>
              <a:t>Simular </a:t>
            </a:r>
            <a:r>
              <a:rPr lang="es-CL" altLang="es-CL" sz="2000" dirty="0"/>
              <a:t>(si lo desea puede establecer un límite de tiempo (</a:t>
            </a:r>
            <a:r>
              <a:rPr lang="es-CL" altLang="es-CL" sz="2000" i="1" dirty="0" err="1">
                <a:solidFill>
                  <a:srgbClr val="0070C0"/>
                </a:solidFill>
              </a:rPr>
              <a:t>Limite_tiempo</a:t>
            </a:r>
            <a:r>
              <a:rPr lang="es-CL" altLang="es-CL" sz="2000" dirty="0"/>
              <a:t>)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Aprecie qué pasa con la recolección de muestras (vea el “</a:t>
            </a:r>
            <a:r>
              <a:rPr lang="es-CL" altLang="es-CL" sz="2000" i="1" dirty="0">
                <a:solidFill>
                  <a:srgbClr val="0070C0"/>
                </a:solidFill>
              </a:rPr>
              <a:t>mundo</a:t>
            </a:r>
            <a:r>
              <a:rPr lang="es-CL" altLang="es-CL" sz="2000" dirty="0"/>
              <a:t>”)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Oprima nuevamente </a:t>
            </a:r>
            <a:r>
              <a:rPr lang="es-CL" altLang="es-CL" sz="2000" i="1" dirty="0">
                <a:solidFill>
                  <a:srgbClr val="0070C0"/>
                </a:solidFill>
              </a:rPr>
              <a:t>Simular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Vea qué pasó en ventana del “</a:t>
            </a:r>
            <a:r>
              <a:rPr lang="es-CL" altLang="es-CL" sz="2000" i="1" dirty="0">
                <a:solidFill>
                  <a:srgbClr val="0070C0"/>
                </a:solidFill>
              </a:rPr>
              <a:t>mundo</a:t>
            </a:r>
            <a:r>
              <a:rPr lang="es-CL" altLang="es-CL" sz="2000" dirty="0"/>
              <a:t>”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Repita acciones 3 al 6 varias veces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altLang="es-CL" sz="2000" dirty="0"/>
              <a:t>¿Cuál es el problema y por qué sucede?</a:t>
            </a:r>
            <a:endParaRPr lang="en-US" altLang="es-CL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038600"/>
            <a:ext cx="2043113" cy="2043113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263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22387"/>
          </a:xfrm>
        </p:spPr>
        <p:txBody>
          <a:bodyPr/>
          <a:lstStyle/>
          <a:p>
            <a:pPr eaLnBrk="1" hangingPunct="1"/>
            <a:r>
              <a:rPr lang="en-US" altLang="es-CL" sz="4000" dirty="0" err="1"/>
              <a:t>Ejercicio</a:t>
            </a:r>
            <a:r>
              <a:rPr lang="en-US" altLang="es-CL" sz="4000" dirty="0"/>
              <a:t> </a:t>
            </a:r>
            <a:r>
              <a:rPr lang="en-US" altLang="es-CL" sz="4000" dirty="0" err="1"/>
              <a:t>práctico</a:t>
            </a:r>
            <a:r>
              <a:rPr lang="en-US" altLang="es-CL" sz="4000" dirty="0"/>
              <a:t>: </a:t>
            </a:r>
            <a:r>
              <a:rPr lang="en-US" altLang="es-CL" sz="4000" dirty="0" err="1"/>
              <a:t>entender</a:t>
            </a:r>
            <a:r>
              <a:rPr lang="en-US" altLang="es-CL" sz="4000" dirty="0"/>
              <a:t> </a:t>
            </a:r>
            <a:r>
              <a:rPr lang="en-US" altLang="es-CL" sz="4000" dirty="0" err="1"/>
              <a:t>interacciones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en</a:t>
            </a:r>
            <a:r>
              <a:rPr lang="en-US" altLang="es-CL" sz="4000" dirty="0"/>
              <a:t> </a:t>
            </a:r>
            <a:r>
              <a:rPr lang="en-US" altLang="es-CL" sz="4000" dirty="0" err="1"/>
              <a:t>agentes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reactivos</a:t>
            </a:r>
            <a:endParaRPr lang="en-US" altLang="es-CL" sz="40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686800" cy="41148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Ahora abra el archivo: Subsumption_Example_2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Oprima </a:t>
            </a:r>
            <a:r>
              <a:rPr lang="es-CL" altLang="es-CL" sz="2000" i="1" dirty="0">
                <a:solidFill>
                  <a:srgbClr val="0070C0"/>
                </a:solidFill>
              </a:rPr>
              <a:t>Inicializar</a:t>
            </a:r>
            <a:r>
              <a:rPr lang="es-CL" altLang="es-CL" sz="2000" dirty="0"/>
              <a:t> y luego </a:t>
            </a:r>
            <a:r>
              <a:rPr lang="es-CL" altLang="es-CL" sz="2000" i="1" dirty="0">
                <a:solidFill>
                  <a:srgbClr val="0070C0"/>
                </a:solidFill>
              </a:rPr>
              <a:t>Simular </a:t>
            </a:r>
            <a:r>
              <a:rPr lang="es-CL" altLang="es-CL" sz="2000" dirty="0"/>
              <a:t>(si lo desea puede establecer un límite de tiempo (</a:t>
            </a:r>
            <a:r>
              <a:rPr lang="es-CL" altLang="es-CL" sz="2000" i="1" dirty="0" err="1">
                <a:solidFill>
                  <a:srgbClr val="0070C0"/>
                </a:solidFill>
              </a:rPr>
              <a:t>Limite_tiempo</a:t>
            </a:r>
            <a:r>
              <a:rPr lang="es-CL" altLang="es-CL" sz="2000" dirty="0"/>
              <a:t>)</a:t>
            </a:r>
            <a:endParaRPr lang="es-CL" altLang="es-CL" sz="2000" i="1" dirty="0">
              <a:solidFill>
                <a:srgbClr val="0070C0"/>
              </a:solidFill>
            </a:endParaRP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Aprecie qué pasa con la recolección de muestras (vea el “</a:t>
            </a:r>
            <a:r>
              <a:rPr lang="es-CL" altLang="es-CL" sz="2000" i="1" dirty="0">
                <a:solidFill>
                  <a:srgbClr val="0070C0"/>
                </a:solidFill>
              </a:rPr>
              <a:t>mundo</a:t>
            </a:r>
            <a:r>
              <a:rPr lang="es-CL" altLang="es-CL" sz="2000" dirty="0"/>
              <a:t>”)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Oprima nuevamente </a:t>
            </a:r>
            <a:r>
              <a:rPr lang="es-CL" altLang="es-CL" sz="2000" i="1" dirty="0">
                <a:solidFill>
                  <a:srgbClr val="0070C0"/>
                </a:solidFill>
              </a:rPr>
              <a:t>Simular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Vea qué pasó en ventana del “</a:t>
            </a:r>
            <a:r>
              <a:rPr lang="es-CL" altLang="es-CL" sz="2000" i="1" dirty="0">
                <a:solidFill>
                  <a:srgbClr val="0070C0"/>
                </a:solidFill>
              </a:rPr>
              <a:t>mundo</a:t>
            </a:r>
            <a:r>
              <a:rPr lang="es-CL" altLang="es-CL" sz="2000" dirty="0"/>
              <a:t>”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Repita acciones 2 al 5 varias veces</a:t>
            </a:r>
          </a:p>
          <a:p>
            <a:pPr marL="514350" indent="-51435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CL" altLang="es-CL" sz="2000" dirty="0"/>
              <a:t>¿Existe ahora el problema anterior?</a:t>
            </a:r>
            <a:endParaRPr lang="en-US" altLang="es-CL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4038600"/>
            <a:ext cx="2043113" cy="2043113"/>
          </a:xfrm>
          <a:prstGeom prst="rect">
            <a:avLst/>
          </a:prstGeom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7476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22387"/>
          </a:xfrm>
        </p:spPr>
        <p:txBody>
          <a:bodyPr/>
          <a:lstStyle/>
          <a:p>
            <a:pPr eaLnBrk="1" hangingPunct="1"/>
            <a:r>
              <a:rPr lang="en-US" altLang="es-CL" sz="4000" dirty="0" err="1"/>
              <a:t>Ejercicio</a:t>
            </a:r>
            <a:r>
              <a:rPr lang="en-US" altLang="es-CL" sz="4000" dirty="0"/>
              <a:t> </a:t>
            </a:r>
            <a:r>
              <a:rPr lang="en-US" altLang="es-CL" sz="4000" dirty="0" err="1"/>
              <a:t>práctico</a:t>
            </a:r>
            <a:r>
              <a:rPr lang="en-US" altLang="es-CL" sz="4000" dirty="0"/>
              <a:t>: </a:t>
            </a:r>
            <a:r>
              <a:rPr lang="en-US" altLang="es-CL" sz="4000" dirty="0" err="1"/>
              <a:t>entender</a:t>
            </a:r>
            <a:r>
              <a:rPr lang="en-US" altLang="es-CL" sz="4000" dirty="0"/>
              <a:t> </a:t>
            </a:r>
            <a:r>
              <a:rPr lang="en-US" altLang="es-CL" sz="4000" dirty="0" err="1"/>
              <a:t>interacciones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en</a:t>
            </a:r>
            <a:r>
              <a:rPr lang="en-US" altLang="es-CL" sz="4000" dirty="0"/>
              <a:t> </a:t>
            </a:r>
            <a:r>
              <a:rPr lang="en-US" altLang="es-CL" sz="4000" dirty="0" err="1"/>
              <a:t>agentes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reactivos</a:t>
            </a:r>
            <a:endParaRPr lang="en-US" altLang="es-CL" sz="4000" dirty="0"/>
          </a:p>
        </p:txBody>
      </p:sp>
      <p:sp>
        <p:nvSpPr>
          <p:cNvPr id="3" name="Rectángulo 2"/>
          <p:cNvSpPr/>
          <p:nvPr/>
        </p:nvSpPr>
        <p:spPr>
          <a:xfrm>
            <a:off x="457200" y="4129543"/>
            <a:ext cx="4980274" cy="3139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s-CL" altLang="es-CL" sz="1600" dirty="0"/>
              <a:t>Subsumption_Example_2</a:t>
            </a:r>
          </a:p>
        </p:txBody>
      </p:sp>
      <p:sp>
        <p:nvSpPr>
          <p:cNvPr id="6" name="Rectángulo 5"/>
          <p:cNvSpPr/>
          <p:nvPr/>
        </p:nvSpPr>
        <p:spPr>
          <a:xfrm>
            <a:off x="457201" y="1636842"/>
            <a:ext cx="4893702" cy="3139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s-CL" altLang="es-CL" sz="1600" dirty="0"/>
              <a:t>Subsumption_Example_1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00200"/>
            <a:ext cx="2520000" cy="25200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218178"/>
            <a:ext cx="2520000" cy="2520000"/>
          </a:xfrm>
          <a:prstGeom prst="rect">
            <a:avLst/>
          </a:prstGeom>
        </p:spPr>
      </p:pic>
      <p:sp>
        <p:nvSpPr>
          <p:cNvPr id="9" name="Flecha izquierda 8"/>
          <p:cNvSpPr/>
          <p:nvPr/>
        </p:nvSpPr>
        <p:spPr>
          <a:xfrm>
            <a:off x="6781800" y="2362200"/>
            <a:ext cx="685800" cy="345600"/>
          </a:xfrm>
          <a:prstGeom prst="lef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88" y="2045329"/>
            <a:ext cx="5089263" cy="194143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88" y="4480117"/>
            <a:ext cx="5089263" cy="19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599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22387"/>
          </a:xfrm>
        </p:spPr>
        <p:txBody>
          <a:bodyPr/>
          <a:lstStyle/>
          <a:p>
            <a:pPr eaLnBrk="1" hangingPunct="1"/>
            <a:r>
              <a:rPr lang="en-US" altLang="es-CL" sz="4000" dirty="0" err="1"/>
              <a:t>Ejercicio</a:t>
            </a:r>
            <a:r>
              <a:rPr lang="en-US" altLang="es-CL" sz="4000" dirty="0"/>
              <a:t> </a:t>
            </a:r>
            <a:r>
              <a:rPr lang="en-US" altLang="es-CL" sz="4000" dirty="0" err="1"/>
              <a:t>práctico</a:t>
            </a:r>
            <a:r>
              <a:rPr lang="en-US" altLang="es-CL" sz="4000" dirty="0"/>
              <a:t>: </a:t>
            </a:r>
            <a:r>
              <a:rPr lang="en-US" altLang="es-CL" sz="4000" dirty="0" err="1"/>
              <a:t>entender</a:t>
            </a:r>
            <a:r>
              <a:rPr lang="en-US" altLang="es-CL" sz="4000" dirty="0"/>
              <a:t> </a:t>
            </a:r>
            <a:r>
              <a:rPr lang="en-US" altLang="es-CL" sz="4000" dirty="0" err="1"/>
              <a:t>interacciones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en</a:t>
            </a:r>
            <a:r>
              <a:rPr lang="en-US" altLang="es-CL" sz="4000" dirty="0"/>
              <a:t> </a:t>
            </a:r>
            <a:r>
              <a:rPr lang="en-US" altLang="es-CL" sz="4000" dirty="0" err="1"/>
              <a:t>agentes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reactivos</a:t>
            </a:r>
            <a:endParaRPr lang="en-US" altLang="es-CL" sz="40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686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/>
              <a:t>Ahora abra el archivo: Mars_Explorer_2_Con_Obstaculos_v611_EXAMPLE_ARCH_SS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/>
              <a:t>Corra las siguientes condiciones por 5 veces, anotando el nro. de </a:t>
            </a:r>
            <a:r>
              <a:rPr lang="es-CL" altLang="es-CL" sz="2000" i="1" dirty="0" err="1"/>
              <a:t>ticks</a:t>
            </a:r>
            <a:r>
              <a:rPr lang="es-CL" altLang="es-CL" sz="2000" dirty="0"/>
              <a:t> (</a:t>
            </a:r>
            <a:r>
              <a:rPr lang="en-US" altLang="es-CL" sz="2000" dirty="0">
                <a:solidFill>
                  <a:srgbClr val="0070C0"/>
                </a:solidFill>
              </a:rPr>
              <a:t>No of ticks since start simulation</a:t>
            </a:r>
            <a:r>
              <a:rPr lang="es-CL" altLang="es-CL" sz="2000" dirty="0"/>
              <a:t>) que necesitan los exploradores para recoger las muestras: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Cooperative_Agents</a:t>
            </a:r>
            <a:r>
              <a:rPr lang="es-CL" altLang="es-CL" sz="2000" dirty="0">
                <a:solidFill>
                  <a:srgbClr val="0070C0"/>
                </a:solidFill>
                <a:ea typeface="+mn-ea"/>
              </a:rPr>
              <a:t>?</a:t>
            </a:r>
            <a:r>
              <a:rPr lang="es-CL" altLang="es-CL" sz="2000" dirty="0"/>
              <a:t> Off, </a:t>
            </a: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no_rocks_to_carry_explorer</a:t>
            </a:r>
            <a:r>
              <a:rPr lang="es-CL" altLang="es-CL" sz="2000" dirty="0"/>
              <a:t> 1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Cooperative_Agents</a:t>
            </a:r>
            <a:r>
              <a:rPr lang="es-CL" altLang="es-CL" sz="2000" dirty="0">
                <a:solidFill>
                  <a:srgbClr val="0070C0"/>
                </a:solidFill>
                <a:ea typeface="+mn-ea"/>
              </a:rPr>
              <a:t>?</a:t>
            </a:r>
            <a:r>
              <a:rPr lang="es-CL" altLang="es-CL" sz="2000" dirty="0">
                <a:solidFill>
                  <a:srgbClr val="0070C0"/>
                </a:solidFill>
              </a:rPr>
              <a:t> </a:t>
            </a:r>
            <a:r>
              <a:rPr lang="es-CL" altLang="es-CL" sz="2000" dirty="0" err="1"/>
              <a:t>On</a:t>
            </a:r>
            <a:r>
              <a:rPr lang="es-CL" altLang="es-CL" sz="2000" dirty="0"/>
              <a:t>, </a:t>
            </a: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no_rocks_to_carry_explorer</a:t>
            </a:r>
            <a:r>
              <a:rPr lang="es-CL" altLang="es-CL" sz="2000" dirty="0"/>
              <a:t> 1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Cooperative_Agents</a:t>
            </a:r>
            <a:r>
              <a:rPr lang="es-CL" altLang="es-CL" sz="2000" dirty="0">
                <a:solidFill>
                  <a:srgbClr val="0070C0"/>
                </a:solidFill>
                <a:ea typeface="+mn-ea"/>
              </a:rPr>
              <a:t>?</a:t>
            </a:r>
            <a:r>
              <a:rPr lang="es-CL" altLang="es-CL" sz="2000" dirty="0"/>
              <a:t> Off, </a:t>
            </a: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no_rocks_to_carry_explorer</a:t>
            </a:r>
            <a:r>
              <a:rPr lang="es-CL" altLang="es-CL" sz="2000" dirty="0"/>
              <a:t> 10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Cooperative_Agents</a:t>
            </a:r>
            <a:r>
              <a:rPr lang="es-CL" altLang="es-CL" sz="2000" dirty="0">
                <a:solidFill>
                  <a:srgbClr val="0070C0"/>
                </a:solidFill>
                <a:ea typeface="+mn-ea"/>
              </a:rPr>
              <a:t>?</a:t>
            </a:r>
            <a:r>
              <a:rPr lang="es-CL" altLang="es-CL" sz="2000" dirty="0"/>
              <a:t> </a:t>
            </a:r>
            <a:r>
              <a:rPr lang="es-CL" altLang="es-CL" sz="2000" dirty="0" err="1"/>
              <a:t>On</a:t>
            </a:r>
            <a:r>
              <a:rPr lang="es-CL" altLang="es-CL" sz="2000" dirty="0"/>
              <a:t>, </a:t>
            </a:r>
            <a:r>
              <a:rPr lang="es-CL" altLang="es-CL" sz="2000" dirty="0" err="1">
                <a:solidFill>
                  <a:srgbClr val="0070C0"/>
                </a:solidFill>
                <a:ea typeface="+mn-ea"/>
              </a:rPr>
              <a:t>no_rocks_to_carry_explorer</a:t>
            </a:r>
            <a:r>
              <a:rPr lang="es-CL" altLang="es-CL" sz="2000" dirty="0"/>
              <a:t> 10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s-CL" altLang="es-CL" sz="2000" dirty="0"/>
              <a:t>Para eso, establezca las condiciones y oprima </a:t>
            </a:r>
            <a:r>
              <a:rPr lang="es-CL" altLang="es-CL" sz="2000" i="1" dirty="0">
                <a:solidFill>
                  <a:srgbClr val="0070C0"/>
                </a:solidFill>
              </a:rPr>
              <a:t>SETUP </a:t>
            </a:r>
            <a:r>
              <a:rPr lang="es-CL" altLang="es-CL" sz="2000" dirty="0"/>
              <a:t>y luego </a:t>
            </a:r>
            <a:r>
              <a:rPr lang="es-CL" altLang="es-CL" sz="2000" i="1" dirty="0">
                <a:solidFill>
                  <a:srgbClr val="0070C0"/>
                </a:solidFill>
              </a:rPr>
              <a:t>GO SIM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6439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22387"/>
          </a:xfrm>
        </p:spPr>
        <p:txBody>
          <a:bodyPr/>
          <a:lstStyle/>
          <a:p>
            <a:pPr eaLnBrk="1" hangingPunct="1"/>
            <a:r>
              <a:rPr lang="en-US" altLang="es-CL" sz="4000" dirty="0" err="1"/>
              <a:t>Ejercicio</a:t>
            </a:r>
            <a:r>
              <a:rPr lang="en-US" altLang="es-CL" sz="4000" dirty="0"/>
              <a:t> </a:t>
            </a:r>
            <a:r>
              <a:rPr lang="en-US" altLang="es-CL" sz="4000" dirty="0" err="1"/>
              <a:t>práctico</a:t>
            </a:r>
            <a:r>
              <a:rPr lang="en-US" altLang="es-CL" sz="4000" dirty="0"/>
              <a:t>: </a:t>
            </a:r>
            <a:r>
              <a:rPr lang="en-US" altLang="es-CL" sz="4000" dirty="0" err="1"/>
              <a:t>entender</a:t>
            </a:r>
            <a:r>
              <a:rPr lang="en-US" altLang="es-CL" sz="4000" dirty="0"/>
              <a:t> </a:t>
            </a:r>
            <a:r>
              <a:rPr lang="en-US" altLang="es-CL" sz="4000" dirty="0" err="1"/>
              <a:t>interacciones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en</a:t>
            </a:r>
            <a:r>
              <a:rPr lang="en-US" altLang="es-CL" sz="4000" dirty="0"/>
              <a:t> </a:t>
            </a:r>
            <a:r>
              <a:rPr lang="en-US" altLang="es-CL" sz="4000" dirty="0" err="1"/>
              <a:t>agentes</a:t>
            </a:r>
            <a:r>
              <a:rPr lang="en-US" altLang="es-CL" sz="4000" dirty="0"/>
              <a:t> </a:t>
            </a:r>
            <a:r>
              <a:rPr lang="en-US" altLang="es-CL" sz="4000" dirty="0" err="1"/>
              <a:t>reactivos</a:t>
            </a:r>
            <a:endParaRPr lang="en-US" altLang="es-CL" sz="40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686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CL" altLang="es-CL" sz="2000" dirty="0"/>
              <a:t>Usando los 5 valores de </a:t>
            </a:r>
            <a:r>
              <a:rPr lang="es-CL" altLang="es-CL" sz="2000" i="1" dirty="0" err="1"/>
              <a:t>ticks</a:t>
            </a:r>
            <a:r>
              <a:rPr lang="es-CL" altLang="es-CL" sz="2000" dirty="0"/>
              <a:t> para cada condición, calcular el promedio para cada condición, rellenando la siguiente tabla:</a:t>
            </a:r>
            <a:br>
              <a:rPr lang="es-CL" altLang="es-CL" sz="2000" dirty="0"/>
            </a:br>
            <a:br>
              <a:rPr lang="es-CL" altLang="es-CL" sz="2600" dirty="0"/>
            </a:br>
            <a:br>
              <a:rPr lang="es-CL" altLang="es-CL" sz="2600" dirty="0"/>
            </a:br>
            <a:br>
              <a:rPr lang="es-CL" altLang="es-CL" sz="2600" dirty="0"/>
            </a:br>
            <a:br>
              <a:rPr lang="es-CL" altLang="es-CL" sz="2600" dirty="0"/>
            </a:br>
            <a:br>
              <a:rPr lang="es-CL" altLang="es-CL" sz="2600" dirty="0"/>
            </a:br>
            <a:br>
              <a:rPr lang="es-CL" altLang="es-CL" sz="2600" dirty="0"/>
            </a:br>
            <a:endParaRPr lang="es-CL" altLang="es-CL" sz="2600" dirty="0"/>
          </a:p>
          <a:p>
            <a:pPr eaLnBrk="1" hangingPunct="1">
              <a:lnSpc>
                <a:spcPct val="90000"/>
              </a:lnSpc>
            </a:pPr>
            <a:endParaRPr lang="es-CL" altLang="es-CL" sz="2000" dirty="0"/>
          </a:p>
          <a:p>
            <a:pPr eaLnBrk="1" hangingPunct="1">
              <a:lnSpc>
                <a:spcPct val="90000"/>
              </a:lnSpc>
            </a:pPr>
            <a:r>
              <a:rPr lang="es-CL" altLang="es-CL" sz="2000" dirty="0"/>
              <a:t>¿Qué puede decir de los resultados de dicha tabla?</a:t>
            </a:r>
            <a:br>
              <a:rPr lang="es-CL" altLang="es-CL" sz="2600" dirty="0"/>
            </a:br>
            <a:endParaRPr lang="es-CL" altLang="es-CL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0013075"/>
                  </p:ext>
                </p:extLst>
              </p:nvPr>
            </p:nvGraphicFramePr>
            <p:xfrm>
              <a:off x="1143000" y="3200400"/>
              <a:ext cx="6858000" cy="17526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200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L" dirty="0"/>
                            <a:t>Nro. de rocas que puede llevar el explorador</a:t>
                          </a:r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endParaRPr lang="es-CL" dirty="0"/>
                        </a:p>
                        <a:p>
                          <a:r>
                            <a:rPr lang="es-CL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Agentes</a:t>
                          </a:r>
                          <a:endParaRPr 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/>
                            <a:t>1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/>
                            <a:t>10</a:t>
                          </a:r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L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Cooperadores</a:t>
                          </a:r>
                          <a:endParaRPr 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L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cooperadores</a:t>
                          </a:r>
                          <a:endParaRPr 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𝑁𝐶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𝑁𝐶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0013075"/>
                  </p:ext>
                </p:extLst>
              </p:nvPr>
            </p:nvGraphicFramePr>
            <p:xfrm>
              <a:off x="1143000" y="3200400"/>
              <a:ext cx="6858000" cy="17526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200150"/>
                    <a:gridCol w="2228850"/>
                    <a:gridCol w="1714500"/>
                    <a:gridCol w="1714500"/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L" dirty="0" smtClean="0"/>
                            <a:t>Nro. de rocas que puede llevar el explorador</a:t>
                          </a:r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 rowSpan="3">
                      <a:txBody>
                        <a:bodyPr/>
                        <a:lstStyle/>
                        <a:p>
                          <a:endParaRPr lang="es-CL" dirty="0" smtClean="0"/>
                        </a:p>
                        <a:p>
                          <a:r>
                            <a:rPr lang="es-CL" sz="1800" b="1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Agentes</a:t>
                          </a:r>
                          <a:endParaRPr 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 smtClean="0"/>
                            <a:t>1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 smtClean="0"/>
                            <a:t>10</a:t>
                          </a:r>
                          <a:endParaRPr lang="en-US" b="1" dirty="0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L" sz="1800" b="1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Cooperadores</a:t>
                          </a:r>
                          <a:endParaRPr 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000" t="-280328" r="-10070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1068" t="-280328" r="-1068" b="-124590"/>
                          </a:stretch>
                        </a:blipFill>
                      </a:tcPr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L" sz="1800" b="1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cooperadores</a:t>
                          </a:r>
                          <a:endParaRPr 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000" t="-380328" r="-10070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1068" t="-380328" r="-1068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038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Arquitecturas</a:t>
            </a:r>
            <a:r>
              <a:rPr lang="en-US" altLang="es-CL" dirty="0"/>
              <a:t> </a:t>
            </a:r>
            <a:r>
              <a:rPr lang="en-US" altLang="es-CL" dirty="0" err="1"/>
              <a:t>Híbridas</a:t>
            </a:r>
            <a:endParaRPr lang="en-US" altLang="es-CL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143000"/>
            <a:ext cx="8458200" cy="5441329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Para </a:t>
            </a:r>
            <a:r>
              <a:rPr lang="en-US" altLang="es-CL" sz="2000" dirty="0" err="1"/>
              <a:t>muchas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situaciones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enfoque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completamente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deliberativo</a:t>
            </a:r>
            <a:r>
              <a:rPr lang="en-US" altLang="es-CL" sz="2000" dirty="0"/>
              <a:t> o </a:t>
            </a:r>
            <a:r>
              <a:rPr lang="en-US" altLang="es-CL" sz="2000" dirty="0" err="1"/>
              <a:t>reactivo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inadecuado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construir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Una </a:t>
            </a:r>
            <a:r>
              <a:rPr lang="en-US" altLang="es-CL" sz="2000" dirty="0" err="1"/>
              <a:t>arquitectura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híbrida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mezclar</a:t>
            </a:r>
            <a:r>
              <a:rPr lang="en-US" altLang="es-CL" sz="2000" dirty="0"/>
              <a:t> ambos </a:t>
            </a:r>
            <a:r>
              <a:rPr lang="en-US" altLang="es-CL" sz="2000" dirty="0" err="1"/>
              <a:t>enfoques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Se </a:t>
            </a:r>
            <a:r>
              <a:rPr lang="en-US" altLang="es-CL" sz="2000" dirty="0" err="1"/>
              <a:t>contruye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con dos o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subsistemas</a:t>
            </a:r>
            <a:r>
              <a:rPr lang="en-US" altLang="es-CL" sz="2000" dirty="0"/>
              <a:t>:</a:t>
            </a:r>
            <a:br>
              <a:rPr lang="en-US" altLang="es-CL" sz="2000" dirty="0"/>
            </a:br>
            <a:endParaRPr lang="en-US" altLang="es-CL" sz="2000" dirty="0"/>
          </a:p>
          <a:p>
            <a:pPr lvl="1" eaLnBrk="1" hangingPunct="1"/>
            <a:r>
              <a:rPr lang="en-US" altLang="es-CL" sz="2000" dirty="0"/>
              <a:t>Uno </a:t>
            </a:r>
            <a:r>
              <a:rPr lang="en-US" altLang="es-CL" sz="2000" dirty="0" err="1"/>
              <a:t>deliberativo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desarrolle</a:t>
            </a:r>
            <a:r>
              <a:rPr lang="en-US" altLang="es-CL" sz="2000" dirty="0"/>
              <a:t> planes y tome </a:t>
            </a:r>
            <a:r>
              <a:rPr lang="en-US" altLang="es-CL" sz="2000" dirty="0" err="1"/>
              <a:t>decisiones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la forma </a:t>
            </a:r>
            <a:r>
              <a:rPr lang="en-US" altLang="es-CL" sz="2000" dirty="0" err="1"/>
              <a:t>propuesta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BDI</a:t>
            </a:r>
            <a:br>
              <a:rPr lang="en-US" altLang="es-CL" sz="2000" dirty="0"/>
            </a:br>
            <a:endParaRPr lang="en-US" altLang="es-CL" sz="2000" dirty="0"/>
          </a:p>
          <a:p>
            <a:pPr lvl="1" eaLnBrk="1" hangingPunct="1"/>
            <a:r>
              <a:rPr lang="en-US" altLang="es-CL" sz="2000" dirty="0"/>
              <a:t>Uno </a:t>
            </a:r>
            <a:r>
              <a:rPr lang="en-US" altLang="es-CL" sz="2000" dirty="0" err="1"/>
              <a:t>reactivo</a:t>
            </a:r>
            <a:r>
              <a:rPr lang="en-US" altLang="es-CL" sz="2000" dirty="0"/>
              <a:t>, que sea </a:t>
            </a:r>
            <a:r>
              <a:rPr lang="en-US" altLang="es-CL" sz="2000" dirty="0" err="1"/>
              <a:t>capaz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reaccionar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eventos</a:t>
            </a:r>
            <a:r>
              <a:rPr lang="en-US" altLang="es-CL" sz="2000" dirty="0"/>
              <a:t> sin </a:t>
            </a:r>
            <a:r>
              <a:rPr lang="en-US" altLang="es-CL" sz="2000" dirty="0" err="1"/>
              <a:t>usar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razonamiento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complejo</a:t>
            </a:r>
            <a:br>
              <a:rPr lang="en-US" altLang="es-CL" sz="2000" dirty="0"/>
            </a:br>
            <a:endParaRPr lang="en-US" altLang="es-CL" sz="2000" dirty="0"/>
          </a:p>
          <a:p>
            <a:pPr lvl="1" eaLnBrk="1" hangingPunct="1"/>
            <a:r>
              <a:rPr lang="en-US" altLang="es-CL" sz="2000" dirty="0" err="1"/>
              <a:t>Frecuentemente</a:t>
            </a:r>
            <a:r>
              <a:rPr lang="en-US" altLang="es-CL" sz="2000" dirty="0"/>
              <a:t>, al </a:t>
            </a:r>
            <a:r>
              <a:rPr lang="en-US" altLang="es-CL" sz="2000" dirty="0" err="1"/>
              <a:t>componente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reactivo</a:t>
            </a:r>
            <a:r>
              <a:rPr lang="en-US" altLang="es-CL" sz="2000" dirty="0"/>
              <a:t> se le da </a:t>
            </a:r>
            <a:r>
              <a:rPr lang="en-US" altLang="es-CL" sz="2000" dirty="0" err="1"/>
              <a:t>algún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tipo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precedencia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sobre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deliberativo</a:t>
            </a:r>
            <a:endParaRPr lang="en-US" altLang="es-CL" sz="2000" dirty="0"/>
          </a:p>
          <a:p>
            <a:pPr lvl="1" eaLnBrk="1" hangingPunct="1"/>
            <a:endParaRPr lang="en-US" altLang="es-CL" sz="2200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4802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Arq</a:t>
            </a:r>
            <a:r>
              <a:rPr lang="en-US" altLang="es-CL" dirty="0"/>
              <a:t>. </a:t>
            </a:r>
            <a:r>
              <a:rPr lang="en-US" altLang="es-CL" dirty="0" err="1"/>
              <a:t>Híbridas</a:t>
            </a:r>
            <a:r>
              <a:rPr lang="en-US" altLang="es-CL" dirty="0"/>
              <a:t>: </a:t>
            </a:r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7400"/>
            <a:ext cx="7724775" cy="296227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590800" y="5181600"/>
            <a:ext cx="4634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Usando lenguaje natural y LLM como GPT</a:t>
            </a:r>
          </a:p>
          <a:p>
            <a:endParaRPr lang="es-CL" dirty="0"/>
          </a:p>
          <a:p>
            <a:r>
              <a:rPr lang="es-CL" dirty="0">
                <a:hlinkClick r:id="rId3"/>
              </a:rPr>
              <a:t>https://reverie.herokuapp.com/arXiv_Demo/</a:t>
            </a:r>
            <a:endParaRPr lang="es-CL" dirty="0"/>
          </a:p>
          <a:p>
            <a:endParaRPr lang="es-CL" dirty="0"/>
          </a:p>
        </p:txBody>
      </p:sp>
      <p:sp>
        <p:nvSpPr>
          <p:cNvPr id="3" name="CuadroTexto 2"/>
          <p:cNvSpPr txBox="1"/>
          <p:nvPr/>
        </p:nvSpPr>
        <p:spPr>
          <a:xfrm>
            <a:off x="609600" y="6287572"/>
            <a:ext cx="610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 err="1"/>
              <a:t>Sung</a:t>
            </a:r>
            <a:r>
              <a:rPr lang="es-CL" sz="1200" dirty="0"/>
              <a:t>, O’Brien, </a:t>
            </a:r>
            <a:r>
              <a:rPr lang="es-CL" sz="1200" dirty="0" err="1"/>
              <a:t>Cai</a:t>
            </a:r>
            <a:r>
              <a:rPr lang="es-CL" sz="1200" dirty="0"/>
              <a:t>, 2023: </a:t>
            </a:r>
            <a:r>
              <a:rPr lang="en-US" sz="1200" dirty="0"/>
              <a:t>Generative Agents: Interactive Simulacra of Human Behavior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7776259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940" y="1331118"/>
            <a:ext cx="8367860" cy="4841081"/>
          </a:xfrm>
        </p:spPr>
        <p:txBody>
          <a:bodyPr/>
          <a:lstStyle/>
          <a:p>
            <a:pPr eaLnBrk="1" hangingPunct="1"/>
            <a:r>
              <a:rPr lang="en-US" altLang="es-CL" sz="2400" dirty="0"/>
              <a:t>Memory Stream (</a:t>
            </a:r>
            <a:r>
              <a:rPr lang="en-US" altLang="es-CL" sz="2400" dirty="0" err="1"/>
              <a:t>Memoria</a:t>
            </a:r>
            <a:r>
              <a:rPr lang="en-US" altLang="es-CL" sz="2400" dirty="0"/>
              <a:t>) : BBDD de </a:t>
            </a:r>
            <a:r>
              <a:rPr lang="en-US" altLang="es-CL" sz="2400" dirty="0" err="1"/>
              <a:t>las</a:t>
            </a:r>
            <a:r>
              <a:rPr lang="en-US" altLang="es-CL" sz="2400" dirty="0"/>
              <a:t> “</a:t>
            </a:r>
            <a:r>
              <a:rPr lang="en-US" altLang="es-CL" sz="2400" dirty="0" err="1"/>
              <a:t>experiencias</a:t>
            </a:r>
            <a:r>
              <a:rPr lang="en-US" altLang="es-CL" sz="2400" dirty="0"/>
              <a:t>” del </a:t>
            </a:r>
            <a:r>
              <a:rPr lang="en-US" altLang="es-CL" sz="2400" dirty="0" err="1"/>
              <a:t>agente</a:t>
            </a:r>
            <a:r>
              <a:rPr lang="en-US" altLang="es-CL" sz="2400" dirty="0"/>
              <a:t>. </a:t>
            </a:r>
            <a:r>
              <a:rPr lang="en-US" altLang="es-CL" sz="2400" dirty="0" err="1"/>
              <a:t>Comprende</a:t>
            </a:r>
            <a:r>
              <a:rPr lang="en-US" altLang="es-CL" sz="2400" dirty="0"/>
              <a:t>:</a:t>
            </a:r>
            <a:br>
              <a:rPr lang="en-US" altLang="es-CL" sz="2400" dirty="0"/>
            </a:br>
            <a:endParaRPr lang="en-US" altLang="es-CL" sz="2400" dirty="0"/>
          </a:p>
          <a:p>
            <a:pPr lvl="1" eaLnBrk="1" hangingPunct="1"/>
            <a:r>
              <a:rPr lang="en-US" altLang="es-CL" sz="1800" dirty="0" err="1"/>
              <a:t>Observaciones</a:t>
            </a:r>
            <a:r>
              <a:rPr lang="en-US" altLang="es-CL" sz="1800" dirty="0"/>
              <a:t>: </a:t>
            </a:r>
            <a:r>
              <a:rPr lang="en-US" altLang="es-CL" sz="1800" dirty="0" err="1"/>
              <a:t>es</a:t>
            </a:r>
            <a:r>
              <a:rPr lang="en-US" altLang="es-CL" sz="1800" dirty="0"/>
              <a:t> el </a:t>
            </a:r>
            <a:r>
              <a:rPr lang="en-US" altLang="es-CL" sz="1800" dirty="0" err="1"/>
              <a:t>elemento</a:t>
            </a:r>
            <a:r>
              <a:rPr lang="en-US" altLang="es-CL" sz="1800" dirty="0"/>
              <a:t> </a:t>
            </a:r>
            <a:r>
              <a:rPr lang="en-US" altLang="es-CL" sz="1800" dirty="0" err="1"/>
              <a:t>más</a:t>
            </a:r>
            <a:r>
              <a:rPr lang="en-US" altLang="es-CL" sz="1800" dirty="0"/>
              <a:t> </a:t>
            </a:r>
            <a:r>
              <a:rPr lang="en-US" altLang="es-CL" sz="1800" dirty="0" err="1"/>
              <a:t>básico</a:t>
            </a:r>
            <a:r>
              <a:rPr lang="en-US" altLang="es-CL" sz="1800" dirty="0"/>
              <a:t> de </a:t>
            </a:r>
            <a:r>
              <a:rPr lang="en-US" altLang="es-CL" sz="1800" dirty="0" err="1"/>
              <a:t>las</a:t>
            </a:r>
            <a:r>
              <a:rPr lang="en-US" altLang="es-CL" sz="1800" dirty="0"/>
              <a:t> </a:t>
            </a:r>
            <a:r>
              <a:rPr lang="en-US" altLang="es-CL" sz="1800" dirty="0" err="1"/>
              <a:t>experiencias</a:t>
            </a:r>
            <a:r>
              <a:rPr lang="en-US" altLang="es-CL" sz="1800" dirty="0"/>
              <a:t>, </a:t>
            </a:r>
            <a:r>
              <a:rPr lang="en-US" altLang="es-CL" sz="1800" dirty="0" err="1"/>
              <a:t>corresponde</a:t>
            </a:r>
            <a:r>
              <a:rPr lang="en-US" altLang="es-CL" sz="1800" dirty="0"/>
              <a:t> a </a:t>
            </a:r>
            <a:r>
              <a:rPr lang="en-US" altLang="es-CL" sz="1800" dirty="0" err="1"/>
              <a:t>algo</a:t>
            </a:r>
            <a:r>
              <a:rPr lang="en-US" altLang="es-CL" sz="1800" dirty="0"/>
              <a:t> </a:t>
            </a:r>
            <a:r>
              <a:rPr lang="en-US" altLang="es-CL" sz="1800" dirty="0" err="1"/>
              <a:t>percibido</a:t>
            </a:r>
            <a:r>
              <a:rPr lang="en-US" altLang="es-CL" sz="1800" dirty="0"/>
              <a:t> </a:t>
            </a:r>
            <a:r>
              <a:rPr lang="en-US" altLang="es-CL" sz="1800" dirty="0" err="1"/>
              <a:t>directamente</a:t>
            </a:r>
            <a:r>
              <a:rPr lang="en-US" altLang="es-CL" sz="1800" dirty="0"/>
              <a:t> </a:t>
            </a:r>
            <a:r>
              <a:rPr lang="en-US" altLang="es-CL" sz="1800" dirty="0" err="1"/>
              <a:t>por</a:t>
            </a:r>
            <a:r>
              <a:rPr lang="en-US" altLang="es-CL" sz="1800" dirty="0"/>
              <a:t> el </a:t>
            </a:r>
            <a:r>
              <a:rPr lang="en-US" altLang="es-CL" sz="1800" dirty="0" err="1"/>
              <a:t>agente</a:t>
            </a:r>
            <a:r>
              <a:rPr lang="en-US" altLang="es-CL" sz="1800" dirty="0"/>
              <a:t> (</a:t>
            </a:r>
            <a:r>
              <a:rPr lang="en-US" altLang="es-CL" sz="1800" dirty="0" err="1"/>
              <a:t>perceptos</a:t>
            </a:r>
            <a:r>
              <a:rPr lang="en-US" altLang="es-CL" sz="1800" dirty="0"/>
              <a:t>): “</a:t>
            </a:r>
            <a:r>
              <a:rPr lang="en-US" altLang="es-CL" sz="1800" dirty="0" err="1"/>
              <a:t>María</a:t>
            </a:r>
            <a:r>
              <a:rPr lang="en-US" altLang="es-CL" sz="1800" dirty="0"/>
              <a:t> </a:t>
            </a:r>
            <a:r>
              <a:rPr lang="en-US" altLang="es-CL" sz="1800" dirty="0" err="1"/>
              <a:t>está</a:t>
            </a:r>
            <a:r>
              <a:rPr lang="en-US" altLang="es-CL" sz="1800" dirty="0"/>
              <a:t> en </a:t>
            </a:r>
            <a:r>
              <a:rPr lang="en-US" altLang="es-CL" sz="1800" dirty="0" err="1"/>
              <a:t>su</a:t>
            </a:r>
            <a:r>
              <a:rPr lang="en-US" altLang="es-CL" sz="1800" dirty="0"/>
              <a:t> </a:t>
            </a:r>
            <a:r>
              <a:rPr lang="en-US" altLang="es-CL" sz="1800" dirty="0" err="1"/>
              <a:t>cocina</a:t>
            </a:r>
            <a:r>
              <a:rPr lang="en-US" altLang="es-CL" sz="1800" dirty="0"/>
              <a:t>”, “El </a:t>
            </a:r>
            <a:r>
              <a:rPr lang="en-US" altLang="es-CL" sz="1800" dirty="0" err="1"/>
              <a:t>refrigerador</a:t>
            </a:r>
            <a:r>
              <a:rPr lang="en-US" altLang="es-CL" sz="1800" dirty="0"/>
              <a:t> </a:t>
            </a:r>
            <a:r>
              <a:rPr lang="en-US" altLang="es-CL" sz="1800" dirty="0" err="1"/>
              <a:t>está</a:t>
            </a:r>
            <a:r>
              <a:rPr lang="en-US" altLang="es-CL" sz="1800" dirty="0"/>
              <a:t> </a:t>
            </a:r>
            <a:r>
              <a:rPr lang="en-US" altLang="es-CL" sz="1800" dirty="0" err="1"/>
              <a:t>vacío</a:t>
            </a:r>
            <a:r>
              <a:rPr lang="en-US" altLang="es-CL" sz="1800" dirty="0"/>
              <a:t>”.</a:t>
            </a:r>
            <a:br>
              <a:rPr lang="en-US" altLang="es-CL" sz="1800" dirty="0"/>
            </a:br>
            <a:endParaRPr lang="en-US" altLang="es-CL" sz="1800" dirty="0"/>
          </a:p>
          <a:p>
            <a:pPr lvl="1" eaLnBrk="1" hangingPunct="1"/>
            <a:r>
              <a:rPr lang="en-US" altLang="es-CL" sz="1800" dirty="0" err="1"/>
              <a:t>Reflexiones</a:t>
            </a:r>
            <a:r>
              <a:rPr lang="en-US" altLang="es-CL" sz="1800" dirty="0"/>
              <a:t>: </a:t>
            </a:r>
            <a:r>
              <a:rPr lang="en-US" altLang="es-CL" sz="1800" dirty="0" err="1"/>
              <a:t>pensamientos</a:t>
            </a:r>
            <a:r>
              <a:rPr lang="en-US" altLang="es-CL" sz="1800" dirty="0"/>
              <a:t> de </a:t>
            </a:r>
            <a:r>
              <a:rPr lang="en-US" altLang="es-CL" sz="1800" dirty="0" err="1"/>
              <a:t>más</a:t>
            </a:r>
            <a:r>
              <a:rPr lang="en-US" altLang="es-CL" sz="1800" dirty="0"/>
              <a:t> alto </a:t>
            </a:r>
            <a:r>
              <a:rPr lang="en-US" altLang="es-CL" sz="1800" dirty="0" err="1"/>
              <a:t>nivel</a:t>
            </a:r>
            <a:r>
              <a:rPr lang="en-US" altLang="es-CL" sz="1800" dirty="0"/>
              <a:t> y </a:t>
            </a:r>
            <a:r>
              <a:rPr lang="en-US" altLang="es-CL" sz="1800" dirty="0" err="1"/>
              <a:t>más</a:t>
            </a:r>
            <a:r>
              <a:rPr lang="en-US" altLang="es-CL" sz="1800" dirty="0"/>
              <a:t> </a:t>
            </a:r>
            <a:r>
              <a:rPr lang="en-US" altLang="es-CL" sz="1800" dirty="0" err="1"/>
              <a:t>abstractos</a:t>
            </a:r>
            <a:r>
              <a:rPr lang="en-US" altLang="es-CL" sz="1800" dirty="0"/>
              <a:t> </a:t>
            </a:r>
            <a:r>
              <a:rPr lang="en-US" altLang="es-CL" sz="1800" dirty="0" err="1"/>
              <a:t>que</a:t>
            </a:r>
            <a:r>
              <a:rPr lang="en-US" altLang="es-CL" sz="1800" dirty="0"/>
              <a:t> </a:t>
            </a:r>
            <a:r>
              <a:rPr lang="en-US" altLang="es-CL" sz="1800" dirty="0" err="1"/>
              <a:t>las</a:t>
            </a:r>
            <a:r>
              <a:rPr lang="en-US" altLang="es-CL" sz="1800" dirty="0"/>
              <a:t> </a:t>
            </a:r>
            <a:r>
              <a:rPr lang="en-US" altLang="es-CL" sz="1800" dirty="0" err="1"/>
              <a:t>observaciones</a:t>
            </a:r>
            <a:r>
              <a:rPr lang="en-US" altLang="es-CL" sz="1800" dirty="0"/>
              <a:t> (beliefs): “</a:t>
            </a:r>
            <a:r>
              <a:rPr lang="en-US" altLang="es-CL" sz="1800" dirty="0" err="1"/>
              <a:t>María</a:t>
            </a:r>
            <a:r>
              <a:rPr lang="en-US" altLang="es-CL" sz="1800" dirty="0"/>
              <a:t> </a:t>
            </a:r>
            <a:r>
              <a:rPr lang="en-US" altLang="es-CL" sz="1800" dirty="0" err="1"/>
              <a:t>está</a:t>
            </a:r>
            <a:r>
              <a:rPr lang="en-US" altLang="es-CL" sz="1800" dirty="0"/>
              <a:t> </a:t>
            </a:r>
            <a:r>
              <a:rPr lang="en-US" altLang="es-CL" sz="1800" dirty="0" err="1"/>
              <a:t>cocinando</a:t>
            </a:r>
            <a:r>
              <a:rPr lang="en-US" altLang="es-CL" sz="1800" dirty="0"/>
              <a:t>”, “</a:t>
            </a:r>
            <a:r>
              <a:rPr lang="en-US" altLang="es-CL" sz="1800" dirty="0" err="1"/>
              <a:t>María</a:t>
            </a:r>
            <a:r>
              <a:rPr lang="en-US" altLang="es-CL" sz="1800" dirty="0"/>
              <a:t> </a:t>
            </a:r>
            <a:r>
              <a:rPr lang="en-US" altLang="es-CL" sz="1800" dirty="0" err="1"/>
              <a:t>podría</a:t>
            </a:r>
            <a:r>
              <a:rPr lang="en-US" altLang="es-CL" sz="1800" dirty="0"/>
              <a:t> </a:t>
            </a:r>
            <a:r>
              <a:rPr lang="en-US" altLang="es-CL" sz="1800" dirty="0" err="1"/>
              <a:t>necesitar</a:t>
            </a:r>
            <a:r>
              <a:rPr lang="en-US" altLang="es-CL" sz="1800" dirty="0"/>
              <a:t> </a:t>
            </a:r>
            <a:r>
              <a:rPr lang="en-US" altLang="es-CL" sz="1800" dirty="0" err="1"/>
              <a:t>abastecer</a:t>
            </a:r>
            <a:r>
              <a:rPr lang="en-US" altLang="es-CL" sz="1800" dirty="0"/>
              <a:t> </a:t>
            </a:r>
            <a:r>
              <a:rPr lang="en-US" altLang="es-CL" sz="1800" dirty="0" err="1"/>
              <a:t>su</a:t>
            </a:r>
            <a:r>
              <a:rPr lang="en-US" altLang="es-CL" sz="1800" dirty="0"/>
              <a:t> </a:t>
            </a:r>
            <a:r>
              <a:rPr lang="en-US" altLang="es-CL" sz="1800" dirty="0" err="1"/>
              <a:t>refrigerador</a:t>
            </a:r>
            <a:r>
              <a:rPr lang="en-US" altLang="es-CL" sz="1800" dirty="0"/>
              <a:t>”.</a:t>
            </a:r>
            <a:br>
              <a:rPr lang="en-US" altLang="es-CL" sz="1800" dirty="0"/>
            </a:br>
            <a:endParaRPr lang="en-US" altLang="es-CL" sz="1800" dirty="0"/>
          </a:p>
          <a:p>
            <a:pPr lvl="1" eaLnBrk="1" hangingPunct="1"/>
            <a:r>
              <a:rPr lang="en-US" altLang="es-CL" sz="1800" dirty="0"/>
              <a:t>Planes: lo </a:t>
            </a:r>
            <a:r>
              <a:rPr lang="en-US" altLang="es-CL" sz="1800" dirty="0" err="1"/>
              <a:t>que</a:t>
            </a:r>
            <a:r>
              <a:rPr lang="en-US" altLang="es-CL" sz="1800" dirty="0"/>
              <a:t> el </a:t>
            </a:r>
            <a:r>
              <a:rPr lang="en-US" altLang="es-CL" sz="1800" dirty="0" err="1"/>
              <a:t>agente</a:t>
            </a:r>
            <a:r>
              <a:rPr lang="en-US" altLang="es-CL" sz="1800" dirty="0"/>
              <a:t> </a:t>
            </a:r>
            <a:r>
              <a:rPr lang="en-US" altLang="es-CL" sz="1800" dirty="0" err="1"/>
              <a:t>va</a:t>
            </a:r>
            <a:r>
              <a:rPr lang="en-US" altLang="es-CL" sz="1800" dirty="0"/>
              <a:t> a </a:t>
            </a:r>
            <a:r>
              <a:rPr lang="en-US" altLang="es-CL" sz="1800" dirty="0" err="1"/>
              <a:t>hacer</a:t>
            </a:r>
            <a:r>
              <a:rPr lang="en-US" altLang="es-CL" sz="1800" dirty="0"/>
              <a:t> (</a:t>
            </a:r>
            <a:r>
              <a:rPr lang="en-US" altLang="es-CL" sz="1800" dirty="0" err="1"/>
              <a:t>una</a:t>
            </a:r>
            <a:r>
              <a:rPr lang="en-US" altLang="es-CL" sz="1800" dirty="0"/>
              <a:t> </a:t>
            </a:r>
            <a:r>
              <a:rPr lang="en-US" altLang="es-CL" sz="1800" dirty="0" err="1"/>
              <a:t>secuencia</a:t>
            </a:r>
            <a:r>
              <a:rPr lang="en-US" altLang="es-CL" sz="1800" dirty="0"/>
              <a:t> de </a:t>
            </a:r>
            <a:r>
              <a:rPr lang="en-US" altLang="es-CL" sz="1800" dirty="0" err="1"/>
              <a:t>acciones</a:t>
            </a:r>
            <a:r>
              <a:rPr lang="en-US" altLang="es-CL" sz="1800" dirty="0"/>
              <a:t> </a:t>
            </a:r>
            <a:r>
              <a:rPr lang="en-US" altLang="es-CL" sz="1800" dirty="0" err="1"/>
              <a:t>futuras</a:t>
            </a:r>
            <a:r>
              <a:rPr lang="en-US" altLang="es-CL" sz="1800" dirty="0"/>
              <a:t>), </a:t>
            </a:r>
            <a:r>
              <a:rPr lang="en-US" altLang="es-CL" sz="1800" dirty="0" err="1"/>
              <a:t>incluye</a:t>
            </a:r>
            <a:r>
              <a:rPr lang="en-US" altLang="es-CL" sz="1800" dirty="0"/>
              <a:t>:</a:t>
            </a:r>
          </a:p>
          <a:p>
            <a:pPr lvl="2" eaLnBrk="1" hangingPunct="1"/>
            <a:r>
              <a:rPr lang="en-US" altLang="es-CL" sz="1400" dirty="0"/>
              <a:t>Un </a:t>
            </a:r>
            <a:r>
              <a:rPr lang="en-US" altLang="es-CL" sz="1400" dirty="0" err="1"/>
              <a:t>lugar</a:t>
            </a:r>
            <a:r>
              <a:rPr lang="en-US" altLang="es-CL" sz="1400" dirty="0"/>
              <a:t> </a:t>
            </a:r>
            <a:r>
              <a:rPr lang="en-US" altLang="es-CL" sz="1400" dirty="0" err="1"/>
              <a:t>donde</a:t>
            </a:r>
            <a:r>
              <a:rPr lang="en-US" altLang="es-CL" sz="1400" dirty="0"/>
              <a:t> </a:t>
            </a:r>
            <a:r>
              <a:rPr lang="en-US" altLang="es-CL" sz="1400" dirty="0" err="1"/>
              <a:t>debe</a:t>
            </a:r>
            <a:r>
              <a:rPr lang="en-US" altLang="es-CL" sz="1400" dirty="0"/>
              <a:t> (</a:t>
            </a:r>
            <a:r>
              <a:rPr lang="en-US" altLang="es-CL" sz="1400" dirty="0" err="1"/>
              <a:t>puede</a:t>
            </a:r>
            <a:r>
              <a:rPr lang="en-US" altLang="es-CL" sz="1400" dirty="0"/>
              <a:t>) </a:t>
            </a:r>
            <a:r>
              <a:rPr lang="en-US" altLang="es-CL" sz="1400" dirty="0" err="1"/>
              <a:t>ejecutarse</a:t>
            </a:r>
            <a:r>
              <a:rPr lang="en-US" altLang="es-CL" sz="1400" dirty="0"/>
              <a:t> </a:t>
            </a:r>
            <a:r>
              <a:rPr lang="en-US" altLang="es-CL" sz="1400" dirty="0" err="1"/>
              <a:t>cada</a:t>
            </a:r>
            <a:r>
              <a:rPr lang="en-US" altLang="es-CL" sz="1400" dirty="0"/>
              <a:t> </a:t>
            </a:r>
            <a:r>
              <a:rPr lang="en-US" altLang="es-CL" sz="1400" dirty="0" err="1"/>
              <a:t>acción</a:t>
            </a:r>
            <a:endParaRPr lang="en-US" altLang="es-CL" sz="1400" dirty="0"/>
          </a:p>
          <a:p>
            <a:pPr lvl="2" eaLnBrk="1" hangingPunct="1"/>
            <a:r>
              <a:rPr lang="en-US" altLang="es-CL" sz="1400" dirty="0"/>
              <a:t>Un </a:t>
            </a:r>
            <a:r>
              <a:rPr lang="en-US" altLang="es-CL" sz="1400" dirty="0" err="1"/>
              <a:t>tiempo</a:t>
            </a:r>
            <a:r>
              <a:rPr lang="en-US" altLang="es-CL" sz="1400" dirty="0"/>
              <a:t> de </a:t>
            </a:r>
            <a:r>
              <a:rPr lang="en-US" altLang="es-CL" sz="1400" dirty="0" err="1"/>
              <a:t>inicio</a:t>
            </a:r>
            <a:endParaRPr lang="en-US" altLang="es-CL" sz="1400" dirty="0"/>
          </a:p>
          <a:p>
            <a:pPr lvl="2" eaLnBrk="1" hangingPunct="1"/>
            <a:r>
              <a:rPr lang="en-US" altLang="es-CL" sz="1400" dirty="0" err="1"/>
              <a:t>Una</a:t>
            </a:r>
            <a:r>
              <a:rPr lang="en-US" altLang="es-CL" sz="1400" dirty="0"/>
              <a:t> </a:t>
            </a:r>
            <a:r>
              <a:rPr lang="en-US" altLang="es-CL" sz="1400" dirty="0" err="1"/>
              <a:t>duración</a:t>
            </a:r>
            <a:r>
              <a:rPr lang="en-US" altLang="es-CL" sz="1400" dirty="0"/>
              <a:t>  </a:t>
            </a:r>
            <a:br>
              <a:rPr lang="en-US" altLang="es-CL" sz="1400" dirty="0"/>
            </a:br>
            <a:endParaRPr lang="en-US" altLang="es-CL" sz="1400" dirty="0"/>
          </a:p>
          <a:p>
            <a:pPr marL="344487" lvl="1" indent="0" eaLnBrk="1" hangingPunct="1">
              <a:buNone/>
            </a:pPr>
            <a:endParaRPr lang="en-US" altLang="es-CL" sz="1600" dirty="0"/>
          </a:p>
          <a:p>
            <a:pPr lvl="1" eaLnBrk="1" hangingPunct="1"/>
            <a:endParaRPr lang="en-US" altLang="es-CL" sz="2200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4245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940" y="1331118"/>
            <a:ext cx="8367860" cy="4841081"/>
          </a:xfrm>
        </p:spPr>
        <p:txBody>
          <a:bodyPr/>
          <a:lstStyle/>
          <a:p>
            <a:pPr eaLnBrk="1" hangingPunct="1"/>
            <a:r>
              <a:rPr lang="en-US" altLang="es-CL" sz="2400" dirty="0"/>
              <a:t>Memory Stream (</a:t>
            </a:r>
            <a:r>
              <a:rPr lang="en-US" altLang="es-CL" sz="2400" dirty="0" err="1"/>
              <a:t>Memoria</a:t>
            </a:r>
            <a:r>
              <a:rPr lang="en-US" altLang="es-CL" sz="2400" dirty="0"/>
              <a:t>) : BBDD de </a:t>
            </a:r>
            <a:r>
              <a:rPr lang="en-US" altLang="es-CL" sz="2400" dirty="0" err="1"/>
              <a:t>las</a:t>
            </a:r>
            <a:r>
              <a:rPr lang="en-US" altLang="es-CL" sz="2400" dirty="0"/>
              <a:t> “</a:t>
            </a:r>
            <a:r>
              <a:rPr lang="en-US" altLang="es-CL" sz="2400" dirty="0" err="1"/>
              <a:t>experiencias</a:t>
            </a:r>
            <a:r>
              <a:rPr lang="en-US" altLang="es-CL" sz="2400" dirty="0"/>
              <a:t>” del </a:t>
            </a:r>
            <a:r>
              <a:rPr lang="en-US" altLang="es-CL" sz="2400" dirty="0" err="1"/>
              <a:t>agente</a:t>
            </a:r>
            <a:r>
              <a:rPr lang="en-US" altLang="es-CL" sz="2400" dirty="0"/>
              <a:t>. </a:t>
            </a:r>
            <a:r>
              <a:rPr lang="en-US" altLang="es-CL" sz="2400" dirty="0" err="1"/>
              <a:t>Comprende</a:t>
            </a:r>
            <a:r>
              <a:rPr lang="en-US" altLang="es-CL" sz="2400" dirty="0"/>
              <a:t>:</a:t>
            </a:r>
            <a:br>
              <a:rPr lang="en-US" altLang="es-CL" sz="2400" dirty="0"/>
            </a:br>
            <a:endParaRPr lang="en-US" altLang="es-CL" sz="2400" dirty="0"/>
          </a:p>
          <a:p>
            <a:pPr lvl="1" eaLnBrk="1" hangingPunct="1"/>
            <a:r>
              <a:rPr lang="en-US" altLang="es-CL" sz="2000" dirty="0" err="1"/>
              <a:t>Cada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elemento</a:t>
            </a:r>
            <a:r>
              <a:rPr lang="en-US" altLang="es-CL" sz="2000" dirty="0"/>
              <a:t> de la </a:t>
            </a:r>
            <a:r>
              <a:rPr lang="en-US" altLang="es-CL" sz="2000" dirty="0" err="1"/>
              <a:t>memoria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tiene</a:t>
            </a:r>
            <a:r>
              <a:rPr lang="en-US" altLang="es-CL" sz="2000" dirty="0"/>
              <a:t>: </a:t>
            </a:r>
          </a:p>
          <a:p>
            <a:pPr lvl="2" eaLnBrk="1" hangingPunct="1"/>
            <a:r>
              <a:rPr lang="en-US" altLang="es-CL" sz="1600" dirty="0" err="1"/>
              <a:t>Marca</a:t>
            </a:r>
            <a:r>
              <a:rPr lang="en-US" altLang="es-CL" sz="1600" dirty="0"/>
              <a:t> de </a:t>
            </a:r>
            <a:r>
              <a:rPr lang="en-US" altLang="es-CL" sz="1600" dirty="0" err="1"/>
              <a:t>tiempo</a:t>
            </a:r>
            <a:r>
              <a:rPr lang="en-US" altLang="es-CL" sz="1600" dirty="0"/>
              <a:t> (time-stamp)</a:t>
            </a:r>
          </a:p>
          <a:p>
            <a:pPr lvl="2" eaLnBrk="1" hangingPunct="1"/>
            <a:r>
              <a:rPr lang="en-US" altLang="es-CL" sz="1600" dirty="0" err="1"/>
              <a:t>Actualidad</a:t>
            </a:r>
            <a:r>
              <a:rPr lang="en-US" altLang="es-CL" sz="1600" dirty="0"/>
              <a:t> (</a:t>
            </a:r>
            <a:r>
              <a:rPr lang="en-US" altLang="es-CL" sz="1600" dirty="0" err="1"/>
              <a:t>resency</a:t>
            </a:r>
            <a:r>
              <a:rPr lang="en-US" altLang="es-CL" sz="1600" dirty="0"/>
              <a:t>) : </a:t>
            </a:r>
            <a:r>
              <a:rPr lang="en-US" altLang="es-CL" sz="1600" dirty="0" err="1"/>
              <a:t>qué</a:t>
            </a:r>
            <a:r>
              <a:rPr lang="en-US" altLang="es-CL" sz="1600" dirty="0"/>
              <a:t> tan </a:t>
            </a:r>
            <a:r>
              <a:rPr lang="en-US" altLang="es-CL" sz="1600" dirty="0" err="1"/>
              <a:t>recientemente</a:t>
            </a:r>
            <a:r>
              <a:rPr lang="en-US" altLang="es-CL" sz="1600" dirty="0"/>
              <a:t> </a:t>
            </a:r>
            <a:r>
              <a:rPr lang="en-US" altLang="es-CL" sz="1600" dirty="0" err="1"/>
              <a:t>accesado</a:t>
            </a:r>
            <a:r>
              <a:rPr lang="en-US" altLang="es-CL" sz="1600" dirty="0"/>
              <a:t> </a:t>
            </a:r>
            <a:r>
              <a:rPr lang="en-US" altLang="es-CL" sz="1600" dirty="0" err="1"/>
              <a:t>fue</a:t>
            </a:r>
            <a:r>
              <a:rPr lang="en-US" altLang="es-CL" sz="1600" dirty="0"/>
              <a:t> el </a:t>
            </a:r>
            <a:r>
              <a:rPr lang="en-US" altLang="es-CL" sz="1600" dirty="0" err="1"/>
              <a:t>elemento</a:t>
            </a:r>
            <a:endParaRPr lang="en-US" altLang="es-CL" sz="1600" dirty="0"/>
          </a:p>
          <a:p>
            <a:pPr lvl="2" eaLnBrk="1" hangingPunct="1"/>
            <a:r>
              <a:rPr lang="en-US" altLang="es-CL" sz="1600" dirty="0" err="1"/>
              <a:t>Importancia</a:t>
            </a:r>
            <a:r>
              <a:rPr lang="en-US" altLang="es-CL" sz="1600" dirty="0"/>
              <a:t> : distingue </a:t>
            </a:r>
            <a:r>
              <a:rPr lang="en-US" altLang="es-CL" sz="1600" dirty="0" err="1"/>
              <a:t>elementos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generales</a:t>
            </a:r>
            <a:r>
              <a:rPr lang="en-US" altLang="es-CL" sz="1600" dirty="0"/>
              <a:t> (“</a:t>
            </a:r>
            <a:r>
              <a:rPr lang="en-US" altLang="es-CL" sz="1600" dirty="0" err="1"/>
              <a:t>mundanos</a:t>
            </a:r>
            <a:r>
              <a:rPr lang="en-US" altLang="es-CL" sz="1600" dirty="0"/>
              <a:t>”) (</a:t>
            </a:r>
            <a:r>
              <a:rPr lang="en-US" altLang="es-CL" sz="1600" dirty="0" err="1"/>
              <a:t>Lavarse</a:t>
            </a:r>
            <a:r>
              <a:rPr lang="en-US" altLang="es-CL" sz="1600" dirty="0"/>
              <a:t> los </a:t>
            </a:r>
            <a:r>
              <a:rPr lang="en-US" altLang="es-CL" sz="1600" dirty="0" err="1"/>
              <a:t>dientes</a:t>
            </a:r>
            <a:r>
              <a:rPr lang="en-US" altLang="es-CL" sz="1600" dirty="0"/>
              <a:t>) de </a:t>
            </a:r>
            <a:r>
              <a:rPr lang="en-US" altLang="es-CL" sz="1600" dirty="0" err="1"/>
              <a:t>aquellos</a:t>
            </a:r>
            <a:r>
              <a:rPr lang="en-US" altLang="es-CL" sz="1600" dirty="0"/>
              <a:t> </a:t>
            </a:r>
            <a:r>
              <a:rPr lang="en-US" altLang="es-CL" sz="1600" dirty="0" err="1"/>
              <a:t>importantes</a:t>
            </a:r>
            <a:r>
              <a:rPr lang="en-US" altLang="es-CL" sz="1600" dirty="0"/>
              <a:t> (Romper </a:t>
            </a:r>
            <a:r>
              <a:rPr lang="en-US" altLang="es-CL" sz="1600" dirty="0" err="1"/>
              <a:t>una</a:t>
            </a:r>
            <a:r>
              <a:rPr lang="en-US" altLang="es-CL" sz="1600" dirty="0"/>
              <a:t> </a:t>
            </a:r>
            <a:r>
              <a:rPr lang="en-US" altLang="es-CL" sz="1600" dirty="0" err="1"/>
              <a:t>relación</a:t>
            </a:r>
            <a:r>
              <a:rPr lang="en-US" altLang="es-CL" sz="1600" dirty="0"/>
              <a:t> familiar)</a:t>
            </a:r>
          </a:p>
          <a:p>
            <a:pPr lvl="2" eaLnBrk="1" hangingPunct="1"/>
            <a:r>
              <a:rPr lang="en-US" altLang="es-CL" sz="1600" dirty="0" err="1"/>
              <a:t>Relevancia</a:t>
            </a:r>
            <a:r>
              <a:rPr lang="en-US" altLang="es-CL" sz="1600" dirty="0"/>
              <a:t> : </a:t>
            </a:r>
            <a:r>
              <a:rPr lang="en-US" altLang="es-CL" sz="1600" dirty="0" err="1"/>
              <a:t>refleja</a:t>
            </a:r>
            <a:r>
              <a:rPr lang="en-US" altLang="es-CL" sz="1600" dirty="0"/>
              <a:t> la </a:t>
            </a:r>
            <a:r>
              <a:rPr lang="en-US" altLang="es-CL" sz="1600" dirty="0" err="1"/>
              <a:t>relación</a:t>
            </a:r>
            <a:r>
              <a:rPr lang="en-US" altLang="es-CL" sz="1600" dirty="0"/>
              <a:t> del </a:t>
            </a:r>
            <a:r>
              <a:rPr lang="en-US" altLang="es-CL" sz="1600" dirty="0" err="1"/>
              <a:t>elemento</a:t>
            </a:r>
            <a:r>
              <a:rPr lang="en-US" altLang="es-CL" sz="1600" dirty="0"/>
              <a:t> con la </a:t>
            </a:r>
            <a:r>
              <a:rPr lang="en-US" altLang="es-CL" sz="1600" dirty="0" err="1"/>
              <a:t>situación</a:t>
            </a:r>
            <a:r>
              <a:rPr lang="en-US" altLang="es-CL" sz="1600" dirty="0"/>
              <a:t> </a:t>
            </a:r>
            <a:r>
              <a:rPr lang="en-US" altLang="es-CL" sz="1600" dirty="0" err="1"/>
              <a:t>que</a:t>
            </a:r>
            <a:r>
              <a:rPr lang="en-US" altLang="es-CL" sz="1600" dirty="0"/>
              <a:t> vive el </a:t>
            </a:r>
            <a:r>
              <a:rPr lang="en-US" altLang="es-CL" sz="1600" dirty="0" err="1"/>
              <a:t>agente</a:t>
            </a:r>
            <a:br>
              <a:rPr lang="en-US" altLang="es-CL" sz="1600" dirty="0"/>
            </a:br>
            <a:endParaRPr lang="en-US" altLang="es-CL" sz="1600" dirty="0"/>
          </a:p>
          <a:p>
            <a:pPr lvl="1" eaLnBrk="1" hangingPunct="1"/>
            <a:r>
              <a:rPr lang="en-US" altLang="es-CL" sz="2000" dirty="0" err="1"/>
              <a:t>Respecto</a:t>
            </a:r>
            <a:r>
              <a:rPr lang="en-US" altLang="es-CL" sz="2000" dirty="0"/>
              <a:t> a los planes: el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reaccionar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replanificar</a:t>
            </a:r>
            <a:br>
              <a:rPr lang="en-US" altLang="es-CL" dirty="0"/>
            </a:br>
            <a:br>
              <a:rPr lang="en-US" altLang="es-CL" dirty="0"/>
            </a:br>
            <a:endParaRPr lang="en-US" altLang="es-CL" dirty="0"/>
          </a:p>
          <a:p>
            <a:pPr lvl="1" eaLnBrk="1" hangingPunct="1"/>
            <a:endParaRPr lang="en-US" altLang="es-CL" sz="1600" dirty="0"/>
          </a:p>
          <a:p>
            <a:pPr lvl="1" eaLnBrk="1" hangingPunct="1"/>
            <a:endParaRPr lang="en-US" altLang="es-CL" sz="2200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0975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940" y="1331119"/>
            <a:ext cx="8367860" cy="878681"/>
          </a:xfrm>
        </p:spPr>
        <p:txBody>
          <a:bodyPr/>
          <a:lstStyle/>
          <a:p>
            <a:pPr eaLnBrk="1" hangingPunct="1"/>
            <a:r>
              <a:rPr lang="en-US" altLang="es-CL" sz="2400" dirty="0"/>
              <a:t>Memory Stream (</a:t>
            </a:r>
            <a:r>
              <a:rPr lang="en-US" altLang="es-CL" sz="2400" dirty="0" err="1"/>
              <a:t>Memoria</a:t>
            </a:r>
            <a:r>
              <a:rPr lang="en-US" altLang="es-CL" sz="2400" dirty="0"/>
              <a:t>) : BBDD de </a:t>
            </a:r>
            <a:r>
              <a:rPr lang="en-US" altLang="es-CL" sz="2400" dirty="0" err="1"/>
              <a:t>las</a:t>
            </a:r>
            <a:r>
              <a:rPr lang="en-US" altLang="es-CL" sz="2400" dirty="0"/>
              <a:t> “</a:t>
            </a:r>
            <a:r>
              <a:rPr lang="en-US" altLang="es-CL" sz="2400" dirty="0" err="1"/>
              <a:t>experiencias</a:t>
            </a:r>
            <a:r>
              <a:rPr lang="en-US" altLang="es-CL" sz="2400" dirty="0"/>
              <a:t>” del </a:t>
            </a:r>
            <a:r>
              <a:rPr lang="en-US" altLang="es-CL" sz="2400" dirty="0" err="1"/>
              <a:t>agente</a:t>
            </a:r>
            <a:r>
              <a:rPr lang="en-US" altLang="es-CL" sz="2400" dirty="0"/>
              <a:t>. </a:t>
            </a:r>
            <a:br>
              <a:rPr lang="en-US" altLang="es-CL" sz="2400" dirty="0"/>
            </a:br>
            <a:endParaRPr lang="en-US" altLang="es-CL" sz="2400" dirty="0"/>
          </a:p>
          <a:p>
            <a:pPr marL="344487" lvl="1" indent="0" eaLnBrk="1" hangingPunct="1">
              <a:buNone/>
            </a:pPr>
            <a:endParaRPr lang="en-US" altLang="es-CL" sz="1600" dirty="0"/>
          </a:p>
          <a:p>
            <a:pPr lvl="1" eaLnBrk="1" hangingPunct="1"/>
            <a:endParaRPr lang="en-US" altLang="es-CL" sz="2200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958" t="7466" r="56885" b="4067"/>
          <a:stretch/>
        </p:blipFill>
        <p:spPr>
          <a:xfrm>
            <a:off x="2590800" y="1828800"/>
            <a:ext cx="3683889" cy="418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776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84" y="1752600"/>
            <a:ext cx="79152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88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1295400"/>
            <a:ext cx="87534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227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58" y="1600200"/>
            <a:ext cx="7971974" cy="37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53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Agentes</a:t>
            </a:r>
            <a:r>
              <a:rPr lang="en-US" altLang="es-CL" dirty="0"/>
              <a:t> </a:t>
            </a:r>
            <a:r>
              <a:rPr lang="en-US" altLang="es-CL" dirty="0" err="1"/>
              <a:t>Generativos</a:t>
            </a:r>
            <a:endParaRPr lang="en-US" altLang="es-CL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600201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Los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conversar</a:t>
            </a:r>
            <a:r>
              <a:rPr lang="en-US" altLang="es-CL" sz="2000" dirty="0"/>
              <a:t> entre </a:t>
            </a:r>
            <a:r>
              <a:rPr lang="en-US" altLang="es-CL" sz="2000" dirty="0" err="1"/>
              <a:t>si</a:t>
            </a:r>
            <a:r>
              <a:rPr lang="en-US" altLang="es-CL" sz="2000" dirty="0"/>
              <a:t> en un </a:t>
            </a:r>
            <a:r>
              <a:rPr lang="en-US" altLang="es-CL" sz="2000" dirty="0" err="1"/>
              <a:t>diálogo</a:t>
            </a:r>
            <a:br>
              <a:rPr lang="en-US" altLang="es-CL" sz="2000" dirty="0"/>
            </a:br>
            <a:endParaRPr lang="en-US" altLang="es-CL" sz="2000" dirty="0"/>
          </a:p>
          <a:p>
            <a:pPr lvl="1" eaLnBrk="1" hangingPunct="1"/>
            <a:r>
              <a:rPr lang="en-US" altLang="es-CL" sz="1600" dirty="0"/>
              <a:t>Se </a:t>
            </a:r>
            <a:r>
              <a:rPr lang="en-US" altLang="es-CL" sz="1600" dirty="0" err="1"/>
              <a:t>condiciona</a:t>
            </a:r>
            <a:r>
              <a:rPr lang="en-US" altLang="es-CL" sz="1600" dirty="0"/>
              <a:t> el </a:t>
            </a:r>
            <a:r>
              <a:rPr lang="en-US" altLang="es-CL" sz="1600" dirty="0" err="1"/>
              <a:t>diálogo</a:t>
            </a:r>
            <a:r>
              <a:rPr lang="en-US" altLang="es-CL" sz="1600" dirty="0"/>
              <a:t> en la </a:t>
            </a:r>
            <a:r>
              <a:rPr lang="en-US" altLang="es-CL" sz="1600" dirty="0" err="1"/>
              <a:t>memoria</a:t>
            </a:r>
            <a:r>
              <a:rPr lang="en-US" altLang="es-CL" sz="1600" dirty="0"/>
              <a:t> </a:t>
            </a:r>
            <a:r>
              <a:rPr lang="en-US" altLang="es-CL" sz="1600" dirty="0" err="1"/>
              <a:t>mutua</a:t>
            </a:r>
            <a:r>
              <a:rPr lang="en-US" altLang="es-CL" sz="1600" dirty="0"/>
              <a:t> de “</a:t>
            </a:r>
            <a:r>
              <a:rPr lang="en-US" altLang="es-CL" sz="1600" dirty="0" err="1"/>
              <a:t>experiencias</a:t>
            </a:r>
            <a:r>
              <a:rPr lang="en-US" altLang="es-CL" sz="1600" dirty="0"/>
              <a:t>” entre ambos </a:t>
            </a:r>
          </a:p>
          <a:p>
            <a:pPr lvl="1" eaLnBrk="1" hangingPunct="1"/>
            <a:endParaRPr lang="en-US" altLang="es-CL" sz="1600" dirty="0"/>
          </a:p>
          <a:p>
            <a:pPr lvl="1" eaLnBrk="1" hangingPunct="1"/>
            <a:endParaRPr lang="en-US" altLang="es-CL" sz="2200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7118-7733-455E-9381-65FD24AAC89D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895600"/>
            <a:ext cx="3686175" cy="2419350"/>
          </a:xfrm>
          <a:prstGeom prst="rect">
            <a:avLst/>
          </a:prstGeom>
        </p:spPr>
      </p:pic>
      <p:grpSp>
        <p:nvGrpSpPr>
          <p:cNvPr id="6" name="Grupo 5"/>
          <p:cNvGrpSpPr/>
          <p:nvPr/>
        </p:nvGrpSpPr>
        <p:grpSpPr>
          <a:xfrm>
            <a:off x="2286000" y="5562600"/>
            <a:ext cx="4476750" cy="457200"/>
            <a:chOff x="2333625" y="5562600"/>
            <a:chExt cx="4476750" cy="45720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 rotWithShape="1">
            <a:blip r:embed="rId3"/>
            <a:srcRect t="-1" b="7693"/>
            <a:stretch/>
          </p:blipFill>
          <p:spPr>
            <a:xfrm>
              <a:off x="2333625" y="5562600"/>
              <a:ext cx="4476750" cy="457200"/>
            </a:xfrm>
            <a:prstGeom prst="rect">
              <a:avLst/>
            </a:prstGeom>
          </p:spPr>
        </p:pic>
        <p:sp>
          <p:nvSpPr>
            <p:cNvPr id="5" name="Rectángulo 4"/>
            <p:cNvSpPr/>
            <p:nvPr/>
          </p:nvSpPr>
          <p:spPr>
            <a:xfrm>
              <a:off x="2333625" y="5562600"/>
              <a:ext cx="790575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3781425" y="5793164"/>
              <a:ext cx="3028950" cy="226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0" name="Rectángulo 9"/>
          <p:cNvSpPr/>
          <p:nvPr/>
        </p:nvSpPr>
        <p:spPr>
          <a:xfrm>
            <a:off x="2666999" y="3505200"/>
            <a:ext cx="3686175" cy="38100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/>
          <p:cNvSpPr/>
          <p:nvPr/>
        </p:nvSpPr>
        <p:spPr>
          <a:xfrm>
            <a:off x="2666999" y="3899694"/>
            <a:ext cx="3686175" cy="143430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/>
          <p:cNvSpPr/>
          <p:nvPr/>
        </p:nvSpPr>
        <p:spPr>
          <a:xfrm>
            <a:off x="2233611" y="5506530"/>
            <a:ext cx="4552950" cy="569340"/>
          </a:xfrm>
          <a:prstGeom prst="rect">
            <a:avLst/>
          </a:prstGeom>
          <a:solidFill>
            <a:srgbClr val="FFCC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/>
          <p:cNvSpPr/>
          <p:nvPr/>
        </p:nvSpPr>
        <p:spPr>
          <a:xfrm>
            <a:off x="2666999" y="2916810"/>
            <a:ext cx="3686175" cy="569340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40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2" grpId="0" animBg="1"/>
    </p:bld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4028</TotalTime>
  <Words>3827</Words>
  <Application>Microsoft Office PowerPoint</Application>
  <PresentationFormat>Presentación en pantalla (4:3)</PresentationFormat>
  <Paragraphs>454</Paragraphs>
  <Slides>69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80" baseType="lpstr">
      <vt:lpstr>ＭＳ Ｐゴシック</vt:lpstr>
      <vt:lpstr>Arial</vt:lpstr>
      <vt:lpstr>Cambria Math</vt:lpstr>
      <vt:lpstr>Courier New</vt:lpstr>
      <vt:lpstr>Garamond</vt:lpstr>
      <vt:lpstr>Lucida Console</vt:lpstr>
      <vt:lpstr>Symbol</vt:lpstr>
      <vt:lpstr>Times New Roman</vt:lpstr>
      <vt:lpstr>Wingdings</vt:lpstr>
      <vt:lpstr>WP MathA</vt:lpstr>
      <vt:lpstr>Edge</vt:lpstr>
      <vt:lpstr>ARQUITECTURAS PARA AGENTES</vt:lpstr>
      <vt:lpstr>Arquitecturas para Agentes</vt:lpstr>
      <vt:lpstr>Arquitecturas para Agentes: Wrapping</vt:lpstr>
      <vt:lpstr>Arquitecturas para Agentes: Wrapping</vt:lpstr>
      <vt:lpstr> Ejemplo de Wrapping</vt:lpstr>
      <vt:lpstr>Arquitecturas para Agentes: bucle control</vt:lpstr>
      <vt:lpstr>Arquitecturas para Agentes: bucle control</vt:lpstr>
      <vt:lpstr>Arquitecturas para Agentes: bucle control</vt:lpstr>
      <vt:lpstr>Arquitecturas para Agentes: bucle control</vt:lpstr>
      <vt:lpstr>Arquitecturas para Agentes: bucle control</vt:lpstr>
      <vt:lpstr>Arquitecturas para Agentes: bucle control</vt:lpstr>
      <vt:lpstr>Arquitecturas para Agentes</vt:lpstr>
      <vt:lpstr>Arquitecturas para Agentes</vt:lpstr>
      <vt:lpstr>Arquitecturas para Agentes</vt:lpstr>
      <vt:lpstr>Agentes Razonadores Simbólicos</vt:lpstr>
      <vt:lpstr>Agentes Razonadores Simbólicos</vt:lpstr>
      <vt:lpstr>Agentes Razonadores Simbólicos</vt:lpstr>
      <vt:lpstr>Agentes Razonadores Simbólicos</vt:lpstr>
      <vt:lpstr>Agentes Razonadores Simbólicos</vt:lpstr>
      <vt:lpstr>Agentes Razonadores Simbólicos</vt:lpstr>
      <vt:lpstr>Agentes Razonadores Prácticos</vt:lpstr>
      <vt:lpstr>Intenciones en Razonamiento Práctico</vt:lpstr>
      <vt:lpstr>¿Qúe es Razonamiento Medios-Fin?</vt:lpstr>
      <vt:lpstr>Presentación de PowerPoint</vt:lpstr>
      <vt:lpstr>Planificación</vt:lpstr>
      <vt:lpstr>The Blocks World</vt:lpstr>
      <vt:lpstr>Ontología del Blocks World</vt:lpstr>
      <vt:lpstr>The Blocks World</vt:lpstr>
      <vt:lpstr>The Blocks World</vt:lpstr>
      <vt:lpstr>The Blocks World</vt:lpstr>
      <vt:lpstr>Operadores del Blocks World</vt:lpstr>
      <vt:lpstr>Operadores del Blocks World</vt:lpstr>
      <vt:lpstr>Operadores del Blocks World</vt:lpstr>
      <vt:lpstr>Un Plan</vt:lpstr>
      <vt:lpstr>La idea básica para lograr objetivos</vt:lpstr>
      <vt:lpstr>Implementación de Agentes Razonadores Prácticos: BDI </vt:lpstr>
      <vt:lpstr>Implementación de Agentes BDI</vt:lpstr>
      <vt:lpstr>Deliberación</vt:lpstr>
      <vt:lpstr>Deliberación</vt:lpstr>
      <vt:lpstr>Deliberación</vt:lpstr>
      <vt:lpstr>Ejercicio práctico: agente BDI</vt:lpstr>
      <vt:lpstr>Ejercicio práctico: agente BDI</vt:lpstr>
      <vt:lpstr> Nuevamente AGENTGPT: ¿ BDI ?</vt:lpstr>
      <vt:lpstr>Agentes Reactivos</vt:lpstr>
      <vt:lpstr>Una Descomposición de un Sistema de Control de un Robot Móvil basada en Comportamientos para efectuar una Tarea</vt:lpstr>
      <vt:lpstr>Control por Capas en la Arquitectura de Subsumisión</vt:lpstr>
      <vt:lpstr>Esquema de un Módulo</vt:lpstr>
      <vt:lpstr>Niveles de un Sistema de Control</vt:lpstr>
      <vt:lpstr>Niveles de un Sistema de Control</vt:lpstr>
      <vt:lpstr>El Explorador de Marte de Steels</vt:lpstr>
      <vt:lpstr>El Explorador de Marte de Steels</vt:lpstr>
      <vt:lpstr>El Explorador de Marte: No Cooperador</vt:lpstr>
      <vt:lpstr>El Explorador de Marte: No Cooperador</vt:lpstr>
      <vt:lpstr>El Explorador de Marte: Cooperador</vt:lpstr>
      <vt:lpstr>Ejercicio práctico: agente reactivo Subsumisión</vt:lpstr>
      <vt:lpstr>Ejercicio práctico: entender interacciones en agentes reactivos</vt:lpstr>
      <vt:lpstr>Ejercicio práctico: entender interacciones en agentes reactivos</vt:lpstr>
      <vt:lpstr>Ejercicio práctico: entender interacciones en agentes reactivos</vt:lpstr>
      <vt:lpstr>Ejercicio práctico: entender interacciones en agentes reactivos</vt:lpstr>
      <vt:lpstr>Ejercicio práctico: entender interacciones en agentes reactivos</vt:lpstr>
      <vt:lpstr>Arquitecturas Híbridas</vt:lpstr>
      <vt:lpstr>Arq. Híbridas: Agentes Generativos</vt:lpstr>
      <vt:lpstr>Agentes Generativos</vt:lpstr>
      <vt:lpstr>Agentes Generativos</vt:lpstr>
      <vt:lpstr>Agentes Generativos</vt:lpstr>
      <vt:lpstr>Agentes Generativos</vt:lpstr>
      <vt:lpstr>Agentes Generativos</vt:lpstr>
      <vt:lpstr>Agentes Generativos</vt:lpstr>
      <vt:lpstr>Agentes Generativos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RAZONADORES DEDUCTIVOS</dc:title>
  <dc:creator>Enrique Canessa</dc:creator>
  <cp:lastModifiedBy>Enrique Canessa</cp:lastModifiedBy>
  <cp:revision>425</cp:revision>
  <dcterms:created xsi:type="dcterms:W3CDTF">2002-09-12T12:30:06Z</dcterms:created>
  <dcterms:modified xsi:type="dcterms:W3CDTF">2025-07-31T20:49:35Z</dcterms:modified>
</cp:coreProperties>
</file>