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2" r:id="rId9"/>
    <p:sldId id="291" r:id="rId10"/>
    <p:sldId id="260" r:id="rId11"/>
    <p:sldId id="292" r:id="rId12"/>
    <p:sldId id="293" r:id="rId13"/>
    <p:sldId id="299" r:id="rId14"/>
    <p:sldId id="300" r:id="rId15"/>
    <p:sldId id="301" r:id="rId16"/>
    <p:sldId id="302" r:id="rId17"/>
    <p:sldId id="303" r:id="rId18"/>
    <p:sldId id="310" r:id="rId19"/>
    <p:sldId id="311" r:id="rId20"/>
    <p:sldId id="329" r:id="rId21"/>
    <p:sldId id="330" r:id="rId22"/>
    <p:sldId id="331" r:id="rId23"/>
    <p:sldId id="332" r:id="rId24"/>
    <p:sldId id="294" r:id="rId25"/>
    <p:sldId id="295" r:id="rId26"/>
    <p:sldId id="296" r:id="rId27"/>
    <p:sldId id="297" r:id="rId28"/>
    <p:sldId id="333" r:id="rId29"/>
    <p:sldId id="298" r:id="rId30"/>
    <p:sldId id="334" r:id="rId31"/>
    <p:sldId id="304" r:id="rId32"/>
    <p:sldId id="305" r:id="rId33"/>
    <p:sldId id="306" r:id="rId34"/>
    <p:sldId id="307" r:id="rId35"/>
    <p:sldId id="308" r:id="rId36"/>
    <p:sldId id="309" r:id="rId37"/>
    <p:sldId id="339" r:id="rId38"/>
    <p:sldId id="315" r:id="rId39"/>
    <p:sldId id="316" r:id="rId40"/>
    <p:sldId id="317" r:id="rId41"/>
    <p:sldId id="318" r:id="rId42"/>
    <p:sldId id="319" r:id="rId43"/>
    <p:sldId id="340" r:id="rId44"/>
    <p:sldId id="327" r:id="rId45"/>
    <p:sldId id="275" r:id="rId46"/>
    <p:sldId id="313" r:id="rId47"/>
    <p:sldId id="282" r:id="rId48"/>
    <p:sldId id="285" r:id="rId49"/>
    <p:sldId id="326" r:id="rId50"/>
    <p:sldId id="335" r:id="rId51"/>
    <p:sldId id="336" r:id="rId52"/>
    <p:sldId id="337" r:id="rId53"/>
    <p:sldId id="338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98288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575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CL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s-CL" alt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CL" alt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D66218E-9274-440D-8230-9F60185512CB}" type="slidenum">
              <a:rPr lang="es-CL" altLang="en-US"/>
              <a:pPr/>
              <a:t>‹Nº›</a:t>
            </a:fld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104649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CL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s-CL" altLang="en-US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CL" altLang="en-US"/>
              <a:t>Haga clic para modificar el estilo de texto del patrón</a:t>
            </a:r>
          </a:p>
          <a:p>
            <a:pPr lvl="1"/>
            <a:r>
              <a:rPr lang="es-CL" altLang="en-US"/>
              <a:t>Segundo nivel</a:t>
            </a:r>
          </a:p>
          <a:p>
            <a:pPr lvl="2"/>
            <a:r>
              <a:rPr lang="es-CL" altLang="en-US"/>
              <a:t>Tercer nivel</a:t>
            </a:r>
          </a:p>
          <a:p>
            <a:pPr lvl="3"/>
            <a:r>
              <a:rPr lang="es-CL" altLang="en-US"/>
              <a:t>Cuarto nivel</a:t>
            </a:r>
          </a:p>
          <a:p>
            <a:pPr lvl="4"/>
            <a:r>
              <a:rPr lang="es-CL" altLang="en-US"/>
              <a:t>Quinto nivel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CL" altLang="en-US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2B4DDC7-FC49-412B-B078-A3C4B5346C7B}" type="slidenum">
              <a:rPr lang="es-CL" altLang="en-US"/>
              <a:pPr/>
              <a:t>‹Nº›</a:t>
            </a:fld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9830088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30AD3-4188-4C23-B3B8-CF4C4E2422B7}" type="slidenum">
              <a:rPr lang="es-CL" altLang="en-US"/>
              <a:pPr/>
              <a:t>1</a:t>
            </a:fld>
            <a:endParaRPr lang="es-CL" alt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193675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857053-F033-42F9-9B9B-6E78B295047D}" type="slidenum">
              <a:rPr lang="es-CL" altLang="en-US"/>
              <a:pPr/>
              <a:t>2</a:t>
            </a:fld>
            <a:endParaRPr lang="es-CL" alt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1031674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DF405F-C6F1-404A-823B-7C5BA5C5ED63}" type="slidenum">
              <a:rPr lang="es-CL" altLang="en-US"/>
              <a:pPr/>
              <a:t>3</a:t>
            </a:fld>
            <a:endParaRPr lang="es-CL" altLang="en-US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415084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079143-B5AA-4008-A0E1-5F60B2666CCB}" type="slidenum">
              <a:rPr lang="es-CL" altLang="en-US"/>
              <a:pPr/>
              <a:t>4</a:t>
            </a:fld>
            <a:endParaRPr lang="es-CL" altLang="en-US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38010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1A40C5-2E95-4B3F-A66B-CEF248E53006}" type="slidenum">
              <a:rPr lang="es-CL" altLang="en-US"/>
              <a:pPr/>
              <a:t>5</a:t>
            </a:fld>
            <a:endParaRPr lang="es-CL" altLang="en-US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869307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0438C4-9D6E-4A80-8EBE-2D19B56E5083}" type="slidenum">
              <a:rPr lang="es-CL" altLang="en-US"/>
              <a:pPr/>
              <a:t>6</a:t>
            </a:fld>
            <a:endParaRPr lang="es-CL" alt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3230703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48EA79-521B-4EC4-9E90-775E4C878240}" type="slidenum">
              <a:rPr lang="es-CL" altLang="en-US"/>
              <a:pPr/>
              <a:t>7</a:t>
            </a:fld>
            <a:endParaRPr lang="es-CL" altLang="en-US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1901129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EAC811-6A42-4F5D-AA27-3B66E86B1554}" type="slidenum">
              <a:rPr lang="es-CL" altLang="en-US"/>
              <a:pPr/>
              <a:t>8</a:t>
            </a:fld>
            <a:endParaRPr lang="es-CL" altLang="en-US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3521905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25804B9-63B9-4204-AF64-774C9DE4451D}" type="slidenum">
              <a:rPr lang="es-ES_tradnl" altLang="es-CL" sz="1300" smtClean="0">
                <a:latin typeface="Times New Roman" panose="02020603050405020304" pitchFamily="18" charset="0"/>
              </a:rPr>
              <a:pPr/>
              <a:t>9</a:t>
            </a:fld>
            <a:endParaRPr lang="es-ES_tradnl" altLang="es-CL" sz="130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s-ES_tradnl" altLang="es-CL"/>
          </a:p>
        </p:txBody>
      </p:sp>
    </p:spTree>
    <p:extLst>
      <p:ext uri="{BB962C8B-B14F-4D97-AF65-F5344CB8AC3E}">
        <p14:creationId xmlns:p14="http://schemas.microsoft.com/office/powerpoint/2010/main" val="1289883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696839-91E6-4F41-BFFA-CFBFADCAF70E}" type="slidenum">
              <a:rPr lang="es-CL" altLang="en-US"/>
              <a:pPr/>
              <a:t>10</a:t>
            </a:fld>
            <a:endParaRPr lang="es-CL" altLang="en-US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261420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F3A12A-78BA-41AF-9E97-0EDAE6CA27A9}" type="slidenum">
              <a:rPr lang="es-CL" altLang="en-US"/>
              <a:pPr/>
              <a:t>18</a:t>
            </a:fld>
            <a:endParaRPr lang="es-CL" alt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615259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8F5D16-E7D3-4E8C-B8D8-85298CD346FD}" type="slidenum">
              <a:rPr lang="es-CL" altLang="en-US"/>
              <a:pPr/>
              <a:t>19</a:t>
            </a:fld>
            <a:endParaRPr lang="es-CL" altLang="en-US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3932384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8F5D16-E7D3-4E8C-B8D8-85298CD346FD}" type="slidenum">
              <a:rPr lang="es-CL" altLang="en-US"/>
              <a:pPr/>
              <a:t>20</a:t>
            </a:fld>
            <a:endParaRPr lang="es-CL" altLang="en-US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655365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8F5D16-E7D3-4E8C-B8D8-85298CD346FD}" type="slidenum">
              <a:rPr lang="es-CL" altLang="en-US"/>
              <a:pPr/>
              <a:t>21</a:t>
            </a:fld>
            <a:endParaRPr lang="es-CL" altLang="en-US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766046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79209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8745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1868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1140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60545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581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95331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57818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90276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3703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3258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0899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01404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06011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60824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s-CL" altLang="es-CL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48727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39CA71-5FDC-464B-BDCD-F0804019EDAC}" type="slidenum">
              <a:rPr lang="es-CL" altLang="en-US"/>
              <a:pPr/>
              <a:t>45</a:t>
            </a:fld>
            <a:endParaRPr lang="es-CL" alt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40044592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169E4D-D5EB-4A88-B8D2-015F78D87A91}" type="slidenum">
              <a:rPr lang="es-CL" altLang="en-US"/>
              <a:pPr/>
              <a:t>46</a:t>
            </a:fld>
            <a:endParaRPr lang="es-CL" altLang="en-US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9416910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169E4D-D5EB-4A88-B8D2-015F78D87A91}" type="slidenum">
              <a:rPr lang="es-CL" altLang="en-US"/>
              <a:pPr/>
              <a:t>47</a:t>
            </a:fld>
            <a:endParaRPr lang="es-CL" altLang="en-US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37263841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669C9-ACCD-4842-9C48-AC1AF7D60EC4}" type="slidenum">
              <a:rPr lang="es-CL" altLang="en-US"/>
              <a:pPr/>
              <a:t>48</a:t>
            </a:fld>
            <a:endParaRPr lang="es-CL" alt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8084328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CE18B6-D749-4F7B-A2E5-EDEA513CFB9C}" type="slidenum">
              <a:rPr lang="es-CL" altLang="en-US"/>
              <a:pPr/>
              <a:t>49</a:t>
            </a:fld>
            <a:endParaRPr lang="es-CL" alt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4778699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CE18B6-D749-4F7B-A2E5-EDEA513CFB9C}" type="slidenum">
              <a:rPr lang="es-CL" altLang="en-US"/>
              <a:pPr/>
              <a:t>50</a:t>
            </a:fld>
            <a:endParaRPr lang="es-CL" altLang="en-US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000998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669C9-ACCD-4842-9C48-AC1AF7D60EC4}" type="slidenum">
              <a:rPr lang="es-CL" altLang="en-US"/>
              <a:pPr/>
              <a:t>51</a:t>
            </a:fld>
            <a:endParaRPr lang="es-CL" alt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0086422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669C9-ACCD-4842-9C48-AC1AF7D60EC4}" type="slidenum">
              <a:rPr lang="es-CL" altLang="en-US"/>
              <a:pPr/>
              <a:t>52</a:t>
            </a:fld>
            <a:endParaRPr lang="es-CL" alt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40883088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B669C9-ACCD-4842-9C48-AC1AF7D60EC4}" type="slidenum">
              <a:rPr lang="es-CL" altLang="en-US"/>
              <a:pPr/>
              <a:t>53</a:t>
            </a:fld>
            <a:endParaRPr lang="es-CL" alt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CL" altLang="en-US"/>
          </a:p>
        </p:txBody>
      </p:sp>
    </p:spTree>
    <p:extLst>
      <p:ext uri="{BB962C8B-B14F-4D97-AF65-F5344CB8AC3E}">
        <p14:creationId xmlns:p14="http://schemas.microsoft.com/office/powerpoint/2010/main" val="2028516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6AF4EE7-559C-4066-9C46-83FAD057B530}" type="slidenum">
              <a:rPr lang="en-US" altLang="en-US"/>
              <a:pPr/>
              <a:t>‹Nº›</a:t>
            </a:fld>
            <a:endParaRPr lang="en-US" altLang="en-US"/>
          </a:p>
        </p:txBody>
      </p:sp>
      <p:sp>
        <p:nvSpPr>
          <p:cNvPr id="30727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98F7B2-B38F-4F81-B4B3-3122CDFFA968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44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EC1E08-4648-43D4-9C5F-770AD9C0556C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08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C6073-969F-4C58-84C9-56DC3FDEB396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46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628E40-9082-4D11-B74B-3969A2F76694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628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19576E-DD5C-4F62-A6D3-CCA62E0BFBB5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93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6D955C-EC97-406E-BDD9-E5CD7C5E7278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049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36B22B-93DB-4AD1-A3CC-0CC9929609DE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223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12E4AC-566B-4009-A65F-949E5168119A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369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88C2E-8DF5-4E39-86E5-187F4056AB8E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2965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7CF8CD-C31B-4D79-8A3A-D02DBEAC0FBD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48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endParaRPr lang="en-US" altLang="en-US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fld id="{14A33A2E-27CF-4A86-9C33-EA2D4B22435E}" type="slidenum">
              <a:rPr lang="en-US" altLang="en-US"/>
              <a:pPr/>
              <a:t>‹Nº›</a:t>
            </a:fld>
            <a:endParaRPr lang="en-US" altLang="en-US"/>
          </a:p>
        </p:txBody>
      </p:sp>
      <p:sp>
        <p:nvSpPr>
          <p:cNvPr id="29703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XczKXWvokm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tprd.com/p/the-complete-beginners-guide-to-autonomous-agen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hyperlink" Target="https://youtu.be/1AB41kHUJZA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dCz3oL2rT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hyperlink" Target="https://www.youtube.com/watch?v=m6sl8KMsm5Q" TargetMode="External"/><Relationship Id="rId4" Type="http://schemas.openxmlformats.org/officeDocument/2006/relationships/image" Target="../media/image2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IPzSmwClJ8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irmFenH9bw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IPzSmwClJ8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irmFenH9bw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IPzSmwClJ8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OirmFenH9bw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q4rTkm3530M" TargetMode="External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fK13ehIAf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gpt.reworkd.ai/es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96200" cy="2362200"/>
          </a:xfrm>
        </p:spPr>
        <p:txBody>
          <a:bodyPr/>
          <a:lstStyle/>
          <a:p>
            <a:pPr algn="ctr"/>
            <a:r>
              <a:rPr lang="en-US" altLang="en-US" dirty="0"/>
              <a:t>INTRODUCCION</a:t>
            </a:r>
            <a:br>
              <a:rPr lang="en-US" altLang="en-US" dirty="0"/>
            </a:br>
            <a:r>
              <a:rPr lang="en-US" altLang="en-US" sz="4400" dirty="0"/>
              <a:t>AGENTES Y </a:t>
            </a:r>
            <a:br>
              <a:rPr lang="en-US" altLang="en-US" sz="4400" dirty="0"/>
            </a:br>
            <a:r>
              <a:rPr lang="en-US" altLang="en-US" sz="4400" dirty="0"/>
              <a:t>SISTEMAS MULTIAGENTES</a:t>
            </a:r>
            <a:endParaRPr lang="en-US" alt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6AF4EE7-559C-4066-9C46-83FAD057B530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CL" altLang="en-US"/>
              <a:t>Reseña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r>
              <a:rPr lang="en-US" altLang="en-US"/>
              <a:t>Cinco tendencias que han marcado hitos en la historia de la computación:</a:t>
            </a:r>
          </a:p>
          <a:p>
            <a:pPr lvl="1"/>
            <a:r>
              <a:rPr lang="en-US" altLang="en-US" i="1">
                <a:solidFill>
                  <a:srgbClr val="003399"/>
                </a:solidFill>
              </a:rPr>
              <a:t>ubicuidad</a:t>
            </a:r>
            <a:r>
              <a:rPr lang="en-US" altLang="en-US"/>
              <a:t>;</a:t>
            </a:r>
          </a:p>
          <a:p>
            <a:pPr lvl="1"/>
            <a:r>
              <a:rPr lang="en-US" altLang="en-US" i="1">
                <a:solidFill>
                  <a:srgbClr val="003399"/>
                </a:solidFill>
              </a:rPr>
              <a:t>interconexión</a:t>
            </a:r>
            <a:r>
              <a:rPr lang="en-US" altLang="en-US"/>
              <a:t>;</a:t>
            </a:r>
          </a:p>
          <a:p>
            <a:pPr lvl="1"/>
            <a:r>
              <a:rPr lang="en-US" altLang="en-US" i="1">
                <a:solidFill>
                  <a:srgbClr val="003399"/>
                </a:solidFill>
              </a:rPr>
              <a:t>inteligencia</a:t>
            </a:r>
            <a:r>
              <a:rPr lang="en-US" altLang="en-US"/>
              <a:t>;</a:t>
            </a:r>
          </a:p>
          <a:p>
            <a:pPr lvl="1"/>
            <a:r>
              <a:rPr lang="en-US" altLang="en-US" i="1">
                <a:solidFill>
                  <a:srgbClr val="003399"/>
                </a:solidFill>
              </a:rPr>
              <a:t>delegación</a:t>
            </a:r>
            <a:r>
              <a:rPr lang="en-US" altLang="en-US"/>
              <a:t>; y</a:t>
            </a:r>
          </a:p>
          <a:p>
            <a:pPr lvl="1"/>
            <a:r>
              <a:rPr lang="en-US" altLang="en-US" i="1">
                <a:solidFill>
                  <a:srgbClr val="003399"/>
                </a:solidFill>
              </a:rPr>
              <a:t>Orientación hacia lo humano</a:t>
            </a:r>
            <a:endParaRPr lang="en-US" alt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819400"/>
            <a:ext cx="3457575" cy="2809875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Ubicuidad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r>
              <a:rPr lang="en-US" altLang="en-US" sz="2000" dirty="0"/>
              <a:t>La continua </a:t>
            </a:r>
            <a:r>
              <a:rPr lang="en-US" altLang="en-US" sz="2000" dirty="0" err="1"/>
              <a:t>reducción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el </a:t>
            </a:r>
            <a:r>
              <a:rPr lang="en-US" altLang="en-US" sz="2000" dirty="0" err="1"/>
              <a:t>costo</a:t>
            </a:r>
            <a:r>
              <a:rPr lang="en-US" altLang="en-US" sz="2000" dirty="0"/>
              <a:t> de la </a:t>
            </a:r>
            <a:r>
              <a:rPr lang="en-US" altLang="en-US" sz="2000" dirty="0" err="1"/>
              <a:t>computación</a:t>
            </a:r>
            <a:r>
              <a:rPr lang="en-US" altLang="en-US" sz="2000" dirty="0"/>
              <a:t> ha </a:t>
            </a:r>
            <a:r>
              <a:rPr lang="en-US" altLang="en-US" sz="2000" dirty="0" err="1"/>
              <a:t>hecho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posible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introducir</a:t>
            </a:r>
            <a:r>
              <a:rPr lang="en-US" altLang="en-US" sz="2000" dirty="0"/>
              <a:t> el </a:t>
            </a:r>
            <a:r>
              <a:rPr lang="en-US" altLang="en-US" sz="2000" dirty="0" err="1"/>
              <a:t>poder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cómputo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sistemas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que </a:t>
            </a:r>
            <a:r>
              <a:rPr lang="en-US" altLang="en-US" sz="2000" dirty="0" err="1"/>
              <a:t>anteriormente</a:t>
            </a:r>
            <a:r>
              <a:rPr lang="en-US" altLang="en-US" sz="2000" dirty="0"/>
              <a:t> era no </a:t>
            </a:r>
            <a:r>
              <a:rPr lang="en-US" altLang="en-US" sz="2000" dirty="0" err="1"/>
              <a:t>económico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hacerlo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A </a:t>
            </a:r>
            <a:r>
              <a:rPr lang="en-US" altLang="en-US" sz="2000" dirty="0" err="1"/>
              <a:t>medida</a:t>
            </a:r>
            <a:r>
              <a:rPr lang="en-US" altLang="en-US" sz="2000" dirty="0"/>
              <a:t> que la </a:t>
            </a:r>
            <a:r>
              <a:rPr lang="en-US" altLang="en-US" sz="2000" dirty="0" err="1"/>
              <a:t>capacidad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proceso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aumenta</a:t>
            </a:r>
            <a:r>
              <a:rPr lang="en-US" altLang="en-US" sz="2000" dirty="0"/>
              <a:t>, la </a:t>
            </a:r>
            <a:r>
              <a:rPr lang="en-US" altLang="en-US" sz="2000" dirty="0" err="1"/>
              <a:t>sofisticación</a:t>
            </a:r>
            <a:r>
              <a:rPr lang="en-US" altLang="en-US" sz="2000" dirty="0"/>
              <a:t> (“</a:t>
            </a:r>
            <a:r>
              <a:rPr lang="en-US" altLang="en-US" sz="2000" dirty="0" err="1"/>
              <a:t>inteligencia</a:t>
            </a:r>
            <a:r>
              <a:rPr lang="en-US" altLang="en-US" sz="2000" dirty="0"/>
              <a:t>”) se </a:t>
            </a:r>
            <a:r>
              <a:rPr lang="en-US" altLang="en-US" sz="2000" dirty="0" err="1"/>
              <a:t>disemina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sistemas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¿</a:t>
            </a:r>
            <a:r>
              <a:rPr lang="en-US" altLang="en-US" sz="2000" dirty="0" err="1"/>
              <a:t>Qué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podría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beneficiarse</a:t>
            </a:r>
            <a:r>
              <a:rPr lang="en-US" altLang="en-US" sz="2000" dirty="0"/>
              <a:t> al </a:t>
            </a:r>
            <a:r>
              <a:rPr lang="en-US" altLang="en-US" sz="2000" dirty="0" err="1"/>
              <a:t>tener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procesador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él</a:t>
            </a:r>
            <a:r>
              <a:rPr lang="en-US" altLang="en-US" sz="2000" dirty="0"/>
              <a:t>?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4038600"/>
            <a:ext cx="2667000" cy="2000250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1026" name="Picture 2" descr="Power/cost of 150 computers from 1900 to 1997, rising 1000x every 20, now 10, yea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54370"/>
            <a:ext cx="3581400" cy="2846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Interconexión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10200"/>
          </a:xfrm>
        </p:spPr>
        <p:txBody>
          <a:bodyPr/>
          <a:lstStyle/>
          <a:p>
            <a:r>
              <a:rPr lang="en-US" altLang="en-US" sz="2000" dirty="0"/>
              <a:t>Los </a:t>
            </a:r>
            <a:r>
              <a:rPr lang="en-US" altLang="en-US" sz="2000" dirty="0" err="1"/>
              <a:t>Sistemas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Información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Computarizados</a:t>
            </a:r>
            <a:r>
              <a:rPr lang="en-US" altLang="en-US" sz="2000" dirty="0"/>
              <a:t> (SIC) no son </a:t>
            </a:r>
            <a:r>
              <a:rPr lang="en-US" altLang="en-US" sz="2000" dirty="0" err="1"/>
              <a:t>islas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ahora</a:t>
            </a:r>
            <a:r>
              <a:rPr lang="en-US" altLang="en-US" sz="2000" dirty="0"/>
              <a:t> se </a:t>
            </a:r>
            <a:r>
              <a:rPr lang="en-US" altLang="en-US" sz="2000" dirty="0" err="1"/>
              <a:t>conectan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redes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forman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sistemas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distribuidos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La internet </a:t>
            </a:r>
            <a:r>
              <a:rPr lang="en-US" altLang="en-US" sz="2000" dirty="0" err="1"/>
              <a:t>es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ejemplo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obvio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pero</a:t>
            </a:r>
            <a:r>
              <a:rPr lang="en-US" altLang="en-US" sz="2000" dirty="0"/>
              <a:t> las </a:t>
            </a:r>
            <a:r>
              <a:rPr lang="en-US" altLang="en-US" sz="2000" dirty="0" err="1"/>
              <a:t>redes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están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alargando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sus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tentáculos</a:t>
            </a:r>
            <a:r>
              <a:rPr lang="en-US" altLang="en-US" sz="2000" dirty="0"/>
              <a:t> …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Como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SIC </a:t>
            </a:r>
            <a:r>
              <a:rPr lang="en-US" altLang="en-US" sz="2000" dirty="0" err="1"/>
              <a:t>distribuidos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concurrentes</a:t>
            </a:r>
            <a:r>
              <a:rPr lang="en-US" altLang="en-US" sz="2000" dirty="0"/>
              <a:t> se </a:t>
            </a:r>
            <a:r>
              <a:rPr lang="en-US" altLang="en-US" sz="2000" dirty="0" err="1"/>
              <a:t>han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vuelto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norma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investigadores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desarrollado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modelos</a:t>
            </a:r>
            <a:r>
              <a:rPr lang="en-US" altLang="en-US" sz="2000" dirty="0"/>
              <a:t> que </a:t>
            </a:r>
            <a:r>
              <a:rPr lang="en-US" altLang="en-US" sz="2000" dirty="0" err="1"/>
              <a:t>ven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computación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como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proceso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interacción</a:t>
            </a:r>
            <a:endParaRPr lang="en-US" altLang="en-U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962400"/>
            <a:ext cx="2743200" cy="2157333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Inteligencia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r>
              <a:rPr lang="en-US" altLang="en-US" sz="2000" dirty="0"/>
              <a:t>La </a:t>
            </a:r>
            <a:r>
              <a:rPr lang="en-US" altLang="en-US" sz="2000" dirty="0" err="1"/>
              <a:t>complejidad</a:t>
            </a:r>
            <a:r>
              <a:rPr lang="en-US" altLang="en-US" sz="2000" dirty="0"/>
              <a:t> de las </a:t>
            </a:r>
            <a:r>
              <a:rPr lang="en-US" altLang="en-US" sz="2000" dirty="0" err="1"/>
              <a:t>tareas</a:t>
            </a:r>
            <a:r>
              <a:rPr lang="en-US" altLang="en-US" sz="2000" dirty="0"/>
              <a:t> que </a:t>
            </a:r>
            <a:r>
              <a:rPr lang="en-US" altLang="en-US" sz="2000" dirty="0" err="1"/>
              <a:t>podemos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automatizar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delegar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computadores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aumentando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sostenidamente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 </a:t>
            </a:r>
          </a:p>
          <a:p>
            <a:r>
              <a:rPr lang="en-US" altLang="en-US" sz="2000" dirty="0"/>
              <a:t>Si </a:t>
            </a:r>
            <a:r>
              <a:rPr lang="en-US" altLang="en-US" sz="2000" dirty="0" err="1"/>
              <a:t>uno</a:t>
            </a:r>
            <a:r>
              <a:rPr lang="en-US" altLang="en-US" sz="2000" dirty="0"/>
              <a:t> no se </a:t>
            </a:r>
            <a:r>
              <a:rPr lang="en-US" altLang="en-US" sz="2000" dirty="0" err="1"/>
              <a:t>siente</a:t>
            </a:r>
            <a:r>
              <a:rPr lang="en-US" altLang="en-US" sz="2000" dirty="0"/>
              <a:t> comfortable con </a:t>
            </a:r>
            <a:r>
              <a:rPr lang="en-US" altLang="en-US" sz="2000" dirty="0" err="1"/>
              <a:t>eso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probablemente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debido</a:t>
            </a:r>
            <a:r>
              <a:rPr lang="en-US" altLang="en-US" sz="2000" dirty="0"/>
              <a:t> a que </a:t>
            </a:r>
            <a:r>
              <a:rPr lang="en-US" altLang="en-US" sz="2000" dirty="0" err="1"/>
              <a:t>uno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es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ser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humano</a:t>
            </a:r>
            <a:endParaRPr lang="en-US" altLang="en-US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505200"/>
            <a:ext cx="3048000" cy="1524000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2050" name="Picture 2" descr="Power rating of natural and artificial thinke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352800"/>
            <a:ext cx="3692525" cy="322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Delegación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4953000"/>
          </a:xfrm>
        </p:spPr>
        <p:txBody>
          <a:bodyPr/>
          <a:lstStyle/>
          <a:p>
            <a:r>
              <a:rPr lang="en-US" altLang="en-US" sz="2000" dirty="0"/>
              <a:t>Los </a:t>
            </a:r>
            <a:r>
              <a:rPr lang="en-US" altLang="en-US" sz="2000" dirty="0" err="1"/>
              <a:t>computadores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están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haciendo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cosas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nosotros</a:t>
            </a:r>
            <a:r>
              <a:rPr lang="en-US" altLang="en-US" sz="2000" dirty="0"/>
              <a:t> – sin </a:t>
            </a:r>
            <a:r>
              <a:rPr lang="en-US" altLang="en-US" sz="2000" dirty="0" err="1"/>
              <a:t>nuestra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intervención</a:t>
            </a:r>
            <a:endParaRPr lang="en-US" altLang="en-US" sz="2000" dirty="0"/>
          </a:p>
          <a:p>
            <a:r>
              <a:rPr lang="en-US" altLang="en-US" sz="2000" dirty="0" err="1"/>
              <a:t>Estamos</a:t>
            </a:r>
            <a:r>
              <a:rPr lang="en-US" altLang="en-US" sz="2000" dirty="0"/>
              <a:t> </a:t>
            </a:r>
            <a:r>
              <a:rPr lang="en-US" altLang="en-US" sz="2000" i="1" dirty="0" err="1">
                <a:solidFill>
                  <a:srgbClr val="003399"/>
                </a:solidFill>
              </a:rPr>
              <a:t>dándoles</a:t>
            </a:r>
            <a:r>
              <a:rPr lang="en-US" altLang="en-US" sz="2000" i="1" dirty="0">
                <a:solidFill>
                  <a:srgbClr val="003399"/>
                </a:solidFill>
              </a:rPr>
              <a:t> el control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computadores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incluso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tareas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seguridad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críticas</a:t>
            </a:r>
            <a:endParaRPr lang="en-US" altLang="en-US" sz="2000" dirty="0"/>
          </a:p>
          <a:p>
            <a:r>
              <a:rPr lang="en-US" altLang="en-US" sz="2000" dirty="0"/>
              <a:t>Un </a:t>
            </a:r>
            <a:r>
              <a:rPr lang="en-US" altLang="en-US" sz="2000" dirty="0" err="1"/>
              <a:t>ejemplo</a:t>
            </a:r>
            <a:r>
              <a:rPr lang="en-US" altLang="en-US" sz="2000" dirty="0"/>
              <a:t>: </a:t>
            </a:r>
            <a:r>
              <a:rPr lang="en-US" altLang="en-US" sz="2000" dirty="0" err="1"/>
              <a:t>aviones</a:t>
            </a:r>
            <a:r>
              <a:rPr lang="en-US" altLang="en-US" sz="2000" dirty="0"/>
              <a:t> “fly-by-wire”, </a:t>
            </a:r>
            <a:r>
              <a:rPr lang="en-US" altLang="en-US" sz="2000" dirty="0" err="1"/>
              <a:t>donde</a:t>
            </a:r>
            <a:r>
              <a:rPr lang="en-US" altLang="en-US" sz="2000" dirty="0"/>
              <a:t> se le </a:t>
            </a:r>
            <a:r>
              <a:rPr lang="en-US" altLang="en-US" sz="2000" dirty="0" err="1"/>
              <a:t>cree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a un </a:t>
            </a:r>
            <a:r>
              <a:rPr lang="en-US" altLang="en-US" sz="2000" dirty="0" err="1"/>
              <a:t>computador</a:t>
            </a:r>
            <a:r>
              <a:rPr lang="en-US" altLang="en-US" sz="2000" dirty="0"/>
              <a:t> que a un </a:t>
            </a:r>
            <a:r>
              <a:rPr lang="en-US" altLang="en-US" sz="2000" dirty="0" err="1"/>
              <a:t>piloto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experimentado</a:t>
            </a:r>
            <a:endParaRPr lang="en-US" altLang="en-US" sz="2000" dirty="0"/>
          </a:p>
          <a:p>
            <a:r>
              <a:rPr lang="en-US" altLang="en-US" sz="2000" dirty="0" err="1"/>
              <a:t>Otros</a:t>
            </a:r>
            <a:r>
              <a:rPr lang="en-US" altLang="en-US" sz="2000" dirty="0"/>
              <a:t>: </a:t>
            </a:r>
            <a:r>
              <a:rPr lang="en-US" altLang="en-US" sz="2000" dirty="0" err="1"/>
              <a:t>automóviles</a:t>
            </a:r>
            <a:r>
              <a:rPr lang="en-US" altLang="en-US" sz="2000" dirty="0"/>
              <a:t> drive-by-wire, </a:t>
            </a:r>
            <a:r>
              <a:rPr lang="en-US" altLang="en-US" sz="2000" dirty="0" err="1"/>
              <a:t>sistemas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inteligentes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frenado</a:t>
            </a:r>
            <a:r>
              <a:rPr lang="en-US" altLang="en-US" sz="2000" dirty="0"/>
              <a:t>, control de </a:t>
            </a:r>
            <a:r>
              <a:rPr lang="en-US" altLang="en-US" sz="2000" dirty="0" err="1"/>
              <a:t>crucero</a:t>
            </a:r>
            <a:r>
              <a:rPr lang="en-US" altLang="en-US" sz="2000" dirty="0"/>
              <a:t> que </a:t>
            </a:r>
            <a:r>
              <a:rPr lang="en-US" altLang="en-US" sz="2000" dirty="0" err="1"/>
              <a:t>mantiene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distancia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seguridad</a:t>
            </a:r>
            <a:r>
              <a:rPr lang="en-US" altLang="en-US" sz="2000" dirty="0"/>
              <a:t> con auto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el </a:t>
            </a:r>
            <a:r>
              <a:rPr lang="en-US" altLang="en-US" sz="2000" dirty="0" err="1"/>
              <a:t>frente</a:t>
            </a:r>
            <a:r>
              <a:rPr lang="en-US" altLang="en-US" sz="2000" dirty="0"/>
              <a:t> …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097920"/>
            <a:ext cx="2853883" cy="177264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267200"/>
            <a:ext cx="2438400" cy="1624584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Orientación hacia el humano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r>
              <a:rPr lang="en-US" altLang="en-US" sz="2000" dirty="0" err="1"/>
              <a:t>Movimiento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programación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alejándose</a:t>
            </a:r>
            <a:r>
              <a:rPr lang="en-US" altLang="en-US" sz="2000" dirty="0"/>
              <a:t> de la </a:t>
            </a:r>
            <a:r>
              <a:rPr lang="en-US" altLang="en-US" sz="2000" dirty="0" err="1"/>
              <a:t>orientación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hacia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máquina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acercándose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metáforas</a:t>
            </a:r>
            <a:r>
              <a:rPr lang="en-US" altLang="en-US" sz="2000" dirty="0"/>
              <a:t> que </a:t>
            </a:r>
            <a:r>
              <a:rPr lang="en-US" altLang="en-US" sz="2000" dirty="0" err="1"/>
              <a:t>reflejen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la forma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que </a:t>
            </a:r>
            <a:r>
              <a:rPr lang="en-US" altLang="en-US" sz="2000" dirty="0" err="1"/>
              <a:t>nosotros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entendemos</a:t>
            </a:r>
            <a:r>
              <a:rPr lang="en-US" altLang="en-US" sz="2000" dirty="0"/>
              <a:t> el </a:t>
            </a:r>
            <a:r>
              <a:rPr lang="en-US" altLang="en-US" sz="2000" dirty="0" err="1"/>
              <a:t>mundo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Los </a:t>
            </a:r>
            <a:r>
              <a:rPr lang="en-US" altLang="en-US" sz="2000" dirty="0" err="1"/>
              <a:t>programadores</a:t>
            </a:r>
            <a:r>
              <a:rPr lang="en-US" altLang="en-US" sz="2000" dirty="0"/>
              <a:t> (y </a:t>
            </a:r>
            <a:r>
              <a:rPr lang="en-US" altLang="en-US" sz="2000" dirty="0" err="1"/>
              <a:t>usuarios</a:t>
            </a:r>
            <a:r>
              <a:rPr lang="en-US" altLang="en-US" sz="2000" dirty="0"/>
              <a:t>) se </a:t>
            </a:r>
            <a:r>
              <a:rPr lang="en-US" altLang="en-US" sz="2000" dirty="0" err="1"/>
              <a:t>relacionan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forma </a:t>
            </a:r>
            <a:r>
              <a:rPr lang="en-US" altLang="en-US" sz="2000" dirty="0" err="1"/>
              <a:t>diferente</a:t>
            </a:r>
            <a:r>
              <a:rPr lang="en-US" altLang="en-US" sz="2000" dirty="0"/>
              <a:t> con las </a:t>
            </a:r>
            <a:r>
              <a:rPr lang="en-US" altLang="en-US" sz="2000" dirty="0" err="1"/>
              <a:t>máquinas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Los </a:t>
            </a:r>
            <a:r>
              <a:rPr lang="en-US" altLang="en-US" sz="2000" dirty="0" err="1"/>
              <a:t>programadores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conceptualizan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construyen</a:t>
            </a:r>
            <a:r>
              <a:rPr lang="en-US" altLang="en-US" sz="2000" dirty="0"/>
              <a:t> software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término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abstracciones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alto </a:t>
            </a:r>
            <a:r>
              <a:rPr lang="en-US" altLang="en-US" sz="2000" dirty="0" err="1"/>
              <a:t>nivel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cercanas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humanos</a:t>
            </a:r>
            <a:endParaRPr lang="en-US" altLang="en-U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4572000"/>
            <a:ext cx="3000375" cy="2005013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¿A </a:t>
            </a:r>
            <a:r>
              <a:rPr lang="en-US" altLang="en-US" dirty="0" err="1"/>
              <a:t>dónde</a:t>
            </a:r>
            <a:r>
              <a:rPr lang="en-US" altLang="en-US" dirty="0"/>
              <a:t> </a:t>
            </a:r>
            <a:r>
              <a:rPr lang="en-US" altLang="en-US" dirty="0" err="1"/>
              <a:t>nos</a:t>
            </a:r>
            <a:r>
              <a:rPr lang="en-US" altLang="en-US" dirty="0"/>
              <a:t> </a:t>
            </a:r>
            <a:r>
              <a:rPr lang="en-US" altLang="en-US" dirty="0" err="1"/>
              <a:t>lleva</a:t>
            </a:r>
            <a:r>
              <a:rPr lang="en-US" altLang="en-US" dirty="0"/>
              <a:t> </a:t>
            </a:r>
            <a:r>
              <a:rPr lang="en-US" altLang="en-US" dirty="0" err="1"/>
              <a:t>todo</a:t>
            </a:r>
            <a:r>
              <a:rPr lang="en-US" altLang="en-US" dirty="0"/>
              <a:t> </a:t>
            </a:r>
            <a:r>
              <a:rPr lang="en-US" altLang="en-US" dirty="0" err="1"/>
              <a:t>eso</a:t>
            </a:r>
            <a:r>
              <a:rPr lang="en-US" altLang="en-US" dirty="0"/>
              <a:t>?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r>
              <a:rPr lang="en-US" altLang="en-US" sz="2000" dirty="0"/>
              <a:t>La </a:t>
            </a:r>
            <a:r>
              <a:rPr lang="en-US" altLang="en-US" sz="2000" dirty="0" err="1"/>
              <a:t>Delegación</a:t>
            </a:r>
            <a:r>
              <a:rPr lang="en-US" altLang="en-US" sz="2000" dirty="0"/>
              <a:t> e </a:t>
            </a:r>
            <a:r>
              <a:rPr lang="en-US" altLang="en-US" sz="2000" dirty="0" err="1"/>
              <a:t>Inteligencia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implican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necesidad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construir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sistemas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computación</a:t>
            </a:r>
            <a:r>
              <a:rPr lang="en-US" altLang="en-US" sz="2000" dirty="0"/>
              <a:t> (SC) que </a:t>
            </a:r>
            <a:r>
              <a:rPr lang="en-US" altLang="en-US" sz="2000" dirty="0" err="1"/>
              <a:t>puedan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actuar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efectivamente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nuestro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nombre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 err="1"/>
              <a:t>Esto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implica</a:t>
            </a:r>
            <a:r>
              <a:rPr lang="en-US" altLang="en-US" sz="2000" dirty="0"/>
              <a:t>:</a:t>
            </a:r>
          </a:p>
          <a:p>
            <a:pPr lvl="1"/>
            <a:r>
              <a:rPr lang="en-US" altLang="en-US" sz="2000" dirty="0"/>
              <a:t>La </a:t>
            </a:r>
            <a:r>
              <a:rPr lang="en-US" altLang="en-US" sz="2000" dirty="0" err="1"/>
              <a:t>habilidad</a:t>
            </a:r>
            <a:r>
              <a:rPr lang="en-US" altLang="en-US" sz="2000" dirty="0"/>
              <a:t> de un SC para </a:t>
            </a:r>
            <a:r>
              <a:rPr lang="en-US" altLang="en-US" sz="2000" dirty="0" err="1"/>
              <a:t>actuar</a:t>
            </a:r>
            <a:r>
              <a:rPr lang="en-US" altLang="en-US" sz="2000" dirty="0"/>
              <a:t> </a:t>
            </a:r>
            <a:r>
              <a:rPr lang="en-US" altLang="en-US" sz="2000" i="1" dirty="0" err="1">
                <a:solidFill>
                  <a:srgbClr val="003399"/>
                </a:solidFill>
              </a:rPr>
              <a:t>independientemente</a:t>
            </a:r>
            <a:endParaRPr lang="en-US" altLang="en-US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n-US" sz="2000" dirty="0"/>
              <a:t>La </a:t>
            </a:r>
            <a:r>
              <a:rPr lang="en-US" altLang="en-US" sz="2000" dirty="0" err="1"/>
              <a:t>habilidad</a:t>
            </a:r>
            <a:r>
              <a:rPr lang="en-US" altLang="en-US" sz="2000" dirty="0"/>
              <a:t> de un SC para </a:t>
            </a:r>
            <a:r>
              <a:rPr lang="en-US" altLang="en-US" sz="2000" dirty="0" err="1"/>
              <a:t>actuar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una</a:t>
            </a:r>
            <a:r>
              <a:rPr lang="en-US" altLang="en-US" sz="2000" dirty="0"/>
              <a:t> forma que </a:t>
            </a:r>
            <a:r>
              <a:rPr lang="en-US" altLang="en-US" sz="2000" i="1" dirty="0" err="1">
                <a:solidFill>
                  <a:srgbClr val="003399"/>
                </a:solidFill>
              </a:rPr>
              <a:t>represente</a:t>
            </a:r>
            <a:r>
              <a:rPr lang="en-US" altLang="en-US" sz="2000" i="1" dirty="0">
                <a:solidFill>
                  <a:srgbClr val="003399"/>
                </a:solidFill>
              </a:rPr>
              <a:t> </a:t>
            </a:r>
            <a:r>
              <a:rPr lang="en-US" altLang="en-US" sz="2000" i="1" dirty="0" err="1">
                <a:solidFill>
                  <a:srgbClr val="003399"/>
                </a:solidFill>
              </a:rPr>
              <a:t>nuestros</a:t>
            </a:r>
            <a:r>
              <a:rPr lang="en-US" altLang="en-US" sz="2000" i="1" dirty="0">
                <a:solidFill>
                  <a:srgbClr val="003399"/>
                </a:solidFill>
              </a:rPr>
              <a:t> </a:t>
            </a:r>
            <a:r>
              <a:rPr lang="en-US" altLang="en-US" sz="2000" i="1" dirty="0" err="1">
                <a:solidFill>
                  <a:srgbClr val="003399"/>
                </a:solidFill>
              </a:rPr>
              <a:t>mejores</a:t>
            </a:r>
            <a:r>
              <a:rPr lang="en-US" altLang="en-US" sz="2000" i="1" dirty="0">
                <a:solidFill>
                  <a:srgbClr val="003399"/>
                </a:solidFill>
              </a:rPr>
              <a:t> </a:t>
            </a:r>
            <a:r>
              <a:rPr lang="en-US" altLang="en-US" sz="2000" i="1" dirty="0" err="1">
                <a:solidFill>
                  <a:srgbClr val="003399"/>
                </a:solidFill>
              </a:rPr>
              <a:t>intereses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cuando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interactuen</a:t>
            </a:r>
            <a:r>
              <a:rPr lang="en-US" altLang="en-US" sz="2000" dirty="0"/>
              <a:t> con </a:t>
            </a:r>
            <a:r>
              <a:rPr lang="en-US" altLang="en-US" sz="2000" dirty="0" err="1"/>
              <a:t>otros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sistemas</a:t>
            </a:r>
            <a:r>
              <a:rPr lang="en-US" altLang="en-US" sz="2000" dirty="0"/>
              <a:t> o </a:t>
            </a:r>
            <a:r>
              <a:rPr lang="en-US" altLang="en-US" sz="2000" dirty="0" err="1"/>
              <a:t>humanos</a:t>
            </a:r>
            <a:endParaRPr lang="en-US" altLang="en-U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4191000"/>
            <a:ext cx="4165695" cy="1752600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2" y="308769"/>
            <a:ext cx="7793038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s-CL" dirty="0"/>
              <a:t>AGENTE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8229600" cy="5084763"/>
          </a:xfrm>
        </p:spPr>
        <p:txBody>
          <a:bodyPr/>
          <a:lstStyle/>
          <a:p>
            <a:pPr eaLnBrk="1" hangingPunct="1"/>
            <a:endParaRPr lang="en-US" altLang="es-CL"/>
          </a:p>
          <a:p>
            <a:pPr eaLnBrk="1" hangingPunct="1"/>
            <a:endParaRPr lang="en-US" altLang="es-CL"/>
          </a:p>
          <a:p>
            <a:pPr eaLnBrk="1" hangingPunct="1"/>
            <a:endParaRPr lang="en-US" altLang="es-CL"/>
          </a:p>
          <a:p>
            <a:pPr eaLnBrk="1" hangingPunct="1"/>
            <a:endParaRPr lang="en-US" altLang="es-CL"/>
          </a:p>
          <a:p>
            <a:pPr eaLnBrk="1" hangingPunct="1"/>
            <a:endParaRPr lang="en-US" altLang="es-CL" sz="3600"/>
          </a:p>
          <a:p>
            <a:pPr eaLnBrk="1" hangingPunct="1"/>
            <a:endParaRPr lang="en-US" altLang="es-CL"/>
          </a:p>
          <a:p>
            <a:pPr eaLnBrk="1" hangingPunct="1"/>
            <a:endParaRPr lang="en-US" altLang="es-CL"/>
          </a:p>
          <a:p>
            <a:pPr eaLnBrk="1" hangingPunct="1"/>
            <a:endParaRPr lang="en-US" altLang="es-CL"/>
          </a:p>
        </p:txBody>
      </p:sp>
      <p:sp>
        <p:nvSpPr>
          <p:cNvPr id="27652" name="Marcador de número de diapositiva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E12CF9-41ED-48B6-8B57-81B2895745BD}" type="slidenum">
              <a:rPr lang="es-ES" altLang="es-CL" sz="1200">
                <a:latin typeface="+mj-lt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s-ES" altLang="es-CL" sz="1200" dirty="0">
              <a:latin typeface="+mj-lt"/>
            </a:endParaRPr>
          </a:p>
        </p:txBody>
      </p:sp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125663"/>
            <a:ext cx="6894513" cy="320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1143000" y="1676400"/>
            <a:ext cx="7188200" cy="38655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CL" altLang="es-CL" sz="24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40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Agente</a:t>
            </a:r>
            <a:r>
              <a:rPr lang="en-US" altLang="en-US" dirty="0"/>
              <a:t>, </a:t>
            </a:r>
            <a:r>
              <a:rPr lang="en-US" altLang="en-US" dirty="0" err="1"/>
              <a:t>una</a:t>
            </a:r>
            <a:r>
              <a:rPr lang="en-US" altLang="en-US" dirty="0"/>
              <a:t> </a:t>
            </a:r>
            <a:r>
              <a:rPr lang="en-US" altLang="en-US" dirty="0" err="1"/>
              <a:t>definición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924800" cy="4191000"/>
          </a:xfrm>
        </p:spPr>
        <p:txBody>
          <a:bodyPr/>
          <a:lstStyle/>
          <a:p>
            <a:r>
              <a:rPr lang="en-US" altLang="en-US" sz="2400" dirty="0"/>
              <a:t>Un </a:t>
            </a:r>
            <a:r>
              <a:rPr lang="en-US" altLang="en-US" sz="2400" dirty="0" err="1"/>
              <a:t>agente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</a:t>
            </a:r>
            <a:r>
              <a:rPr lang="en-US" altLang="en-US" sz="2400" dirty="0"/>
              <a:t> un </a:t>
            </a:r>
            <a:r>
              <a:rPr lang="en-US" altLang="en-US" sz="2400" dirty="0" err="1"/>
              <a:t>sistema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computacional</a:t>
            </a:r>
            <a:r>
              <a:rPr lang="en-US" altLang="en-US" sz="2400" dirty="0"/>
              <a:t> que </a:t>
            </a:r>
            <a:r>
              <a:rPr lang="en-US" altLang="en-US" sz="2400" dirty="0" err="1"/>
              <a:t>es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capaz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actuar</a:t>
            </a:r>
            <a:r>
              <a:rPr lang="en-US" altLang="en-US" sz="2400" dirty="0"/>
              <a:t> </a:t>
            </a:r>
            <a:r>
              <a:rPr lang="en-US" altLang="en-US" sz="2400" i="1" dirty="0" err="1">
                <a:solidFill>
                  <a:srgbClr val="003399"/>
                </a:solidFill>
              </a:rPr>
              <a:t>independientemente</a:t>
            </a:r>
            <a:r>
              <a:rPr lang="en-US" altLang="en-US" sz="2400" dirty="0"/>
              <a:t>  a </a:t>
            </a:r>
            <a:r>
              <a:rPr lang="en-US" altLang="en-US" sz="2400" dirty="0" err="1"/>
              <a:t>nombre</a:t>
            </a:r>
            <a:r>
              <a:rPr lang="en-US" altLang="en-US" sz="2400" dirty="0"/>
              <a:t> de un </a:t>
            </a:r>
            <a:r>
              <a:rPr lang="en-US" altLang="en-US" sz="2400" dirty="0" err="1"/>
              <a:t>usuario</a:t>
            </a:r>
            <a:r>
              <a:rPr lang="en-US" altLang="en-US" sz="2400" dirty="0"/>
              <a:t> o </a:t>
            </a:r>
            <a:r>
              <a:rPr lang="en-US" altLang="en-US" sz="2400" dirty="0" err="1"/>
              <a:t>dueño</a:t>
            </a:r>
            <a:r>
              <a:rPr lang="en-US" altLang="en-US" sz="2400" dirty="0"/>
              <a:t>, (</a:t>
            </a:r>
            <a:r>
              <a:rPr lang="en-US" altLang="en-US" sz="2400" dirty="0" err="1"/>
              <a:t>determinando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qué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debe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hacer</a:t>
            </a:r>
            <a:r>
              <a:rPr lang="en-US" altLang="en-US" sz="2400" dirty="0"/>
              <a:t> para </a:t>
            </a:r>
            <a:r>
              <a:rPr lang="en-US" altLang="en-US" sz="2400" dirty="0" err="1"/>
              <a:t>satisfacer</a:t>
            </a:r>
            <a:r>
              <a:rPr lang="en-US" altLang="en-US" sz="2400" dirty="0"/>
              <a:t> un </a:t>
            </a:r>
            <a:r>
              <a:rPr lang="en-US" altLang="en-US" sz="2400" dirty="0" err="1"/>
              <a:t>objetivo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diseño</a:t>
            </a:r>
            <a:r>
              <a:rPr lang="en-US" altLang="en-US" sz="2400" dirty="0"/>
              <a:t>, en </a:t>
            </a:r>
            <a:r>
              <a:rPr lang="en-US" altLang="en-US" sz="2400" dirty="0" err="1"/>
              <a:t>vez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tener</a:t>
            </a:r>
            <a:r>
              <a:rPr lang="en-US" altLang="en-US" sz="2400" dirty="0"/>
              <a:t> que </a:t>
            </a:r>
            <a:r>
              <a:rPr lang="en-US" altLang="en-US" sz="2400" dirty="0" err="1"/>
              <a:t>constantemente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decirle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qué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debe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hacer</a:t>
            </a:r>
            <a:r>
              <a:rPr lang="en-US" altLang="en-US" sz="2400" dirty="0"/>
              <a:t>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543300"/>
            <a:ext cx="3453135" cy="2306837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6BED05-503E-4837-8F23-78B8BF37D2F6}" type="slidenum">
              <a:rPr lang="es-ES" altLang="es-CL" sz="1200">
                <a:latin typeface="Garamond" panose="02020404030301010803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s-ES" altLang="es-CL" sz="1200" dirty="0">
              <a:latin typeface="Garamond" panose="02020404030301010803" pitchFamily="18" charset="0"/>
            </a:endParaRPr>
          </a:p>
        </p:txBody>
      </p:sp>
      <p:sp>
        <p:nvSpPr>
          <p:cNvPr id="33795" name="Rectangle 1027"/>
          <p:cNvSpPr>
            <a:spLocks noChangeArrowheads="1"/>
          </p:cNvSpPr>
          <p:nvPr/>
        </p:nvSpPr>
        <p:spPr bwMode="auto">
          <a:xfrm>
            <a:off x="1066800" y="1447800"/>
            <a:ext cx="7772400" cy="487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CL" sz="2400" b="1" dirty="0">
                <a:latin typeface="+mn-lt"/>
                <a:cs typeface="+mn-cs"/>
              </a:rPr>
              <a:t>Noción Débil: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ES_tradnl" altLang="es-CL" sz="2400" b="1" dirty="0">
                <a:latin typeface="+mn-lt"/>
                <a:cs typeface="+mn-cs"/>
              </a:rPr>
              <a:t>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s-ES_tradnl" altLang="es-CL" sz="2400" dirty="0">
                <a:latin typeface="+mn-lt"/>
                <a:cs typeface="+mn-cs"/>
              </a:rPr>
              <a:t>Es la forma más general en que es usado el término agente. Es un sistema de software (hardware) con las siguientes propiedades: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s-ES_tradnl" altLang="es-CL" sz="2400" dirty="0">
              <a:latin typeface="+mn-lt"/>
              <a:cs typeface="+mn-cs"/>
            </a:endParaRPr>
          </a:p>
          <a:p>
            <a:pPr lvl="1" algn="just">
              <a:spcBef>
                <a:spcPct val="0"/>
              </a:spcBef>
              <a:buFont typeface="Wingdings" panose="05000000000000000000" pitchFamily="2" charset="2"/>
              <a:buChar char="Ä"/>
            </a:pPr>
            <a:r>
              <a:rPr lang="es-ES_tradnl" altLang="es-CL" sz="2400" dirty="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s-ES_tradnl" altLang="es-CL" sz="2400" dirty="0">
                <a:solidFill>
                  <a:schemeClr val="tx2"/>
                </a:solidFill>
                <a:latin typeface="Tahoma" panose="020B0604030504040204" pitchFamily="34" charset="0"/>
              </a:rPr>
              <a:t>Autonomía</a:t>
            </a:r>
          </a:p>
          <a:p>
            <a:pPr lvl="1" algn="just">
              <a:spcBef>
                <a:spcPct val="0"/>
              </a:spcBef>
              <a:buFont typeface="Wingdings" panose="05000000000000000000" pitchFamily="2" charset="2"/>
              <a:buChar char="Ä"/>
            </a:pPr>
            <a:r>
              <a:rPr lang="es-ES_tradnl" altLang="es-CL" sz="2400" dirty="0">
                <a:solidFill>
                  <a:schemeClr val="tx2"/>
                </a:solidFill>
                <a:latin typeface="Tahoma" panose="020B0604030504040204" pitchFamily="34" charset="0"/>
              </a:rPr>
              <a:t> Habilidad Social</a:t>
            </a:r>
          </a:p>
          <a:p>
            <a:pPr lvl="1" algn="just">
              <a:spcBef>
                <a:spcPct val="0"/>
              </a:spcBef>
              <a:buFont typeface="Wingdings" panose="05000000000000000000" pitchFamily="2" charset="2"/>
              <a:buChar char="Ä"/>
            </a:pPr>
            <a:r>
              <a:rPr lang="es-ES_tradnl" altLang="es-CL" sz="2400" dirty="0">
                <a:solidFill>
                  <a:schemeClr val="tx2"/>
                </a:solidFill>
                <a:latin typeface="Tahoma" panose="020B0604030504040204" pitchFamily="34" charset="0"/>
              </a:rPr>
              <a:t> Reactividad</a:t>
            </a:r>
          </a:p>
          <a:p>
            <a:pPr lvl="1" algn="just">
              <a:spcBef>
                <a:spcPct val="0"/>
              </a:spcBef>
              <a:buFont typeface="Wingdings" panose="05000000000000000000" pitchFamily="2" charset="2"/>
              <a:buChar char="Ä"/>
            </a:pPr>
            <a:r>
              <a:rPr lang="es-ES_tradnl" altLang="es-CL" sz="2400" dirty="0">
                <a:solidFill>
                  <a:schemeClr val="tx2"/>
                </a:solidFill>
                <a:latin typeface="Tahoma" panose="020B0604030504040204" pitchFamily="34" charset="0"/>
              </a:rPr>
              <a:t> Proactividad</a:t>
            </a:r>
            <a:endParaRPr lang="es-ES_tradnl" altLang="es-CL" sz="2400" dirty="0">
              <a:latin typeface="Tahoma" panose="020B0604030504040204" pitchFamily="34" charset="0"/>
            </a:endParaRPr>
          </a:p>
          <a:p>
            <a:pPr lvl="1" algn="r">
              <a:spcBef>
                <a:spcPct val="0"/>
              </a:spcBef>
              <a:buFontTx/>
              <a:buNone/>
            </a:pPr>
            <a:endParaRPr lang="es-ES_tradnl" altLang="es-CL" sz="3200" dirty="0">
              <a:latin typeface="Tahoma" panose="020B0604030504040204" pitchFamily="34" charset="0"/>
            </a:endParaRPr>
          </a:p>
        </p:txBody>
      </p:sp>
      <p:sp>
        <p:nvSpPr>
          <p:cNvPr id="32772" name="Rectangle 1030"/>
          <p:cNvSpPr>
            <a:spLocks noChangeArrowheads="1"/>
          </p:cNvSpPr>
          <p:nvPr/>
        </p:nvSpPr>
        <p:spPr bwMode="auto">
          <a:xfrm>
            <a:off x="838200" y="228600"/>
            <a:ext cx="7086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CL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AGENTE INTELIGENTE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251331"/>
            <a:ext cx="1878959" cy="26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3573804"/>
            <a:ext cx="3149600" cy="2362200"/>
          </a:xfrm>
          <a:prstGeom prst="rect">
            <a:avLst/>
          </a:prstGeom>
        </p:spPr>
      </p:pic>
      <p:sp>
        <p:nvSpPr>
          <p:cNvPr id="33794" name="Marcador de número de diapositiva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D3153D-6E3E-4B4C-9D5A-8A3621363603}" type="slidenum">
              <a:rPr lang="es-ES" altLang="es-CL" sz="1200">
                <a:latin typeface="Garamond" panose="02020404030301010803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s-ES" altLang="es-CL" sz="1200" dirty="0">
              <a:latin typeface="Garamond" panose="02020404030301010803" pitchFamily="18" charset="0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1066800" y="1447800"/>
            <a:ext cx="7772400" cy="487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_tradnl" altLang="es-CL" sz="2400" b="1" dirty="0">
                <a:latin typeface="+mn-lt"/>
                <a:cs typeface="+mn-cs"/>
              </a:rPr>
              <a:t>Noción más fuerte:</a:t>
            </a:r>
            <a:br>
              <a:rPr lang="es-ES_tradnl" altLang="es-CL" sz="2400" b="1" dirty="0">
                <a:latin typeface="+mn-lt"/>
                <a:cs typeface="+mn-cs"/>
              </a:rPr>
            </a:br>
            <a:r>
              <a:rPr lang="es-ES_tradnl" altLang="es-CL" sz="2400" b="1" dirty="0">
                <a:latin typeface="+mn-lt"/>
                <a:cs typeface="+mn-cs"/>
              </a:rPr>
              <a:t>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s-ES_tradnl" altLang="es-CL" sz="2400" dirty="0">
                <a:latin typeface="+mn-lt"/>
                <a:cs typeface="+mn-cs"/>
              </a:rPr>
              <a:t> Además de las propiedades anteriores, se agregan </a:t>
            </a:r>
            <a:r>
              <a:rPr lang="es-ES_tradnl" altLang="es-CL" sz="2400" i="1" dirty="0">
                <a:solidFill>
                  <a:srgbClr val="0070C0"/>
                </a:solidFill>
                <a:latin typeface="+mn-lt"/>
                <a:cs typeface="+mn-cs"/>
              </a:rPr>
              <a:t>nociones mentales </a:t>
            </a:r>
            <a:r>
              <a:rPr lang="es-ES_tradnl" altLang="es-CL" sz="2400" dirty="0">
                <a:latin typeface="+mn-lt"/>
                <a:cs typeface="+mn-cs"/>
              </a:rPr>
              <a:t>tales</a:t>
            </a:r>
            <a:r>
              <a:rPr lang="es-ES_tradnl" altLang="es-CL" sz="2400" i="1" dirty="0">
                <a:solidFill>
                  <a:srgbClr val="0070C0"/>
                </a:solidFill>
                <a:latin typeface="+mn-lt"/>
                <a:cs typeface="+mn-cs"/>
              </a:rPr>
              <a:t> </a:t>
            </a:r>
            <a:r>
              <a:rPr lang="es-ES_tradnl" altLang="es-CL" sz="2400" dirty="0">
                <a:latin typeface="+mn-lt"/>
                <a:cs typeface="+mn-cs"/>
              </a:rPr>
              <a:t>como: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s-ES_tradnl" altLang="es-CL" sz="2400" dirty="0">
              <a:latin typeface="Tahoma" panose="020B0604030504040204" pitchFamily="34" charset="0"/>
            </a:endParaRPr>
          </a:p>
          <a:p>
            <a:pPr lvl="1" algn="just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s-ES_tradnl" altLang="es-CL" sz="2400" dirty="0">
                <a:solidFill>
                  <a:schemeClr val="folHlink"/>
                </a:solidFill>
                <a:latin typeface="Tahoma" panose="020B0604030504040204" pitchFamily="34" charset="0"/>
              </a:rPr>
              <a:t> </a:t>
            </a:r>
            <a:r>
              <a:rPr lang="es-ES_tradnl" altLang="es-CL" sz="2400" dirty="0">
                <a:latin typeface="Tahoma" panose="020B0604030504040204" pitchFamily="34" charset="0"/>
              </a:rPr>
              <a:t>Conocimiento</a:t>
            </a:r>
          </a:p>
          <a:p>
            <a:pPr lvl="1" algn="just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s-ES_tradnl" altLang="es-CL" sz="2400" dirty="0">
                <a:latin typeface="Tahoma" panose="020B0604030504040204" pitchFamily="34" charset="0"/>
              </a:rPr>
              <a:t> Creencias</a:t>
            </a:r>
          </a:p>
          <a:p>
            <a:pPr lvl="1" algn="just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s-ES_tradnl" altLang="es-CL" sz="2400" dirty="0">
                <a:latin typeface="Tahoma" panose="020B0604030504040204" pitchFamily="34" charset="0"/>
              </a:rPr>
              <a:t> Intenciones</a:t>
            </a:r>
          </a:p>
          <a:p>
            <a:pPr lvl="1" algn="just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s-ES_tradnl" altLang="es-CL" sz="2400" dirty="0">
                <a:latin typeface="Tahoma" panose="020B0604030504040204" pitchFamily="34" charset="0"/>
              </a:rPr>
              <a:t> Obligaciones</a:t>
            </a:r>
          </a:p>
          <a:p>
            <a:pPr lvl="1" algn="just">
              <a:spcBef>
                <a:spcPct val="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es-ES_tradnl" altLang="es-CL" sz="2400" dirty="0">
                <a:latin typeface="Tahoma" panose="020B0604030504040204" pitchFamily="34" charset="0"/>
              </a:rPr>
              <a:t> (Emociones)	</a:t>
            </a:r>
            <a:r>
              <a:rPr lang="es-ES_tradnl" altLang="es-CL" sz="3200" dirty="0">
                <a:latin typeface="Tahoma" panose="020B0604030504040204" pitchFamily="34" charset="0"/>
              </a:rPr>
              <a:t>		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066800" y="263524"/>
            <a:ext cx="7086600" cy="801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_tradnl" altLang="es-CL" sz="4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AGENTE INTELIGENTE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3153598"/>
            <a:ext cx="1807481" cy="240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6240A3-6E5D-427B-BEF5-4E1D949C15FF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dirty="0">
              <a:latin typeface="Garamond" panose="02020404030301010803" pitchFamily="18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/>
              <a:t>Reactividad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Si el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donde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corre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programa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inalterable, el </a:t>
            </a:r>
            <a:r>
              <a:rPr lang="en-US" altLang="es-CL" sz="2000" dirty="0" err="1"/>
              <a:t>programa</a:t>
            </a:r>
            <a:r>
              <a:rPr lang="en-US" altLang="es-CL" sz="2000" dirty="0"/>
              <a:t> no </a:t>
            </a:r>
            <a:r>
              <a:rPr lang="en-US" altLang="es-CL" sz="2000" dirty="0" err="1"/>
              <a:t>debe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preocuparse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por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su</a:t>
            </a:r>
            <a:r>
              <a:rPr lang="en-US" altLang="es-CL" sz="2000" dirty="0"/>
              <a:t> </a:t>
            </a:r>
            <a:r>
              <a:rPr lang="en-US" altLang="es-CL" sz="2000" dirty="0" err="1"/>
              <a:t>éxito</a:t>
            </a:r>
            <a:r>
              <a:rPr lang="en-US" altLang="es-CL" sz="2000" dirty="0"/>
              <a:t> o </a:t>
            </a:r>
            <a:r>
              <a:rPr lang="en-US" altLang="es-CL" sz="2000" dirty="0" err="1"/>
              <a:t>fracaso</a:t>
            </a:r>
            <a:r>
              <a:rPr lang="en-US" altLang="es-CL" sz="2000" dirty="0"/>
              <a:t> – </a:t>
            </a:r>
            <a:r>
              <a:rPr lang="en-US" altLang="es-CL" sz="2000" dirty="0" err="1"/>
              <a:t>simplemente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debe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ejecutarse</a:t>
            </a:r>
            <a:r>
              <a:rPr lang="en-US" altLang="es-CL" sz="2000" dirty="0"/>
              <a:t> “a </a:t>
            </a:r>
            <a:r>
              <a:rPr lang="en-US" altLang="es-CL" sz="2000" dirty="0" err="1"/>
              <a:t>ciegas</a:t>
            </a:r>
            <a:r>
              <a:rPr lang="en-US" altLang="es-CL" sz="2000" dirty="0"/>
              <a:t>”</a:t>
            </a:r>
          </a:p>
          <a:p>
            <a:pPr lvl="1" eaLnBrk="1" hangingPunct="1"/>
            <a:r>
              <a:rPr lang="en-US" altLang="es-CL" sz="1800" dirty="0" err="1"/>
              <a:t>Ejemplo</a:t>
            </a:r>
            <a:r>
              <a:rPr lang="en-US" altLang="es-CL" sz="1800" dirty="0"/>
              <a:t> de un Sistema TPDV</a:t>
            </a:r>
            <a:br>
              <a:rPr lang="en-US" altLang="es-CL" sz="1800" dirty="0"/>
            </a:br>
            <a:endParaRPr lang="en-US" altLang="es-CL" sz="1800" dirty="0"/>
          </a:p>
          <a:p>
            <a:pPr eaLnBrk="1" hangingPunct="1"/>
            <a:r>
              <a:rPr lang="en-US" altLang="es-CL" sz="2000" dirty="0"/>
              <a:t>El </a:t>
            </a:r>
            <a:r>
              <a:rPr lang="en-US" altLang="es-CL" sz="2000" dirty="0" err="1"/>
              <a:t>mundo</a:t>
            </a:r>
            <a:r>
              <a:rPr lang="en-US" altLang="es-CL" sz="2000" dirty="0"/>
              <a:t> real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cambiante</a:t>
            </a:r>
            <a:r>
              <a:rPr lang="en-US" altLang="es-CL" sz="2000" dirty="0"/>
              <a:t>: las </a:t>
            </a:r>
            <a:r>
              <a:rPr lang="en-US" altLang="es-CL" sz="2000" dirty="0" err="1"/>
              <a:t>cosas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cambian</a:t>
            </a:r>
            <a:r>
              <a:rPr lang="en-US" altLang="es-CL" sz="2000" dirty="0"/>
              <a:t>, la </a:t>
            </a:r>
            <a:r>
              <a:rPr lang="en-US" altLang="es-CL" sz="2000" dirty="0" err="1"/>
              <a:t>información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incompleta</a:t>
            </a:r>
            <a:r>
              <a:rPr lang="en-US" altLang="es-CL" sz="2000" dirty="0"/>
              <a:t>. </a:t>
            </a:r>
            <a:r>
              <a:rPr lang="en-US" altLang="es-CL" sz="2000" dirty="0" err="1"/>
              <a:t>Muchos</a:t>
            </a:r>
            <a:r>
              <a:rPr lang="en-US" altLang="es-CL" sz="2000" dirty="0"/>
              <a:t> (¿La </a:t>
            </a:r>
            <a:r>
              <a:rPr lang="en-US" altLang="es-CL" sz="2000" dirty="0" err="1"/>
              <a:t>mayoría</a:t>
            </a:r>
            <a:r>
              <a:rPr lang="en-US" altLang="es-CL" sz="2000" dirty="0"/>
              <a:t>?) de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ambientes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interesantes</a:t>
            </a:r>
            <a:r>
              <a:rPr lang="en-US" altLang="es-CL" sz="2000" dirty="0"/>
              <a:t> son </a:t>
            </a:r>
            <a:r>
              <a:rPr lang="en-US" altLang="es-CL" sz="2000" i="1" dirty="0" err="1">
                <a:solidFill>
                  <a:srgbClr val="003399"/>
                </a:solidFill>
              </a:rPr>
              <a:t>dinámicos</a:t>
            </a:r>
            <a:br>
              <a:rPr lang="en-US" altLang="es-CL" sz="2000" i="1" dirty="0">
                <a:solidFill>
                  <a:srgbClr val="003399"/>
                </a:solidFill>
              </a:rPr>
            </a:b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difícil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construir</a:t>
            </a:r>
            <a:r>
              <a:rPr lang="en-US" altLang="es-CL" sz="2000" dirty="0"/>
              <a:t> Software para </a:t>
            </a:r>
            <a:r>
              <a:rPr lang="en-US" altLang="es-CL" sz="2000" dirty="0" err="1"/>
              <a:t>dominios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dinámicos</a:t>
            </a:r>
            <a:r>
              <a:rPr lang="en-US" altLang="es-CL" sz="2000" dirty="0"/>
              <a:t>: el </a:t>
            </a:r>
            <a:r>
              <a:rPr lang="en-US" altLang="es-CL" sz="2000" dirty="0" err="1"/>
              <a:t>programa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debe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tomar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cuenta</a:t>
            </a:r>
            <a:r>
              <a:rPr lang="en-US" altLang="es-CL" sz="2000" dirty="0"/>
              <a:t> la </a:t>
            </a:r>
            <a:r>
              <a:rPr lang="en-US" altLang="es-CL" sz="2000" dirty="0" err="1"/>
              <a:t>posibilidad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fallar</a:t>
            </a:r>
            <a:r>
              <a:rPr lang="en-US" altLang="es-CL" sz="2000" dirty="0"/>
              <a:t> – ¡ </a:t>
            </a:r>
            <a:r>
              <a:rPr lang="en-US" altLang="es-CL" sz="2000" dirty="0" err="1"/>
              <a:t>Incluso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preguntarse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</a:t>
            </a:r>
            <a:r>
              <a:rPr lang="en-US" altLang="es-CL" sz="2000" dirty="0"/>
              <a:t> vale la </a:t>
            </a:r>
            <a:r>
              <a:rPr lang="en-US" altLang="es-CL" sz="2000" dirty="0" err="1"/>
              <a:t>pena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ejecutarse</a:t>
            </a:r>
            <a:r>
              <a:rPr lang="en-US" altLang="es-CL" sz="2000" dirty="0"/>
              <a:t>!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Un </a:t>
            </a:r>
            <a:r>
              <a:rPr lang="en-US" altLang="es-CL" sz="2000" dirty="0" err="1"/>
              <a:t>sistema</a:t>
            </a:r>
            <a:r>
              <a:rPr lang="en-US" altLang="es-CL" sz="2000" dirty="0"/>
              <a:t> </a:t>
            </a:r>
            <a:r>
              <a:rPr lang="en-US" altLang="es-CL" sz="2000" i="1" dirty="0" err="1">
                <a:solidFill>
                  <a:srgbClr val="003399"/>
                </a:solidFill>
              </a:rPr>
              <a:t>reactivo</a:t>
            </a:r>
            <a:r>
              <a:rPr lang="en-US" altLang="es-CL" sz="2000" i="1" dirty="0"/>
              <a:t> </a:t>
            </a:r>
            <a:r>
              <a:rPr lang="en-US" altLang="es-CL" sz="2000" dirty="0" err="1"/>
              <a:t>mantiene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interacción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través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tiempo</a:t>
            </a:r>
            <a:r>
              <a:rPr lang="en-US" altLang="es-CL" sz="2000" dirty="0"/>
              <a:t> con </a:t>
            </a:r>
            <a:r>
              <a:rPr lang="en-US" altLang="es-CL" sz="2000" dirty="0" err="1"/>
              <a:t>su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responde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cambios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este</a:t>
            </a:r>
            <a:r>
              <a:rPr lang="en-US" altLang="es-CL" sz="2000" dirty="0"/>
              <a:t> (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tiempo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razonable</a:t>
            </a:r>
            <a:r>
              <a:rPr lang="en-US" altLang="es-CL" sz="2000" dirty="0"/>
              <a:t> para que la </a:t>
            </a:r>
            <a:r>
              <a:rPr lang="en-US" altLang="es-CL" sz="2000" dirty="0" err="1"/>
              <a:t>reacción</a:t>
            </a:r>
            <a:r>
              <a:rPr lang="en-US" altLang="es-CL" sz="2000" dirty="0"/>
              <a:t> sea </a:t>
            </a:r>
            <a:r>
              <a:rPr lang="en-US" altLang="es-CL" sz="2000" dirty="0" err="1"/>
              <a:t>útil</a:t>
            </a:r>
            <a:r>
              <a:rPr lang="en-US" altLang="es-CL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3463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7E4D3D-0B37-4EF2-B756-705AD8768587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Proactividad</a:t>
            </a:r>
            <a:endParaRPr lang="en-US" altLang="es-CL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Reaccionar</a:t>
            </a:r>
            <a:r>
              <a:rPr lang="en-US" altLang="es-CL" sz="2000" dirty="0"/>
              <a:t> a 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fácil</a:t>
            </a:r>
            <a:r>
              <a:rPr lang="en-US" altLang="es-CL" sz="2000" dirty="0"/>
              <a:t> (</a:t>
            </a:r>
            <a:r>
              <a:rPr lang="en-US" altLang="es-CL" sz="2000" dirty="0" err="1"/>
              <a:t>estímulo</a:t>
            </a:r>
            <a:r>
              <a:rPr lang="en-US" altLang="es-CL" sz="2000" dirty="0"/>
              <a:t> </a:t>
            </a:r>
            <a:r>
              <a:rPr lang="en-US" altLang="es-CL" sz="2000" dirty="0">
                <a:sym typeface="Symbol" panose="05050102010706020507" pitchFamily="18" charset="2"/>
              </a:rPr>
              <a:t> </a:t>
            </a:r>
            <a:r>
              <a:rPr lang="en-US" altLang="es-CL" sz="2000" dirty="0" err="1"/>
              <a:t>reglas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respuesta</a:t>
            </a:r>
            <a:r>
              <a:rPr lang="en-US" altLang="es-CL" sz="2000" dirty="0"/>
              <a:t>)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Pero </a:t>
            </a:r>
            <a:r>
              <a:rPr lang="en-US" altLang="es-CL" sz="2000" dirty="0" err="1"/>
              <a:t>generalmente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queremos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que </a:t>
            </a:r>
            <a:r>
              <a:rPr lang="en-US" altLang="es-CL" sz="2000" i="1" dirty="0" err="1">
                <a:solidFill>
                  <a:srgbClr val="003399"/>
                </a:solidFill>
              </a:rPr>
              <a:t>hagan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i="1" dirty="0" err="1">
                <a:solidFill>
                  <a:srgbClr val="003399"/>
                </a:solidFill>
              </a:rPr>
              <a:t>cosas</a:t>
            </a:r>
            <a:r>
              <a:rPr lang="en-US" altLang="es-CL" sz="2000" i="1" dirty="0">
                <a:solidFill>
                  <a:srgbClr val="003399"/>
                </a:solidFill>
              </a:rPr>
              <a:t> para </a:t>
            </a:r>
            <a:r>
              <a:rPr lang="en-US" altLang="es-CL" sz="2000" i="1" dirty="0" err="1">
                <a:solidFill>
                  <a:srgbClr val="003399"/>
                </a:solidFill>
              </a:rPr>
              <a:t>nosotros</a:t>
            </a:r>
            <a:br>
              <a:rPr lang="en-US" altLang="es-CL" sz="2000" i="1" dirty="0">
                <a:solidFill>
                  <a:srgbClr val="003399"/>
                </a:solidFill>
              </a:rPr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decir</a:t>
            </a:r>
            <a:r>
              <a:rPr lang="en-US" altLang="es-CL" sz="2000" dirty="0"/>
              <a:t>, </a:t>
            </a:r>
            <a:r>
              <a:rPr lang="en-US" altLang="es-CL" sz="2000" i="1" dirty="0" err="1">
                <a:solidFill>
                  <a:srgbClr val="003399"/>
                </a:solidFill>
              </a:rPr>
              <a:t>comportamiento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i="1" dirty="0" err="1">
                <a:solidFill>
                  <a:srgbClr val="003399"/>
                </a:solidFill>
              </a:rPr>
              <a:t>orientado</a:t>
            </a:r>
            <a:r>
              <a:rPr lang="en-US" altLang="es-CL" sz="2000" i="1" dirty="0">
                <a:solidFill>
                  <a:srgbClr val="003399"/>
                </a:solidFill>
              </a:rPr>
              <a:t> al </a:t>
            </a:r>
            <a:r>
              <a:rPr lang="en-US" altLang="es-CL" sz="2000" i="1" dirty="0" err="1">
                <a:solidFill>
                  <a:srgbClr val="003399"/>
                </a:solidFill>
              </a:rPr>
              <a:t>objetivo</a:t>
            </a:r>
            <a:br>
              <a:rPr lang="en-US" altLang="es-CL" sz="2000" i="1" dirty="0">
                <a:solidFill>
                  <a:srgbClr val="003399"/>
                </a:solidFill>
              </a:rPr>
            </a:br>
            <a:r>
              <a:rPr lang="en-US" altLang="es-CL" sz="2000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Pro-</a:t>
            </a:r>
            <a:r>
              <a:rPr lang="en-US" altLang="es-CL" sz="2000" dirty="0" err="1"/>
              <a:t>actividad</a:t>
            </a:r>
            <a:r>
              <a:rPr lang="en-US" altLang="es-CL" sz="2000" dirty="0"/>
              <a:t> = </a:t>
            </a:r>
            <a:r>
              <a:rPr lang="en-US" altLang="es-CL" sz="2000" dirty="0" err="1"/>
              <a:t>generar</a:t>
            </a:r>
            <a:r>
              <a:rPr lang="en-US" altLang="es-CL" sz="2000" dirty="0"/>
              <a:t> y  </a:t>
            </a:r>
            <a:r>
              <a:rPr lang="en-US" altLang="es-CL" sz="2000" dirty="0" err="1"/>
              <a:t>tratar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alcanzar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objetivos</a:t>
            </a:r>
            <a:r>
              <a:rPr lang="en-US" altLang="es-CL" sz="2000" dirty="0"/>
              <a:t>; </a:t>
            </a:r>
            <a:r>
              <a:rPr lang="en-US" altLang="es-CL" sz="2000" dirty="0" err="1"/>
              <a:t>motivado</a:t>
            </a:r>
            <a:r>
              <a:rPr lang="en-US" altLang="es-CL" sz="2000" dirty="0"/>
              <a:t> no solo </a:t>
            </a:r>
            <a:r>
              <a:rPr lang="en-US" altLang="es-CL" sz="2000" dirty="0" err="1"/>
              <a:t>por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eventos</a:t>
            </a:r>
            <a:r>
              <a:rPr lang="en-US" altLang="es-CL" sz="2000" dirty="0"/>
              <a:t>; </a:t>
            </a:r>
            <a:r>
              <a:rPr lang="en-US" altLang="es-CL" sz="2000" dirty="0" err="1"/>
              <a:t>tomando</a:t>
            </a:r>
            <a:r>
              <a:rPr lang="en-US" altLang="es-CL" sz="2000" dirty="0"/>
              <a:t> la </a:t>
            </a:r>
            <a:r>
              <a:rPr lang="en-US" altLang="es-CL" sz="2000" dirty="0" err="1"/>
              <a:t>iniciativa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Reconocer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oportunidades</a:t>
            </a:r>
            <a:endParaRPr lang="en-US" altLang="es-CL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419600"/>
            <a:ext cx="2286000" cy="161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6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D72CC1-2BCD-4160-8CC6-88E262EB6FF9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sz="3800"/>
              <a:t>Balanceo de Reactividad y Comportamiento Orientado al Objetivo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Queremos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reactivos</a:t>
            </a:r>
            <a:r>
              <a:rPr lang="en-US" altLang="es-CL" sz="2000" dirty="0"/>
              <a:t>, que </a:t>
            </a:r>
            <a:r>
              <a:rPr lang="en-US" altLang="es-CL" sz="2000" dirty="0" err="1"/>
              <a:t>respondan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condiciones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cambiantes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forma </a:t>
            </a:r>
            <a:r>
              <a:rPr lang="en-US" altLang="es-CL" sz="2000" dirty="0" err="1"/>
              <a:t>apropiada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oportuna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Queremos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trabajen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sistemáticamente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lograr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objetivos</a:t>
            </a:r>
            <a:r>
              <a:rPr lang="en-US" altLang="es-CL" sz="2000" dirty="0"/>
              <a:t> de largo </a:t>
            </a:r>
            <a:r>
              <a:rPr lang="en-US" altLang="es-CL" sz="2000" dirty="0" err="1"/>
              <a:t>plazo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Estas</a:t>
            </a:r>
            <a:r>
              <a:rPr lang="en-US" altLang="es-CL" sz="2000" dirty="0"/>
              <a:t> dos </a:t>
            </a:r>
            <a:r>
              <a:rPr lang="en-US" altLang="es-CL" sz="2000" dirty="0" err="1"/>
              <a:t>consideraciones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contraponerse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Diseñar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concilie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consideraciones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aún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desafío</a:t>
            </a:r>
            <a:endParaRPr lang="en-US" altLang="es-CL" sz="20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4516438"/>
            <a:ext cx="2286000" cy="161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3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4D016D-F54A-4874-B83C-F02206DE2C2D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/>
              <a:t>Habilidad Social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8001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El </a:t>
            </a:r>
            <a:r>
              <a:rPr lang="en-US" altLang="es-CL" sz="2000" dirty="0" err="1"/>
              <a:t>mundo</a:t>
            </a:r>
            <a:r>
              <a:rPr lang="en-US" altLang="es-CL" sz="2000" dirty="0"/>
              <a:t> real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“</a:t>
            </a:r>
            <a:r>
              <a:rPr lang="en-US" altLang="es-CL" sz="2000" dirty="0" err="1"/>
              <a:t>multiagente</a:t>
            </a:r>
            <a:r>
              <a:rPr lang="en-US" altLang="es-CL" sz="2000" dirty="0"/>
              <a:t>”: no </a:t>
            </a:r>
            <a:r>
              <a:rPr lang="en-US" altLang="es-CL" sz="2000" dirty="0" err="1"/>
              <a:t>podemos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intentar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alcanzar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nuestros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objetivos</a:t>
            </a:r>
            <a:r>
              <a:rPr lang="en-US" altLang="es-CL" sz="2000" dirty="0"/>
              <a:t> sin </a:t>
            </a:r>
            <a:r>
              <a:rPr lang="en-US" altLang="es-CL" sz="2000" dirty="0" err="1"/>
              <a:t>considerar</a:t>
            </a:r>
            <a:r>
              <a:rPr lang="en-US" altLang="es-CL" sz="2000" dirty="0"/>
              <a:t> al resto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Algunos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objetivos</a:t>
            </a:r>
            <a:r>
              <a:rPr lang="en-US" altLang="es-CL" sz="2000" dirty="0"/>
              <a:t> solo se </a:t>
            </a:r>
            <a:r>
              <a:rPr lang="en-US" altLang="es-CL" sz="2000" dirty="0" err="1"/>
              <a:t>pueden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lograr</a:t>
            </a:r>
            <a:r>
              <a:rPr lang="en-US" altLang="es-CL" sz="2000" dirty="0"/>
              <a:t> con la </a:t>
            </a:r>
            <a:r>
              <a:rPr lang="en-US" altLang="es-CL" sz="2000" dirty="0" err="1"/>
              <a:t>cooperación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otros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Similarmente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varios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ambientes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computacionales</a:t>
            </a:r>
            <a:r>
              <a:rPr lang="en-US" altLang="es-CL" sz="2000" dirty="0"/>
              <a:t> : </a:t>
            </a:r>
            <a:r>
              <a:rPr lang="en-US" altLang="es-CL" sz="2000" dirty="0" err="1"/>
              <a:t>por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ejemplo</a:t>
            </a:r>
            <a:r>
              <a:rPr lang="en-US" altLang="es-CL" sz="2000" dirty="0"/>
              <a:t>, la Internet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i="1" dirty="0" err="1">
                <a:solidFill>
                  <a:srgbClr val="003399"/>
                </a:solidFill>
              </a:rPr>
              <a:t>Habilidad</a:t>
            </a:r>
            <a:r>
              <a:rPr lang="en-US" altLang="es-CL" sz="2000" i="1" dirty="0">
                <a:solidFill>
                  <a:srgbClr val="003399"/>
                </a:solidFill>
              </a:rPr>
              <a:t> Social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la </a:t>
            </a:r>
            <a:r>
              <a:rPr lang="en-US" altLang="es-CL" sz="2000" dirty="0" err="1"/>
              <a:t>habilidad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interactuar</a:t>
            </a:r>
            <a:r>
              <a:rPr lang="en-US" altLang="es-CL" sz="2000" dirty="0"/>
              <a:t> con </a:t>
            </a:r>
            <a:r>
              <a:rPr lang="en-US" altLang="es-CL" sz="2000" dirty="0" err="1"/>
              <a:t>otros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(y </a:t>
            </a:r>
            <a:r>
              <a:rPr lang="en-US" altLang="es-CL" sz="2000" dirty="0" err="1"/>
              <a:t>posiblemente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humanos</a:t>
            </a:r>
            <a:r>
              <a:rPr lang="en-US" altLang="es-CL" sz="2000" dirty="0"/>
              <a:t>) a </a:t>
            </a:r>
            <a:r>
              <a:rPr lang="en-US" altLang="es-CL" sz="2000" dirty="0" err="1"/>
              <a:t>través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algún</a:t>
            </a:r>
            <a:r>
              <a:rPr lang="en-US" altLang="es-CL" sz="2000" dirty="0"/>
              <a:t>  </a:t>
            </a:r>
            <a:r>
              <a:rPr lang="en-US" altLang="es-CL" sz="2000" dirty="0" err="1"/>
              <a:t>tipo</a:t>
            </a:r>
            <a:r>
              <a:rPr lang="en-US" altLang="es-CL" sz="2000" dirty="0"/>
              <a:t> de </a:t>
            </a:r>
            <a:r>
              <a:rPr lang="en-US" altLang="es-CL" sz="2000" i="1" dirty="0" err="1">
                <a:solidFill>
                  <a:srgbClr val="003399"/>
                </a:solidFill>
              </a:rPr>
              <a:t>lenguaje</a:t>
            </a:r>
            <a:r>
              <a:rPr lang="en-US" altLang="es-CL" sz="2000" i="1" dirty="0">
                <a:solidFill>
                  <a:srgbClr val="003399"/>
                </a:solidFill>
              </a:rPr>
              <a:t> de </a:t>
            </a:r>
            <a:r>
              <a:rPr lang="en-US" altLang="es-CL" sz="2000" i="1" dirty="0" err="1">
                <a:solidFill>
                  <a:srgbClr val="003399"/>
                </a:solidFill>
              </a:rPr>
              <a:t>comunicación</a:t>
            </a:r>
            <a:r>
              <a:rPr lang="en-US" altLang="es-CL" sz="2000" i="1" dirty="0">
                <a:solidFill>
                  <a:srgbClr val="003399"/>
                </a:solidFill>
              </a:rPr>
              <a:t> de </a:t>
            </a:r>
            <a:r>
              <a:rPr lang="en-US" altLang="es-CL" sz="2000" i="1" dirty="0" err="1">
                <a:solidFill>
                  <a:srgbClr val="003399"/>
                </a:solidFill>
              </a:rPr>
              <a:t>agentes</a:t>
            </a:r>
            <a:r>
              <a:rPr lang="en-US" altLang="es-CL" sz="2000" dirty="0"/>
              <a:t>, y </a:t>
            </a:r>
            <a:r>
              <a:rPr lang="en-US" altLang="es-CL" sz="2000" dirty="0" err="1"/>
              <a:t>tal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vez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cooperar</a:t>
            </a:r>
            <a:r>
              <a:rPr lang="en-US" altLang="es-CL" sz="2000" dirty="0"/>
              <a:t> con </a:t>
            </a:r>
            <a:r>
              <a:rPr lang="en-US" altLang="es-CL" sz="2000" dirty="0" err="1"/>
              <a:t>otros</a:t>
            </a:r>
            <a:endParaRPr lang="en-US" altLang="es-CL" sz="2000" i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4669066"/>
            <a:ext cx="3429000" cy="179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26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AEB3E4-459D-495E-B8CD-2870ACDA36F7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>
                <a:solidFill>
                  <a:srgbClr val="CC3300"/>
                </a:solidFill>
              </a:rPr>
              <a:t>Otras Propiedades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s-CL" sz="2000" dirty="0" err="1"/>
              <a:t>Otras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propiedades</a:t>
            </a:r>
            <a:r>
              <a:rPr lang="en-US" altLang="es-CL" sz="2000" dirty="0"/>
              <a:t>, a </a:t>
            </a:r>
            <a:r>
              <a:rPr lang="en-US" altLang="es-CL" sz="2000" dirty="0" err="1"/>
              <a:t>veces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discutidas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contexto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: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80000"/>
              </a:lnSpc>
            </a:pPr>
            <a:r>
              <a:rPr lang="en-US" altLang="es-CL" sz="2000" i="1" dirty="0" err="1">
                <a:solidFill>
                  <a:srgbClr val="003399"/>
                </a:solidFill>
              </a:rPr>
              <a:t>movilidad</a:t>
            </a:r>
            <a:r>
              <a:rPr lang="en-US" altLang="es-CL" sz="2000" dirty="0"/>
              <a:t>: la </a:t>
            </a:r>
            <a:r>
              <a:rPr lang="en-US" altLang="es-CL" sz="2000" dirty="0" err="1"/>
              <a:t>habilidad</a:t>
            </a:r>
            <a:r>
              <a:rPr lang="en-US" altLang="es-CL" sz="2000" dirty="0"/>
              <a:t> de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moverse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red de </a:t>
            </a:r>
            <a:r>
              <a:rPr lang="en-US" altLang="es-CL" sz="2000" dirty="0" err="1"/>
              <a:t>comunicaciones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80000"/>
              </a:lnSpc>
            </a:pPr>
            <a:r>
              <a:rPr lang="en-US" altLang="es-CL" sz="2000" i="1" dirty="0" err="1">
                <a:solidFill>
                  <a:srgbClr val="003399"/>
                </a:solidFill>
              </a:rPr>
              <a:t>veracidad</a:t>
            </a:r>
            <a:r>
              <a:rPr lang="en-US" altLang="es-CL" sz="2000" dirty="0"/>
              <a:t>: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no </a:t>
            </a:r>
            <a:r>
              <a:rPr lang="en-US" altLang="es-CL" sz="2000" dirty="0" err="1"/>
              <a:t>comunicará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información</a:t>
            </a:r>
            <a:r>
              <a:rPr lang="en-US" altLang="es-CL" sz="2000" dirty="0"/>
              <a:t> falsa a </a:t>
            </a:r>
            <a:r>
              <a:rPr lang="en-US" altLang="es-CL" sz="2000" dirty="0" err="1"/>
              <a:t>sabiendas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80000"/>
              </a:lnSpc>
            </a:pPr>
            <a:r>
              <a:rPr lang="en-US" altLang="es-CL" sz="2000" i="1" dirty="0" err="1">
                <a:solidFill>
                  <a:srgbClr val="003399"/>
                </a:solidFill>
              </a:rPr>
              <a:t>benevolencia</a:t>
            </a:r>
            <a:r>
              <a:rPr lang="en-US" altLang="es-CL" sz="2000" dirty="0"/>
              <a:t>: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no </a:t>
            </a:r>
            <a:r>
              <a:rPr lang="en-US" altLang="es-CL" sz="2000" dirty="0" err="1"/>
              <a:t>tienen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objetivos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conflictivos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por</a:t>
            </a:r>
            <a:r>
              <a:rPr lang="en-US" altLang="es-CL" sz="2000" dirty="0"/>
              <a:t> lo que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siempre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intentará</a:t>
            </a:r>
            <a:r>
              <a:rPr lang="en-US" altLang="es-CL" sz="2000" dirty="0"/>
              <a:t> </a:t>
            </a:r>
            <a:r>
              <a:rPr lang="en-US" altLang="es-CL" sz="2000" dirty="0" err="1"/>
              <a:t>hacer</a:t>
            </a:r>
            <a:r>
              <a:rPr lang="en-US" altLang="es-CL" sz="2000" dirty="0"/>
              <a:t> lo que se le </a:t>
            </a:r>
            <a:r>
              <a:rPr lang="en-US" altLang="es-CL" sz="2000" dirty="0" err="1"/>
              <a:t>pide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80000"/>
              </a:lnSpc>
            </a:pPr>
            <a:r>
              <a:rPr lang="en-US" altLang="es-CL" sz="2000" i="1" dirty="0" err="1">
                <a:solidFill>
                  <a:srgbClr val="003399"/>
                </a:solidFill>
              </a:rPr>
              <a:t>racionalidad</a:t>
            </a:r>
            <a:r>
              <a:rPr lang="en-US" altLang="es-CL" sz="2000" dirty="0"/>
              <a:t>: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actuará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lograr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sus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objetivos</a:t>
            </a:r>
            <a:r>
              <a:rPr lang="en-US" altLang="es-CL" sz="2000" dirty="0"/>
              <a:t>, y NO </a:t>
            </a:r>
            <a:r>
              <a:rPr lang="en-US" altLang="es-CL" sz="2000" dirty="0" err="1"/>
              <a:t>actuará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sabiendas</a:t>
            </a:r>
            <a:r>
              <a:rPr lang="en-US" altLang="es-CL" sz="2000" dirty="0"/>
              <a:t> para no </a:t>
            </a:r>
            <a:r>
              <a:rPr lang="en-US" altLang="es-CL" sz="2000" dirty="0" err="1"/>
              <a:t>alcanzarlos</a:t>
            </a:r>
            <a:r>
              <a:rPr lang="en-US" altLang="es-CL" sz="2000" dirty="0"/>
              <a:t>, al </a:t>
            </a:r>
            <a:r>
              <a:rPr lang="en-US" altLang="es-CL" sz="2000" dirty="0" err="1"/>
              <a:t>menos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mejor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su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conocimiento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80000"/>
              </a:lnSpc>
            </a:pPr>
            <a:r>
              <a:rPr lang="en-US" altLang="es-CL" sz="2000" i="1" dirty="0" err="1">
                <a:solidFill>
                  <a:srgbClr val="003399"/>
                </a:solidFill>
              </a:rPr>
              <a:t>aprendizaje</a:t>
            </a:r>
            <a:r>
              <a:rPr lang="en-US" altLang="es-CL" sz="2000" i="1" dirty="0">
                <a:solidFill>
                  <a:srgbClr val="003399"/>
                </a:solidFill>
              </a:rPr>
              <a:t>/</a:t>
            </a:r>
            <a:r>
              <a:rPr lang="en-US" altLang="es-CL" sz="2000" i="1" dirty="0" err="1">
                <a:solidFill>
                  <a:srgbClr val="003399"/>
                </a:solidFill>
              </a:rPr>
              <a:t>adaptación</a:t>
            </a:r>
            <a:r>
              <a:rPr lang="en-US" altLang="es-CL" sz="2000" dirty="0"/>
              <a:t>: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mejoran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su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rendimiento</a:t>
            </a:r>
            <a:r>
              <a:rPr lang="en-US" altLang="es-CL" sz="2000" dirty="0"/>
              <a:t> a </a:t>
            </a:r>
            <a:r>
              <a:rPr lang="en-US" altLang="es-CL" sz="2000" dirty="0" err="1"/>
              <a:t>través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tiempo</a:t>
            </a:r>
            <a:endParaRPr lang="en-US" altLang="es-CL" sz="2000" dirty="0"/>
          </a:p>
        </p:txBody>
      </p:sp>
    </p:spTree>
    <p:extLst>
      <p:ext uri="{BB962C8B-B14F-4D97-AF65-F5344CB8AC3E}">
        <p14:creationId xmlns:p14="http://schemas.microsoft.com/office/powerpoint/2010/main" val="163128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de naves espaciales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 err="1"/>
              <a:t>Cuando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una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sonda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espacial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viaja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desde</a:t>
            </a:r>
            <a:r>
              <a:rPr lang="en-US" altLang="en-US" sz="2000" dirty="0"/>
              <a:t> la Tierra a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planetas</a:t>
            </a:r>
            <a:r>
              <a:rPr lang="en-US" altLang="en-US" sz="2000" dirty="0"/>
              <a:t>, un </a:t>
            </a:r>
            <a:r>
              <a:rPr lang="en-US" altLang="en-US" sz="2000" dirty="0" err="1"/>
              <a:t>grupo</a:t>
            </a:r>
            <a:r>
              <a:rPr lang="en-US" altLang="en-US" sz="2000" dirty="0"/>
              <a:t> de control </a:t>
            </a:r>
            <a:r>
              <a:rPr lang="en-US" altLang="en-US" sz="2000" dirty="0" err="1"/>
              <a:t>debe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usualmente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monitorear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continuamente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viaje</a:t>
            </a:r>
            <a:r>
              <a:rPr lang="en-US" altLang="en-US" sz="2000" dirty="0"/>
              <a:t>, y </a:t>
            </a:r>
            <a:r>
              <a:rPr lang="en-US" altLang="en-US" sz="2000" dirty="0" err="1"/>
              <a:t>decidir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cómo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lidiar</a:t>
            </a:r>
            <a:r>
              <a:rPr lang="en-US" altLang="en-US" sz="2000" dirty="0"/>
              <a:t> con </a:t>
            </a:r>
            <a:r>
              <a:rPr lang="en-US" altLang="en-US" sz="2000" dirty="0" err="1"/>
              <a:t>problemas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inesperados</a:t>
            </a:r>
            <a:r>
              <a:rPr lang="en-US" altLang="en-US" sz="2000" dirty="0"/>
              <a:t>.</a:t>
            </a:r>
            <a:br>
              <a:rPr lang="en-US" altLang="en-US" sz="2000" dirty="0"/>
            </a:br>
            <a:r>
              <a:rPr lang="en-US" altLang="en-US" sz="2000" dirty="0"/>
              <a:t> </a:t>
            </a:r>
          </a:p>
          <a:p>
            <a:pPr>
              <a:lnSpc>
                <a:spcPct val="110000"/>
              </a:lnSpc>
            </a:pPr>
            <a:r>
              <a:rPr lang="en-US" altLang="en-US" sz="2000" dirty="0" err="1"/>
              <a:t>Esto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costoso</a:t>
            </a:r>
            <a:r>
              <a:rPr lang="en-US" altLang="en-US" sz="2000" dirty="0"/>
              <a:t>, y </a:t>
            </a:r>
            <a:r>
              <a:rPr lang="en-US" altLang="en-US" sz="2000" dirty="0" err="1"/>
              <a:t>si</a:t>
            </a:r>
            <a:r>
              <a:rPr lang="en-US" altLang="en-US" sz="2000" dirty="0"/>
              <a:t> se </a:t>
            </a:r>
            <a:r>
              <a:rPr lang="en-US" altLang="en-US" sz="2000" dirty="0" err="1"/>
              <a:t>requieren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decisiones</a:t>
            </a:r>
            <a:r>
              <a:rPr lang="en-US" altLang="en-US" sz="2000" dirty="0"/>
              <a:t> </a:t>
            </a:r>
            <a:r>
              <a:rPr lang="en-US" altLang="en-US" sz="2000" i="1" dirty="0" err="1">
                <a:solidFill>
                  <a:srgbClr val="003399"/>
                </a:solidFill>
              </a:rPr>
              <a:t>rápidas</a:t>
            </a:r>
            <a:r>
              <a:rPr lang="en-US" altLang="en-US" sz="2000" dirty="0"/>
              <a:t>, no </a:t>
            </a:r>
            <a:r>
              <a:rPr lang="en-US" altLang="en-US" sz="2000" dirty="0" err="1"/>
              <a:t>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posible</a:t>
            </a:r>
            <a:r>
              <a:rPr lang="en-US" altLang="en-US" sz="2000" dirty="0"/>
              <a:t>.</a:t>
            </a:r>
            <a:br>
              <a:rPr lang="en-US" altLang="en-US" sz="2000" dirty="0"/>
            </a:br>
            <a:r>
              <a:rPr lang="en-US" altLang="en-US" sz="2000" dirty="0"/>
              <a:t> </a:t>
            </a:r>
          </a:p>
          <a:p>
            <a:pPr>
              <a:lnSpc>
                <a:spcPct val="110000"/>
              </a:lnSpc>
            </a:pPr>
            <a:r>
              <a:rPr lang="en-US" altLang="en-US" sz="2000" dirty="0" err="1"/>
              <a:t>Por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estas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razones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organizaciones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como</a:t>
            </a:r>
            <a:r>
              <a:rPr lang="en-US" altLang="en-US" sz="2000" dirty="0"/>
              <a:t> NASA </a:t>
            </a:r>
            <a:r>
              <a:rPr lang="en-US" altLang="en-US" sz="2000" dirty="0" err="1"/>
              <a:t>están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seriamente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investigando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posibilidad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construir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sondas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autónomas</a:t>
            </a:r>
            <a:r>
              <a:rPr lang="en-US" altLang="en-US" sz="2000" dirty="0"/>
              <a:t>  — </a:t>
            </a:r>
            <a:r>
              <a:rPr lang="en-US" altLang="en-US" sz="2000" dirty="0" err="1"/>
              <a:t>dándoles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capacidades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decisión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grandes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mayores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responsabilidades</a:t>
            </a:r>
            <a:r>
              <a:rPr lang="en-US" altLang="en-US" sz="2000" dirty="0"/>
              <a:t>.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lnSpc>
                <a:spcPct val="110000"/>
              </a:lnSpc>
            </a:pPr>
            <a:r>
              <a:rPr lang="en-US" altLang="en-US" sz="2400" i="1" dirty="0" err="1">
                <a:solidFill>
                  <a:srgbClr val="003399"/>
                </a:solidFill>
              </a:rPr>
              <a:t>Esto</a:t>
            </a:r>
            <a:r>
              <a:rPr lang="en-US" altLang="en-US" sz="2400" i="1" dirty="0">
                <a:solidFill>
                  <a:srgbClr val="003399"/>
                </a:solidFill>
              </a:rPr>
              <a:t> no </a:t>
            </a:r>
            <a:r>
              <a:rPr lang="en-US" altLang="en-US" sz="2400" i="1" dirty="0" err="1">
                <a:solidFill>
                  <a:srgbClr val="003399"/>
                </a:solidFill>
              </a:rPr>
              <a:t>es</a:t>
            </a:r>
            <a:r>
              <a:rPr lang="en-US" altLang="en-US" sz="2400" i="1" dirty="0">
                <a:solidFill>
                  <a:srgbClr val="003399"/>
                </a:solidFill>
              </a:rPr>
              <a:t> </a:t>
            </a:r>
            <a:r>
              <a:rPr lang="en-US" altLang="en-US" sz="2400" i="1" dirty="0" err="1">
                <a:solidFill>
                  <a:srgbClr val="003399"/>
                </a:solidFill>
              </a:rPr>
              <a:t>ficción</a:t>
            </a:r>
            <a:r>
              <a:rPr lang="en-US" altLang="en-US" sz="2400" i="1" dirty="0">
                <a:solidFill>
                  <a:srgbClr val="003399"/>
                </a:solidFill>
              </a:rPr>
              <a:t>: la </a:t>
            </a:r>
            <a:r>
              <a:rPr lang="en-US" altLang="en-US" sz="2400" i="1" dirty="0" err="1">
                <a:solidFill>
                  <a:srgbClr val="003399"/>
                </a:solidFill>
              </a:rPr>
              <a:t>sonda</a:t>
            </a:r>
            <a:r>
              <a:rPr lang="en-US" altLang="en-US" sz="2400" i="1" dirty="0">
                <a:solidFill>
                  <a:srgbClr val="003399"/>
                </a:solidFill>
              </a:rPr>
              <a:t> DS1 de </a:t>
            </a:r>
            <a:r>
              <a:rPr lang="en-US" altLang="en-US" sz="2400" dirty="0">
                <a:solidFill>
                  <a:srgbClr val="003399"/>
                </a:solidFill>
              </a:rPr>
              <a:t>NASA lo </a:t>
            </a:r>
            <a:r>
              <a:rPr lang="en-US" altLang="en-US" sz="2400" dirty="0" err="1">
                <a:solidFill>
                  <a:srgbClr val="003399"/>
                </a:solidFill>
              </a:rPr>
              <a:t>tiene</a:t>
            </a:r>
            <a:r>
              <a:rPr lang="en-US" altLang="en-US" sz="2400" dirty="0">
                <a:solidFill>
                  <a:srgbClr val="003399"/>
                </a:solidFill>
              </a:rPr>
              <a:t> y </a:t>
            </a:r>
            <a:r>
              <a:rPr lang="en-US" altLang="en-US" sz="2400" dirty="0" err="1">
                <a:solidFill>
                  <a:srgbClr val="003399"/>
                </a:solidFill>
              </a:rPr>
              <a:t>fue</a:t>
            </a:r>
            <a:r>
              <a:rPr lang="en-US" altLang="en-US" sz="2400" dirty="0">
                <a:solidFill>
                  <a:srgbClr val="003399"/>
                </a:solidFill>
              </a:rPr>
              <a:t> </a:t>
            </a:r>
            <a:r>
              <a:rPr lang="en-US" altLang="en-US" sz="2400" dirty="0" err="1">
                <a:solidFill>
                  <a:srgbClr val="003399"/>
                </a:solidFill>
              </a:rPr>
              <a:t>una</a:t>
            </a:r>
            <a:r>
              <a:rPr lang="en-US" altLang="en-US" sz="2400" dirty="0">
                <a:solidFill>
                  <a:srgbClr val="003399"/>
                </a:solidFill>
              </a:rPr>
              <a:t> de las </a:t>
            </a:r>
            <a:r>
              <a:rPr lang="en-US" altLang="en-US" sz="2400" dirty="0" err="1">
                <a:solidFill>
                  <a:srgbClr val="003399"/>
                </a:solidFill>
              </a:rPr>
              <a:t>pioneras</a:t>
            </a:r>
            <a:r>
              <a:rPr lang="en-US" altLang="en-US" sz="2400" dirty="0">
                <a:solidFill>
                  <a:srgbClr val="003399"/>
                </a:solidFill>
              </a:rPr>
              <a:t> </a:t>
            </a:r>
            <a:r>
              <a:rPr lang="en-US" altLang="en-US" sz="2400" dirty="0" err="1">
                <a:solidFill>
                  <a:srgbClr val="003399"/>
                </a:solidFill>
              </a:rPr>
              <a:t>en</a:t>
            </a:r>
            <a:r>
              <a:rPr lang="en-US" altLang="en-US" sz="2400" dirty="0">
                <a:solidFill>
                  <a:srgbClr val="003399"/>
                </a:solidFill>
              </a:rPr>
              <a:t> </a:t>
            </a:r>
            <a:r>
              <a:rPr lang="en-US" altLang="en-US" sz="2400" dirty="0" err="1">
                <a:solidFill>
                  <a:srgbClr val="003399"/>
                </a:solidFill>
              </a:rPr>
              <a:t>esto</a:t>
            </a:r>
            <a:r>
              <a:rPr lang="en-US" altLang="en-US" sz="2400" dirty="0">
                <a:solidFill>
                  <a:srgbClr val="003399"/>
                </a:solidFill>
              </a:rPr>
              <a:t> </a:t>
            </a:r>
            <a:r>
              <a:rPr lang="en-US" altLang="en-US" sz="2400" dirty="0" err="1">
                <a:solidFill>
                  <a:srgbClr val="003399"/>
                </a:solidFill>
              </a:rPr>
              <a:t>en</a:t>
            </a:r>
            <a:r>
              <a:rPr lang="en-US" altLang="en-US" sz="2400" dirty="0">
                <a:solidFill>
                  <a:srgbClr val="003399"/>
                </a:solidFill>
              </a:rPr>
              <a:t> 2001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370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Curiosity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458200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>
                <a:hlinkClick r:id="rId3"/>
              </a:rPr>
              <a:t>https://youtu.be/XczKXWvokm4</a:t>
            </a: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800" dirty="0"/>
            </a:br>
            <a:br>
              <a:rPr lang="en-US" altLang="en-US" sz="2800" dirty="0"/>
            </a:br>
            <a:endParaRPr lang="en-US" altLang="en-US" sz="2800" dirty="0"/>
          </a:p>
          <a:p>
            <a:r>
              <a:rPr lang="en-US" sz="2000" b="1" dirty="0"/>
              <a:t>Our Curiosity</a:t>
            </a:r>
          </a:p>
          <a:p>
            <a:r>
              <a:rPr lang="en-US" sz="2000" dirty="0"/>
              <a:t>The Curiosity Mars Rover is one of the most complex machines ever built, a fully equipped analytical laboratory rolling around on the surface of another planet. "Our Curiosity" celebrates the mission's exploratory spirit and scientific prowess with narration from Neil </a:t>
            </a:r>
            <a:r>
              <a:rPr lang="en-US" sz="2000" dirty="0" err="1"/>
              <a:t>DeGrasse</a:t>
            </a:r>
            <a:r>
              <a:rPr lang="en-US" sz="2000" dirty="0"/>
              <a:t> Tyson and Felicia Day, and an original score from Austin </a:t>
            </a:r>
            <a:r>
              <a:rPr lang="en-US" sz="2000" dirty="0" err="1"/>
              <a:t>Wintory</a:t>
            </a:r>
            <a:r>
              <a:rPr lang="en-US" sz="2000" dirty="0"/>
              <a:t>. </a:t>
            </a:r>
            <a:r>
              <a:rPr lang="en-US" altLang="en-US" sz="2000" dirty="0"/>
              <a:t>”  NASA Web site, 2014</a:t>
            </a:r>
          </a:p>
        </p:txBody>
      </p:sp>
      <p:pic>
        <p:nvPicPr>
          <p:cNvPr id="48132" name="Picture 4" descr="deepspace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085127"/>
            <a:ext cx="30480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0382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¿</a:t>
            </a:r>
            <a:r>
              <a:rPr lang="en-US" altLang="en-US" dirty="0" err="1"/>
              <a:t>Agentes</a:t>
            </a:r>
            <a:r>
              <a:rPr lang="en-US" altLang="en-US" dirty="0"/>
              <a:t>: </a:t>
            </a:r>
            <a:r>
              <a:rPr lang="en-US" altLang="en-US" dirty="0" err="1"/>
              <a:t>una</a:t>
            </a:r>
            <a:r>
              <a:rPr lang="en-US" altLang="en-US" dirty="0"/>
              <a:t> </a:t>
            </a:r>
            <a:r>
              <a:rPr lang="en-US" altLang="en-US" dirty="0" err="1"/>
              <a:t>mirada</a:t>
            </a:r>
            <a:r>
              <a:rPr lang="en-US" altLang="en-US" dirty="0"/>
              <a:t> </a:t>
            </a:r>
            <a:r>
              <a:rPr lang="en-US" altLang="en-US" dirty="0" err="1"/>
              <a:t>optimista</a:t>
            </a:r>
            <a:r>
              <a:rPr lang="en-US" altLang="en-US" dirty="0"/>
              <a:t>?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458200" cy="5181600"/>
          </a:xfrm>
        </p:spPr>
        <p:txBody>
          <a:bodyPr/>
          <a:lstStyle/>
          <a:p>
            <a:pPr>
              <a:lnSpc>
                <a:spcPct val="80000"/>
              </a:lnSpc>
            </a:pP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800" dirty="0"/>
            </a:br>
            <a:br>
              <a:rPr lang="en-US" altLang="en-US" sz="2800" dirty="0"/>
            </a:br>
            <a:endParaRPr lang="en-US" altLang="en-US" sz="2800" dirty="0"/>
          </a:p>
          <a:p>
            <a:r>
              <a:rPr lang="en-US" sz="2000" b="1" dirty="0"/>
              <a:t>The Complete Beginners Guide To Autonomous Agents</a:t>
            </a:r>
          </a:p>
          <a:p>
            <a:r>
              <a:rPr lang="en-US" sz="2000" dirty="0">
                <a:hlinkClick r:id="rId3"/>
              </a:rPr>
              <a:t>https://www.mattprd.com/p/the-complete-beginners-guide-to-autonomous-agents</a:t>
            </a:r>
            <a:endParaRPr lang="en-U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11655425" y="11912601"/>
            <a:ext cx="1310903" cy="128588"/>
          </a:xfrm>
        </p:spPr>
        <p:txBody>
          <a:bodyPr/>
          <a:lstStyle/>
          <a:p>
            <a:fld id="{5A98F7B2-B38F-4F81-B4B3-3122CDFFA968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6" name="Rectángulo 5"/>
          <p:cNvSpPr/>
          <p:nvPr/>
        </p:nvSpPr>
        <p:spPr>
          <a:xfrm>
            <a:off x="838200" y="1089859"/>
            <a:ext cx="3377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dirty="0">
                <a:latin typeface="YouTube Noto"/>
                <a:hlinkClick r:id="rId4" tooltip="Share link"/>
              </a:rPr>
              <a:t>https://youtu.be/1AB41kHUJZA</a:t>
            </a:r>
            <a:endParaRPr lang="es-CL" dirty="0"/>
          </a:p>
        </p:txBody>
      </p:sp>
      <p:pic>
        <p:nvPicPr>
          <p:cNvPr id="1026" name="Picture 2" descr="https://media.beehiiv.com/cdn-cgi/image/fit=scale-down,format=auto,onerror=redirect,quality=80/uploads/asset/file/f2c8e3de-907a-45eb-a20a-43bcaea19d64/1_h3CgCiahAzcNJV80BUtIk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124" y="125507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176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3272" y="201226"/>
            <a:ext cx="8229600" cy="1139825"/>
          </a:xfrm>
        </p:spPr>
        <p:txBody>
          <a:bodyPr/>
          <a:lstStyle/>
          <a:p>
            <a:r>
              <a:rPr lang="en-US" altLang="en-US" dirty="0"/>
              <a:t>Smart manufacturing y Digital Twin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458200" cy="5181600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1200"/>
              </a:spcAft>
            </a:pPr>
            <a:endParaRPr lang="en-US" altLang="en-US" sz="2400" dirty="0"/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 err="1"/>
              <a:t>Sistemas</a:t>
            </a:r>
            <a:r>
              <a:rPr lang="en-US" altLang="en-US" sz="2400" dirty="0"/>
              <a:t> socio-</a:t>
            </a:r>
            <a:r>
              <a:rPr lang="en-US" altLang="en-US" sz="2400" dirty="0" err="1"/>
              <a:t>técnicos</a:t>
            </a:r>
            <a:r>
              <a:rPr lang="en-US" altLang="en-US" sz="2400" dirty="0"/>
              <a:t>:</a:t>
            </a:r>
          </a:p>
          <a:p>
            <a:pPr lvl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dirty="0" err="1"/>
              <a:t>Reconocer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que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tecnología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es</a:t>
            </a:r>
            <a:r>
              <a:rPr lang="en-US" altLang="en-US" sz="2000" dirty="0"/>
              <a:t> fundamental, </a:t>
            </a:r>
            <a:r>
              <a:rPr lang="en-US" altLang="en-US" sz="2000" dirty="0" err="1"/>
              <a:t>pero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siempre</a:t>
            </a:r>
            <a:r>
              <a:rPr lang="en-US" altLang="en-US" sz="2000" dirty="0"/>
              <a:t> hay personas</a:t>
            </a:r>
          </a:p>
          <a:p>
            <a:pPr lvl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dirty="0"/>
              <a:t>Y </a:t>
            </a:r>
            <a:r>
              <a:rPr lang="en-US" altLang="en-US" sz="2000" dirty="0" err="1"/>
              <a:t>las</a:t>
            </a:r>
            <a:r>
              <a:rPr lang="en-US" altLang="en-US" sz="2000" dirty="0"/>
              <a:t> personas son lo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difícil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gestionar</a:t>
            </a:r>
            <a:r>
              <a:rPr lang="en-US" altLang="en-US" sz="2000" dirty="0"/>
              <a:t> …</a:t>
            </a:r>
          </a:p>
          <a:p>
            <a:pPr marL="342900" lvl="1" indent="-342900">
              <a:lnSpc>
                <a:spcPct val="90000"/>
              </a:lnSpc>
              <a:spcAft>
                <a:spcPts val="12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en-US" altLang="en-US" sz="2000" dirty="0"/>
          </a:p>
          <a:p>
            <a:pPr marL="342900" lvl="1" indent="-342900">
              <a:lnSpc>
                <a:spcPct val="90000"/>
              </a:lnSpc>
              <a:spcAft>
                <a:spcPts val="12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en-US" sz="2400" dirty="0" err="1"/>
              <a:t>Concepto</a:t>
            </a:r>
            <a:r>
              <a:rPr lang="en-US" altLang="en-US" sz="2400" dirty="0"/>
              <a:t> de “digital twins” …</a:t>
            </a:r>
          </a:p>
          <a:p>
            <a:pPr lvl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dirty="0" err="1"/>
              <a:t>Pero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aumentado</a:t>
            </a:r>
            <a:r>
              <a:rPr lang="en-US" altLang="en-US" sz="2000" dirty="0"/>
              <a:t> con </a:t>
            </a:r>
            <a:r>
              <a:rPr lang="en-US" altLang="en-US" sz="2000" dirty="0" err="1"/>
              <a:t>componente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humano</a:t>
            </a:r>
            <a:r>
              <a:rPr lang="en-US" altLang="en-US" sz="2000" dirty="0"/>
              <a:t> …</a:t>
            </a:r>
          </a:p>
          <a:p>
            <a:pPr lvl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dirty="0"/>
              <a:t>Mucho </a:t>
            </a:r>
            <a:r>
              <a:rPr lang="en-US" altLang="en-US" sz="2000" dirty="0" err="1"/>
              <a:t>mejor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operación</a:t>
            </a:r>
            <a:r>
              <a:rPr lang="en-US" altLang="en-US" sz="2000" dirty="0"/>
              <a:t>/</a:t>
            </a:r>
            <a:r>
              <a:rPr lang="en-US" altLang="en-US" sz="2000" dirty="0" err="1"/>
              <a:t>optimización</a:t>
            </a:r>
            <a:endParaRPr lang="en-US" altLang="en-US" sz="2000" dirty="0"/>
          </a:p>
          <a:p>
            <a:pPr lvl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dirty="0"/>
              <a:t>Y los </a:t>
            </a:r>
            <a:r>
              <a:rPr lang="en-US" altLang="en-US" sz="2000" dirty="0" err="1"/>
              <a:t>agentes</a:t>
            </a:r>
            <a:r>
              <a:rPr lang="en-US" altLang="en-US" sz="2000" dirty="0"/>
              <a:t> son </a:t>
            </a:r>
            <a:r>
              <a:rPr lang="en-US" altLang="en-US" sz="2000" dirty="0" err="1"/>
              <a:t>ideales</a:t>
            </a:r>
            <a:r>
              <a:rPr lang="en-US" altLang="en-US" sz="2000" dirty="0"/>
              <a:t> para </a:t>
            </a:r>
            <a:r>
              <a:rPr lang="en-US" altLang="en-US" sz="2000" dirty="0" err="1"/>
              <a:t>eso</a:t>
            </a:r>
            <a:endParaRPr lang="en-US" altLang="en-US" sz="2000" dirty="0"/>
          </a:p>
          <a:p>
            <a:pPr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6" name="Picture 4" descr="Digital Twins and AI: Transforming Industrial Operations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000" y="4876800"/>
            <a:ext cx="2752000" cy="15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MART Manufacturing Training &amp;amp; Services in PA | MANTEC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848" y="2819400"/>
            <a:ext cx="2213552" cy="121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37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132" y="274638"/>
            <a:ext cx="8413668" cy="1143000"/>
          </a:xfrm>
        </p:spPr>
        <p:txBody>
          <a:bodyPr>
            <a:normAutofit/>
          </a:bodyPr>
          <a:lstStyle/>
          <a:p>
            <a:r>
              <a:rPr lang="es-MX" altLang="en-US" sz="3600" dirty="0"/>
              <a:t>Uso de agentes en la realidad: modestia aparte</a:t>
            </a:r>
            <a:endParaRPr lang="hu-HU" alt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048" y="1183637"/>
            <a:ext cx="4786752" cy="5335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32" y="4352678"/>
            <a:ext cx="3908516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8696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3132" y="274638"/>
            <a:ext cx="8413668" cy="1143000"/>
          </a:xfrm>
        </p:spPr>
        <p:txBody>
          <a:bodyPr>
            <a:normAutofit/>
          </a:bodyPr>
          <a:lstStyle/>
          <a:p>
            <a:r>
              <a:rPr lang="es-MX" altLang="en-US" sz="3600" dirty="0"/>
              <a:t>Uso de agentes en la realidad: modestia aparte</a:t>
            </a:r>
            <a:endParaRPr lang="hu-HU" altLang="en-US" sz="3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202" y="1526351"/>
            <a:ext cx="3908516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48" y="3343276"/>
            <a:ext cx="3521071" cy="3000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059" y="3451301"/>
            <a:ext cx="4470936" cy="2901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6165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4425" y="260350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s-CL" dirty="0" err="1"/>
              <a:t>Ambiente</a:t>
            </a:r>
            <a:r>
              <a:rPr lang="en-US" altLang="es-CL" dirty="0"/>
              <a:t> de la </a:t>
            </a:r>
            <a:r>
              <a:rPr lang="en-US" altLang="es-CL" dirty="0" err="1"/>
              <a:t>tarea</a:t>
            </a:r>
            <a:endParaRPr lang="en-US" altLang="es-CL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Antes de </a:t>
            </a:r>
            <a:r>
              <a:rPr lang="en-US" altLang="es-CL" sz="2000" dirty="0" err="1"/>
              <a:t>diseñar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debemos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especificar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su</a:t>
            </a:r>
            <a:r>
              <a:rPr lang="en-US" altLang="es-CL" sz="2000" dirty="0"/>
              <a:t> “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tarea</a:t>
            </a:r>
            <a:r>
              <a:rPr lang="en-US" altLang="es-CL" sz="2000" dirty="0"/>
              <a:t>”: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s-CL" sz="2800" dirty="0">
                <a:ea typeface="ＭＳ Ｐゴシック" panose="020B0600070205080204" pitchFamily="34" charset="-128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s-CL" sz="2800" dirty="0">
                <a:ea typeface="ＭＳ Ｐゴシック" panose="020B0600070205080204" pitchFamily="34" charset="-128"/>
              </a:rPr>
              <a:t>   </a:t>
            </a:r>
            <a:r>
              <a:rPr lang="en-US" altLang="es-CL" sz="2400" dirty="0">
                <a:ea typeface="ＭＳ Ｐゴシック" panose="020B0600070205080204" pitchFamily="34" charset="-128"/>
              </a:rPr>
              <a:t>PEAS: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s-CL" sz="2400" dirty="0">
                <a:ea typeface="ＭＳ Ｐゴシック" panose="020B0600070205080204" pitchFamily="34" charset="-128"/>
              </a:rPr>
              <a:t>   </a:t>
            </a:r>
            <a:r>
              <a:rPr lang="en-US" altLang="es-CL" sz="24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Performance measure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s-CL" sz="2400" dirty="0">
                <a:ea typeface="ＭＳ Ｐゴシック" panose="020B0600070205080204" pitchFamily="34" charset="-128"/>
              </a:rPr>
              <a:t>   </a:t>
            </a:r>
            <a:r>
              <a:rPr lang="en-US" altLang="es-CL" sz="24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s-CL" sz="2400" dirty="0">
                <a:ea typeface="ＭＳ Ｐゴシック" panose="020B0600070205080204" pitchFamily="34" charset="-128"/>
              </a:rPr>
              <a:t>   </a:t>
            </a:r>
            <a:r>
              <a:rPr lang="en-US" altLang="es-CL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Actuators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s-CL" sz="2400" dirty="0">
                <a:ea typeface="ＭＳ Ｐゴシック" panose="020B0600070205080204" pitchFamily="34" charset="-128"/>
              </a:rPr>
              <a:t>   </a:t>
            </a:r>
            <a:r>
              <a:rPr lang="en-US" altLang="es-CL" sz="2400" dirty="0">
                <a:solidFill>
                  <a:srgbClr val="800080"/>
                </a:solidFill>
                <a:ea typeface="ＭＳ Ｐゴシック" panose="020B0600070205080204" pitchFamily="34" charset="-128"/>
              </a:rPr>
              <a:t>Sensors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s-CL" sz="2800" dirty="0">
              <a:ea typeface="ＭＳ Ｐゴシック" panose="020B0600070205080204" pitchFamily="34" charset="-128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65562"/>
            <a:ext cx="4274529" cy="198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4419600" y="3657600"/>
            <a:ext cx="4487863" cy="2286000"/>
          </a:xfrm>
          <a:prstGeom prst="rect">
            <a:avLst/>
          </a:prstGeom>
          <a:solidFill>
            <a:srgbClr val="00339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/>
          <p:cNvSpPr/>
          <p:nvPr/>
        </p:nvSpPr>
        <p:spPr>
          <a:xfrm>
            <a:off x="5890266" y="4984750"/>
            <a:ext cx="2491734" cy="91440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/>
          <p:cNvSpPr/>
          <p:nvPr/>
        </p:nvSpPr>
        <p:spPr>
          <a:xfrm>
            <a:off x="5791200" y="3821111"/>
            <a:ext cx="1828800" cy="914400"/>
          </a:xfrm>
          <a:prstGeom prst="rect">
            <a:avLst/>
          </a:prstGeom>
          <a:solidFill>
            <a:srgbClr val="98288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ipse 3"/>
          <p:cNvSpPr/>
          <p:nvPr/>
        </p:nvSpPr>
        <p:spPr>
          <a:xfrm>
            <a:off x="4572000" y="4191000"/>
            <a:ext cx="1295400" cy="1295400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rcador de número de diapositiva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50468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260350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dirty="0"/>
              <a:t>PEAS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458200" cy="45307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s-CL" sz="20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2000" dirty="0">
                <a:ea typeface="ＭＳ Ｐゴシック" panose="020B0600070205080204" pitchFamily="34" charset="-128"/>
              </a:rPr>
              <a:t>: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2000" dirty="0">
                <a:ea typeface="ＭＳ Ｐゴシック" panose="020B0600070205080204" pitchFamily="34" charset="-128"/>
              </a:rPr>
              <a:t> =  conductor de taxi (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vehículo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conducción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autónoma</a:t>
            </a:r>
            <a:r>
              <a:rPr lang="en-US" altLang="es-CL" sz="2000" dirty="0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endParaRPr lang="en-US" altLang="es-CL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s-CL" sz="20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Performance measure: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seguro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rápido</a:t>
            </a:r>
            <a:r>
              <a:rPr lang="en-US" altLang="es-CL" sz="2000" dirty="0">
                <a:ea typeface="ＭＳ Ｐゴシック" panose="020B0600070205080204" pitchFamily="34" charset="-128"/>
              </a:rPr>
              <a:t>, legal,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viaje</a:t>
            </a:r>
            <a:r>
              <a:rPr lang="en-US" altLang="es-CL" sz="2000" dirty="0">
                <a:ea typeface="ＭＳ Ｐゴシック" panose="020B0600070205080204" pitchFamily="34" charset="-128"/>
              </a:rPr>
              <a:t> comfortable,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maximizar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utilidad</a:t>
            </a:r>
            <a:endParaRPr lang="en-US" altLang="es-CL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s-CL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s-CL" sz="20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Environment: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rutas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otro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tráfico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peatones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clientes</a:t>
            </a:r>
            <a:endParaRPr lang="en-US" altLang="es-CL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s-CL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s-CL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Actuators: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manubrio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acelerador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freno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señales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luminosas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bocina</a:t>
            </a:r>
            <a:endParaRPr lang="en-US" altLang="es-CL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  <a:buFontTx/>
              <a:buNone/>
            </a:pPr>
            <a:endParaRPr lang="en-US" altLang="es-CL" sz="20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s-CL" sz="2000" dirty="0">
                <a:solidFill>
                  <a:srgbClr val="800080"/>
                </a:solidFill>
                <a:ea typeface="ＭＳ Ｐゴシック" panose="020B0600070205080204" pitchFamily="34" charset="-128"/>
              </a:rPr>
              <a:t>Sensors:</a:t>
            </a:r>
            <a:r>
              <a:rPr lang="en-US" altLang="es-CL" sz="2000" dirty="0">
                <a:ea typeface="ＭＳ Ｐゴシック" panose="020B0600070205080204" pitchFamily="34" charset="-128"/>
              </a:rPr>
              <a:t>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cámara</a:t>
            </a:r>
            <a:r>
              <a:rPr lang="en-US" altLang="es-CL" sz="2000" dirty="0">
                <a:ea typeface="ＭＳ Ｐゴシック" panose="020B0600070205080204" pitchFamily="34" charset="-128"/>
              </a:rPr>
              <a:t>, sonar,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velocímetro</a:t>
            </a:r>
            <a:r>
              <a:rPr lang="en-US" altLang="es-CL" sz="2000" dirty="0">
                <a:ea typeface="ＭＳ Ｐゴシック" panose="020B0600070205080204" pitchFamily="34" charset="-128"/>
              </a:rPr>
              <a:t>, GPS,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odometro</a:t>
            </a:r>
            <a:r>
              <a:rPr lang="en-US" altLang="es-CL" sz="2000" dirty="0">
                <a:ea typeface="ＭＳ Ｐゴシック" panose="020B0600070205080204" pitchFamily="34" charset="-128"/>
              </a:rPr>
              <a:t>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sensores</a:t>
            </a:r>
            <a:r>
              <a:rPr lang="en-US" altLang="es-CL" sz="2000" dirty="0">
                <a:ea typeface="ＭＳ Ｐゴシック" panose="020B0600070205080204" pitchFamily="34" charset="-128"/>
              </a:rPr>
              <a:t> del motor,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teclado</a:t>
            </a:r>
            <a:endParaRPr lang="en-US" altLang="es-CL" sz="2000" dirty="0">
              <a:ea typeface="ＭＳ Ｐゴシック" panose="020B0600070205080204" pitchFamily="34" charset="-128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4267200"/>
            <a:ext cx="3581400" cy="2387600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2381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77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dirty="0"/>
              <a:t>PEAS</a:t>
            </a:r>
            <a:endParaRPr lang="en-US" altLang="es-CL" dirty="0">
              <a:ea typeface="ＭＳ Ｐゴシック" panose="020B0600070205080204" pitchFamily="34" charset="-128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990600"/>
            <a:ext cx="7821613" cy="3657600"/>
          </a:xfrm>
        </p:spPr>
        <p:txBody>
          <a:bodyPr/>
          <a:lstStyle/>
          <a:p>
            <a:pPr eaLnBrk="1" hangingPunct="1"/>
            <a:r>
              <a:rPr lang="en-US" altLang="es-CL" sz="18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1800" dirty="0">
                <a:ea typeface="ＭＳ Ｐゴシック" panose="020B0600070205080204" pitchFamily="34" charset="-128"/>
              </a:rPr>
              <a:t>: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1800" dirty="0">
                <a:ea typeface="ＭＳ Ｐゴシック" panose="020B0600070205080204" pitchFamily="34" charset="-128"/>
              </a:rPr>
              <a:t> = Sistema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diagnóstico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médico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    Performance measure: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paciente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sano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minimizar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costos</a:t>
            </a:r>
            <a:r>
              <a:rPr lang="en-US" altLang="es-CL" sz="1800" dirty="0">
                <a:ea typeface="ＭＳ Ｐゴシック" panose="020B0600070205080204" pitchFamily="34" charset="-128"/>
              </a:rPr>
              <a:t> y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demandas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    Environment: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paciente</a:t>
            </a:r>
            <a:r>
              <a:rPr lang="en-US" altLang="es-CL" sz="1800" dirty="0">
                <a:ea typeface="ＭＳ Ｐゴシック" panose="020B0600070205080204" pitchFamily="34" charset="-128"/>
              </a:rPr>
              <a:t>, hospital, personal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salud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marL="625475" indent="-625475"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Actuators: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pantalla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salida</a:t>
            </a:r>
            <a:r>
              <a:rPr lang="en-US" altLang="es-CL" sz="1800" dirty="0">
                <a:ea typeface="ＭＳ Ｐゴシック" panose="020B0600070205080204" pitchFamily="34" charset="-128"/>
              </a:rPr>
              <a:t> (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preguntas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tests,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diagnósticos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tratamientos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consultas</a:t>
            </a:r>
            <a:r>
              <a:rPr lang="en-US" altLang="es-CL" sz="1800" dirty="0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marL="625475" indent="-625475"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800080"/>
                </a:solidFill>
                <a:ea typeface="ＭＳ Ｐゴシック" panose="020B0600070205080204" pitchFamily="34" charset="-128"/>
              </a:rPr>
              <a:t>Sensors: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teclado</a:t>
            </a:r>
            <a:r>
              <a:rPr lang="en-US" altLang="es-CL" sz="1800" dirty="0">
                <a:ea typeface="ＭＳ Ｐゴシック" panose="020B0600070205080204" pitchFamily="34" charset="-128"/>
              </a:rPr>
              <a:t> (entrada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síntomas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conclusiones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respuestas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del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paciente</a:t>
            </a:r>
            <a:r>
              <a:rPr lang="en-US" altLang="es-CL" sz="1800" dirty="0">
                <a:ea typeface="ＭＳ Ｐゴシック" panose="020B0600070205080204" pitchFamily="34" charset="-128"/>
              </a:rPr>
              <a:t>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4419600"/>
            <a:ext cx="3124200" cy="2343150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6594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dirty="0">
                <a:ea typeface="ＭＳ Ｐゴシック" panose="020B0600070205080204" pitchFamily="34" charset="-128"/>
              </a:rPr>
              <a:t>PEAS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90600"/>
            <a:ext cx="7848600" cy="5181600"/>
          </a:xfrm>
        </p:spPr>
        <p:txBody>
          <a:bodyPr/>
          <a:lstStyle/>
          <a:p>
            <a:pPr eaLnBrk="1" hangingPunct="1"/>
            <a:r>
              <a:rPr lang="en-US" altLang="es-CL" sz="18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1800" dirty="0">
                <a:ea typeface="ＭＳ Ｐゴシック" panose="020B0600070205080204" pitchFamily="34" charset="-128"/>
              </a:rPr>
              <a:t>: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1800" dirty="0">
                <a:ea typeface="ＭＳ Ｐゴシック" panose="020B0600070205080204" pitchFamily="34" charset="-128"/>
              </a:rPr>
              <a:t> = robot que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traslada</a:t>
            </a:r>
            <a:r>
              <a:rPr lang="en-US" altLang="es-CL" sz="1800" dirty="0">
                <a:ea typeface="ＭＳ Ｐゴシック" panose="020B0600070205080204" pitchFamily="34" charset="-128"/>
              </a:rPr>
              <a:t> y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almacena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partes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Performance measure: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porcentaje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partes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guardadas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en</a:t>
            </a:r>
            <a:r>
              <a:rPr lang="en-US" altLang="es-CL" sz="1800" dirty="0">
                <a:ea typeface="ＭＳ Ｐゴシック" panose="020B0600070205080204" pitchFamily="34" charset="-128"/>
              </a:rPr>
              <a:t> el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contenedor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correcto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correa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transportadora</a:t>
            </a:r>
            <a:r>
              <a:rPr lang="en-US" altLang="es-CL" sz="1800" dirty="0">
                <a:ea typeface="ＭＳ Ｐゴシック" panose="020B0600070205080204" pitchFamily="34" charset="-128"/>
              </a:rPr>
              <a:t> con las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partes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contenedores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Actuators: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brazo</a:t>
            </a:r>
            <a:r>
              <a:rPr lang="en-US" altLang="es-CL" sz="1800" dirty="0">
                <a:ea typeface="ＭＳ Ｐゴシック" panose="020B0600070205080204" pitchFamily="34" charset="-128"/>
              </a:rPr>
              <a:t> y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mano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articulados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800080"/>
                </a:solidFill>
                <a:ea typeface="ＭＳ Ｐゴシック" panose="020B0600070205080204" pitchFamily="34" charset="-128"/>
              </a:rPr>
              <a:t>Sensors: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cámara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sensores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ángulo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en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junturas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brazo</a:t>
            </a:r>
            <a:r>
              <a:rPr lang="en-US" altLang="es-CL" sz="1800" dirty="0">
                <a:ea typeface="ＭＳ Ｐゴシック" panose="020B0600070205080204" pitchFamily="34" charset="-128"/>
              </a:rPr>
              <a:t> y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mano</a:t>
            </a:r>
            <a:endParaRPr lang="en-US" altLang="es-CL" sz="1800" dirty="0">
              <a:ea typeface="ＭＳ Ｐゴシック" panose="020B0600070205080204" pitchFamily="34" charset="-128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4343400"/>
            <a:ext cx="3341318" cy="2514600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3014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dirty="0">
                <a:ea typeface="ＭＳ Ｐゴシック" panose="020B0600070205080204" pitchFamily="34" charset="-128"/>
              </a:rPr>
              <a:t>PEAS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990600"/>
            <a:ext cx="7848600" cy="5181600"/>
          </a:xfrm>
        </p:spPr>
        <p:txBody>
          <a:bodyPr/>
          <a:lstStyle/>
          <a:p>
            <a:pPr eaLnBrk="1" hangingPunct="1"/>
            <a:r>
              <a:rPr lang="en-US" altLang="es-CL" sz="18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1800" dirty="0">
                <a:ea typeface="ＭＳ Ｐゴシック" panose="020B0600070205080204" pitchFamily="34" charset="-128"/>
              </a:rPr>
              <a:t>: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1800" dirty="0">
                <a:ea typeface="ＭＳ Ｐゴシック" panose="020B0600070205080204" pitchFamily="34" charset="-128"/>
              </a:rPr>
              <a:t> =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Finanzas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Sistema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que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transa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activos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financieros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Performance measure: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ganancia</a:t>
            </a:r>
            <a:r>
              <a:rPr lang="en-US" altLang="es-CL" sz="1800" dirty="0">
                <a:ea typeface="ＭＳ Ｐゴシック" panose="020B0600070205080204" pitchFamily="34" charset="-128"/>
              </a:rPr>
              <a:t> en un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periodo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pérdida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máxima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Environment:</a:t>
            </a:r>
            <a:r>
              <a:rPr lang="en-US" altLang="es-CL" sz="1800" dirty="0">
                <a:ea typeface="ＭＳ Ｐゴシック" panose="020B0600070205080204" pitchFamily="34" charset="-128"/>
              </a:rPr>
              <a:t> Mercado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financiero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agencias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reguladoras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Actuators: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órdenes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compra</a:t>
            </a:r>
            <a:r>
              <a:rPr lang="en-US" altLang="es-CL" sz="1800" dirty="0">
                <a:ea typeface="ＭＳ Ｐゴシック" panose="020B0600070205080204" pitchFamily="34" charset="-128"/>
              </a:rPr>
              <a:t> y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venta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activos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financieros</a:t>
            </a:r>
            <a:endParaRPr lang="en-US" altLang="es-CL" sz="1800" dirty="0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s-CL" sz="1800" dirty="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s-CL" sz="1800" dirty="0">
                <a:solidFill>
                  <a:srgbClr val="800080"/>
                </a:solidFill>
                <a:ea typeface="ＭＳ Ｐゴシック" panose="020B0600070205080204" pitchFamily="34" charset="-128"/>
              </a:rPr>
              <a:t>Sensors: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precios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activos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financieros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noticias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del Mercado,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noticias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económicas</a:t>
            </a:r>
            <a:r>
              <a:rPr lang="en-US" altLang="es-CL" sz="1800" dirty="0">
                <a:ea typeface="ＭＳ Ｐゴシック" panose="020B0600070205080204" pitchFamily="34" charset="-128"/>
              </a:rPr>
              <a:t>,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otras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noticias</a:t>
            </a:r>
            <a:r>
              <a:rPr lang="en-US" altLang="es-CL" sz="1800" dirty="0">
                <a:ea typeface="ＭＳ Ｐゴシック" panose="020B0600070205080204" pitchFamily="34" charset="-128"/>
              </a:rPr>
              <a:t> </a:t>
            </a:r>
            <a:r>
              <a:rPr lang="en-US" altLang="es-CL" sz="1800" dirty="0" err="1">
                <a:ea typeface="ＭＳ Ｐゴシック" panose="020B0600070205080204" pitchFamily="34" charset="-128"/>
              </a:rPr>
              <a:t>relevantes</a:t>
            </a:r>
            <a:endParaRPr lang="en-US" altLang="es-CL" sz="1800" dirty="0">
              <a:ea typeface="ＭＳ Ｐゴシック" panose="020B0600070205080204" pitchFamily="34" charset="-128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1028" name="Picture 4" descr="Financial Markets Definition: Day Trading Terminology - Warrior Trad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370" y="4343400"/>
            <a:ext cx="305943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7267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sz="4000" dirty="0" err="1">
                <a:ea typeface="ＭＳ Ｐゴシック" panose="020B0600070205080204" pitchFamily="34" charset="-128"/>
              </a:rPr>
              <a:t>Ejercicio</a:t>
            </a:r>
            <a:r>
              <a:rPr lang="en-US" altLang="es-CL" sz="4000" dirty="0">
                <a:ea typeface="ＭＳ Ｐゴシック" panose="020B0600070205080204" pitchFamily="34" charset="-128"/>
              </a:rPr>
              <a:t>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práctico</a:t>
            </a:r>
            <a:r>
              <a:rPr lang="en-US" altLang="es-CL" sz="4000" dirty="0">
                <a:ea typeface="ＭＳ Ｐゴシック" panose="020B0600070205080204" pitchFamily="34" charset="-128"/>
              </a:rPr>
              <a:t>: PEAS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15516"/>
            <a:ext cx="7848600" cy="4572000"/>
          </a:xfrm>
        </p:spPr>
        <p:txBody>
          <a:bodyPr/>
          <a:lstStyle/>
          <a:p>
            <a:pPr eaLnBrk="1" hangingPunct="1"/>
            <a:r>
              <a:rPr lang="en-US" altLang="es-CL" sz="24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2400" dirty="0">
                <a:ea typeface="ＭＳ Ｐゴシック" panose="020B0600070205080204" pitchFamily="34" charset="-128"/>
              </a:rPr>
              <a:t>: </a:t>
            </a:r>
            <a:r>
              <a:rPr lang="en-US" altLang="es-CL" sz="24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2400" dirty="0">
                <a:ea typeface="ＭＳ Ｐゴシック" panose="020B0600070205080204" pitchFamily="34" charset="-128"/>
              </a:rPr>
              <a:t> = 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robot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aspiradora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 (Roomba y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Braava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 ©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iRobots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)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Performance measure: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Environment:</a:t>
            </a:r>
          </a:p>
          <a:p>
            <a:pPr eaLnBrk="1" hangingPunct="1"/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Actuators: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800080"/>
                </a:solidFill>
                <a:ea typeface="ＭＳ Ｐゴシック" panose="020B0600070205080204" pitchFamily="34" charset="-128"/>
              </a:rPr>
              <a:t>Sensors:</a:t>
            </a:r>
            <a:endParaRPr lang="en-US" altLang="es-CL" sz="2400" dirty="0">
              <a:ea typeface="ＭＳ Ｐゴシック" panose="020B0600070205080204" pitchFamily="34" charset="-128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458516"/>
            <a:ext cx="4419600" cy="3314700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743338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sz="4000" dirty="0" err="1">
                <a:ea typeface="ＭＳ Ｐゴシック" panose="020B0600070205080204" pitchFamily="34" charset="-128"/>
              </a:rPr>
              <a:t>Ejercicio</a:t>
            </a:r>
            <a:r>
              <a:rPr lang="en-US" altLang="es-CL" sz="4000" dirty="0">
                <a:ea typeface="ＭＳ Ｐゴシック" panose="020B0600070205080204" pitchFamily="34" charset="-128"/>
              </a:rPr>
              <a:t>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práctico</a:t>
            </a:r>
            <a:r>
              <a:rPr lang="en-US" altLang="es-CL" sz="4000" dirty="0">
                <a:ea typeface="ＭＳ Ｐゴシック" panose="020B0600070205080204" pitchFamily="34" charset="-128"/>
              </a:rPr>
              <a:t>: PEAS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15516"/>
            <a:ext cx="7848600" cy="4572000"/>
          </a:xfrm>
        </p:spPr>
        <p:txBody>
          <a:bodyPr/>
          <a:lstStyle/>
          <a:p>
            <a:pPr eaLnBrk="1" hangingPunct="1"/>
            <a:r>
              <a:rPr lang="en-US" altLang="es-CL" sz="24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2400" dirty="0">
                <a:ea typeface="ＭＳ Ｐゴシック" panose="020B0600070205080204" pitchFamily="34" charset="-128"/>
              </a:rPr>
              <a:t>: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Agente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 comprador (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abastecimiento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) en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línea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Performance measure: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Environment:</a:t>
            </a:r>
          </a:p>
          <a:p>
            <a:pPr eaLnBrk="1" hangingPunct="1"/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Actuators: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800080"/>
                </a:solidFill>
                <a:ea typeface="ＭＳ Ｐゴシック" panose="020B0600070205080204" pitchFamily="34" charset="-128"/>
              </a:rPr>
              <a:t>Sensors:</a:t>
            </a:r>
            <a:endParaRPr lang="en-US" altLang="es-CL" sz="2400" dirty="0">
              <a:ea typeface="ＭＳ Ｐゴシック" panose="020B0600070205080204" pitchFamily="34" charset="-128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2" name="AutoShape 2" descr="Frequently Asked Questions About Sourcing Agents - Union Source"/>
          <p:cNvSpPr>
            <a:spLocks noChangeAspect="1" noChangeArrowheads="1"/>
          </p:cNvSpPr>
          <p:nvPr/>
        </p:nvSpPr>
        <p:spPr bwMode="auto">
          <a:xfrm>
            <a:off x="5562600" y="304800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2696641"/>
            <a:ext cx="47625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78651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1DA9B9-1166-46A4-9AD6-77A44D3DC70E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>
                <a:solidFill>
                  <a:srgbClr val="CC3300"/>
                </a:solidFill>
              </a:rPr>
              <a:t>Ambientes</a:t>
            </a:r>
            <a:r>
              <a:rPr lang="en-US" altLang="es-CL" dirty="0">
                <a:solidFill>
                  <a:srgbClr val="CC3300"/>
                </a:solidFill>
              </a:rPr>
              <a:t> – </a:t>
            </a:r>
            <a:r>
              <a:rPr lang="en-US" altLang="es-CL" i="1" dirty="0" err="1">
                <a:solidFill>
                  <a:srgbClr val="003399"/>
                </a:solidFill>
              </a:rPr>
              <a:t>Accesibles</a:t>
            </a:r>
            <a:r>
              <a:rPr lang="en-US" altLang="es-CL" i="1" dirty="0">
                <a:solidFill>
                  <a:srgbClr val="003399"/>
                </a:solidFill>
              </a:rPr>
              <a:t> </a:t>
            </a:r>
            <a:r>
              <a:rPr lang="en-US" altLang="es-CL" dirty="0">
                <a:solidFill>
                  <a:srgbClr val="003399"/>
                </a:solidFill>
              </a:rPr>
              <a:t>vs. </a:t>
            </a:r>
            <a:r>
              <a:rPr lang="en-US" altLang="es-CL" i="1" dirty="0" err="1">
                <a:solidFill>
                  <a:srgbClr val="003399"/>
                </a:solidFill>
              </a:rPr>
              <a:t>inaccesibles</a:t>
            </a:r>
            <a:endParaRPr lang="en-US" altLang="es-CL" i="1" dirty="0">
              <a:solidFill>
                <a:srgbClr val="003399"/>
              </a:solidFill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0010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accesible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aquel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que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obtener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información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completa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precisa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actualizada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estado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dicho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ambiente</a:t>
            </a:r>
            <a:br>
              <a:rPr lang="en-US" altLang="es-CL" sz="2000" dirty="0"/>
            </a:br>
            <a:r>
              <a:rPr lang="en-US" altLang="es-CL" sz="2000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/>
              <a:t>La </a:t>
            </a:r>
            <a:r>
              <a:rPr lang="en-US" altLang="es-CL" sz="2000" dirty="0" err="1"/>
              <a:t>mayoría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ambientes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moderadamente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complejos</a:t>
            </a:r>
            <a:r>
              <a:rPr lang="en-US" altLang="es-CL" sz="2000" dirty="0"/>
              <a:t> (</a:t>
            </a:r>
            <a:r>
              <a:rPr lang="en-US" altLang="es-CL" sz="2000" dirty="0" err="1"/>
              <a:t>incluyendo</a:t>
            </a:r>
            <a:r>
              <a:rPr lang="en-US" altLang="es-CL" sz="2000" dirty="0"/>
              <a:t>, p. </a:t>
            </a:r>
            <a:r>
              <a:rPr lang="en-US" altLang="es-CL" sz="2000" dirty="0" err="1"/>
              <a:t>ej</a:t>
            </a:r>
            <a:r>
              <a:rPr lang="en-US" altLang="es-CL" sz="2000" dirty="0"/>
              <a:t>., el </a:t>
            </a:r>
            <a:r>
              <a:rPr lang="en-US" altLang="es-CL" sz="2000" dirty="0" err="1"/>
              <a:t>mundo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físico</a:t>
            </a:r>
            <a:r>
              <a:rPr lang="en-US" altLang="es-CL" sz="2000" dirty="0"/>
              <a:t> e Internet) son </a:t>
            </a:r>
            <a:r>
              <a:rPr lang="en-US" altLang="es-CL" sz="2000" dirty="0" err="1"/>
              <a:t>inaccesibles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>
              <a:lnSpc>
                <a:spcPct val="90000"/>
              </a:lnSpc>
            </a:pPr>
            <a:r>
              <a:rPr lang="en-US" altLang="es-CL" sz="2000" dirty="0" err="1"/>
              <a:t>Mientras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más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accesible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más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fácil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construir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agentes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operen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bien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él</a:t>
            </a:r>
            <a:endParaRPr lang="en-US" altLang="es-CL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942" y="3613110"/>
            <a:ext cx="378221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05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372412-91A8-49C8-B97D-1ED12DE69315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sz="3800" dirty="0" err="1"/>
              <a:t>Ambientes</a:t>
            </a:r>
            <a:r>
              <a:rPr lang="en-US" altLang="es-CL" sz="3800" dirty="0"/>
              <a:t> – </a:t>
            </a:r>
            <a:r>
              <a:rPr lang="en-US" altLang="es-CL" sz="3600" i="1" dirty="0" err="1">
                <a:solidFill>
                  <a:srgbClr val="003399"/>
                </a:solidFill>
              </a:rPr>
              <a:t>Determinístico</a:t>
            </a:r>
            <a:r>
              <a:rPr lang="en-US" altLang="es-CL" sz="3600" i="1" dirty="0">
                <a:solidFill>
                  <a:srgbClr val="003399"/>
                </a:solidFill>
              </a:rPr>
              <a:t> </a:t>
            </a:r>
            <a:r>
              <a:rPr lang="en-US" altLang="es-CL" sz="3600" dirty="0">
                <a:solidFill>
                  <a:srgbClr val="003399"/>
                </a:solidFill>
              </a:rPr>
              <a:t>vs. </a:t>
            </a:r>
            <a:r>
              <a:rPr lang="en-US" altLang="es-CL" sz="3600" i="1" dirty="0">
                <a:solidFill>
                  <a:srgbClr val="003399"/>
                </a:solidFill>
              </a:rPr>
              <a:t>no-</a:t>
            </a:r>
            <a:r>
              <a:rPr lang="en-US" altLang="es-CL" sz="3600" i="1" dirty="0" err="1">
                <a:solidFill>
                  <a:srgbClr val="003399"/>
                </a:solidFill>
              </a:rPr>
              <a:t>determinístico</a:t>
            </a:r>
            <a:endParaRPr lang="en-US" altLang="es-CL" sz="3600" i="1" dirty="0">
              <a:solidFill>
                <a:srgbClr val="003399"/>
              </a:solidFill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determinístico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aquel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cual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acción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tiene</a:t>
            </a:r>
            <a:r>
              <a:rPr lang="en-US" altLang="es-CL" sz="2000" dirty="0"/>
              <a:t> un solo </a:t>
            </a:r>
            <a:r>
              <a:rPr lang="en-US" altLang="es-CL" sz="2000" dirty="0" err="1"/>
              <a:t>efecto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garantizado</a:t>
            </a:r>
            <a:r>
              <a:rPr lang="en-US" altLang="es-CL" sz="2000" dirty="0"/>
              <a:t> — no hay </a:t>
            </a:r>
            <a:r>
              <a:rPr lang="en-US" altLang="es-CL" sz="2000" dirty="0" err="1"/>
              <a:t>incertidumbre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respecto</a:t>
            </a:r>
            <a:r>
              <a:rPr lang="en-US" altLang="es-CL" sz="2000" dirty="0"/>
              <a:t> al </a:t>
            </a:r>
            <a:r>
              <a:rPr lang="en-US" altLang="es-CL" sz="2000" dirty="0" err="1"/>
              <a:t>estado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resultante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efectuar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acción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El </a:t>
            </a:r>
            <a:r>
              <a:rPr lang="en-US" altLang="es-CL" sz="2000" dirty="0" err="1"/>
              <a:t>mundo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físico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ser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clasificado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todos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propósitos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como</a:t>
            </a:r>
            <a:r>
              <a:rPr lang="en-US" altLang="es-CL" sz="2000" dirty="0"/>
              <a:t> no-</a:t>
            </a:r>
            <a:r>
              <a:rPr lang="en-US" altLang="es-CL" sz="2000" dirty="0" err="1"/>
              <a:t>determinístico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Ambientes</a:t>
            </a:r>
            <a:r>
              <a:rPr lang="en-US" altLang="es-CL" sz="2000" dirty="0"/>
              <a:t> no-</a:t>
            </a:r>
            <a:r>
              <a:rPr lang="en-US" altLang="es-CL" sz="2000" dirty="0" err="1"/>
              <a:t>determinísticos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presentan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mayores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problemas</a:t>
            </a:r>
            <a:r>
              <a:rPr lang="en-US" altLang="es-CL" sz="2000" dirty="0"/>
              <a:t> para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diseñadores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agentes</a:t>
            </a:r>
            <a:endParaRPr lang="en-US" altLang="es-CL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4506514"/>
            <a:ext cx="3212052" cy="189821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4572000"/>
            <a:ext cx="1600200" cy="16002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97" y="4841261"/>
            <a:ext cx="3091240" cy="79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96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30FA4B-1F26-457D-B5C4-8F59BCB2CF47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Ambientes</a:t>
            </a:r>
            <a:r>
              <a:rPr lang="en-US" altLang="es-CL" dirty="0"/>
              <a:t> - </a:t>
            </a:r>
            <a:r>
              <a:rPr lang="en-US" altLang="es-CL" i="1" dirty="0" err="1">
                <a:solidFill>
                  <a:srgbClr val="003399"/>
                </a:solidFill>
              </a:rPr>
              <a:t>Episódicos</a:t>
            </a:r>
            <a:r>
              <a:rPr lang="en-US" altLang="es-CL" i="1" dirty="0">
                <a:solidFill>
                  <a:srgbClr val="003399"/>
                </a:solidFill>
              </a:rPr>
              <a:t> </a:t>
            </a:r>
            <a:r>
              <a:rPr lang="en-US" altLang="es-CL" dirty="0">
                <a:solidFill>
                  <a:srgbClr val="003399"/>
                </a:solidFill>
              </a:rPr>
              <a:t>vs. </a:t>
            </a:r>
            <a:r>
              <a:rPr lang="en-US" altLang="es-CL" i="1" dirty="0">
                <a:solidFill>
                  <a:srgbClr val="003399"/>
                </a:solidFill>
              </a:rPr>
              <a:t>no-</a:t>
            </a:r>
            <a:r>
              <a:rPr lang="en-US" altLang="es-CL" i="1" dirty="0" err="1">
                <a:solidFill>
                  <a:srgbClr val="003399"/>
                </a:solidFill>
              </a:rPr>
              <a:t>episódicos</a:t>
            </a:r>
            <a:endParaRPr lang="en-US" altLang="es-CL" i="1" dirty="0">
              <a:solidFill>
                <a:srgbClr val="003399"/>
              </a:solidFill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05800" cy="5257800"/>
          </a:xfrm>
        </p:spPr>
        <p:txBody>
          <a:bodyPr/>
          <a:lstStyle/>
          <a:p>
            <a:pPr eaLnBrk="1" hangingPunct="1"/>
            <a:r>
              <a:rPr lang="en-US" altLang="es-CL" sz="2000" dirty="0" err="1"/>
              <a:t>En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episódico</a:t>
            </a:r>
            <a:r>
              <a:rPr lang="en-US" altLang="es-CL" sz="2000" dirty="0"/>
              <a:t>, el </a:t>
            </a:r>
            <a:r>
              <a:rPr lang="en-US" altLang="es-CL" sz="2000" dirty="0" err="1"/>
              <a:t>rendimiento</a:t>
            </a:r>
            <a:r>
              <a:rPr lang="en-US" altLang="es-CL" sz="2000" dirty="0"/>
              <a:t> de un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dependiente</a:t>
            </a:r>
            <a:r>
              <a:rPr lang="en-US" altLang="es-CL" sz="2000" dirty="0"/>
              <a:t> de un solo </a:t>
            </a:r>
            <a:r>
              <a:rPr lang="en-US" altLang="es-CL" sz="2000" dirty="0" err="1"/>
              <a:t>episodio</a:t>
            </a:r>
            <a:r>
              <a:rPr lang="en-US" altLang="es-CL" sz="2000" dirty="0"/>
              <a:t> (“corrida”), sin </a:t>
            </a:r>
            <a:r>
              <a:rPr lang="en-US" altLang="es-CL" sz="2000" dirty="0" err="1"/>
              <a:t>ninguna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interacción</a:t>
            </a:r>
            <a:r>
              <a:rPr lang="en-US" altLang="es-CL" sz="2000" dirty="0"/>
              <a:t> con </a:t>
            </a:r>
            <a:r>
              <a:rPr lang="en-US" altLang="es-CL" sz="2000" dirty="0" err="1"/>
              <a:t>otros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episodios</a:t>
            </a:r>
            <a:r>
              <a:rPr lang="en-US" altLang="es-CL" sz="2000" dirty="0"/>
              <a:t> o </a:t>
            </a:r>
            <a:r>
              <a:rPr lang="en-US" altLang="es-CL" sz="2000" dirty="0" err="1"/>
              <a:t>estados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futuros</a:t>
            </a:r>
            <a:r>
              <a:rPr lang="en-US" altLang="es-CL" sz="2000" dirty="0"/>
              <a:t> (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i="1" dirty="0">
                <a:solidFill>
                  <a:srgbClr val="003399"/>
                </a:solidFill>
              </a:rPr>
              <a:t>no-</a:t>
            </a:r>
            <a:r>
              <a:rPr lang="en-US" altLang="es-CL" sz="2000" i="1" dirty="0" err="1">
                <a:solidFill>
                  <a:srgbClr val="003399"/>
                </a:solidFill>
              </a:rPr>
              <a:t>secuencial</a:t>
            </a:r>
            <a:r>
              <a:rPr lang="en-US" altLang="es-CL" sz="2000" dirty="0"/>
              <a:t>)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Ambientes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episódicos</a:t>
            </a:r>
            <a:r>
              <a:rPr lang="en-US" altLang="es-CL" sz="2000" dirty="0"/>
              <a:t> son </a:t>
            </a:r>
            <a:r>
              <a:rPr lang="en-US" altLang="es-CL" sz="2000" dirty="0" err="1"/>
              <a:t>más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fáciles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manejar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ya</a:t>
            </a:r>
            <a:r>
              <a:rPr lang="en-US" altLang="es-CL" sz="2000" dirty="0"/>
              <a:t> que el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decidir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qué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acción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ejecutar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basado</a:t>
            </a:r>
            <a:r>
              <a:rPr lang="en-US" altLang="es-CL" sz="2000" dirty="0"/>
              <a:t> solo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el </a:t>
            </a:r>
            <a:r>
              <a:rPr lang="en-US" altLang="es-CL" sz="2000" dirty="0" err="1"/>
              <a:t>episodio</a:t>
            </a:r>
            <a:r>
              <a:rPr lang="en-US" altLang="es-CL" sz="2000" dirty="0"/>
              <a:t>/</a:t>
            </a:r>
            <a:r>
              <a:rPr lang="en-US" altLang="es-CL" sz="2000" dirty="0" err="1"/>
              <a:t>estado</a:t>
            </a:r>
            <a:r>
              <a:rPr lang="en-US" altLang="es-CL" sz="2000" dirty="0"/>
              <a:t> actual – no </a:t>
            </a:r>
            <a:r>
              <a:rPr lang="en-US" altLang="es-CL" sz="2000" dirty="0" err="1"/>
              <a:t>debe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razonar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acerca</a:t>
            </a:r>
            <a:r>
              <a:rPr lang="en-US" altLang="es-CL" sz="2000" dirty="0"/>
              <a:t> de las </a:t>
            </a:r>
            <a:r>
              <a:rPr lang="en-US" altLang="es-CL" sz="2000" dirty="0" err="1"/>
              <a:t>interacciones</a:t>
            </a:r>
            <a:r>
              <a:rPr lang="en-US" altLang="es-CL" sz="2000" dirty="0"/>
              <a:t> entre el </a:t>
            </a:r>
            <a:r>
              <a:rPr lang="en-US" altLang="es-CL" sz="2000" dirty="0" err="1"/>
              <a:t>episodio</a:t>
            </a:r>
            <a:r>
              <a:rPr lang="en-US" altLang="es-CL" sz="2000" dirty="0"/>
              <a:t>/</a:t>
            </a:r>
            <a:r>
              <a:rPr lang="en-US" altLang="es-CL" sz="2000" dirty="0" err="1"/>
              <a:t>estado</a:t>
            </a:r>
            <a:r>
              <a:rPr lang="en-US" altLang="es-CL" sz="2000" dirty="0"/>
              <a:t> actual y </a:t>
            </a:r>
            <a:r>
              <a:rPr lang="en-US" altLang="es-CL" sz="2000" dirty="0" err="1"/>
              <a:t>los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futuros</a:t>
            </a:r>
            <a:endParaRPr lang="en-US" altLang="es-CL" sz="2000" dirty="0"/>
          </a:p>
          <a:p>
            <a:pPr eaLnBrk="1" hangingPunct="1"/>
            <a:r>
              <a:rPr lang="en-US" altLang="es-CL" sz="2000" dirty="0"/>
              <a:t>No-</a:t>
            </a:r>
            <a:r>
              <a:rPr lang="en-US" altLang="es-CL" sz="2000" dirty="0" err="1"/>
              <a:t>episódico</a:t>
            </a:r>
            <a:r>
              <a:rPr lang="en-US" altLang="es-CL" sz="2000" dirty="0"/>
              <a:t> = </a:t>
            </a:r>
            <a:r>
              <a:rPr lang="en-US" altLang="es-CL" sz="2000" i="1" dirty="0" err="1">
                <a:solidFill>
                  <a:srgbClr val="003399"/>
                </a:solidFill>
              </a:rPr>
              <a:t>secuencial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eaLnBrk="1" hangingPunct="1"/>
            <a:endParaRPr lang="en-US" altLang="es-CL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343400"/>
            <a:ext cx="3467584" cy="131463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092" y="3820701"/>
            <a:ext cx="2743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51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E6D656-8EC5-461B-A895-EFE099D1D33A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Ambientes</a:t>
            </a:r>
            <a:r>
              <a:rPr lang="en-US" altLang="es-CL" dirty="0"/>
              <a:t> - </a:t>
            </a:r>
            <a:r>
              <a:rPr lang="en-US" altLang="es-CL" i="1" dirty="0" err="1">
                <a:solidFill>
                  <a:srgbClr val="003399"/>
                </a:solidFill>
              </a:rPr>
              <a:t>Estáticos</a:t>
            </a:r>
            <a:r>
              <a:rPr lang="en-US" altLang="es-CL" i="1" dirty="0">
                <a:solidFill>
                  <a:srgbClr val="003399"/>
                </a:solidFill>
              </a:rPr>
              <a:t> </a:t>
            </a:r>
            <a:r>
              <a:rPr lang="en-US" altLang="es-CL" dirty="0">
                <a:solidFill>
                  <a:srgbClr val="003399"/>
                </a:solidFill>
              </a:rPr>
              <a:t>vs. </a:t>
            </a:r>
            <a:r>
              <a:rPr lang="en-US" altLang="es-CL" i="1" dirty="0" err="1">
                <a:solidFill>
                  <a:srgbClr val="003399"/>
                </a:solidFill>
              </a:rPr>
              <a:t>dinámicos</a:t>
            </a:r>
            <a:endParaRPr lang="en-US" altLang="es-CL" i="1" dirty="0">
              <a:solidFill>
                <a:srgbClr val="003399"/>
              </a:solidFill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05800" cy="4987925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estático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asumirse</a:t>
            </a:r>
            <a:r>
              <a:rPr lang="en-US" altLang="es-CL" sz="2000" dirty="0"/>
              <a:t> que no </a:t>
            </a:r>
            <a:r>
              <a:rPr lang="en-US" altLang="es-CL" sz="2000" dirty="0" err="1"/>
              <a:t>variará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excepto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por</a:t>
            </a:r>
            <a:r>
              <a:rPr lang="en-US" altLang="es-CL" sz="2000" dirty="0"/>
              <a:t> las </a:t>
            </a:r>
            <a:r>
              <a:rPr lang="en-US" altLang="es-CL" sz="2000" dirty="0" err="1"/>
              <a:t>acciones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agente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dinámico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tiene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varios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procesos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operación</a:t>
            </a:r>
            <a:r>
              <a:rPr lang="en-US" altLang="es-CL" sz="2000" dirty="0"/>
              <a:t> y que </a:t>
            </a:r>
            <a:r>
              <a:rPr lang="en-US" altLang="es-CL" sz="2000" dirty="0" err="1"/>
              <a:t>varía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formas</a:t>
            </a:r>
            <a:r>
              <a:rPr lang="en-US" altLang="es-CL" sz="2000" dirty="0"/>
              <a:t> que </a:t>
            </a:r>
            <a:r>
              <a:rPr lang="en-US" altLang="es-CL" sz="2000" dirty="0" err="1"/>
              <a:t>están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más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allá</a:t>
            </a:r>
            <a:r>
              <a:rPr lang="en-US" altLang="es-CL" sz="2000" dirty="0"/>
              <a:t> del control del </a:t>
            </a:r>
            <a:r>
              <a:rPr lang="en-US" altLang="es-CL" sz="2000" dirty="0" err="1"/>
              <a:t>agente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Otros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procesos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interferir</a:t>
            </a:r>
            <a:r>
              <a:rPr lang="en-US" altLang="es-CL" sz="2000" dirty="0"/>
              <a:t> con las </a:t>
            </a:r>
            <a:r>
              <a:rPr lang="en-US" altLang="es-CL" sz="2000" dirty="0" err="1"/>
              <a:t>acciones</a:t>
            </a:r>
            <a:r>
              <a:rPr lang="en-US" altLang="es-CL" sz="2000" dirty="0"/>
              <a:t> del </a:t>
            </a:r>
            <a:r>
              <a:rPr lang="en-US" altLang="es-CL" sz="2000" dirty="0" err="1"/>
              <a:t>agente</a:t>
            </a:r>
            <a:r>
              <a:rPr lang="en-US" altLang="es-CL" sz="2000" dirty="0"/>
              <a:t> (</a:t>
            </a:r>
            <a:r>
              <a:rPr lang="en-US" altLang="es-CL" sz="2000" dirty="0" err="1"/>
              <a:t>como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sistemas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concurrentes</a:t>
            </a:r>
            <a:r>
              <a:rPr lang="en-US" altLang="es-CL" sz="2000" dirty="0"/>
              <a:t>)</a:t>
            </a:r>
            <a:br>
              <a:rPr lang="en-US" altLang="es-CL" sz="2000" dirty="0"/>
            </a:br>
            <a:endParaRPr lang="en-US" altLang="es-CL" sz="2000" dirty="0"/>
          </a:p>
          <a:p>
            <a:pPr eaLnBrk="1" hangingPunct="1"/>
            <a:r>
              <a:rPr lang="en-US" altLang="es-CL" sz="2000" dirty="0"/>
              <a:t>El </a:t>
            </a:r>
            <a:r>
              <a:rPr lang="en-US" altLang="es-CL" sz="2000" dirty="0" err="1"/>
              <a:t>mundo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físico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altamente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dinámico</a:t>
            </a:r>
            <a:endParaRPr lang="en-US" altLang="es-CL" sz="2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495800"/>
            <a:ext cx="28194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81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482D77-194F-406C-A91A-C76D53CC3478}" type="slidenum">
              <a:rPr lang="en-US" altLang="en-US" sz="120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>
              <a:latin typeface="Garamond" panose="02020404030301010803" pitchFamily="18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s-CL" dirty="0" err="1"/>
              <a:t>Ambientes</a:t>
            </a:r>
            <a:r>
              <a:rPr lang="en-US" altLang="es-CL" dirty="0"/>
              <a:t> – </a:t>
            </a:r>
            <a:r>
              <a:rPr lang="en-US" altLang="es-CL" i="1" dirty="0" err="1">
                <a:solidFill>
                  <a:srgbClr val="003399"/>
                </a:solidFill>
              </a:rPr>
              <a:t>Discretos</a:t>
            </a:r>
            <a:r>
              <a:rPr lang="en-US" altLang="es-CL" i="1" dirty="0">
                <a:solidFill>
                  <a:srgbClr val="003399"/>
                </a:solidFill>
              </a:rPr>
              <a:t> </a:t>
            </a:r>
            <a:r>
              <a:rPr lang="en-US" altLang="es-CL" dirty="0">
                <a:solidFill>
                  <a:srgbClr val="003399"/>
                </a:solidFill>
              </a:rPr>
              <a:t>vs. </a:t>
            </a:r>
            <a:r>
              <a:rPr lang="en-US" altLang="es-CL" i="1" dirty="0" err="1">
                <a:solidFill>
                  <a:srgbClr val="003399"/>
                </a:solidFill>
              </a:rPr>
              <a:t>continuos</a:t>
            </a:r>
            <a:endParaRPr lang="en-US" altLang="es-CL" i="1" dirty="0">
              <a:solidFill>
                <a:srgbClr val="003399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153400" cy="5257800"/>
          </a:xfrm>
        </p:spPr>
        <p:txBody>
          <a:bodyPr/>
          <a:lstStyle/>
          <a:p>
            <a:pPr eaLnBrk="1" hangingPunct="1"/>
            <a:r>
              <a:rPr lang="en-US" altLang="es-CL" sz="2000" dirty="0"/>
              <a:t>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discreto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si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existe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número</a:t>
            </a:r>
            <a:r>
              <a:rPr lang="en-US" altLang="es-CL" sz="2000" dirty="0"/>
              <a:t>  </a:t>
            </a:r>
            <a:r>
              <a:rPr lang="en-US" altLang="es-CL" sz="2000" dirty="0" err="1"/>
              <a:t>fijo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finito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acciones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percepciones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este</a:t>
            </a:r>
            <a:endParaRPr lang="en-US" altLang="es-CL" sz="2000" dirty="0"/>
          </a:p>
          <a:p>
            <a:pPr eaLnBrk="1" hangingPunct="1"/>
            <a:r>
              <a:rPr lang="en-US" altLang="es-CL" sz="2000" dirty="0"/>
              <a:t>Russell y </a:t>
            </a:r>
            <a:r>
              <a:rPr lang="en-US" altLang="es-CL" sz="2000" dirty="0" err="1"/>
              <a:t>Norvig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citan</a:t>
            </a:r>
            <a:r>
              <a:rPr lang="en-US" altLang="es-CL" sz="2000" dirty="0"/>
              <a:t> un </a:t>
            </a:r>
            <a:r>
              <a:rPr lang="en-US" altLang="es-CL" sz="2000" dirty="0" err="1"/>
              <a:t>juego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ajedrez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ejemplo</a:t>
            </a:r>
            <a:r>
              <a:rPr lang="en-US" altLang="es-CL" sz="2000" dirty="0"/>
              <a:t> de un </a:t>
            </a:r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discreto</a:t>
            </a:r>
            <a:r>
              <a:rPr lang="en-US" altLang="es-CL" sz="2000" dirty="0"/>
              <a:t> y </a:t>
            </a:r>
            <a:r>
              <a:rPr lang="en-US" altLang="es-CL" sz="2000" dirty="0" err="1"/>
              <a:t>manejar</a:t>
            </a:r>
            <a:r>
              <a:rPr lang="en-US" altLang="es-CL" sz="2000" dirty="0"/>
              <a:t> un taxi </a:t>
            </a:r>
            <a:r>
              <a:rPr lang="en-US" altLang="es-CL" sz="2000" dirty="0" err="1"/>
              <a:t>como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ejemplo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uno</a:t>
            </a:r>
            <a:r>
              <a:rPr lang="en-US" altLang="es-CL" sz="2000" dirty="0"/>
              <a:t> continuo</a:t>
            </a:r>
          </a:p>
          <a:p>
            <a:pPr eaLnBrk="1" hangingPunct="1"/>
            <a:r>
              <a:rPr lang="en-US" altLang="es-CL" sz="2000" dirty="0" err="1"/>
              <a:t>Ambientes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continuos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tienen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cierto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grado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incompatibilidad</a:t>
            </a:r>
            <a:r>
              <a:rPr lang="en-US" altLang="es-CL" sz="2000" dirty="0"/>
              <a:t> con </a:t>
            </a:r>
            <a:r>
              <a:rPr lang="en-US" altLang="es-CL" sz="2000" dirty="0" err="1"/>
              <a:t>sistemas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computacionales</a:t>
            </a:r>
            <a:endParaRPr lang="en-US" altLang="es-CL" sz="2000" dirty="0"/>
          </a:p>
          <a:p>
            <a:pPr eaLnBrk="1" hangingPunct="1"/>
            <a:r>
              <a:rPr lang="en-US" altLang="es-CL" sz="2000" dirty="0" err="1"/>
              <a:t>Ambiente</a:t>
            </a:r>
            <a:r>
              <a:rPr lang="en-US" altLang="es-CL" sz="2000" dirty="0"/>
              <a:t> </a:t>
            </a:r>
            <a:r>
              <a:rPr lang="en-US" altLang="es-CL" sz="2000" dirty="0" err="1"/>
              <a:t>discretos</a:t>
            </a:r>
            <a:r>
              <a:rPr lang="en-US" altLang="es-CL" sz="2000" dirty="0"/>
              <a:t> </a:t>
            </a:r>
            <a:r>
              <a:rPr lang="en-US" altLang="es-CL" sz="2000" dirty="0" err="1"/>
              <a:t>pueden</a:t>
            </a:r>
            <a:r>
              <a:rPr lang="en-US" altLang="es-CL" sz="2000" dirty="0"/>
              <a:t> </a:t>
            </a:r>
            <a:r>
              <a:rPr lang="en-US" altLang="es-CL" sz="2000" dirty="0" err="1"/>
              <a:t>manejarse</a:t>
            </a:r>
            <a:r>
              <a:rPr lang="en-US" altLang="es-CL" sz="2000" dirty="0"/>
              <a:t>, </a:t>
            </a:r>
            <a:r>
              <a:rPr lang="en-US" altLang="es-CL" sz="2000" dirty="0" err="1"/>
              <a:t>en</a:t>
            </a:r>
            <a:r>
              <a:rPr lang="en-US" altLang="es-CL" sz="2000" dirty="0"/>
              <a:t> principio, </a:t>
            </a:r>
            <a:r>
              <a:rPr lang="en-US" altLang="es-CL" sz="2000" dirty="0" err="1"/>
              <a:t>usando</a:t>
            </a:r>
            <a:r>
              <a:rPr lang="en-US" altLang="es-CL" sz="2000" dirty="0"/>
              <a:t> </a:t>
            </a:r>
            <a:r>
              <a:rPr lang="en-US" altLang="es-CL" sz="2000" dirty="0" err="1"/>
              <a:t>una</a:t>
            </a:r>
            <a:r>
              <a:rPr lang="en-US" altLang="es-CL" sz="2000" dirty="0"/>
              <a:t> </a:t>
            </a:r>
            <a:r>
              <a:rPr lang="en-US" altLang="es-CL" sz="2000" dirty="0" err="1"/>
              <a:t>tabla</a:t>
            </a:r>
            <a:r>
              <a:rPr lang="en-US" altLang="es-CL" sz="2000" dirty="0"/>
              <a:t> de </a:t>
            </a:r>
            <a:r>
              <a:rPr lang="en-US" altLang="es-CL" sz="2000" dirty="0" err="1"/>
              <a:t>valores</a:t>
            </a:r>
            <a:r>
              <a:rPr lang="en-US" altLang="es-CL" sz="2000" dirty="0"/>
              <a:t> (</a:t>
            </a:r>
            <a:r>
              <a:rPr lang="en-US" altLang="es-CL" sz="2000" i="1" dirty="0"/>
              <a:t>lookup table</a:t>
            </a:r>
            <a:r>
              <a:rPr lang="en-US" altLang="es-CL" sz="2000" dirty="0"/>
              <a:t>)</a:t>
            </a:r>
          </a:p>
          <a:p>
            <a:pPr eaLnBrk="1" hangingPunct="1"/>
            <a:endParaRPr lang="en-US" altLang="es-CL" sz="26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3886200"/>
            <a:ext cx="3200400" cy="213360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886200"/>
            <a:ext cx="2835615" cy="212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63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sz="4000" dirty="0" err="1">
                <a:ea typeface="ＭＳ Ｐゴシック" panose="020B0600070205080204" pitchFamily="34" charset="-128"/>
              </a:rPr>
              <a:t>Ejercicio</a:t>
            </a:r>
            <a:r>
              <a:rPr lang="en-US" altLang="es-CL" sz="4000" dirty="0">
                <a:ea typeface="ＭＳ Ｐゴシック" panose="020B0600070205080204" pitchFamily="34" charset="-128"/>
              </a:rPr>
              <a:t>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práctico</a:t>
            </a:r>
            <a:r>
              <a:rPr lang="en-US" altLang="es-CL" sz="4000" dirty="0">
                <a:ea typeface="ＭＳ Ｐゴシック" panose="020B0600070205080204" pitchFamily="34" charset="-128"/>
              </a:rPr>
              <a:t>: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Ambientes</a:t>
            </a:r>
            <a:endParaRPr lang="en-US" altLang="es-CL" sz="4000" dirty="0">
              <a:ea typeface="ＭＳ Ｐゴシック" panose="020B0600070205080204" pitchFamily="34" charset="-128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7848600" cy="3810000"/>
          </a:xfrm>
        </p:spPr>
        <p:txBody>
          <a:bodyPr/>
          <a:lstStyle/>
          <a:p>
            <a:pPr eaLnBrk="1" hangingPunct="1"/>
            <a:r>
              <a:rPr lang="en-US" altLang="es-CL" sz="24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2400" dirty="0">
                <a:ea typeface="ＭＳ Ｐゴシック" panose="020B0600070205080204" pitchFamily="34" charset="-128"/>
              </a:rPr>
              <a:t>: </a:t>
            </a:r>
            <a:r>
              <a:rPr lang="en-US" altLang="es-CL" sz="24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2400" dirty="0">
                <a:ea typeface="ＭＳ Ｐゴシック" panose="020B0600070205080204" pitchFamily="34" charset="-128"/>
              </a:rPr>
              <a:t> = 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robot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aspiradora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 (Roomba © y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Braava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 ©)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 (</a:t>
            </a:r>
            <a:r>
              <a:rPr lang="en-US" altLang="es-CL" sz="2400" dirty="0" err="1">
                <a:solidFill>
                  <a:srgbClr val="006600"/>
                </a:solidFill>
                <a:ea typeface="ＭＳ Ｐゴシック" panose="020B0600070205080204" pitchFamily="34" charset="-128"/>
              </a:rPr>
              <a:t>clasificación</a:t>
            </a:r>
            <a:r>
              <a:rPr lang="en-US" altLang="es-CL" sz="24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):</a:t>
            </a: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Accesible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 err="1">
                <a:solidFill>
                  <a:srgbClr val="003399"/>
                </a:solidFill>
              </a:rPr>
              <a:t>inaccesible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Determinístico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>
                <a:solidFill>
                  <a:srgbClr val="003399"/>
                </a:solidFill>
              </a:rPr>
              <a:t>no-</a:t>
            </a:r>
            <a:r>
              <a:rPr lang="en-US" altLang="es-CL" sz="2000" i="1" dirty="0" err="1">
                <a:solidFill>
                  <a:srgbClr val="003399"/>
                </a:solidFill>
              </a:rPr>
              <a:t>determinístico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Episódico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>
                <a:solidFill>
                  <a:srgbClr val="003399"/>
                </a:solidFill>
              </a:rPr>
              <a:t>no-</a:t>
            </a:r>
            <a:r>
              <a:rPr lang="en-US" altLang="es-CL" sz="2000" i="1" dirty="0" err="1">
                <a:solidFill>
                  <a:srgbClr val="003399"/>
                </a:solidFill>
              </a:rPr>
              <a:t>episódico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Estático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 err="1">
                <a:solidFill>
                  <a:srgbClr val="003399"/>
                </a:solidFill>
              </a:rPr>
              <a:t>dinámico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Discreto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>
                <a:solidFill>
                  <a:srgbClr val="003399"/>
                </a:solidFill>
              </a:rPr>
              <a:t>continuo</a:t>
            </a:r>
          </a:p>
          <a:p>
            <a:pPr lvl="1"/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endParaRPr lang="en-US" altLang="es-CL" sz="2000" dirty="0">
              <a:solidFill>
                <a:srgbClr val="006600"/>
              </a:solidFill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s-CL" sz="2400" dirty="0">
              <a:ea typeface="ＭＳ Ｐゴシック" panose="020B0600070205080204" pitchFamily="34" charset="-128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651813"/>
            <a:ext cx="3048000" cy="2286000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2223690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sz="4000" dirty="0" err="1">
                <a:ea typeface="ＭＳ Ｐゴシック" panose="020B0600070205080204" pitchFamily="34" charset="-128"/>
              </a:rPr>
              <a:t>Ejercicio</a:t>
            </a:r>
            <a:r>
              <a:rPr lang="en-US" altLang="es-CL" sz="4000" dirty="0">
                <a:ea typeface="ＭＳ Ｐゴシック" panose="020B0600070205080204" pitchFamily="34" charset="-128"/>
              </a:rPr>
              <a:t>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práctico</a:t>
            </a:r>
            <a:r>
              <a:rPr lang="en-US" altLang="es-CL" sz="4000" dirty="0">
                <a:ea typeface="ＭＳ Ｐゴシック" panose="020B0600070205080204" pitchFamily="34" charset="-128"/>
              </a:rPr>
              <a:t>: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Ambientes</a:t>
            </a:r>
            <a:endParaRPr lang="en-US" altLang="es-CL" sz="4000" dirty="0">
              <a:ea typeface="ＭＳ Ｐゴシック" panose="020B0600070205080204" pitchFamily="34" charset="-128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229600" cy="3810000"/>
          </a:xfrm>
        </p:spPr>
        <p:txBody>
          <a:bodyPr/>
          <a:lstStyle/>
          <a:p>
            <a:pPr eaLnBrk="1" hangingPunct="1"/>
            <a:r>
              <a:rPr lang="en-US" altLang="es-CL" sz="24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2400" dirty="0">
                <a:ea typeface="ＭＳ Ｐゴシック" panose="020B0600070205080204" pitchFamily="34" charset="-128"/>
              </a:rPr>
              <a:t>: </a:t>
            </a:r>
            <a:r>
              <a:rPr lang="en-US" altLang="es-CL" sz="24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2400" dirty="0">
                <a:ea typeface="ＭＳ Ｐゴシック" panose="020B0600070205080204" pitchFamily="34" charset="-128"/>
              </a:rPr>
              <a:t> =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Agente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 comprador (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abastecimiento</a:t>
            </a:r>
            <a:r>
              <a:rPr lang="en-US" altLang="es-CL" sz="2400" dirty="0">
                <a:ea typeface="ＭＳ Ｐゴシック" panose="020B0600070205080204" pitchFamily="34" charset="-128"/>
                <a:hlinkClick r:id="rId3"/>
              </a:rPr>
              <a:t>) en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3"/>
              </a:rPr>
              <a:t>línea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Environment (</a:t>
            </a:r>
            <a:r>
              <a:rPr lang="en-US" altLang="es-CL" sz="2400" dirty="0" err="1">
                <a:solidFill>
                  <a:srgbClr val="006600"/>
                </a:solidFill>
                <a:ea typeface="ＭＳ Ｐゴシック" panose="020B0600070205080204" pitchFamily="34" charset="-128"/>
              </a:rPr>
              <a:t>clasificación</a:t>
            </a:r>
            <a:r>
              <a:rPr lang="en-US" altLang="es-CL" sz="2400" dirty="0">
                <a:solidFill>
                  <a:srgbClr val="006600"/>
                </a:solidFill>
                <a:ea typeface="ＭＳ Ｐゴシック" panose="020B0600070205080204" pitchFamily="34" charset="-128"/>
              </a:rPr>
              <a:t>):</a:t>
            </a: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Accesible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 err="1">
                <a:solidFill>
                  <a:srgbClr val="003399"/>
                </a:solidFill>
              </a:rPr>
              <a:t>inaccesible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Determinístico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>
                <a:solidFill>
                  <a:srgbClr val="003399"/>
                </a:solidFill>
              </a:rPr>
              <a:t>no-</a:t>
            </a:r>
            <a:r>
              <a:rPr lang="en-US" altLang="es-CL" sz="2000" i="1" dirty="0" err="1">
                <a:solidFill>
                  <a:srgbClr val="003399"/>
                </a:solidFill>
              </a:rPr>
              <a:t>determinístico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Episódico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>
                <a:solidFill>
                  <a:srgbClr val="003399"/>
                </a:solidFill>
              </a:rPr>
              <a:t>no-</a:t>
            </a:r>
            <a:r>
              <a:rPr lang="en-US" altLang="es-CL" sz="2000" i="1" dirty="0" err="1">
                <a:solidFill>
                  <a:srgbClr val="003399"/>
                </a:solidFill>
              </a:rPr>
              <a:t>episódico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Estático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 err="1">
                <a:solidFill>
                  <a:srgbClr val="003399"/>
                </a:solidFill>
              </a:rPr>
              <a:t>dinámico</a:t>
            </a:r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r>
              <a:rPr lang="en-US" altLang="es-CL" sz="2000" i="1" dirty="0" err="1">
                <a:solidFill>
                  <a:srgbClr val="003399"/>
                </a:solidFill>
              </a:rPr>
              <a:t>Discreto</a:t>
            </a:r>
            <a:r>
              <a:rPr lang="en-US" altLang="es-CL" sz="2000" i="1" dirty="0">
                <a:solidFill>
                  <a:srgbClr val="003399"/>
                </a:solidFill>
              </a:rPr>
              <a:t> </a:t>
            </a:r>
            <a:r>
              <a:rPr lang="en-US" altLang="es-CL" sz="2000" dirty="0">
                <a:solidFill>
                  <a:srgbClr val="003399"/>
                </a:solidFill>
              </a:rPr>
              <a:t>vs. </a:t>
            </a:r>
            <a:r>
              <a:rPr lang="en-US" altLang="es-CL" sz="2000" i="1" dirty="0">
                <a:solidFill>
                  <a:srgbClr val="003399"/>
                </a:solidFill>
              </a:rPr>
              <a:t>continuo</a:t>
            </a:r>
          </a:p>
          <a:p>
            <a:pPr lvl="1"/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endParaRPr lang="en-US" altLang="es-CL" sz="2000" i="1" dirty="0">
              <a:solidFill>
                <a:srgbClr val="003399"/>
              </a:solidFill>
            </a:endParaRPr>
          </a:p>
          <a:p>
            <a:pPr lvl="1"/>
            <a:endParaRPr lang="en-US" altLang="es-CL" sz="2000" dirty="0">
              <a:solidFill>
                <a:srgbClr val="006600"/>
              </a:solidFill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s-CL" sz="2400" dirty="0">
              <a:ea typeface="ＭＳ Ｐゴシック" panose="020B0600070205080204" pitchFamily="34" charset="-128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37</a:t>
            </a:fld>
            <a:endParaRPr lang="en-U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672017"/>
            <a:ext cx="3449657" cy="231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47476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133350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sz="2800" dirty="0" err="1">
                <a:ea typeface="ＭＳ Ｐゴシック" panose="020B0600070205080204" pitchFamily="34" charset="-128"/>
              </a:rPr>
              <a:t>Agentes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Reflexivos</a:t>
            </a:r>
            <a:r>
              <a:rPr lang="en-US" altLang="es-CL" sz="2800" dirty="0">
                <a:ea typeface="ＭＳ Ｐゴシック" panose="020B0600070205080204" pitchFamily="34" charset="-128"/>
              </a:rPr>
              <a:t> Simples (Simple reflex)</a:t>
            </a:r>
          </a:p>
        </p:txBody>
      </p:sp>
      <p:pic>
        <p:nvPicPr>
          <p:cNvPr id="49155" name="Picture 3" descr="simple-reflex-agen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276350"/>
            <a:ext cx="7482678" cy="4764088"/>
          </a:xfrm>
        </p:spPr>
      </p:pic>
      <p:sp>
        <p:nvSpPr>
          <p:cNvPr id="51206" name="Text Box 7"/>
          <p:cNvSpPr txBox="1">
            <a:spLocks noChangeArrowheads="1"/>
          </p:cNvSpPr>
          <p:nvPr/>
        </p:nvSpPr>
        <p:spPr bwMode="auto">
          <a:xfrm>
            <a:off x="1134340" y="2643981"/>
            <a:ext cx="406876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SIN MEMORIA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Falla</a:t>
            </a:r>
            <a:r>
              <a:rPr lang="en-US" alt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20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si</a:t>
            </a:r>
            <a:r>
              <a:rPr lang="en-US" alt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el </a:t>
            </a:r>
            <a:r>
              <a:rPr lang="en-US" altLang="es-CL" sz="20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ambiente</a:t>
            </a:r>
            <a:r>
              <a:rPr lang="en-US" alt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20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es</a:t>
            </a:r>
            <a:r>
              <a:rPr lang="en-US" alt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20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parcialmente</a:t>
            </a:r>
            <a:endParaRPr lang="en-US" altLang="es-CL" sz="2000" b="1" dirty="0">
              <a:solidFill>
                <a:srgbClr val="FF0000"/>
              </a:solidFill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observable (accessible)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219200" y="3658394"/>
            <a:ext cx="35893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RAPIDO</a:t>
            </a:r>
          </a:p>
          <a:p>
            <a:r>
              <a:rPr lang="es-CL" sz="20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PERO DEMASIADO SIMPLE</a:t>
            </a:r>
            <a:endParaRPr lang="en-US" sz="2000" b="1" dirty="0">
              <a:solidFill>
                <a:srgbClr val="FF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38047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34839" y="160599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s-CL" sz="2800" dirty="0" err="1">
                <a:ea typeface="ＭＳ Ｐゴシック" panose="020B0600070205080204" pitchFamily="34" charset="-128"/>
              </a:rPr>
              <a:t>Agentes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Reflexivos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Basados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en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Modelo</a:t>
            </a:r>
            <a:endParaRPr lang="en-US" altLang="es-CL" sz="2800" dirty="0">
              <a:ea typeface="ＭＳ Ｐゴシック" panose="020B0600070205080204" pitchFamily="34" charset="-128"/>
            </a:endParaRPr>
          </a:p>
        </p:txBody>
      </p:sp>
      <p:pic>
        <p:nvPicPr>
          <p:cNvPr id="51203" name="Picture 3" descr="reflex+state-agen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8958" y="1957387"/>
            <a:ext cx="6604161" cy="4203601"/>
          </a:xfrm>
        </p:spPr>
      </p:pic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2296156" y="656601"/>
            <a:ext cx="510825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Modela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el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estado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del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mundo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al:</a:t>
            </a:r>
          </a:p>
          <a:p>
            <a:pPr marL="358775" indent="-358775" eaLnBrk="1" hangingPunct="1">
              <a:spcBef>
                <a:spcPct val="0"/>
              </a:spcBef>
            </a:pP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Modelar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cómo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cambia el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mundo</a:t>
            </a:r>
            <a:endParaRPr lang="en-US" altLang="es-CL" sz="2400" dirty="0">
              <a:latin typeface="+mj-lt"/>
              <a:ea typeface="ＭＳ Ｐゴシック" panose="020B0600070205080204" pitchFamily="34" charset="-128"/>
              <a:cs typeface="+mj-cs"/>
            </a:endParaRPr>
          </a:p>
          <a:p>
            <a:pPr marL="358775" indent="-358775" eaLnBrk="1" hangingPunct="1">
              <a:spcBef>
                <a:spcPct val="0"/>
              </a:spcBef>
            </a:pP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Cómo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sus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acciones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cambian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al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mundo</a:t>
            </a:r>
            <a:endParaRPr lang="en-US" altLang="es-CL" sz="2400" dirty="0">
              <a:latin typeface="+mj-lt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52229" name="Line 6"/>
          <p:cNvSpPr>
            <a:spLocks noChangeShapeType="1"/>
          </p:cNvSpPr>
          <p:nvPr/>
        </p:nvSpPr>
        <p:spPr bwMode="auto">
          <a:xfrm>
            <a:off x="2057400" y="2514600"/>
            <a:ext cx="325437" cy="6823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CL"/>
          </a:p>
        </p:txBody>
      </p:sp>
      <p:sp>
        <p:nvSpPr>
          <p:cNvPr id="52230" name="Text Box 7"/>
          <p:cNvSpPr txBox="1">
            <a:spLocks noChangeArrowheads="1"/>
          </p:cNvSpPr>
          <p:nvPr/>
        </p:nvSpPr>
        <p:spPr bwMode="auto">
          <a:xfrm>
            <a:off x="142875" y="2068213"/>
            <a:ext cx="272702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Descripción</a:t>
            </a: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 del </a:t>
            </a: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estado</a:t>
            </a: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actual del </a:t>
            </a: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mundo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2231" name="Text Box 8"/>
          <p:cNvSpPr txBox="1">
            <a:spLocks noChangeArrowheads="1"/>
          </p:cNvSpPr>
          <p:nvPr/>
        </p:nvSpPr>
        <p:spPr bwMode="auto">
          <a:xfrm>
            <a:off x="1404937" y="3912571"/>
            <a:ext cx="56359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3038" indent="-173038" eaLnBrk="1" hangingPunct="1">
              <a:spcBef>
                <a:spcPct val="0"/>
              </a:spcBef>
            </a:pP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Esto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puede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funcionar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incluso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con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información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parcial</a:t>
            </a:r>
            <a:endParaRPr lang="en-US" altLang="es-CL" sz="1800" b="1" dirty="0">
              <a:solidFill>
                <a:srgbClr val="FF0000"/>
              </a:solidFill>
              <a:latin typeface="+mj-lt"/>
              <a:ea typeface="ＭＳ Ｐゴシック" panose="020B0600070205080204" pitchFamily="34" charset="-128"/>
            </a:endParaRPr>
          </a:p>
          <a:p>
            <a:pPr marL="173038" indent="-173038" eaLnBrk="1" hangingPunct="1">
              <a:spcBef>
                <a:spcPct val="0"/>
              </a:spcBef>
            </a:pP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Es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poco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claro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saber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qué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hacer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sin un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objetivo</a:t>
            </a:r>
            <a:r>
              <a:rPr lang="en-US" altLang="es-CL" sz="1800" b="1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1800" b="1" dirty="0" err="1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claro</a:t>
            </a:r>
            <a:endParaRPr lang="en-US" altLang="es-CL" sz="1800" b="1" dirty="0">
              <a:solidFill>
                <a:srgbClr val="FF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4475385" y="2859452"/>
            <a:ext cx="1620615" cy="417148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/>
          <p:cNvSpPr/>
          <p:nvPr/>
        </p:nvSpPr>
        <p:spPr>
          <a:xfrm>
            <a:off x="1752600" y="2844917"/>
            <a:ext cx="2209800" cy="417148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/>
          <p:cNvSpPr/>
          <p:nvPr/>
        </p:nvSpPr>
        <p:spPr>
          <a:xfrm>
            <a:off x="1752600" y="3498748"/>
            <a:ext cx="2209800" cy="417148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885565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animBg="1"/>
      <p:bldP spid="52230" grpId="0"/>
      <p:bldP spid="52231" grpId="0"/>
      <p:bldP spid="2" grpId="0" animBg="1"/>
      <p:bldP spid="9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188913"/>
            <a:ext cx="7793038" cy="1143000"/>
          </a:xfrm>
        </p:spPr>
        <p:txBody>
          <a:bodyPr/>
          <a:lstStyle/>
          <a:p>
            <a:pPr eaLnBrk="1" hangingPunct="1"/>
            <a:r>
              <a:rPr lang="en-US" altLang="es-CL" sz="2800" dirty="0" err="1">
                <a:ea typeface="ＭＳ Ｐゴシック" panose="020B0600070205080204" pitchFamily="34" charset="-128"/>
              </a:rPr>
              <a:t>Agentes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Basados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en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Metas</a:t>
            </a:r>
            <a:endParaRPr lang="en-US" altLang="es-CL" sz="2800" dirty="0">
              <a:ea typeface="ＭＳ Ｐゴシック" panose="020B0600070205080204" pitchFamily="34" charset="-128"/>
            </a:endParaRPr>
          </a:p>
        </p:txBody>
      </p:sp>
      <p:pic>
        <p:nvPicPr>
          <p:cNvPr id="53251" name="Picture 4" descr="goal-based-agen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676400"/>
            <a:ext cx="7467600" cy="4753681"/>
          </a:xfrm>
        </p:spPr>
      </p:pic>
      <p:sp>
        <p:nvSpPr>
          <p:cNvPr id="53252" name="Text Box 5"/>
          <p:cNvSpPr txBox="1">
            <a:spLocks noChangeArrowheads="1"/>
          </p:cNvSpPr>
          <p:nvPr/>
        </p:nvSpPr>
        <p:spPr bwMode="auto">
          <a:xfrm>
            <a:off x="1159478" y="673159"/>
            <a:ext cx="781765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Objetivos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proveen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razón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para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preferir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una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acción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sobre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otra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Necesitamos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predecir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el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futuro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: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planificar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y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buscar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.</a:t>
            </a:r>
          </a:p>
        </p:txBody>
      </p:sp>
      <p:sp>
        <p:nvSpPr>
          <p:cNvPr id="5" name="Rectángulo 4"/>
          <p:cNvSpPr/>
          <p:nvPr/>
        </p:nvSpPr>
        <p:spPr>
          <a:xfrm>
            <a:off x="2362200" y="4876800"/>
            <a:ext cx="1143000" cy="457200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4866592" y="4876800"/>
            <a:ext cx="1620615" cy="457200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1828800" y="3429000"/>
            <a:ext cx="2209800" cy="417148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/>
          <p:cNvSpPr/>
          <p:nvPr/>
        </p:nvSpPr>
        <p:spPr>
          <a:xfrm>
            <a:off x="4571999" y="3370942"/>
            <a:ext cx="2133601" cy="591457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492943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333375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s-CL" sz="2800" dirty="0" err="1">
                <a:ea typeface="ＭＳ Ｐゴシック" panose="020B0600070205080204" pitchFamily="34" charset="-128"/>
              </a:rPr>
              <a:t>Agentes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Basados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en</a:t>
            </a:r>
            <a:r>
              <a:rPr lang="en-US" altLang="es-CL" sz="2800" dirty="0">
                <a:ea typeface="ＭＳ Ｐゴシック" panose="020B0600070205080204" pitchFamily="34" charset="-128"/>
              </a:rPr>
              <a:t>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Utilidad</a:t>
            </a:r>
            <a:endParaRPr lang="en-US" altLang="es-CL" sz="2800" dirty="0">
              <a:ea typeface="ＭＳ Ｐゴシック" panose="020B0600070205080204" pitchFamily="34" charset="-128"/>
            </a:endParaRPr>
          </a:p>
        </p:txBody>
      </p:sp>
      <p:pic>
        <p:nvPicPr>
          <p:cNvPr id="55299" name="Picture 3" descr="utility-based-agen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9686" y="2209800"/>
            <a:ext cx="6789737" cy="4322489"/>
          </a:xfrm>
        </p:spPr>
      </p:pic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174820" y="838200"/>
            <a:ext cx="905946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Algunas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soluciones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para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llegar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a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estados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objetivo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son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mejores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que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otras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Cuál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es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mejor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es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determinado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por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una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función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de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utilidad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.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¿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Qué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combinación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de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objetivos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 se </a:t>
            </a:r>
            <a:r>
              <a:rPr lang="en-US" altLang="es-CL" sz="2400" dirty="0" err="1">
                <a:latin typeface="+mj-lt"/>
                <a:ea typeface="ＭＳ Ｐゴシック" panose="020B0600070205080204" pitchFamily="34" charset="-128"/>
                <a:cs typeface="+mj-cs"/>
              </a:rPr>
              <a:t>prefiere</a:t>
            </a:r>
            <a:r>
              <a:rPr lang="en-US" altLang="es-CL" sz="2400" dirty="0">
                <a:latin typeface="+mj-lt"/>
                <a:ea typeface="ＭＳ Ｐゴシック" panose="020B0600070205080204" pitchFamily="34" charset="-128"/>
                <a:cs typeface="+mj-cs"/>
              </a:rPr>
              <a:t>?</a:t>
            </a:r>
          </a:p>
        </p:txBody>
      </p:sp>
      <p:sp>
        <p:nvSpPr>
          <p:cNvPr id="5" name="Rectángulo 4"/>
          <p:cNvSpPr/>
          <p:nvPr/>
        </p:nvSpPr>
        <p:spPr>
          <a:xfrm>
            <a:off x="4495800" y="4419600"/>
            <a:ext cx="1981200" cy="533400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/>
          <p:cNvSpPr/>
          <p:nvPr/>
        </p:nvSpPr>
        <p:spPr>
          <a:xfrm>
            <a:off x="2514601" y="4457700"/>
            <a:ext cx="914400" cy="457200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4704555" y="5124271"/>
            <a:ext cx="1543846" cy="438329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823292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33363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s-CL" sz="2800" dirty="0" err="1">
                <a:ea typeface="ＭＳ Ｐゴシック" panose="020B0600070205080204" pitchFamily="34" charset="-128"/>
              </a:rPr>
              <a:t>Agentes</a:t>
            </a:r>
            <a:r>
              <a:rPr lang="en-US" altLang="es-CL" sz="2800" dirty="0">
                <a:ea typeface="ＭＳ Ｐゴシック" panose="020B0600070205080204" pitchFamily="34" charset="-128"/>
              </a:rPr>
              <a:t> que </a:t>
            </a:r>
            <a:r>
              <a:rPr lang="en-US" altLang="es-CL" sz="2800" dirty="0" err="1">
                <a:ea typeface="ＭＳ Ｐゴシック" panose="020B0600070205080204" pitchFamily="34" charset="-128"/>
              </a:rPr>
              <a:t>aprenden</a:t>
            </a:r>
            <a:endParaRPr lang="en-US" altLang="es-CL" sz="2800" dirty="0">
              <a:ea typeface="ＭＳ Ｐゴシック" panose="020B0600070205080204" pitchFamily="34" charset="-128"/>
            </a:endParaRPr>
          </a:p>
        </p:txBody>
      </p:sp>
      <p:pic>
        <p:nvPicPr>
          <p:cNvPr id="57347" name="Picture 3" descr="learning-agen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7931" y="1757532"/>
            <a:ext cx="6691313" cy="4700647"/>
          </a:xfrm>
        </p:spPr>
      </p:pic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954328" y="703769"/>
            <a:ext cx="788487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¿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Cómo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puede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un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agente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mejorar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a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través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del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tiempo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?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Al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monitorear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su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rendimiento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y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sugerir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mejores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modelos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,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nuevas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reglas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 de </a:t>
            </a:r>
            <a:r>
              <a:rPr lang="en-US" altLang="es-CL" sz="2000" dirty="0" err="1">
                <a:latin typeface="+mj-lt"/>
                <a:ea typeface="ＭＳ Ｐゴシック" panose="020B0600070205080204" pitchFamily="34" charset="-128"/>
                <a:cs typeface="+mj-cs"/>
              </a:rPr>
              <a:t>acción</a:t>
            </a:r>
            <a:r>
              <a:rPr lang="en-US" altLang="es-CL" sz="2000" dirty="0">
                <a:latin typeface="+mj-lt"/>
                <a:ea typeface="ＭＳ Ｐゴシック" panose="020B0600070205080204" pitchFamily="34" charset="-128"/>
                <a:cs typeface="+mj-cs"/>
              </a:rPr>
              <a:t>, etc.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495300" y="2302753"/>
            <a:ext cx="206979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Evalua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estado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actual del </a:t>
            </a: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mundo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1066800" y="3842417"/>
            <a:ext cx="1156086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Cambia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reglas</a:t>
            </a: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 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acción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s-CL" sz="1800" b="1" dirty="0">
              <a:solidFill>
                <a:srgbClr val="0000CC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803877" y="5173179"/>
            <a:ext cx="145264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Sugiere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exploración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5257800" y="4800600"/>
            <a:ext cx="238879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Modela</a:t>
            </a: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 el </a:t>
            </a: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mundo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y decide </a:t>
            </a: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qué</a:t>
            </a: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acción</a:t>
            </a:r>
            <a:r>
              <a:rPr lang="en-US" altLang="es-CL" sz="2000" b="1" dirty="0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CL" sz="2000" b="1" dirty="0" err="1">
                <a:solidFill>
                  <a:srgbClr val="0000CC"/>
                </a:solidFill>
                <a:latin typeface="+mj-lt"/>
                <a:ea typeface="ＭＳ Ｐゴシック" panose="020B0600070205080204" pitchFamily="34" charset="-128"/>
              </a:rPr>
              <a:t>ejecutar</a:t>
            </a:r>
            <a:endParaRPr lang="en-US" altLang="es-CL" sz="2000" b="1" dirty="0">
              <a:solidFill>
                <a:srgbClr val="0000CC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2187197" y="2418212"/>
            <a:ext cx="1143000" cy="477387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/>
          <p:cNvSpPr/>
          <p:nvPr/>
        </p:nvSpPr>
        <p:spPr>
          <a:xfrm>
            <a:off x="2210347" y="4031547"/>
            <a:ext cx="1143000" cy="564517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/>
          <p:cNvSpPr/>
          <p:nvPr/>
        </p:nvSpPr>
        <p:spPr>
          <a:xfrm>
            <a:off x="2187197" y="5324209"/>
            <a:ext cx="1143000" cy="492054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4573586" y="4050616"/>
            <a:ext cx="1446213" cy="545447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4604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3" grpId="0"/>
      <p:bldP spid="58374" grpId="0"/>
      <p:bldP spid="58375" grpId="0"/>
      <p:bldP spid="58376" grpId="0"/>
      <p:bldP spid="9" grpId="0" animBg="1"/>
      <p:bldP spid="10" grpId="0" animBg="1"/>
      <p:bldP spid="11" grpId="0" animBg="1"/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594725" cy="1143000"/>
          </a:xfrm>
        </p:spPr>
        <p:txBody>
          <a:bodyPr/>
          <a:lstStyle/>
          <a:p>
            <a:pPr eaLnBrk="1" hangingPunct="1"/>
            <a:r>
              <a:rPr lang="en-US" altLang="es-CL" sz="4000" dirty="0" err="1">
                <a:ea typeface="ＭＳ Ｐゴシック" panose="020B0600070205080204" pitchFamily="34" charset="-128"/>
              </a:rPr>
              <a:t>Ejercicio</a:t>
            </a:r>
            <a:r>
              <a:rPr lang="en-US" altLang="es-CL" sz="4000" dirty="0">
                <a:ea typeface="ＭＳ Ｐゴシック" panose="020B0600070205080204" pitchFamily="34" charset="-128"/>
              </a:rPr>
              <a:t>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práctico</a:t>
            </a:r>
            <a:r>
              <a:rPr lang="en-US" altLang="es-CL" sz="4000" dirty="0">
                <a:ea typeface="ＭＳ Ｐゴシック" panose="020B0600070205080204" pitchFamily="34" charset="-128"/>
              </a:rPr>
              <a:t>: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Tipo</a:t>
            </a:r>
            <a:r>
              <a:rPr lang="en-US" altLang="es-CL" sz="4000" dirty="0">
                <a:ea typeface="ＭＳ Ｐゴシック" panose="020B0600070205080204" pitchFamily="34" charset="-128"/>
              </a:rPr>
              <a:t> de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4000" dirty="0">
                <a:ea typeface="ＭＳ Ｐゴシック" panose="020B0600070205080204" pitchFamily="34" charset="-128"/>
              </a:rPr>
              <a:t> y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Ambiente</a:t>
            </a:r>
            <a:endParaRPr lang="en-US" altLang="es-CL" sz="40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/>
          </p:nvPr>
        </p:nvGraphicFramePr>
        <p:xfrm>
          <a:off x="304800" y="2743200"/>
          <a:ext cx="8670922" cy="336050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41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507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CL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 de ambiente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324">
                <a:tc>
                  <a:txBody>
                    <a:bodyPr/>
                    <a:lstStyle/>
                    <a:p>
                      <a:pPr algn="ctr"/>
                      <a:r>
                        <a:rPr lang="es-CL" sz="1400" b="1" dirty="0"/>
                        <a:t>Tipo agente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Accesible</a:t>
                      </a:r>
                    </a:p>
                    <a:p>
                      <a:pPr algn="ctr"/>
                      <a:r>
                        <a:rPr lang="es-CL" sz="1200" baseline="0" dirty="0"/>
                        <a:t>Inaccesible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Determinístico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es-CL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determin</a:t>
                      </a:r>
                      <a:r>
                        <a:rPr lang="es-CL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Episódico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Episódico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Estático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Dinámico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Discreto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Continuo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Reflexivo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simple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E/D </a:t>
                      </a:r>
                      <a:r>
                        <a:rPr lang="es-CL" sz="1400" dirty="0"/>
                        <a:t>(</a:t>
                      </a:r>
                      <a:r>
                        <a:rPr lang="es-CL" sz="1400" dirty="0">
                          <a:sym typeface="Symbol" panose="05050102010706020507" pitchFamily="18" charset="2"/>
                        </a:rPr>
                        <a:t>t &lt;&lt;)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Reflexivo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Basado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en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Modelo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A/I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E/D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Basado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en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Metas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A/I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E/NE </a:t>
                      </a:r>
                      <a:r>
                        <a:rPr lang="es-CL" sz="1600" dirty="0">
                          <a:sym typeface="Symbol" panose="05050102010706020507" pitchFamily="18" charset="2"/>
                        </a:rPr>
                        <a:t>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E/D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Basado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en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Utilidad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/>
                        <a:t>A/I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E/D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Agente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que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aprende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600" dirty="0"/>
                        <a:t>A/I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D/ND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E/D 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dirty="0"/>
                        <a:t>D/C </a:t>
                      </a:r>
                      <a:r>
                        <a:rPr lang="es-CL" sz="1600" dirty="0">
                          <a:sym typeface="Symbol" panose="05050102010706020507" pitchFamily="18" charset="2"/>
                        </a:rPr>
                        <a:t>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685800"/>
          </a:xfrm>
        </p:spPr>
        <p:txBody>
          <a:bodyPr/>
          <a:lstStyle/>
          <a:p>
            <a:r>
              <a:rPr lang="es-CL" sz="2000" dirty="0"/>
              <a:t>Ver qué tipo de agente se puede desempeñar en cuál ambiente</a:t>
            </a:r>
            <a:endParaRPr lang="en-US" sz="2000" dirty="0"/>
          </a:p>
        </p:txBody>
      </p:sp>
      <p:sp>
        <p:nvSpPr>
          <p:cNvPr id="3" name="Rectángulo 2"/>
          <p:cNvSpPr/>
          <p:nvPr/>
        </p:nvSpPr>
        <p:spPr>
          <a:xfrm>
            <a:off x="3429000" y="35814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/>
          <p:cNvSpPr/>
          <p:nvPr/>
        </p:nvSpPr>
        <p:spPr>
          <a:xfrm>
            <a:off x="4640261" y="35687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/>
          <p:cNvSpPr/>
          <p:nvPr/>
        </p:nvSpPr>
        <p:spPr>
          <a:xfrm>
            <a:off x="5826122" y="35941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/>
          <p:cNvSpPr/>
          <p:nvPr/>
        </p:nvSpPr>
        <p:spPr>
          <a:xfrm>
            <a:off x="6705600" y="3594100"/>
            <a:ext cx="990599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/>
          <p:cNvSpPr/>
          <p:nvPr/>
        </p:nvSpPr>
        <p:spPr>
          <a:xfrm>
            <a:off x="8107360" y="35687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/>
          <p:cNvSpPr/>
          <p:nvPr/>
        </p:nvSpPr>
        <p:spPr>
          <a:xfrm>
            <a:off x="3390900" y="45720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/>
          <p:cNvSpPr/>
          <p:nvPr/>
        </p:nvSpPr>
        <p:spPr>
          <a:xfrm>
            <a:off x="4546600" y="45720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/>
          <p:cNvSpPr/>
          <p:nvPr/>
        </p:nvSpPr>
        <p:spPr>
          <a:xfrm>
            <a:off x="5584822" y="4597400"/>
            <a:ext cx="815978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/>
          <p:cNvSpPr/>
          <p:nvPr/>
        </p:nvSpPr>
        <p:spPr>
          <a:xfrm>
            <a:off x="6921500" y="45974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/>
          <p:cNvSpPr/>
          <p:nvPr/>
        </p:nvSpPr>
        <p:spPr>
          <a:xfrm>
            <a:off x="8107360" y="4597400"/>
            <a:ext cx="457200" cy="35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/>
          <p:cNvSpPr/>
          <p:nvPr/>
        </p:nvSpPr>
        <p:spPr>
          <a:xfrm>
            <a:off x="3390900" y="56388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16"/>
          <p:cNvSpPr/>
          <p:nvPr/>
        </p:nvSpPr>
        <p:spPr>
          <a:xfrm>
            <a:off x="4546599" y="5638800"/>
            <a:ext cx="550861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17"/>
          <p:cNvSpPr/>
          <p:nvPr/>
        </p:nvSpPr>
        <p:spPr>
          <a:xfrm>
            <a:off x="5764211" y="56388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ángulo 18"/>
          <p:cNvSpPr/>
          <p:nvPr/>
        </p:nvSpPr>
        <p:spPr>
          <a:xfrm>
            <a:off x="6888162" y="5644357"/>
            <a:ext cx="655638" cy="2992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/>
          <p:cNvSpPr/>
          <p:nvPr/>
        </p:nvSpPr>
        <p:spPr>
          <a:xfrm>
            <a:off x="8005760" y="5646506"/>
            <a:ext cx="681039" cy="297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4"/>
          <p:cNvSpPr/>
          <p:nvPr/>
        </p:nvSpPr>
        <p:spPr>
          <a:xfrm>
            <a:off x="3390900" y="4114800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22"/>
          <p:cNvSpPr/>
          <p:nvPr/>
        </p:nvSpPr>
        <p:spPr>
          <a:xfrm>
            <a:off x="4546599" y="4114800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ángulo 23"/>
          <p:cNvSpPr/>
          <p:nvPr/>
        </p:nvSpPr>
        <p:spPr>
          <a:xfrm>
            <a:off x="5834853" y="4114800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ángulo 24"/>
          <p:cNvSpPr/>
          <p:nvPr/>
        </p:nvSpPr>
        <p:spPr>
          <a:xfrm>
            <a:off x="6909986" y="4114800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ángulo 25"/>
          <p:cNvSpPr/>
          <p:nvPr/>
        </p:nvSpPr>
        <p:spPr>
          <a:xfrm>
            <a:off x="8178799" y="4064000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ángulo 26"/>
          <p:cNvSpPr/>
          <p:nvPr/>
        </p:nvSpPr>
        <p:spPr>
          <a:xfrm>
            <a:off x="3390900" y="5130569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ángulo 27"/>
          <p:cNvSpPr/>
          <p:nvPr/>
        </p:nvSpPr>
        <p:spPr>
          <a:xfrm>
            <a:off x="4574379" y="5117869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ángulo 28"/>
          <p:cNvSpPr/>
          <p:nvPr/>
        </p:nvSpPr>
        <p:spPr>
          <a:xfrm>
            <a:off x="5788022" y="5105400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ángulo 29"/>
          <p:cNvSpPr/>
          <p:nvPr/>
        </p:nvSpPr>
        <p:spPr>
          <a:xfrm>
            <a:off x="6953249" y="5130569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ángulo 30"/>
          <p:cNvSpPr/>
          <p:nvPr/>
        </p:nvSpPr>
        <p:spPr>
          <a:xfrm>
            <a:off x="8166892" y="5117869"/>
            <a:ext cx="495300" cy="381000"/>
          </a:xfrm>
          <a:prstGeom prst="rect">
            <a:avLst/>
          </a:prstGeom>
          <a:solidFill>
            <a:srgbClr val="CEE4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502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5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88913"/>
            <a:ext cx="7793037" cy="1143000"/>
          </a:xfrm>
        </p:spPr>
        <p:txBody>
          <a:bodyPr/>
          <a:lstStyle/>
          <a:p>
            <a:pPr eaLnBrk="1" hangingPunct="1"/>
            <a:r>
              <a:rPr lang="en-US" altLang="es-CL" sz="4000" dirty="0" err="1">
                <a:ea typeface="ＭＳ Ｐゴシック" panose="020B0600070205080204" pitchFamily="34" charset="-128"/>
              </a:rPr>
              <a:t>Ejercicio</a:t>
            </a:r>
            <a:r>
              <a:rPr lang="en-US" altLang="es-CL" sz="4000" dirty="0">
                <a:ea typeface="ＭＳ Ｐゴシック" panose="020B0600070205080204" pitchFamily="34" charset="-128"/>
              </a:rPr>
              <a:t>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práctico</a:t>
            </a:r>
            <a:r>
              <a:rPr lang="en-US" altLang="es-CL" sz="4000" dirty="0">
                <a:ea typeface="ＭＳ Ｐゴシック" panose="020B0600070205080204" pitchFamily="34" charset="-128"/>
              </a:rPr>
              <a:t>: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Tipo</a:t>
            </a:r>
            <a:r>
              <a:rPr lang="en-US" altLang="es-CL" sz="4000" dirty="0">
                <a:ea typeface="ＭＳ Ｐゴシック" panose="020B0600070205080204" pitchFamily="34" charset="-128"/>
              </a:rPr>
              <a:t> de </a:t>
            </a:r>
            <a:r>
              <a:rPr lang="en-US" altLang="es-CL" sz="4000" dirty="0" err="1">
                <a:ea typeface="ＭＳ Ｐゴシック" panose="020B0600070205080204" pitchFamily="34" charset="-128"/>
              </a:rPr>
              <a:t>agente</a:t>
            </a:r>
            <a:endParaRPr lang="en-US" altLang="es-CL" sz="4000" dirty="0">
              <a:ea typeface="ＭＳ Ｐゴシック" panose="020B0600070205080204" pitchFamily="34" charset="-128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15516"/>
            <a:ext cx="7848600" cy="4572000"/>
          </a:xfrm>
        </p:spPr>
        <p:txBody>
          <a:bodyPr/>
          <a:lstStyle/>
          <a:p>
            <a:r>
              <a:rPr lang="en-US" altLang="es-CL" sz="2000" dirty="0" err="1">
                <a:ea typeface="ＭＳ Ｐゴシック" panose="020B0600070205080204" pitchFamily="34" charset="-128"/>
              </a:rPr>
              <a:t>Ejemplo</a:t>
            </a:r>
            <a:r>
              <a:rPr lang="en-US" altLang="es-CL" sz="2000" dirty="0">
                <a:ea typeface="ＭＳ Ｐゴシック" panose="020B0600070205080204" pitchFamily="34" charset="-128"/>
              </a:rPr>
              <a:t>: </a:t>
            </a:r>
            <a:r>
              <a:rPr lang="en-US" altLang="es-CL" sz="2000" dirty="0" err="1">
                <a:ea typeface="ＭＳ Ｐゴシック" panose="020B0600070205080204" pitchFamily="34" charset="-128"/>
              </a:rPr>
              <a:t>Agente</a:t>
            </a:r>
            <a:r>
              <a:rPr lang="en-US" altLang="es-CL" sz="2000" dirty="0">
                <a:ea typeface="ＭＳ Ｐゴシック" panose="020B0600070205080204" pitchFamily="34" charset="-128"/>
              </a:rPr>
              <a:t> = </a:t>
            </a:r>
            <a:r>
              <a:rPr lang="en-US" altLang="es-CL" sz="2000" dirty="0">
                <a:ea typeface="ＭＳ Ｐゴシック" panose="020B0600070205080204" pitchFamily="34" charset="-128"/>
                <a:hlinkClick r:id="rId3"/>
              </a:rPr>
              <a:t>robot </a:t>
            </a:r>
            <a:r>
              <a:rPr lang="en-US" altLang="es-CL" sz="2000" dirty="0" err="1">
                <a:ea typeface="ＭＳ Ｐゴシック" panose="020B0600070205080204" pitchFamily="34" charset="-128"/>
                <a:hlinkClick r:id="rId3"/>
              </a:rPr>
              <a:t>aspiradora</a:t>
            </a:r>
            <a:r>
              <a:rPr lang="en-US" altLang="es-CL" sz="2000" dirty="0">
                <a:ea typeface="ＭＳ Ｐゴシック" panose="020B0600070205080204" pitchFamily="34" charset="-128"/>
                <a:hlinkClick r:id="rId3"/>
              </a:rPr>
              <a:t> (Roomba y </a:t>
            </a:r>
            <a:r>
              <a:rPr lang="en-US" altLang="es-CL" sz="2000" dirty="0" err="1">
                <a:ea typeface="ＭＳ Ｐゴシック" panose="020B0600070205080204" pitchFamily="34" charset="-128"/>
                <a:hlinkClick r:id="rId3"/>
              </a:rPr>
              <a:t>Braava</a:t>
            </a:r>
            <a:r>
              <a:rPr lang="en-US" altLang="es-CL" sz="2000" dirty="0">
                <a:ea typeface="ＭＳ Ｐゴシック" panose="020B0600070205080204" pitchFamily="34" charset="-128"/>
                <a:hlinkClick r:id="rId3"/>
              </a:rPr>
              <a:t> © </a:t>
            </a:r>
            <a:r>
              <a:rPr lang="en-US" altLang="es-CL" sz="2000" dirty="0" err="1">
                <a:ea typeface="ＭＳ Ｐゴシック" panose="020B0600070205080204" pitchFamily="34" charset="-128"/>
                <a:hlinkClick r:id="rId3"/>
              </a:rPr>
              <a:t>iRobots</a:t>
            </a:r>
            <a:r>
              <a:rPr lang="en-US" altLang="es-CL" sz="2000" dirty="0">
                <a:ea typeface="ＭＳ Ｐゴシック" panose="020B0600070205080204" pitchFamily="34" charset="-128"/>
                <a:hlinkClick r:id="rId3"/>
              </a:rPr>
              <a:t>)</a:t>
            </a:r>
            <a:r>
              <a:rPr lang="en-US" altLang="es-CL" sz="2000" dirty="0">
                <a:ea typeface="ＭＳ Ｐゴシック" panose="020B0600070205080204" pitchFamily="34" charset="-128"/>
              </a:rPr>
              <a:t> , </a:t>
            </a:r>
            <a:r>
              <a:rPr lang="en-US" altLang="es-CL" sz="2000" dirty="0" err="1">
                <a:ea typeface="ＭＳ Ｐゴシック" panose="020B0600070205080204" pitchFamily="34" charset="-128"/>
                <a:hlinkClick r:id="rId4"/>
              </a:rPr>
              <a:t>Agente</a:t>
            </a:r>
            <a:r>
              <a:rPr lang="en-US" altLang="es-CL" sz="2000" dirty="0">
                <a:ea typeface="ＭＳ Ｐゴシック" panose="020B0600070205080204" pitchFamily="34" charset="-128"/>
                <a:hlinkClick r:id="rId4"/>
              </a:rPr>
              <a:t> comprador </a:t>
            </a:r>
            <a:r>
              <a:rPr lang="en-US" altLang="es-CL" sz="2400" dirty="0">
                <a:ea typeface="ＭＳ Ｐゴシック" panose="020B0600070205080204" pitchFamily="34" charset="-128"/>
                <a:hlinkClick r:id="rId4"/>
              </a:rPr>
              <a:t>(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4"/>
              </a:rPr>
              <a:t>abastecimiento</a:t>
            </a:r>
            <a:r>
              <a:rPr lang="en-US" altLang="es-CL" sz="2400" dirty="0">
                <a:ea typeface="ＭＳ Ｐゴシック" panose="020B0600070205080204" pitchFamily="34" charset="-128"/>
                <a:hlinkClick r:id="rId4"/>
              </a:rPr>
              <a:t>) en </a:t>
            </a:r>
            <a:r>
              <a:rPr lang="en-US" altLang="es-CL" sz="2400" dirty="0" err="1">
                <a:ea typeface="ＭＳ Ｐゴシック" panose="020B0600070205080204" pitchFamily="34" charset="-128"/>
                <a:hlinkClick r:id="rId4"/>
              </a:rPr>
              <a:t>línea</a:t>
            </a:r>
            <a:endParaRPr lang="en-US" altLang="es-CL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s-CL" sz="2400" dirty="0">
                <a:ea typeface="ＭＳ Ｐゴシック" panose="020B0600070205080204" pitchFamily="34" charset="-128"/>
              </a:rPr>
              <a:t> 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44384"/>
              </p:ext>
            </p:extLst>
          </p:nvPr>
        </p:nvGraphicFramePr>
        <p:xfrm>
          <a:off x="304800" y="2743200"/>
          <a:ext cx="8670922" cy="336050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41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5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507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CL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 de ambiente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324">
                <a:tc>
                  <a:txBody>
                    <a:bodyPr/>
                    <a:lstStyle/>
                    <a:p>
                      <a:pPr algn="ctr"/>
                      <a:r>
                        <a:rPr lang="es-CL" sz="1400" b="1" dirty="0"/>
                        <a:t>Tipo agente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200" dirty="0"/>
                        <a:t>Accesible</a:t>
                      </a:r>
                    </a:p>
                    <a:p>
                      <a:pPr algn="ctr"/>
                      <a:r>
                        <a:rPr lang="es-CL" sz="1200" baseline="0" dirty="0"/>
                        <a:t>Inaccesible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Determinístico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es-CL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2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determin</a:t>
                      </a:r>
                      <a:r>
                        <a:rPr lang="es-CL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Episódico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Episódico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Estático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Dinámico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Discreto</a:t>
                      </a:r>
                    </a:p>
                    <a:p>
                      <a:pPr marL="0" algn="ctr" defTabSz="914400" rtl="0" eaLnBrk="1" latinLnBrk="0" hangingPunct="1"/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Continuo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Reflexivo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simple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Reflexivo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Basado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en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Modelo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Basado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en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Metas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Basado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en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Utilidad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03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Agente</a:t>
                      </a:r>
                      <a:r>
                        <a:rPr lang="en-US" altLang="es-CL" sz="1400" dirty="0">
                          <a:ea typeface="ＭＳ Ｐゴシック" panose="020B0600070205080204" pitchFamily="34" charset="-128"/>
                        </a:rPr>
                        <a:t> que </a:t>
                      </a:r>
                      <a:r>
                        <a:rPr lang="en-US" altLang="es-CL" sz="1400" dirty="0" err="1">
                          <a:ea typeface="ＭＳ Ｐゴシック" panose="020B0600070205080204" pitchFamily="34" charset="-128"/>
                        </a:rPr>
                        <a:t>aprende</a:t>
                      </a:r>
                      <a:endParaRPr lang="en-US" altLang="es-CL" sz="1400" dirty="0">
                        <a:ea typeface="ＭＳ Ｐゴシック" panose="020B0600070205080204" pitchFamily="34" charset="-128"/>
                      </a:endParaRP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151259"/>
              </p:ext>
            </p:extLst>
          </p:nvPr>
        </p:nvGraphicFramePr>
        <p:xfrm>
          <a:off x="304800" y="2179344"/>
          <a:ext cx="8670922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77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altLang="es-CL" sz="1400" dirty="0">
                          <a:solidFill>
                            <a:schemeClr val="tx1"/>
                          </a:solidFill>
                          <a:ea typeface="ＭＳ Ｐゴシック" panose="020B0600070205080204" pitchFamily="34" charset="-128"/>
                        </a:rPr>
                        <a:t>Performance </a:t>
                      </a:r>
                      <a:r>
                        <a:rPr lang="es-CL" altLang="es-CL" sz="1400" dirty="0" err="1">
                          <a:solidFill>
                            <a:schemeClr val="tx1"/>
                          </a:solidFill>
                          <a:ea typeface="ＭＳ Ｐゴシック" panose="020B0600070205080204" pitchFamily="34" charset="-128"/>
                        </a:rPr>
                        <a:t>measure</a:t>
                      </a:r>
                      <a:r>
                        <a:rPr lang="es-CL" altLang="es-CL" sz="1400" dirty="0">
                          <a:solidFill>
                            <a:schemeClr val="tx1"/>
                          </a:solidFill>
                          <a:ea typeface="ＭＳ Ｐゴシック" panose="020B0600070205080204" pitchFamily="34" charset="-128"/>
                        </a:rPr>
                        <a:t>: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750622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Sistema Multiagentes, una definición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08075"/>
            <a:ext cx="7620000" cy="4911725"/>
          </a:xfrm>
        </p:spPr>
        <p:txBody>
          <a:bodyPr/>
          <a:lstStyle/>
          <a:p>
            <a:r>
              <a:rPr lang="en-US" altLang="en-US" sz="2000" dirty="0"/>
              <a:t>Un </a:t>
            </a:r>
            <a:r>
              <a:rPr lang="en-US" altLang="en-US" sz="2000" dirty="0" err="1"/>
              <a:t>sistema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multiagentes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consiste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número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agentes</a:t>
            </a:r>
            <a:r>
              <a:rPr lang="en-US" altLang="en-US" sz="2000" dirty="0"/>
              <a:t> que </a:t>
            </a:r>
            <a:r>
              <a:rPr lang="en-US" altLang="en-US" sz="2000" i="1" dirty="0" err="1">
                <a:solidFill>
                  <a:srgbClr val="003399"/>
                </a:solidFill>
              </a:rPr>
              <a:t>interactuan</a:t>
            </a:r>
            <a:r>
              <a:rPr lang="en-US" altLang="en-US" sz="2000" i="1" dirty="0"/>
              <a:t> </a:t>
            </a:r>
            <a:r>
              <a:rPr lang="en-US" altLang="en-US" sz="2000" dirty="0"/>
              <a:t>entre </a:t>
            </a:r>
            <a:r>
              <a:rPr lang="en-US" altLang="en-US" sz="2000" dirty="0" err="1"/>
              <a:t>ellos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 err="1"/>
              <a:t>En</a:t>
            </a:r>
            <a:r>
              <a:rPr lang="en-US" altLang="en-US" sz="2000" dirty="0"/>
              <a:t> el </a:t>
            </a:r>
            <a:r>
              <a:rPr lang="en-US" altLang="en-US" sz="2000" dirty="0" err="1"/>
              <a:t>caso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general,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agentes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actuarán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nombre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usuarios</a:t>
            </a:r>
            <a:r>
              <a:rPr lang="en-US" altLang="en-US" sz="2000" dirty="0"/>
              <a:t> con </a:t>
            </a:r>
            <a:r>
              <a:rPr lang="en-US" altLang="en-US" sz="2000" dirty="0" err="1"/>
              <a:t>diferentes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objetivos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motivaciones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Para </a:t>
            </a:r>
            <a:r>
              <a:rPr lang="en-US" altLang="en-US" sz="2000" dirty="0" err="1"/>
              <a:t>interactuar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exitosamente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ellos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requieren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capacidad</a:t>
            </a:r>
            <a:r>
              <a:rPr lang="en-US" altLang="en-US" sz="2000" dirty="0"/>
              <a:t> para </a:t>
            </a:r>
            <a:r>
              <a:rPr lang="en-US" altLang="en-US" sz="2000" i="1" dirty="0" err="1">
                <a:solidFill>
                  <a:srgbClr val="003399"/>
                </a:solidFill>
              </a:rPr>
              <a:t>cooperar</a:t>
            </a:r>
            <a:r>
              <a:rPr lang="en-US" altLang="en-US" sz="2000" dirty="0"/>
              <a:t>, </a:t>
            </a:r>
            <a:r>
              <a:rPr lang="en-US" altLang="en-US" sz="2000" i="1" dirty="0" err="1">
                <a:solidFill>
                  <a:srgbClr val="003399"/>
                </a:solidFill>
              </a:rPr>
              <a:t>coordinarse</a:t>
            </a:r>
            <a:r>
              <a:rPr lang="en-US" altLang="en-US" sz="2000" dirty="0"/>
              <a:t>, y </a:t>
            </a:r>
            <a:r>
              <a:rPr lang="en-US" altLang="en-US" sz="2000" i="1" dirty="0" err="1">
                <a:solidFill>
                  <a:srgbClr val="003399"/>
                </a:solidFill>
              </a:rPr>
              <a:t>negociar</a:t>
            </a:r>
            <a:r>
              <a:rPr lang="en-US" altLang="en-US" sz="2000" dirty="0"/>
              <a:t> entre </a:t>
            </a:r>
            <a:r>
              <a:rPr lang="en-US" altLang="en-US" sz="2000" dirty="0" err="1"/>
              <a:t>ellos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tal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cual</a:t>
            </a:r>
            <a:r>
              <a:rPr lang="en-US" altLang="en-US" sz="2000" dirty="0"/>
              <a:t> lo </a:t>
            </a:r>
            <a:r>
              <a:rPr lang="en-US" altLang="en-US" sz="2000" dirty="0" err="1"/>
              <a:t>hacen</a:t>
            </a:r>
            <a:r>
              <a:rPr lang="en-US" altLang="en-US" sz="2000" dirty="0"/>
              <a:t> las personas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587" y="4038600"/>
            <a:ext cx="3429000" cy="179063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54" y="4275482"/>
            <a:ext cx="2618529" cy="1744318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de Tráfico Aéreo</a:t>
            </a:r>
          </a:p>
        </p:txBody>
      </p:sp>
      <p:pic>
        <p:nvPicPr>
          <p:cNvPr id="5" name="2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905000"/>
            <a:ext cx="3793067" cy="2438400"/>
          </a:xfrm>
          <a:prstGeom prst="rect">
            <a:avLst/>
          </a:prstGeom>
        </p:spPr>
      </p:pic>
      <p:pic>
        <p:nvPicPr>
          <p:cNvPr id="6" name="3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19200"/>
            <a:ext cx="3886200" cy="3868928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124200" y="5390824"/>
            <a:ext cx="335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Control </a:t>
            </a:r>
            <a:r>
              <a:rPr lang="en-US" dirty="0" err="1">
                <a:hlinkClick r:id="rId5"/>
              </a:rPr>
              <a:t>tráfico</a:t>
            </a:r>
            <a:r>
              <a:rPr lang="en-US" dirty="0">
                <a:hlinkClick r:id="rId5"/>
              </a:rPr>
              <a:t> </a:t>
            </a:r>
            <a:r>
              <a:rPr lang="en-US" dirty="0" err="1">
                <a:hlinkClick r:id="rId5"/>
              </a:rPr>
              <a:t>aéreo</a:t>
            </a:r>
            <a:r>
              <a:rPr lang="en-US" dirty="0">
                <a:hlinkClick r:id="rId5"/>
              </a:rPr>
              <a:t> de Sidney</a:t>
            </a:r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312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de Tráfico Aéreo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2000" cy="5029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“Un </a:t>
            </a:r>
            <a:r>
              <a:rPr lang="en-US" altLang="en-US" sz="2000" dirty="0" err="1"/>
              <a:t>sistema</a:t>
            </a:r>
            <a:r>
              <a:rPr lang="en-US" altLang="en-US" sz="2000" dirty="0"/>
              <a:t> de control </a:t>
            </a:r>
            <a:r>
              <a:rPr lang="en-US" altLang="en-US" sz="2000" dirty="0" err="1"/>
              <a:t>aéreo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falla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imprevistamente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dejando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vuelos</a:t>
            </a:r>
            <a:r>
              <a:rPr lang="en-US" altLang="en-US" sz="2000" dirty="0"/>
              <a:t> sin </a:t>
            </a:r>
            <a:r>
              <a:rPr lang="en-US" altLang="en-US" sz="2000" dirty="0" err="1"/>
              <a:t>su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soporte</a:t>
            </a:r>
            <a:r>
              <a:rPr lang="en-US" altLang="en-US" sz="2000" dirty="0"/>
              <a:t>. </a:t>
            </a:r>
            <a:r>
              <a:rPr lang="en-US" altLang="en-US" sz="2000" dirty="0" err="1"/>
              <a:t>Afortunadamente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sistemas</a:t>
            </a:r>
            <a:r>
              <a:rPr lang="en-US" altLang="en-US" sz="2000" dirty="0"/>
              <a:t> de CA </a:t>
            </a:r>
            <a:r>
              <a:rPr lang="en-US" altLang="en-US" sz="2000" dirty="0" err="1"/>
              <a:t>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aeropuertos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vecinos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reconocen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falla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su</a:t>
            </a:r>
            <a:r>
              <a:rPr lang="en-US" altLang="en-US" sz="2000" dirty="0"/>
              <a:t> par, y </a:t>
            </a:r>
            <a:r>
              <a:rPr lang="en-US" altLang="en-US" sz="2000" dirty="0" err="1"/>
              <a:t>cooperan</a:t>
            </a:r>
            <a:r>
              <a:rPr lang="en-US" altLang="en-US" sz="2000" dirty="0"/>
              <a:t> para </a:t>
            </a:r>
            <a:r>
              <a:rPr lang="en-US" altLang="en-US" sz="2000" dirty="0" err="1"/>
              <a:t>monitorear</a:t>
            </a:r>
            <a:r>
              <a:rPr lang="en-US" altLang="en-US" sz="2000" dirty="0"/>
              <a:t> y </a:t>
            </a:r>
            <a:r>
              <a:rPr lang="en-US" altLang="en-US" sz="2000" dirty="0" err="1"/>
              <a:t>manejar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vuelos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afectados</a:t>
            </a:r>
            <a:r>
              <a:rPr lang="en-US" altLang="en-US" sz="2000" dirty="0"/>
              <a:t>”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 err="1"/>
              <a:t>Sistemas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toman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iniciativa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cuando</a:t>
            </a:r>
            <a:r>
              <a:rPr lang="en-US" altLang="en-US" sz="2000" dirty="0"/>
              <a:t> sea </a:t>
            </a:r>
            <a:r>
              <a:rPr lang="en-US" altLang="en-US" sz="2000" dirty="0" err="1"/>
              <a:t>necesario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 err="1"/>
              <a:t>Agentes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cooperan</a:t>
            </a:r>
            <a:r>
              <a:rPr lang="en-US" altLang="en-US" sz="2000" dirty="0"/>
              <a:t> para resolver un </a:t>
            </a:r>
            <a:r>
              <a:rPr lang="en-US" altLang="en-US" sz="2000" dirty="0" err="1"/>
              <a:t>problema</a:t>
            </a:r>
            <a:r>
              <a:rPr lang="en-US" altLang="en-US" sz="2000" dirty="0"/>
              <a:t> que </a:t>
            </a:r>
            <a:r>
              <a:rPr lang="en-US" altLang="en-US" sz="2000" dirty="0" err="1"/>
              <a:t>va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más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allá</a:t>
            </a:r>
            <a:r>
              <a:rPr lang="en-US" altLang="en-US" sz="2000" dirty="0"/>
              <a:t> de la </a:t>
            </a:r>
            <a:r>
              <a:rPr lang="en-US" altLang="en-US" sz="2000" dirty="0" err="1"/>
              <a:t>capacidad</a:t>
            </a:r>
            <a:r>
              <a:rPr lang="en-US" altLang="en-US" sz="2000" dirty="0"/>
              <a:t> individual de </a:t>
            </a:r>
            <a:r>
              <a:rPr lang="en-US" altLang="en-US" sz="2000" dirty="0" err="1"/>
              <a:t>cada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agente</a:t>
            </a:r>
            <a:endParaRPr lang="en-US" altLang="en-US" sz="20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962400"/>
            <a:ext cx="3117448" cy="207829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114800"/>
            <a:ext cx="3810000" cy="2486305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Problemas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8991600" cy="3581400"/>
          </a:xfrm>
        </p:spPr>
        <p:txBody>
          <a:bodyPr/>
          <a:lstStyle/>
          <a:p>
            <a:pPr>
              <a:lnSpc>
                <a:spcPct val="95000"/>
              </a:lnSpc>
            </a:pPr>
            <a:r>
              <a:rPr lang="en-US" altLang="en-US" sz="2000" dirty="0"/>
              <a:t>¿</a:t>
            </a:r>
            <a:r>
              <a:rPr lang="en-US" altLang="en-US" sz="2000" dirty="0" err="1"/>
              <a:t>Cómo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manifestar</a:t>
            </a:r>
            <a:r>
              <a:rPr lang="en-US" altLang="en-US" sz="2000" dirty="0"/>
              <a:t> las </a:t>
            </a:r>
            <a:r>
              <a:rPr lang="en-US" altLang="en-US" sz="2000" dirty="0" err="1"/>
              <a:t>preferencias</a:t>
            </a:r>
            <a:r>
              <a:rPr lang="en-US" altLang="en-US" sz="2000" dirty="0"/>
              <a:t> a un </a:t>
            </a:r>
            <a:r>
              <a:rPr lang="en-US" altLang="en-US" sz="2000" dirty="0" err="1"/>
              <a:t>agente</a:t>
            </a:r>
            <a:r>
              <a:rPr lang="en-US" altLang="en-US" sz="2000" dirty="0"/>
              <a:t>?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lnSpc>
                <a:spcPct val="95000"/>
              </a:lnSpc>
            </a:pPr>
            <a:r>
              <a:rPr lang="en-US" altLang="en-US" sz="2000" dirty="0"/>
              <a:t>¿</a:t>
            </a:r>
            <a:r>
              <a:rPr lang="en-US" altLang="en-US" sz="2000" dirty="0" err="1"/>
              <a:t>Cómo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puede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agente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comparar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diferentes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tratos</a:t>
            </a:r>
            <a:r>
              <a:rPr lang="en-US" altLang="en-US" sz="2000" dirty="0"/>
              <a:t> con </a:t>
            </a:r>
            <a:r>
              <a:rPr lang="en-US" altLang="en-US" sz="2000" dirty="0" err="1"/>
              <a:t>diferentes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partes</a:t>
            </a:r>
            <a:r>
              <a:rPr lang="en-US" altLang="en-US" sz="2000" dirty="0"/>
              <a:t>? ¿Y </a:t>
            </a:r>
            <a:r>
              <a:rPr lang="en-US" altLang="en-US" sz="2000" dirty="0" err="1"/>
              <a:t>si</a:t>
            </a:r>
            <a:r>
              <a:rPr lang="en-US" altLang="en-US" sz="2000" dirty="0"/>
              <a:t> hay </a:t>
            </a:r>
            <a:r>
              <a:rPr lang="en-US" altLang="en-US" sz="2000" dirty="0" err="1"/>
              <a:t>muchos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parámetros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diferentes</a:t>
            </a:r>
            <a:r>
              <a:rPr lang="en-US" altLang="en-US" sz="2000" dirty="0"/>
              <a:t>?</a:t>
            </a:r>
            <a:br>
              <a:rPr lang="en-US" altLang="en-US" sz="2000" dirty="0"/>
            </a:br>
            <a:endParaRPr lang="en-US" altLang="en-US" sz="2000" dirty="0"/>
          </a:p>
          <a:p>
            <a:pPr>
              <a:lnSpc>
                <a:spcPct val="95000"/>
              </a:lnSpc>
            </a:pPr>
            <a:r>
              <a:rPr lang="en-US" altLang="en-US" sz="2000" dirty="0"/>
              <a:t>¿</a:t>
            </a:r>
            <a:r>
              <a:rPr lang="en-US" altLang="en-US" sz="2000" dirty="0" err="1"/>
              <a:t>Qué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mecanismos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negociación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puede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usar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agente</a:t>
            </a:r>
            <a:r>
              <a:rPr lang="en-US" altLang="en-US" sz="2000" dirty="0"/>
              <a:t> para </a:t>
            </a:r>
            <a:r>
              <a:rPr lang="en-US" altLang="en-US" sz="2000" dirty="0" err="1"/>
              <a:t>lograr</a:t>
            </a:r>
            <a:r>
              <a:rPr lang="en-US" altLang="en-US" sz="2000" dirty="0"/>
              <a:t> un </a:t>
            </a:r>
            <a:r>
              <a:rPr lang="en-US" altLang="en-US" sz="2000" dirty="0" err="1"/>
              <a:t>buen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trato</a:t>
            </a:r>
            <a:r>
              <a:rPr lang="en-US" altLang="en-US" sz="2000" dirty="0"/>
              <a:t> con </a:t>
            </a:r>
            <a:r>
              <a:rPr lang="en-US" altLang="en-US" sz="2000" dirty="0" err="1"/>
              <a:t>otros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agentes</a:t>
            </a:r>
            <a:r>
              <a:rPr lang="en-US" altLang="en-US" sz="2000" dirty="0"/>
              <a:t>?</a:t>
            </a:r>
            <a:br>
              <a:rPr lang="en-US" altLang="en-US" sz="2000" dirty="0"/>
            </a:br>
            <a:r>
              <a:rPr lang="en-US" altLang="en-US" sz="2000" dirty="0"/>
              <a:t> </a:t>
            </a:r>
          </a:p>
          <a:p>
            <a:pPr>
              <a:lnSpc>
                <a:spcPct val="95000"/>
              </a:lnSpc>
            </a:pPr>
            <a:r>
              <a:rPr lang="en-US" altLang="en-US" sz="2000" dirty="0" err="1"/>
              <a:t>Estos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problemas</a:t>
            </a:r>
            <a:r>
              <a:rPr lang="en-US" altLang="en-US" sz="2000" dirty="0"/>
              <a:t> son </a:t>
            </a:r>
            <a:r>
              <a:rPr lang="en-US" altLang="en-US" sz="2000" dirty="0" err="1"/>
              <a:t>difíciles</a:t>
            </a:r>
            <a:r>
              <a:rPr lang="en-US" altLang="en-US" sz="2000" dirty="0"/>
              <a:t> e </a:t>
            </a:r>
            <a:r>
              <a:rPr lang="en-US" altLang="en-US" sz="2000" dirty="0" err="1"/>
              <a:t>importantes</a:t>
            </a:r>
            <a:r>
              <a:rPr lang="en-US" altLang="en-US" sz="2000" dirty="0"/>
              <a:t> – p. </a:t>
            </a:r>
            <a:r>
              <a:rPr lang="en-US" altLang="en-US" sz="2000" dirty="0" err="1"/>
              <a:t>ej</a:t>
            </a:r>
            <a:r>
              <a:rPr lang="en-US" altLang="en-US" sz="2000" dirty="0"/>
              <a:t>. </a:t>
            </a:r>
            <a:r>
              <a:rPr lang="en-US" altLang="en-US" sz="2000" dirty="0" err="1"/>
              <a:t>abastecimiento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automático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podría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ser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usado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masivamente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organismos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gubernamentales</a:t>
            </a:r>
            <a:endParaRPr lang="en-US" altLang="en-U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839200" cy="1139825"/>
          </a:xfrm>
        </p:spPr>
        <p:txBody>
          <a:bodyPr/>
          <a:lstStyle/>
          <a:p>
            <a:r>
              <a:rPr lang="en-US" altLang="en-US" sz="3800" dirty="0"/>
              <a:t> </a:t>
            </a:r>
            <a:r>
              <a:rPr lang="en-US" altLang="en-US" sz="3800" dirty="0" err="1"/>
              <a:t>Sistemas</a:t>
            </a:r>
            <a:r>
              <a:rPr lang="en-US" altLang="en-US" sz="3800" dirty="0"/>
              <a:t> de </a:t>
            </a:r>
            <a:r>
              <a:rPr lang="en-US" altLang="en-US" sz="3800" dirty="0" err="1"/>
              <a:t>agentes</a:t>
            </a:r>
            <a:r>
              <a:rPr lang="en-US" altLang="en-US" sz="3800" dirty="0"/>
              <a:t> con </a:t>
            </a:r>
            <a:r>
              <a:rPr lang="en-US" altLang="en-US" sz="3800" dirty="0" err="1"/>
              <a:t>usuarios</a:t>
            </a:r>
            <a:endParaRPr lang="en-US" altLang="en-US" sz="380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181600"/>
          </a:xfrm>
        </p:spPr>
        <p:txBody>
          <a:bodyPr/>
          <a:lstStyle/>
          <a:p>
            <a:r>
              <a:rPr lang="en-US" altLang="en-US" sz="2600" dirty="0">
                <a:hlinkClick r:id="rId3"/>
              </a:rPr>
              <a:t>Baxter y Sawyer © Rethink Robotics</a:t>
            </a:r>
            <a:endParaRPr lang="en-US" altLang="en-US" sz="26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76400"/>
            <a:ext cx="7825878" cy="3665361"/>
          </a:xfrm>
          <a:prstGeom prst="rect">
            <a:avLst/>
          </a:prstGeom>
        </p:spPr>
      </p:pic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03196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839200" cy="1139825"/>
          </a:xfrm>
        </p:spPr>
        <p:txBody>
          <a:bodyPr/>
          <a:lstStyle/>
          <a:p>
            <a:r>
              <a:rPr lang="en-US" altLang="en-US" sz="3800" dirty="0"/>
              <a:t> </a:t>
            </a:r>
            <a:r>
              <a:rPr lang="en-US" altLang="en-US" sz="3800" dirty="0" err="1"/>
              <a:t>Sistemas</a:t>
            </a:r>
            <a:r>
              <a:rPr lang="en-US" altLang="en-US" sz="3800" dirty="0"/>
              <a:t> de </a:t>
            </a:r>
            <a:r>
              <a:rPr lang="en-US" altLang="en-US" sz="3800" dirty="0" err="1"/>
              <a:t>agentes</a:t>
            </a:r>
            <a:r>
              <a:rPr lang="en-US" altLang="en-US" sz="3800" dirty="0"/>
              <a:t> con </a:t>
            </a:r>
            <a:r>
              <a:rPr lang="en-US" altLang="en-US" sz="3800" dirty="0" err="1"/>
              <a:t>usuarios</a:t>
            </a:r>
            <a:endParaRPr lang="en-US" altLang="en-US" sz="380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82000" cy="5181600"/>
          </a:xfrm>
        </p:spPr>
        <p:txBody>
          <a:bodyPr/>
          <a:lstStyle/>
          <a:p>
            <a:r>
              <a:rPr lang="es-CL" sz="2800" dirty="0">
                <a:hlinkClick r:id="rId3"/>
              </a:rPr>
              <a:t>AGENTGPT</a:t>
            </a:r>
            <a:endParaRPr lang="es-CL" sz="2800" dirty="0"/>
          </a:p>
          <a:p>
            <a:endParaRPr lang="es-CL" sz="2800" dirty="0"/>
          </a:p>
          <a:p>
            <a:endParaRPr lang="es-CL" sz="2800" dirty="0"/>
          </a:p>
          <a:p>
            <a:pPr marL="0" indent="0">
              <a:buNone/>
            </a:pPr>
            <a:endParaRPr lang="en-US" altLang="en-US" sz="26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50</a:t>
            </a:fld>
            <a:endParaRPr lang="en-US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" y="1770441"/>
            <a:ext cx="8258175" cy="41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44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Muchos</a:t>
            </a:r>
            <a:r>
              <a:rPr lang="en-US" altLang="en-US" dirty="0"/>
              <a:t> </a:t>
            </a:r>
            <a:r>
              <a:rPr lang="en-US" altLang="en-US" dirty="0" err="1"/>
              <a:t>otros</a:t>
            </a:r>
            <a:r>
              <a:rPr lang="en-US" altLang="en-US" dirty="0"/>
              <a:t> </a:t>
            </a:r>
            <a:r>
              <a:rPr lang="en-US" altLang="en-US" dirty="0" err="1"/>
              <a:t>usos</a:t>
            </a:r>
            <a:r>
              <a:rPr lang="en-US" altLang="en-US" dirty="0"/>
              <a:t>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51</a:t>
            </a:fld>
            <a:endParaRPr lang="en-US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538" y="1066800"/>
            <a:ext cx="2426970" cy="156019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5" y="1066800"/>
            <a:ext cx="2362200" cy="155257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400" y="1066800"/>
            <a:ext cx="2392299" cy="155105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73116"/>
            <a:ext cx="2433638" cy="154686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473718"/>
            <a:ext cx="2398871" cy="1557623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7400" y="2767734"/>
            <a:ext cx="2413635" cy="156019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4125" y="2776878"/>
            <a:ext cx="2418588" cy="1551051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360" y="4477813"/>
            <a:ext cx="2420303" cy="155352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8351" y="4477813"/>
            <a:ext cx="2406968" cy="155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86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Muchos</a:t>
            </a:r>
            <a:r>
              <a:rPr lang="en-US" altLang="en-US" dirty="0"/>
              <a:t> </a:t>
            </a:r>
            <a:r>
              <a:rPr lang="en-US" altLang="en-US" dirty="0" err="1"/>
              <a:t>otros</a:t>
            </a:r>
            <a:r>
              <a:rPr lang="en-US" altLang="en-US" dirty="0"/>
              <a:t> </a:t>
            </a:r>
            <a:r>
              <a:rPr lang="en-US" altLang="en-US" dirty="0" err="1"/>
              <a:t>usos</a:t>
            </a:r>
            <a:r>
              <a:rPr lang="en-US" altLang="en-US" dirty="0"/>
              <a:t>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52</a:t>
            </a:fld>
            <a:endParaRPr lang="en-US" altLang="en-US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2426970" cy="155352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759" y="1066800"/>
            <a:ext cx="2412016" cy="1557623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2965" y="1066800"/>
            <a:ext cx="2426970" cy="156019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468844"/>
            <a:ext cx="2426970" cy="1553528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3586" y="2769059"/>
            <a:ext cx="2385727" cy="1544479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769060"/>
            <a:ext cx="2398871" cy="1551051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020" y="2769060"/>
            <a:ext cx="2412016" cy="1544479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8929" y="4468844"/>
            <a:ext cx="2392299" cy="1544479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3586" y="4468844"/>
            <a:ext cx="2426970" cy="156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043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Muchos</a:t>
            </a:r>
            <a:r>
              <a:rPr lang="en-US" altLang="en-US" dirty="0"/>
              <a:t> </a:t>
            </a:r>
            <a:r>
              <a:rPr lang="en-US" altLang="en-US" dirty="0" err="1"/>
              <a:t>otros</a:t>
            </a:r>
            <a:r>
              <a:rPr lang="en-US" altLang="en-US" dirty="0"/>
              <a:t> </a:t>
            </a:r>
            <a:r>
              <a:rPr lang="en-US" altLang="en-US" dirty="0" err="1"/>
              <a:t>usos</a:t>
            </a:r>
            <a:r>
              <a:rPr lang="en-US" altLang="en-US" dirty="0"/>
              <a:t> …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8F7B2-B38F-4F81-B4B3-3122CDFFA968}" type="slidenum">
              <a:rPr lang="en-US" altLang="en-US" smtClean="0"/>
              <a:pPr/>
              <a:t>53</a:t>
            </a:fld>
            <a:endParaRPr lang="en-US" alt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15" y="1401149"/>
            <a:ext cx="2426970" cy="156019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832" y="1434534"/>
            <a:ext cx="2425160" cy="1544479"/>
          </a:xfrm>
          <a:prstGeom prst="rect">
            <a:avLst/>
          </a:prstGeom>
        </p:spPr>
      </p:pic>
      <p:pic>
        <p:nvPicPr>
          <p:cNvPr id="7" name="Picture 2" descr="https://media.beehiiv.com/cdn-cgi/image/fit=scale-down,format=auto,onerror=redirect,quality=80/uploads/asset/file/f2c8e3de-907a-45eb-a20a-43bcaea19d64/1_h3CgCiahAzcNJV80BUtIk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55624"/>
            <a:ext cx="1658112" cy="165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media.beehiiv.com/cdn-cgi/image/fit=scale-down,format=auto,onerror=redirect,quality=80/uploads/asset/file/29d7b2fd-822d-4197-968b-ecf86fb6ec7f/1_J-7Jfb3H2T-0BbjXtwhxIQ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995782"/>
            <a:ext cx="1755648" cy="175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media.beehiiv.com/cdn-cgi/image/fit=scale-down,format=auto,onerror=redirect,quality=80/uploads/asset/file/e17f0051-f42b-41ca-9c59-988f6f7d119a/What-are-Generative-Agents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273692"/>
            <a:ext cx="4457700" cy="2477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725886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1808</TotalTime>
  <Words>2645</Words>
  <Application>Microsoft Office PowerPoint</Application>
  <PresentationFormat>Presentación en pantalla (4:3)</PresentationFormat>
  <Paragraphs>426</Paragraphs>
  <Slides>53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53</vt:i4>
      </vt:variant>
    </vt:vector>
  </HeadingPairs>
  <TitlesOfParts>
    <vt:vector size="62" baseType="lpstr">
      <vt:lpstr>ＭＳ Ｐゴシック</vt:lpstr>
      <vt:lpstr>Arial</vt:lpstr>
      <vt:lpstr>Garamond</vt:lpstr>
      <vt:lpstr>Symbol</vt:lpstr>
      <vt:lpstr>Tahoma</vt:lpstr>
      <vt:lpstr>Times New Roman</vt:lpstr>
      <vt:lpstr>Wingdings</vt:lpstr>
      <vt:lpstr>YouTube Noto</vt:lpstr>
      <vt:lpstr>Edge</vt:lpstr>
      <vt:lpstr>INTRODUCCION AGENTES Y  SISTEMAS MULTIAGENTES</vt:lpstr>
      <vt:lpstr>Reseña</vt:lpstr>
      <vt:lpstr>Ubicuidad</vt:lpstr>
      <vt:lpstr>Interconexión</vt:lpstr>
      <vt:lpstr>Inteligencia</vt:lpstr>
      <vt:lpstr>Delegación</vt:lpstr>
      <vt:lpstr>Orientación hacia el humano</vt:lpstr>
      <vt:lpstr>¿A dónde nos lleva todo eso?</vt:lpstr>
      <vt:lpstr>AGENTE</vt:lpstr>
      <vt:lpstr>Agente, una definición</vt:lpstr>
      <vt:lpstr>Presentación de PowerPoint</vt:lpstr>
      <vt:lpstr>Presentación de PowerPoint</vt:lpstr>
      <vt:lpstr>Reactividad</vt:lpstr>
      <vt:lpstr>Proactividad</vt:lpstr>
      <vt:lpstr>Balanceo de Reactividad y Comportamiento Orientado al Objetivo</vt:lpstr>
      <vt:lpstr>Habilidad Social</vt:lpstr>
      <vt:lpstr>Otras Propiedades</vt:lpstr>
      <vt:lpstr>Control de naves espaciales</vt:lpstr>
      <vt:lpstr>Curiosity</vt:lpstr>
      <vt:lpstr>¿Agentes: una mirada optimista?</vt:lpstr>
      <vt:lpstr>Smart manufacturing y Digital Twin</vt:lpstr>
      <vt:lpstr>Uso de agentes en la realidad: modestia aparte</vt:lpstr>
      <vt:lpstr>Uso de agentes en la realidad: modestia aparte</vt:lpstr>
      <vt:lpstr>Ambiente de la tarea</vt:lpstr>
      <vt:lpstr>PEAS</vt:lpstr>
      <vt:lpstr>PEAS</vt:lpstr>
      <vt:lpstr>PEAS</vt:lpstr>
      <vt:lpstr>PEAS</vt:lpstr>
      <vt:lpstr>Ejercicio práctico: PEAS</vt:lpstr>
      <vt:lpstr>Ejercicio práctico: PEAS</vt:lpstr>
      <vt:lpstr>Ambientes – Accesibles vs. inaccesibles</vt:lpstr>
      <vt:lpstr>Ambientes – Determinístico vs. no-determinístico</vt:lpstr>
      <vt:lpstr>Ambientes - Episódicos vs. no-episódicos</vt:lpstr>
      <vt:lpstr>Ambientes - Estáticos vs. dinámicos</vt:lpstr>
      <vt:lpstr>Ambientes – Discretos vs. continuos</vt:lpstr>
      <vt:lpstr>Ejercicio práctico: Ambientes</vt:lpstr>
      <vt:lpstr>Ejercicio práctico: Ambientes</vt:lpstr>
      <vt:lpstr>Agentes Reflexivos Simples (Simple reflex)</vt:lpstr>
      <vt:lpstr>Agentes Reflexivos Basados en Modelo</vt:lpstr>
      <vt:lpstr>Agentes Basados en Metas</vt:lpstr>
      <vt:lpstr>Agentes Basados en Utilidad</vt:lpstr>
      <vt:lpstr>Agentes que aprenden</vt:lpstr>
      <vt:lpstr>Ejercicio práctico: Tipo de agente y Ambiente</vt:lpstr>
      <vt:lpstr>Ejercicio práctico: Tipo de agente</vt:lpstr>
      <vt:lpstr>Sistema Multiagentes, una definición</vt:lpstr>
      <vt:lpstr>Control de Tráfico Aéreo</vt:lpstr>
      <vt:lpstr>Control de Tráfico Aéreo</vt:lpstr>
      <vt:lpstr>Problemas</vt:lpstr>
      <vt:lpstr> Sistemas de agentes con usuarios</vt:lpstr>
      <vt:lpstr> Sistemas de agentes con usuarios</vt:lpstr>
      <vt:lpstr>Muchos otros usos …</vt:lpstr>
      <vt:lpstr>Muchos otros usos …</vt:lpstr>
      <vt:lpstr>Muchos otros usos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</dc:title>
  <dc:creator>Enrique Canessa</dc:creator>
  <cp:lastModifiedBy>Enrique Canessa</cp:lastModifiedBy>
  <cp:revision>200</cp:revision>
  <dcterms:created xsi:type="dcterms:W3CDTF">2002-10-07T15:26:45Z</dcterms:created>
  <dcterms:modified xsi:type="dcterms:W3CDTF">2025-07-31T20:46:52Z</dcterms:modified>
</cp:coreProperties>
</file>